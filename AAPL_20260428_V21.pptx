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6.xml" ContentType="application/vnd.openxmlformats-officedocument.drawingml.chart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9.xml" ContentType="application/vnd.openxmlformats-officedocument.drawingml.chart+xml"/>
  <Override PartName="/ppt/notesSlides/notesSlide24.xml" ContentType="application/vnd.openxmlformats-officedocument.presentationml.notesSlide+xml"/>
  <Override PartName="/ppt/charts/chart10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1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2.xml" ContentType="application/vnd.openxmlformats-officedocument.drawingml.chart+xml"/>
  <Override PartName="/ppt/notesSlides/notesSlide32.xml" ContentType="application/vnd.openxmlformats-officedocument.presentationml.notesSlide+xml"/>
  <Override PartName="/ppt/charts/chart13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14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embeddedFontLst>
    <p:embeddedFont>
      <p:font typeface="Inter" panose="02000503000000020004" pitchFamily="2" charset="0"/>
      <p:regular r:id="rId42"/>
      <p:bold r:id="rId43"/>
      <p:italic r:id="rId44"/>
      <p:boldItalic r:id="rId45"/>
    </p:embeddedFont>
    <p:embeddedFont>
      <p:font typeface="Tiempos Headline Regular" panose="02020503060303060403" pitchFamily="18" charset="0"/>
      <p:regular r:id="rId46"/>
      <p:italic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CY21</c:v>
                </c:pt>
                <c:pt idx="1">
                  <c:v>CY22</c:v>
                </c:pt>
                <c:pt idx="2">
                  <c:v>CY23</c:v>
                </c:pt>
                <c:pt idx="3">
                  <c:v>CY24</c:v>
                </c:pt>
                <c:pt idx="4">
                  <c:v>CY25</c:v>
                </c:pt>
                <c:pt idx="5">
                  <c:v>CY26E</c:v>
                </c:pt>
                <c:pt idx="6">
                  <c:v>CY27E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1.43</c:v>
                </c:pt>
                <c:pt idx="1">
                  <c:v>1.21</c:v>
                </c:pt>
                <c:pt idx="2">
                  <c:v>1.17</c:v>
                </c:pt>
                <c:pt idx="3">
                  <c:v>1.24</c:v>
                </c:pt>
                <c:pt idx="4">
                  <c:v>1.26</c:v>
                </c:pt>
                <c:pt idx="5">
                  <c:v>1.24</c:v>
                </c:pt>
                <c:pt idx="6">
                  <c:v>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90-4361-A25C-F0D734CD40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Europe</c:v>
                </c:pt>
                <c:pt idx="2">
                  <c:v>Greater China</c:v>
                </c:pt>
                <c:pt idx="3">
                  <c:v>Japan</c:v>
                </c:pt>
                <c:pt idx="4">
                  <c:v>Rest APAC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173</c:v>
                </c:pt>
                <c:pt idx="1">
                  <c:v>102</c:v>
                </c:pt>
                <c:pt idx="2">
                  <c:v>64</c:v>
                </c:pt>
                <c:pt idx="3">
                  <c:v>29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48-4E11-90AA-7D221E4E8B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iPhone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192</c:v>
                </c:pt>
                <c:pt idx="1">
                  <c:v>205</c:v>
                </c:pt>
                <c:pt idx="2">
                  <c:v>201</c:v>
                </c:pt>
                <c:pt idx="3">
                  <c:v>201</c:v>
                </c:pt>
                <c:pt idx="4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0C-4948-9791-41FCA4E0FB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rgbClr val="CBD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40</c:v>
                </c:pt>
                <c:pt idx="2">
                  <c:v>29</c:v>
                </c:pt>
                <c:pt idx="3">
                  <c:v>30</c:v>
                </c:pt>
                <c:pt idx="4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0C-4948-9791-41FCA4E0FB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iPad</c:v>
                </c:pt>
              </c:strCache>
            </c:strRef>
          </c:tx>
          <c:spPr>
            <a:solidFill>
              <a:srgbClr val="1231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29</c:v>
                </c:pt>
                <c:pt idx="2">
                  <c:v>28</c:v>
                </c:pt>
                <c:pt idx="3">
                  <c:v>27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0C-4948-9791-41FCA4E0FB1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Wearables</c:v>
                </c:pt>
              </c:strCache>
            </c:strRef>
          </c:tx>
          <c:spPr>
            <a:solidFill>
              <a:srgbClr val="6FA2E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38</c:v>
                </c:pt>
                <c:pt idx="1">
                  <c:v>41</c:v>
                </c:pt>
                <c:pt idx="2">
                  <c:v>40</c:v>
                </c:pt>
                <c:pt idx="3">
                  <c:v>37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0C-4948-9791-41FCA4E0FB1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68</c:v>
                </c:pt>
                <c:pt idx="1">
                  <c:v>78</c:v>
                </c:pt>
                <c:pt idx="2">
                  <c:v>85</c:v>
                </c:pt>
                <c:pt idx="3">
                  <c:v>96</c:v>
                </c:pt>
                <c:pt idx="4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0C-4948-9791-41FCA4E0FB1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CY25E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68.400000000000006</c:v>
                </c:pt>
                <c:pt idx="1">
                  <c:v>78.099999999999994</c:v>
                </c:pt>
                <c:pt idx="2">
                  <c:v>85.2</c:v>
                </c:pt>
                <c:pt idx="3">
                  <c:v>96.2</c:v>
                </c:pt>
                <c:pt idx="4">
                  <c:v>109.1</c:v>
                </c:pt>
                <c:pt idx="5">
                  <c:v>120</c:v>
                </c:pt>
                <c:pt idx="6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3-48E1-8C03-0D47F90E99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35.200000000000003</c:v>
                </c:pt>
                <c:pt idx="1">
                  <c:v>40.200000000000003</c:v>
                </c:pt>
                <c:pt idx="2">
                  <c:v>29.4</c:v>
                </c:pt>
                <c:pt idx="3">
                  <c:v>30.1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6-4652-8741-7A3CA7217C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41.8</c:v>
                </c:pt>
                <c:pt idx="1">
                  <c:v>43.3</c:v>
                </c:pt>
                <c:pt idx="2">
                  <c:v>44.1</c:v>
                </c:pt>
                <c:pt idx="3">
                  <c:v>46.2</c:v>
                </c:pt>
                <c:pt idx="4">
                  <c:v>46.9</c:v>
                </c:pt>
                <c:pt idx="5">
                  <c:v>47.2</c:v>
                </c:pt>
                <c:pt idx="6">
                  <c:v>47.6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0-4D27-94C0-CC40115FA0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FY26E (Street)</c:v>
                </c:pt>
                <c:pt idx="6">
                  <c:v>FY27E (Street)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68.400000000000006</c:v>
                </c:pt>
                <c:pt idx="1">
                  <c:v>78.099999999999994</c:v>
                </c:pt>
                <c:pt idx="2">
                  <c:v>85.2</c:v>
                </c:pt>
                <c:pt idx="3">
                  <c:v>96.2</c:v>
                </c:pt>
                <c:pt idx="4">
                  <c:v>109.1</c:v>
                </c:pt>
                <c:pt idx="5">
                  <c:v>123</c:v>
                </c:pt>
                <c:pt idx="6">
                  <c:v>137.5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6-42E0-BC67-E7F60E7DF2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solidFill>
              <a:srgbClr val="FAFA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90</c:v>
                </c:pt>
                <c:pt idx="2">
                  <c:v>220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6-4E17-BC6D-6743AB8264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12315B"/>
            </a:solidFill>
            <a:effectLst/>
          </c:spPr>
          <c:invertIfNegative val="0"/>
          <c:dLbls>
            <c:dLbl>
              <c:idx val="0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90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7D6-4E17-BC6D-6743AB826449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D6-4E17-BC6D-6743AB8264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dLbl>
              <c:idx val="1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7D6-4E17-BC6D-6743AB826449}"/>
                </c:ext>
              </c:extLst>
            </c:dLbl>
            <c:dLbl>
              <c:idx val="2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+110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7D6-4E17-BC6D-6743AB826449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1">
                  <c:v>130</c:v>
                </c:pt>
                <c:pt idx="2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D6-4E17-BC6D-6743AB8264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Neg</c:v>
                </c:pt>
              </c:strCache>
            </c:strRef>
          </c:tx>
          <c:spPr>
            <a:solidFill>
              <a:srgbClr val="B33A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6-D7D6-4E17-BC6D-6743AB82644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dLbl>
              <c:idx val="3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330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7D6-4E17-BC6D-6743AB826449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3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D6-4E17-BC6D-6743AB8264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Buyback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FY20A</c:v>
                </c:pt>
                <c:pt idx="1">
                  <c:v>FY21A</c:v>
                </c:pt>
                <c:pt idx="2">
                  <c:v>FY22A</c:v>
                </c:pt>
                <c:pt idx="3">
                  <c:v>FY23A</c:v>
                </c:pt>
                <c:pt idx="4">
                  <c:v>FY24A</c:v>
                </c:pt>
                <c:pt idx="5">
                  <c:v>FY25A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72.400000000000006</c:v>
                </c:pt>
                <c:pt idx="1">
                  <c:v>85.5</c:v>
                </c:pt>
                <c:pt idx="2">
                  <c:v>89.4</c:v>
                </c:pt>
                <c:pt idx="3">
                  <c:v>77.599999999999994</c:v>
                </c:pt>
                <c:pt idx="4">
                  <c:v>95.9</c:v>
                </c:pt>
                <c:pt idx="5">
                  <c:v>89.3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C-4BFB-9A94-D8C999E9B9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Dividend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FY20A</c:v>
                </c:pt>
                <c:pt idx="1">
                  <c:v>FY21A</c:v>
                </c:pt>
                <c:pt idx="2">
                  <c:v>FY22A</c:v>
                </c:pt>
                <c:pt idx="3">
                  <c:v>FY23A</c:v>
                </c:pt>
                <c:pt idx="4">
                  <c:v>FY24A</c:v>
                </c:pt>
                <c:pt idx="5">
                  <c:v>FY25A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14.1</c:v>
                </c:pt>
                <c:pt idx="1">
                  <c:v>14.5</c:v>
                </c:pt>
                <c:pt idx="2">
                  <c:v>14.8</c:v>
                </c:pt>
                <c:pt idx="3">
                  <c:v>15.1</c:v>
                </c:pt>
                <c:pt idx="4">
                  <c:v>15.2</c:v>
                </c:pt>
                <c:pt idx="5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AC-4BFB-9A94-D8C999E9B98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TTM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49</c:v>
                </c:pt>
                <c:pt idx="2">
                  <c:v>51</c:v>
                </c:pt>
                <c:pt idx="3">
                  <c:v>50</c:v>
                </c:pt>
                <c:pt idx="4">
                  <c:v>34</c:v>
                </c:pt>
                <c:pt idx="5">
                  <c:v>-24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98-4C9E-9D1D-C87A8B1950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AAPL TTM PE</c:v>
                </c:pt>
              </c:strCache>
            </c:strRef>
          </c:tx>
          <c:spPr>
            <a:ln w="1905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88"/>
              <c:tx>
                <c:rich>
                  <a:bodyPr wrap="square" anchor="ctr"/>
                  <a:lstStyle/>
                  <a:p>
                    <a:pPr>
                      <a:defRPr sz="1000" b="1">
                        <a:solidFill>
                          <a:srgbClr val="202632"/>
                        </a:solidFill>
                      </a:defRPr>
                    </a:pPr>
                    <a:r>
                      <a:rPr lang="en-US" sz="1000" b="1">
                        <a:solidFill>
                          <a:srgbClr val="202632"/>
                        </a:solidFill>
                      </a:rPr>
                      <a:t>Lo 20.9×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544-4AA5-9547-E4972EE48685}"/>
                </c:ext>
              </c:extLst>
            </c:dLbl>
            <c:dLbl>
              <c:idx val="191"/>
              <c:tx>
                <c:rich>
                  <a:bodyPr wrap="square" anchor="ctr"/>
                  <a:lstStyle/>
                  <a:p>
                    <a:pPr>
                      <a:defRPr sz="1000" b="1">
                        <a:solidFill>
                          <a:srgbClr val="202632"/>
                        </a:solidFill>
                      </a:defRPr>
                    </a:pPr>
                    <a:r>
                      <a:rPr lang="en-US" sz="1000" b="1">
                        <a:solidFill>
                          <a:srgbClr val="202632"/>
                        </a:solidFill>
                      </a:rPr>
                      <a:t>Hi 41.8×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544-4AA5-9547-E4972EE48685}"/>
                </c:ext>
              </c:extLst>
            </c:dLbl>
            <c:dLbl>
              <c:idx val="261"/>
              <c:tx>
                <c:rich>
                  <a:bodyPr wrap="square" anchor="ctr"/>
                  <a:lstStyle/>
                  <a:p>
                    <a:pPr>
                      <a:defRPr sz="1000" b="1">
                        <a:solidFill>
                          <a:srgbClr val="202632"/>
                        </a:solidFill>
                      </a:defRPr>
                    </a:pPr>
                    <a:r>
                      <a:rPr lang="en-US" sz="1000" b="1">
                        <a:solidFill>
                          <a:srgbClr val="202632"/>
                        </a:solidFill>
                      </a:rPr>
                      <a:t>Now 33.8×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544-4AA5-9547-E4972EE48685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34.61</c:v>
                </c:pt>
                <c:pt idx="1">
                  <c:v>28.44</c:v>
                </c:pt>
                <c:pt idx="2">
                  <c:v>27.88</c:v>
                </c:pt>
                <c:pt idx="3">
                  <c:v>27.44</c:v>
                </c:pt>
                <c:pt idx="4">
                  <c:v>27.26</c:v>
                </c:pt>
                <c:pt idx="5">
                  <c:v>27.54</c:v>
                </c:pt>
                <c:pt idx="6">
                  <c:v>27.86</c:v>
                </c:pt>
                <c:pt idx="7">
                  <c:v>28.54</c:v>
                </c:pt>
                <c:pt idx="8">
                  <c:v>29.12</c:v>
                </c:pt>
                <c:pt idx="9">
                  <c:v>30.62</c:v>
                </c:pt>
                <c:pt idx="10">
                  <c:v>31.74</c:v>
                </c:pt>
                <c:pt idx="11">
                  <c:v>32.020000000000003</c:v>
                </c:pt>
                <c:pt idx="12">
                  <c:v>32.5</c:v>
                </c:pt>
                <c:pt idx="13">
                  <c:v>31.91</c:v>
                </c:pt>
                <c:pt idx="14">
                  <c:v>27.9</c:v>
                </c:pt>
                <c:pt idx="15">
                  <c:v>28.51</c:v>
                </c:pt>
                <c:pt idx="16">
                  <c:v>28.34</c:v>
                </c:pt>
                <c:pt idx="17">
                  <c:v>28.41</c:v>
                </c:pt>
                <c:pt idx="18">
                  <c:v>29.5</c:v>
                </c:pt>
                <c:pt idx="19">
                  <c:v>28.49</c:v>
                </c:pt>
                <c:pt idx="20">
                  <c:v>27.93</c:v>
                </c:pt>
                <c:pt idx="21">
                  <c:v>28.09</c:v>
                </c:pt>
                <c:pt idx="22">
                  <c:v>27.28</c:v>
                </c:pt>
                <c:pt idx="23">
                  <c:v>27.32</c:v>
                </c:pt>
                <c:pt idx="24">
                  <c:v>27.7</c:v>
                </c:pt>
                <c:pt idx="25">
                  <c:v>28.43</c:v>
                </c:pt>
                <c:pt idx="26">
                  <c:v>28.64</c:v>
                </c:pt>
                <c:pt idx="27">
                  <c:v>26.3</c:v>
                </c:pt>
                <c:pt idx="28">
                  <c:v>26.12</c:v>
                </c:pt>
                <c:pt idx="29">
                  <c:v>27.95</c:v>
                </c:pt>
                <c:pt idx="30">
                  <c:v>27.3</c:v>
                </c:pt>
                <c:pt idx="31">
                  <c:v>28.18</c:v>
                </c:pt>
                <c:pt idx="32">
                  <c:v>31.25</c:v>
                </c:pt>
                <c:pt idx="33">
                  <c:v>29.8</c:v>
                </c:pt>
                <c:pt idx="34">
                  <c:v>30.69</c:v>
                </c:pt>
                <c:pt idx="35">
                  <c:v>30.92</c:v>
                </c:pt>
                <c:pt idx="36">
                  <c:v>29.98</c:v>
                </c:pt>
                <c:pt idx="37">
                  <c:v>30.13</c:v>
                </c:pt>
                <c:pt idx="38">
                  <c:v>28.28</c:v>
                </c:pt>
                <c:pt idx="39">
                  <c:v>29.66</c:v>
                </c:pt>
                <c:pt idx="40">
                  <c:v>27.93</c:v>
                </c:pt>
                <c:pt idx="41">
                  <c:v>27.36</c:v>
                </c:pt>
                <c:pt idx="42">
                  <c:v>27.14</c:v>
                </c:pt>
                <c:pt idx="43">
                  <c:v>26.74</c:v>
                </c:pt>
                <c:pt idx="44">
                  <c:v>26.47</c:v>
                </c:pt>
                <c:pt idx="45">
                  <c:v>25.1</c:v>
                </c:pt>
                <c:pt idx="46">
                  <c:v>26.6</c:v>
                </c:pt>
                <c:pt idx="47">
                  <c:v>28.34</c:v>
                </c:pt>
                <c:pt idx="48">
                  <c:v>28.28</c:v>
                </c:pt>
                <c:pt idx="49">
                  <c:v>27.59</c:v>
                </c:pt>
                <c:pt idx="50">
                  <c:v>26.81</c:v>
                </c:pt>
                <c:pt idx="51">
                  <c:v>26.24</c:v>
                </c:pt>
                <c:pt idx="52">
                  <c:v>25.57</c:v>
                </c:pt>
                <c:pt idx="53">
                  <c:v>25.02</c:v>
                </c:pt>
                <c:pt idx="54">
                  <c:v>23.43</c:v>
                </c:pt>
                <c:pt idx="55">
                  <c:v>21.92</c:v>
                </c:pt>
                <c:pt idx="56">
                  <c:v>23.84</c:v>
                </c:pt>
                <c:pt idx="57">
                  <c:v>23.16</c:v>
                </c:pt>
                <c:pt idx="58">
                  <c:v>21.84</c:v>
                </c:pt>
                <c:pt idx="59">
                  <c:v>20.96</c:v>
                </c:pt>
                <c:pt idx="60">
                  <c:v>22.56</c:v>
                </c:pt>
                <c:pt idx="61">
                  <c:v>22.13</c:v>
                </c:pt>
                <c:pt idx="62">
                  <c:v>23.42</c:v>
                </c:pt>
                <c:pt idx="63">
                  <c:v>23.92</c:v>
                </c:pt>
                <c:pt idx="64">
                  <c:v>24.54</c:v>
                </c:pt>
                <c:pt idx="65">
                  <c:v>25.89</c:v>
                </c:pt>
                <c:pt idx="66">
                  <c:v>26.77</c:v>
                </c:pt>
                <c:pt idx="67">
                  <c:v>27.9</c:v>
                </c:pt>
                <c:pt idx="68">
                  <c:v>27.81</c:v>
                </c:pt>
                <c:pt idx="69">
                  <c:v>26.53</c:v>
                </c:pt>
                <c:pt idx="70">
                  <c:v>25.26</c:v>
                </c:pt>
                <c:pt idx="71">
                  <c:v>25.52</c:v>
                </c:pt>
                <c:pt idx="72">
                  <c:v>24.43</c:v>
                </c:pt>
                <c:pt idx="73">
                  <c:v>24.39</c:v>
                </c:pt>
                <c:pt idx="74">
                  <c:v>22.41</c:v>
                </c:pt>
                <c:pt idx="75">
                  <c:v>22.71</c:v>
                </c:pt>
                <c:pt idx="76">
                  <c:v>22.44</c:v>
                </c:pt>
                <c:pt idx="77">
                  <c:v>23.88</c:v>
                </c:pt>
                <c:pt idx="78">
                  <c:v>25.25</c:v>
                </c:pt>
                <c:pt idx="79">
                  <c:v>22.25</c:v>
                </c:pt>
                <c:pt idx="80">
                  <c:v>24.11</c:v>
                </c:pt>
                <c:pt idx="81">
                  <c:v>24.37</c:v>
                </c:pt>
                <c:pt idx="82">
                  <c:v>23.86</c:v>
                </c:pt>
                <c:pt idx="83">
                  <c:v>23.81</c:v>
                </c:pt>
                <c:pt idx="84">
                  <c:v>22.9</c:v>
                </c:pt>
                <c:pt idx="85">
                  <c:v>21.67</c:v>
                </c:pt>
                <c:pt idx="86">
                  <c:v>21.24</c:v>
                </c:pt>
                <c:pt idx="87">
                  <c:v>20.93</c:v>
                </c:pt>
                <c:pt idx="88">
                  <c:v>20.88</c:v>
                </c:pt>
                <c:pt idx="89">
                  <c:v>21.71</c:v>
                </c:pt>
                <c:pt idx="90">
                  <c:v>22.21</c:v>
                </c:pt>
                <c:pt idx="91">
                  <c:v>23.51</c:v>
                </c:pt>
                <c:pt idx="92">
                  <c:v>24.89</c:v>
                </c:pt>
                <c:pt idx="93">
                  <c:v>25.23</c:v>
                </c:pt>
                <c:pt idx="94">
                  <c:v>25.53</c:v>
                </c:pt>
                <c:pt idx="95">
                  <c:v>24.55</c:v>
                </c:pt>
                <c:pt idx="96">
                  <c:v>25.28</c:v>
                </c:pt>
                <c:pt idx="97">
                  <c:v>24.85</c:v>
                </c:pt>
                <c:pt idx="98">
                  <c:v>25.94</c:v>
                </c:pt>
                <c:pt idx="99">
                  <c:v>26.82</c:v>
                </c:pt>
                <c:pt idx="100">
                  <c:v>27.6</c:v>
                </c:pt>
                <c:pt idx="101">
                  <c:v>27.56</c:v>
                </c:pt>
                <c:pt idx="102">
                  <c:v>27.65</c:v>
                </c:pt>
                <c:pt idx="103">
                  <c:v>27.62</c:v>
                </c:pt>
                <c:pt idx="104">
                  <c:v>28.4</c:v>
                </c:pt>
                <c:pt idx="105">
                  <c:v>29.05</c:v>
                </c:pt>
                <c:pt idx="106">
                  <c:v>28.88</c:v>
                </c:pt>
                <c:pt idx="107">
                  <c:v>29.35</c:v>
                </c:pt>
                <c:pt idx="108">
                  <c:v>29.4</c:v>
                </c:pt>
                <c:pt idx="109">
                  <c:v>30.32</c:v>
                </c:pt>
                <c:pt idx="110">
                  <c:v>30.33</c:v>
                </c:pt>
                <c:pt idx="111">
                  <c:v>30.99</c:v>
                </c:pt>
                <c:pt idx="112">
                  <c:v>31.29</c:v>
                </c:pt>
                <c:pt idx="113">
                  <c:v>32.51</c:v>
                </c:pt>
                <c:pt idx="114">
                  <c:v>31.96</c:v>
                </c:pt>
                <c:pt idx="115">
                  <c:v>31.96</c:v>
                </c:pt>
                <c:pt idx="116">
                  <c:v>32.17</c:v>
                </c:pt>
                <c:pt idx="117">
                  <c:v>32.82</c:v>
                </c:pt>
                <c:pt idx="118">
                  <c:v>30.5</c:v>
                </c:pt>
                <c:pt idx="119">
                  <c:v>29.49</c:v>
                </c:pt>
                <c:pt idx="120">
                  <c:v>28.99</c:v>
                </c:pt>
                <c:pt idx="121">
                  <c:v>29.67</c:v>
                </c:pt>
                <c:pt idx="122">
                  <c:v>31.47</c:v>
                </c:pt>
                <c:pt idx="123">
                  <c:v>29.6</c:v>
                </c:pt>
                <c:pt idx="124">
                  <c:v>29.07</c:v>
                </c:pt>
                <c:pt idx="125">
                  <c:v>29.04</c:v>
                </c:pt>
                <c:pt idx="126">
                  <c:v>28.44</c:v>
                </c:pt>
                <c:pt idx="127">
                  <c:v>29.48</c:v>
                </c:pt>
                <c:pt idx="128">
                  <c:v>29.71</c:v>
                </c:pt>
                <c:pt idx="129">
                  <c:v>28.72</c:v>
                </c:pt>
                <c:pt idx="130">
                  <c:v>27.94</c:v>
                </c:pt>
                <c:pt idx="131">
                  <c:v>29.35</c:v>
                </c:pt>
                <c:pt idx="132">
                  <c:v>30.1</c:v>
                </c:pt>
                <c:pt idx="133">
                  <c:v>30.68</c:v>
                </c:pt>
                <c:pt idx="134">
                  <c:v>30.72</c:v>
                </c:pt>
                <c:pt idx="135">
                  <c:v>30.93</c:v>
                </c:pt>
                <c:pt idx="136">
                  <c:v>31.65</c:v>
                </c:pt>
                <c:pt idx="137">
                  <c:v>31.95</c:v>
                </c:pt>
                <c:pt idx="138">
                  <c:v>31.31</c:v>
                </c:pt>
                <c:pt idx="139">
                  <c:v>31.14</c:v>
                </c:pt>
                <c:pt idx="140">
                  <c:v>29.3</c:v>
                </c:pt>
                <c:pt idx="141">
                  <c:v>30.07</c:v>
                </c:pt>
                <c:pt idx="142">
                  <c:v>30.98</c:v>
                </c:pt>
                <c:pt idx="143">
                  <c:v>31.12</c:v>
                </c:pt>
                <c:pt idx="144">
                  <c:v>30.06</c:v>
                </c:pt>
                <c:pt idx="145">
                  <c:v>29.11</c:v>
                </c:pt>
                <c:pt idx="146">
                  <c:v>28.14</c:v>
                </c:pt>
                <c:pt idx="147">
                  <c:v>28.17</c:v>
                </c:pt>
                <c:pt idx="148">
                  <c:v>27.73</c:v>
                </c:pt>
                <c:pt idx="149">
                  <c:v>26.35</c:v>
                </c:pt>
                <c:pt idx="150">
                  <c:v>26.65</c:v>
                </c:pt>
                <c:pt idx="151">
                  <c:v>26.59</c:v>
                </c:pt>
                <c:pt idx="152">
                  <c:v>26.47</c:v>
                </c:pt>
                <c:pt idx="153">
                  <c:v>26.18</c:v>
                </c:pt>
                <c:pt idx="154">
                  <c:v>27.25</c:v>
                </c:pt>
                <c:pt idx="155">
                  <c:v>25.47</c:v>
                </c:pt>
                <c:pt idx="156">
                  <c:v>26.13</c:v>
                </c:pt>
                <c:pt idx="157">
                  <c:v>28.31</c:v>
                </c:pt>
                <c:pt idx="158">
                  <c:v>28.21</c:v>
                </c:pt>
                <c:pt idx="159">
                  <c:v>29.3</c:v>
                </c:pt>
                <c:pt idx="160">
                  <c:v>29.32</c:v>
                </c:pt>
                <c:pt idx="161">
                  <c:v>29.67</c:v>
                </c:pt>
                <c:pt idx="162">
                  <c:v>30.39</c:v>
                </c:pt>
                <c:pt idx="163">
                  <c:v>32.79</c:v>
                </c:pt>
                <c:pt idx="164">
                  <c:v>32.020000000000003</c:v>
                </c:pt>
                <c:pt idx="165">
                  <c:v>32.5</c:v>
                </c:pt>
                <c:pt idx="166">
                  <c:v>34.93</c:v>
                </c:pt>
                <c:pt idx="167">
                  <c:v>35.58</c:v>
                </c:pt>
                <c:pt idx="168">
                  <c:v>34.619999999999997</c:v>
                </c:pt>
                <c:pt idx="169">
                  <c:v>33.64</c:v>
                </c:pt>
                <c:pt idx="170">
                  <c:v>33.93</c:v>
                </c:pt>
                <c:pt idx="171">
                  <c:v>32.659999999999997</c:v>
                </c:pt>
                <c:pt idx="172">
                  <c:v>34.14</c:v>
                </c:pt>
                <c:pt idx="173">
                  <c:v>34.299999999999997</c:v>
                </c:pt>
                <c:pt idx="174">
                  <c:v>34.630000000000003</c:v>
                </c:pt>
                <c:pt idx="175">
                  <c:v>33.39</c:v>
                </c:pt>
                <c:pt idx="176">
                  <c:v>33.65</c:v>
                </c:pt>
                <c:pt idx="177">
                  <c:v>34.51</c:v>
                </c:pt>
                <c:pt idx="178">
                  <c:v>34.44</c:v>
                </c:pt>
                <c:pt idx="179">
                  <c:v>34.299999999999997</c:v>
                </c:pt>
                <c:pt idx="180">
                  <c:v>34.409999999999997</c:v>
                </c:pt>
                <c:pt idx="181">
                  <c:v>35.54</c:v>
                </c:pt>
                <c:pt idx="182">
                  <c:v>34.99</c:v>
                </c:pt>
                <c:pt idx="183">
                  <c:v>33.71</c:v>
                </c:pt>
                <c:pt idx="184">
                  <c:v>37.090000000000003</c:v>
                </c:pt>
                <c:pt idx="185">
                  <c:v>36.81</c:v>
                </c:pt>
                <c:pt idx="186">
                  <c:v>37.6</c:v>
                </c:pt>
                <c:pt idx="187">
                  <c:v>38.82</c:v>
                </c:pt>
                <c:pt idx="188">
                  <c:v>39.72</c:v>
                </c:pt>
                <c:pt idx="189">
                  <c:v>40.590000000000003</c:v>
                </c:pt>
                <c:pt idx="190">
                  <c:v>41.63</c:v>
                </c:pt>
                <c:pt idx="191">
                  <c:v>41.81</c:v>
                </c:pt>
                <c:pt idx="192">
                  <c:v>39.81</c:v>
                </c:pt>
                <c:pt idx="193">
                  <c:v>38.74</c:v>
                </c:pt>
                <c:pt idx="194">
                  <c:v>37.619999999999997</c:v>
                </c:pt>
                <c:pt idx="195">
                  <c:v>36.44</c:v>
                </c:pt>
                <c:pt idx="196">
                  <c:v>38.6</c:v>
                </c:pt>
                <c:pt idx="197">
                  <c:v>35.94</c:v>
                </c:pt>
                <c:pt idx="198">
                  <c:v>38.61</c:v>
                </c:pt>
                <c:pt idx="199">
                  <c:v>38.81</c:v>
                </c:pt>
                <c:pt idx="200">
                  <c:v>38.22</c:v>
                </c:pt>
                <c:pt idx="201">
                  <c:v>37.78</c:v>
                </c:pt>
                <c:pt idx="202">
                  <c:v>33.74</c:v>
                </c:pt>
                <c:pt idx="203">
                  <c:v>34.5</c:v>
                </c:pt>
                <c:pt idx="204">
                  <c:v>34.44</c:v>
                </c:pt>
                <c:pt idx="205">
                  <c:v>29.77</c:v>
                </c:pt>
                <c:pt idx="206">
                  <c:v>31.32</c:v>
                </c:pt>
                <c:pt idx="207">
                  <c:v>31.13</c:v>
                </c:pt>
                <c:pt idx="208">
                  <c:v>33.07</c:v>
                </c:pt>
                <c:pt idx="209">
                  <c:v>32.450000000000003</c:v>
                </c:pt>
                <c:pt idx="210">
                  <c:v>30.79</c:v>
                </c:pt>
                <c:pt idx="211">
                  <c:v>32.76</c:v>
                </c:pt>
                <c:pt idx="212">
                  <c:v>30.32</c:v>
                </c:pt>
                <c:pt idx="213">
                  <c:v>31.19</c:v>
                </c:pt>
                <c:pt idx="214">
                  <c:v>31.67</c:v>
                </c:pt>
                <c:pt idx="215">
                  <c:v>30.51</c:v>
                </c:pt>
                <c:pt idx="216">
                  <c:v>31.21</c:v>
                </c:pt>
                <c:pt idx="217">
                  <c:v>31.23</c:v>
                </c:pt>
                <c:pt idx="218">
                  <c:v>33.159999999999997</c:v>
                </c:pt>
                <c:pt idx="219">
                  <c:v>32.79</c:v>
                </c:pt>
                <c:pt idx="220">
                  <c:v>32.79</c:v>
                </c:pt>
                <c:pt idx="221">
                  <c:v>33.21</c:v>
                </c:pt>
                <c:pt idx="222">
                  <c:v>31.43</c:v>
                </c:pt>
                <c:pt idx="223">
                  <c:v>34.700000000000003</c:v>
                </c:pt>
                <c:pt idx="224">
                  <c:v>35.04</c:v>
                </c:pt>
                <c:pt idx="225">
                  <c:v>34.5</c:v>
                </c:pt>
                <c:pt idx="226">
                  <c:v>35.159999999999997</c:v>
                </c:pt>
                <c:pt idx="227">
                  <c:v>36.299999999999997</c:v>
                </c:pt>
                <c:pt idx="228">
                  <c:v>35.450000000000003</c:v>
                </c:pt>
                <c:pt idx="229">
                  <c:v>37.18</c:v>
                </c:pt>
                <c:pt idx="230">
                  <c:v>38.69</c:v>
                </c:pt>
                <c:pt idx="231">
                  <c:v>39.08</c:v>
                </c:pt>
                <c:pt idx="232">
                  <c:v>37.15</c:v>
                </c:pt>
                <c:pt idx="233">
                  <c:v>38.21</c:v>
                </c:pt>
                <c:pt idx="234">
                  <c:v>39.81</c:v>
                </c:pt>
                <c:pt idx="235">
                  <c:v>40.950000000000003</c:v>
                </c:pt>
                <c:pt idx="236">
                  <c:v>35.869999999999997</c:v>
                </c:pt>
                <c:pt idx="237">
                  <c:v>36.4</c:v>
                </c:pt>
                <c:pt idx="238">
                  <c:v>36.31</c:v>
                </c:pt>
                <c:pt idx="239">
                  <c:v>37.29</c:v>
                </c:pt>
                <c:pt idx="240">
                  <c:v>37.29</c:v>
                </c:pt>
                <c:pt idx="241">
                  <c:v>37.22</c:v>
                </c:pt>
                <c:pt idx="242">
                  <c:v>36.6</c:v>
                </c:pt>
                <c:pt idx="243">
                  <c:v>36.57</c:v>
                </c:pt>
                <c:pt idx="244">
                  <c:v>36.25</c:v>
                </c:pt>
                <c:pt idx="245">
                  <c:v>34.69</c:v>
                </c:pt>
                <c:pt idx="246">
                  <c:v>34.18</c:v>
                </c:pt>
                <c:pt idx="247">
                  <c:v>33.17</c:v>
                </c:pt>
                <c:pt idx="248">
                  <c:v>34.700000000000003</c:v>
                </c:pt>
                <c:pt idx="249">
                  <c:v>35.130000000000003</c:v>
                </c:pt>
                <c:pt idx="250">
                  <c:v>32.31</c:v>
                </c:pt>
                <c:pt idx="251">
                  <c:v>33.450000000000003</c:v>
                </c:pt>
                <c:pt idx="252">
                  <c:v>33.4</c:v>
                </c:pt>
                <c:pt idx="253">
                  <c:v>32.549999999999997</c:v>
                </c:pt>
                <c:pt idx="254">
                  <c:v>31.62</c:v>
                </c:pt>
                <c:pt idx="255">
                  <c:v>31.35</c:v>
                </c:pt>
                <c:pt idx="256">
                  <c:v>31.45</c:v>
                </c:pt>
                <c:pt idx="257">
                  <c:v>32.35</c:v>
                </c:pt>
                <c:pt idx="258">
                  <c:v>32.93</c:v>
                </c:pt>
                <c:pt idx="259">
                  <c:v>34.159999999999997</c:v>
                </c:pt>
                <c:pt idx="260">
                  <c:v>34.270000000000003</c:v>
                </c:pt>
                <c:pt idx="261">
                  <c:v>33.83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544-4AA5-9547-E4972EE486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+1σ (34.9×)</c:v>
                </c:pt>
              </c:strCache>
            </c:strRef>
          </c:tx>
          <c:spPr>
            <a:ln w="6350" cap="flat">
              <a:solidFill>
                <a:srgbClr val="1F7A4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34.94</c:v>
                </c:pt>
                <c:pt idx="1">
                  <c:v>34.94</c:v>
                </c:pt>
                <c:pt idx="2">
                  <c:v>34.94</c:v>
                </c:pt>
                <c:pt idx="3">
                  <c:v>34.94</c:v>
                </c:pt>
                <c:pt idx="4">
                  <c:v>34.94</c:v>
                </c:pt>
                <c:pt idx="5">
                  <c:v>34.94</c:v>
                </c:pt>
                <c:pt idx="6">
                  <c:v>34.94</c:v>
                </c:pt>
                <c:pt idx="7">
                  <c:v>34.94</c:v>
                </c:pt>
                <c:pt idx="8">
                  <c:v>34.94</c:v>
                </c:pt>
                <c:pt idx="9">
                  <c:v>34.94</c:v>
                </c:pt>
                <c:pt idx="10">
                  <c:v>34.94</c:v>
                </c:pt>
                <c:pt idx="11">
                  <c:v>34.94</c:v>
                </c:pt>
                <c:pt idx="12">
                  <c:v>34.94</c:v>
                </c:pt>
                <c:pt idx="13">
                  <c:v>34.94</c:v>
                </c:pt>
                <c:pt idx="14">
                  <c:v>34.94</c:v>
                </c:pt>
                <c:pt idx="15">
                  <c:v>34.94</c:v>
                </c:pt>
                <c:pt idx="16">
                  <c:v>34.94</c:v>
                </c:pt>
                <c:pt idx="17">
                  <c:v>34.94</c:v>
                </c:pt>
                <c:pt idx="18">
                  <c:v>34.94</c:v>
                </c:pt>
                <c:pt idx="19">
                  <c:v>34.94</c:v>
                </c:pt>
                <c:pt idx="20">
                  <c:v>34.94</c:v>
                </c:pt>
                <c:pt idx="21">
                  <c:v>34.94</c:v>
                </c:pt>
                <c:pt idx="22">
                  <c:v>34.94</c:v>
                </c:pt>
                <c:pt idx="23">
                  <c:v>34.94</c:v>
                </c:pt>
                <c:pt idx="24">
                  <c:v>34.94</c:v>
                </c:pt>
                <c:pt idx="25">
                  <c:v>34.94</c:v>
                </c:pt>
                <c:pt idx="26">
                  <c:v>34.94</c:v>
                </c:pt>
                <c:pt idx="27">
                  <c:v>34.94</c:v>
                </c:pt>
                <c:pt idx="28">
                  <c:v>34.94</c:v>
                </c:pt>
                <c:pt idx="29">
                  <c:v>34.94</c:v>
                </c:pt>
                <c:pt idx="30">
                  <c:v>34.94</c:v>
                </c:pt>
                <c:pt idx="31">
                  <c:v>34.94</c:v>
                </c:pt>
                <c:pt idx="32">
                  <c:v>34.94</c:v>
                </c:pt>
                <c:pt idx="33">
                  <c:v>34.94</c:v>
                </c:pt>
                <c:pt idx="34">
                  <c:v>34.94</c:v>
                </c:pt>
                <c:pt idx="35">
                  <c:v>34.94</c:v>
                </c:pt>
                <c:pt idx="36">
                  <c:v>34.94</c:v>
                </c:pt>
                <c:pt idx="37">
                  <c:v>34.94</c:v>
                </c:pt>
                <c:pt idx="38">
                  <c:v>34.94</c:v>
                </c:pt>
                <c:pt idx="39">
                  <c:v>34.94</c:v>
                </c:pt>
                <c:pt idx="40">
                  <c:v>34.94</c:v>
                </c:pt>
                <c:pt idx="41">
                  <c:v>34.94</c:v>
                </c:pt>
                <c:pt idx="42">
                  <c:v>34.94</c:v>
                </c:pt>
                <c:pt idx="43">
                  <c:v>34.94</c:v>
                </c:pt>
                <c:pt idx="44">
                  <c:v>34.94</c:v>
                </c:pt>
                <c:pt idx="45">
                  <c:v>34.94</c:v>
                </c:pt>
                <c:pt idx="46">
                  <c:v>34.94</c:v>
                </c:pt>
                <c:pt idx="47">
                  <c:v>34.94</c:v>
                </c:pt>
                <c:pt idx="48">
                  <c:v>34.94</c:v>
                </c:pt>
                <c:pt idx="49">
                  <c:v>34.94</c:v>
                </c:pt>
                <c:pt idx="50">
                  <c:v>34.94</c:v>
                </c:pt>
                <c:pt idx="51">
                  <c:v>34.94</c:v>
                </c:pt>
                <c:pt idx="52">
                  <c:v>34.94</c:v>
                </c:pt>
                <c:pt idx="53">
                  <c:v>34.94</c:v>
                </c:pt>
                <c:pt idx="54">
                  <c:v>34.94</c:v>
                </c:pt>
                <c:pt idx="55">
                  <c:v>34.94</c:v>
                </c:pt>
                <c:pt idx="56">
                  <c:v>34.94</c:v>
                </c:pt>
                <c:pt idx="57">
                  <c:v>34.94</c:v>
                </c:pt>
                <c:pt idx="58">
                  <c:v>34.94</c:v>
                </c:pt>
                <c:pt idx="59">
                  <c:v>34.94</c:v>
                </c:pt>
                <c:pt idx="60">
                  <c:v>34.94</c:v>
                </c:pt>
                <c:pt idx="61">
                  <c:v>34.94</c:v>
                </c:pt>
                <c:pt idx="62">
                  <c:v>34.94</c:v>
                </c:pt>
                <c:pt idx="63">
                  <c:v>34.94</c:v>
                </c:pt>
                <c:pt idx="64">
                  <c:v>34.94</c:v>
                </c:pt>
                <c:pt idx="65">
                  <c:v>34.94</c:v>
                </c:pt>
                <c:pt idx="66">
                  <c:v>34.94</c:v>
                </c:pt>
                <c:pt idx="67">
                  <c:v>34.94</c:v>
                </c:pt>
                <c:pt idx="68">
                  <c:v>34.94</c:v>
                </c:pt>
                <c:pt idx="69">
                  <c:v>34.94</c:v>
                </c:pt>
                <c:pt idx="70">
                  <c:v>34.94</c:v>
                </c:pt>
                <c:pt idx="71">
                  <c:v>34.94</c:v>
                </c:pt>
                <c:pt idx="72">
                  <c:v>34.94</c:v>
                </c:pt>
                <c:pt idx="73">
                  <c:v>34.94</c:v>
                </c:pt>
                <c:pt idx="74">
                  <c:v>34.94</c:v>
                </c:pt>
                <c:pt idx="75">
                  <c:v>34.94</c:v>
                </c:pt>
                <c:pt idx="76">
                  <c:v>34.94</c:v>
                </c:pt>
                <c:pt idx="77">
                  <c:v>34.94</c:v>
                </c:pt>
                <c:pt idx="78">
                  <c:v>34.94</c:v>
                </c:pt>
                <c:pt idx="79">
                  <c:v>34.94</c:v>
                </c:pt>
                <c:pt idx="80">
                  <c:v>34.94</c:v>
                </c:pt>
                <c:pt idx="81">
                  <c:v>34.94</c:v>
                </c:pt>
                <c:pt idx="82">
                  <c:v>34.94</c:v>
                </c:pt>
                <c:pt idx="83">
                  <c:v>34.94</c:v>
                </c:pt>
                <c:pt idx="84">
                  <c:v>34.94</c:v>
                </c:pt>
                <c:pt idx="85">
                  <c:v>34.94</c:v>
                </c:pt>
                <c:pt idx="86">
                  <c:v>34.94</c:v>
                </c:pt>
                <c:pt idx="87">
                  <c:v>34.94</c:v>
                </c:pt>
                <c:pt idx="88">
                  <c:v>34.94</c:v>
                </c:pt>
                <c:pt idx="89">
                  <c:v>34.94</c:v>
                </c:pt>
                <c:pt idx="90">
                  <c:v>34.94</c:v>
                </c:pt>
                <c:pt idx="91">
                  <c:v>34.94</c:v>
                </c:pt>
                <c:pt idx="92">
                  <c:v>34.94</c:v>
                </c:pt>
                <c:pt idx="93">
                  <c:v>34.94</c:v>
                </c:pt>
                <c:pt idx="94">
                  <c:v>34.94</c:v>
                </c:pt>
                <c:pt idx="95">
                  <c:v>34.94</c:v>
                </c:pt>
                <c:pt idx="96">
                  <c:v>34.94</c:v>
                </c:pt>
                <c:pt idx="97">
                  <c:v>34.94</c:v>
                </c:pt>
                <c:pt idx="98">
                  <c:v>34.94</c:v>
                </c:pt>
                <c:pt idx="99">
                  <c:v>34.94</c:v>
                </c:pt>
                <c:pt idx="100">
                  <c:v>34.94</c:v>
                </c:pt>
                <c:pt idx="101">
                  <c:v>34.94</c:v>
                </c:pt>
                <c:pt idx="102">
                  <c:v>34.94</c:v>
                </c:pt>
                <c:pt idx="103">
                  <c:v>34.94</c:v>
                </c:pt>
                <c:pt idx="104">
                  <c:v>34.94</c:v>
                </c:pt>
                <c:pt idx="105">
                  <c:v>34.94</c:v>
                </c:pt>
                <c:pt idx="106">
                  <c:v>34.94</c:v>
                </c:pt>
                <c:pt idx="107">
                  <c:v>34.94</c:v>
                </c:pt>
                <c:pt idx="108">
                  <c:v>34.94</c:v>
                </c:pt>
                <c:pt idx="109">
                  <c:v>34.94</c:v>
                </c:pt>
                <c:pt idx="110">
                  <c:v>34.94</c:v>
                </c:pt>
                <c:pt idx="111">
                  <c:v>34.94</c:v>
                </c:pt>
                <c:pt idx="112">
                  <c:v>34.94</c:v>
                </c:pt>
                <c:pt idx="113">
                  <c:v>34.94</c:v>
                </c:pt>
                <c:pt idx="114">
                  <c:v>34.94</c:v>
                </c:pt>
                <c:pt idx="115">
                  <c:v>34.94</c:v>
                </c:pt>
                <c:pt idx="116">
                  <c:v>34.94</c:v>
                </c:pt>
                <c:pt idx="117">
                  <c:v>34.94</c:v>
                </c:pt>
                <c:pt idx="118">
                  <c:v>34.94</c:v>
                </c:pt>
                <c:pt idx="119">
                  <c:v>34.94</c:v>
                </c:pt>
                <c:pt idx="120">
                  <c:v>34.94</c:v>
                </c:pt>
                <c:pt idx="121">
                  <c:v>34.94</c:v>
                </c:pt>
                <c:pt idx="122">
                  <c:v>34.94</c:v>
                </c:pt>
                <c:pt idx="123">
                  <c:v>34.94</c:v>
                </c:pt>
                <c:pt idx="124">
                  <c:v>34.94</c:v>
                </c:pt>
                <c:pt idx="125">
                  <c:v>34.94</c:v>
                </c:pt>
                <c:pt idx="126">
                  <c:v>34.94</c:v>
                </c:pt>
                <c:pt idx="127">
                  <c:v>34.94</c:v>
                </c:pt>
                <c:pt idx="128">
                  <c:v>34.94</c:v>
                </c:pt>
                <c:pt idx="129">
                  <c:v>34.94</c:v>
                </c:pt>
                <c:pt idx="130">
                  <c:v>34.94</c:v>
                </c:pt>
                <c:pt idx="131">
                  <c:v>34.94</c:v>
                </c:pt>
                <c:pt idx="132">
                  <c:v>34.94</c:v>
                </c:pt>
                <c:pt idx="133">
                  <c:v>34.94</c:v>
                </c:pt>
                <c:pt idx="134">
                  <c:v>34.94</c:v>
                </c:pt>
                <c:pt idx="135">
                  <c:v>34.94</c:v>
                </c:pt>
                <c:pt idx="136">
                  <c:v>34.94</c:v>
                </c:pt>
                <c:pt idx="137">
                  <c:v>34.94</c:v>
                </c:pt>
                <c:pt idx="138">
                  <c:v>34.94</c:v>
                </c:pt>
                <c:pt idx="139">
                  <c:v>34.94</c:v>
                </c:pt>
                <c:pt idx="140">
                  <c:v>34.94</c:v>
                </c:pt>
                <c:pt idx="141">
                  <c:v>34.94</c:v>
                </c:pt>
                <c:pt idx="142">
                  <c:v>34.94</c:v>
                </c:pt>
                <c:pt idx="143">
                  <c:v>34.94</c:v>
                </c:pt>
                <c:pt idx="144">
                  <c:v>34.94</c:v>
                </c:pt>
                <c:pt idx="145">
                  <c:v>34.94</c:v>
                </c:pt>
                <c:pt idx="146">
                  <c:v>34.94</c:v>
                </c:pt>
                <c:pt idx="147">
                  <c:v>34.94</c:v>
                </c:pt>
                <c:pt idx="148">
                  <c:v>34.94</c:v>
                </c:pt>
                <c:pt idx="149">
                  <c:v>34.94</c:v>
                </c:pt>
                <c:pt idx="150">
                  <c:v>34.94</c:v>
                </c:pt>
                <c:pt idx="151">
                  <c:v>34.94</c:v>
                </c:pt>
                <c:pt idx="152">
                  <c:v>34.94</c:v>
                </c:pt>
                <c:pt idx="153">
                  <c:v>34.94</c:v>
                </c:pt>
                <c:pt idx="154">
                  <c:v>34.94</c:v>
                </c:pt>
                <c:pt idx="155">
                  <c:v>34.94</c:v>
                </c:pt>
                <c:pt idx="156">
                  <c:v>34.94</c:v>
                </c:pt>
                <c:pt idx="157">
                  <c:v>34.94</c:v>
                </c:pt>
                <c:pt idx="158">
                  <c:v>34.94</c:v>
                </c:pt>
                <c:pt idx="159">
                  <c:v>34.94</c:v>
                </c:pt>
                <c:pt idx="160">
                  <c:v>34.94</c:v>
                </c:pt>
                <c:pt idx="161">
                  <c:v>34.94</c:v>
                </c:pt>
                <c:pt idx="162">
                  <c:v>34.94</c:v>
                </c:pt>
                <c:pt idx="163">
                  <c:v>34.94</c:v>
                </c:pt>
                <c:pt idx="164">
                  <c:v>34.94</c:v>
                </c:pt>
                <c:pt idx="165">
                  <c:v>34.94</c:v>
                </c:pt>
                <c:pt idx="166">
                  <c:v>34.94</c:v>
                </c:pt>
                <c:pt idx="167">
                  <c:v>34.94</c:v>
                </c:pt>
                <c:pt idx="168">
                  <c:v>34.94</c:v>
                </c:pt>
                <c:pt idx="169">
                  <c:v>34.94</c:v>
                </c:pt>
                <c:pt idx="170">
                  <c:v>34.94</c:v>
                </c:pt>
                <c:pt idx="171">
                  <c:v>34.94</c:v>
                </c:pt>
                <c:pt idx="172">
                  <c:v>34.94</c:v>
                </c:pt>
                <c:pt idx="173">
                  <c:v>34.94</c:v>
                </c:pt>
                <c:pt idx="174">
                  <c:v>34.94</c:v>
                </c:pt>
                <c:pt idx="175">
                  <c:v>34.94</c:v>
                </c:pt>
                <c:pt idx="176">
                  <c:v>34.94</c:v>
                </c:pt>
                <c:pt idx="177">
                  <c:v>34.94</c:v>
                </c:pt>
                <c:pt idx="178">
                  <c:v>34.94</c:v>
                </c:pt>
                <c:pt idx="179">
                  <c:v>34.94</c:v>
                </c:pt>
                <c:pt idx="180">
                  <c:v>34.94</c:v>
                </c:pt>
                <c:pt idx="181">
                  <c:v>34.94</c:v>
                </c:pt>
                <c:pt idx="182">
                  <c:v>34.94</c:v>
                </c:pt>
                <c:pt idx="183">
                  <c:v>34.94</c:v>
                </c:pt>
                <c:pt idx="184">
                  <c:v>34.94</c:v>
                </c:pt>
                <c:pt idx="185">
                  <c:v>34.94</c:v>
                </c:pt>
                <c:pt idx="186">
                  <c:v>34.94</c:v>
                </c:pt>
                <c:pt idx="187">
                  <c:v>34.94</c:v>
                </c:pt>
                <c:pt idx="188">
                  <c:v>34.94</c:v>
                </c:pt>
                <c:pt idx="189">
                  <c:v>34.94</c:v>
                </c:pt>
                <c:pt idx="190">
                  <c:v>34.94</c:v>
                </c:pt>
                <c:pt idx="191">
                  <c:v>34.94</c:v>
                </c:pt>
                <c:pt idx="192">
                  <c:v>34.94</c:v>
                </c:pt>
                <c:pt idx="193">
                  <c:v>34.94</c:v>
                </c:pt>
                <c:pt idx="194">
                  <c:v>34.94</c:v>
                </c:pt>
                <c:pt idx="195">
                  <c:v>34.94</c:v>
                </c:pt>
                <c:pt idx="196">
                  <c:v>34.94</c:v>
                </c:pt>
                <c:pt idx="197">
                  <c:v>34.94</c:v>
                </c:pt>
                <c:pt idx="198">
                  <c:v>34.94</c:v>
                </c:pt>
                <c:pt idx="199">
                  <c:v>34.94</c:v>
                </c:pt>
                <c:pt idx="200">
                  <c:v>34.94</c:v>
                </c:pt>
                <c:pt idx="201">
                  <c:v>34.94</c:v>
                </c:pt>
                <c:pt idx="202">
                  <c:v>34.94</c:v>
                </c:pt>
                <c:pt idx="203">
                  <c:v>34.94</c:v>
                </c:pt>
                <c:pt idx="204">
                  <c:v>34.94</c:v>
                </c:pt>
                <c:pt idx="205">
                  <c:v>34.94</c:v>
                </c:pt>
                <c:pt idx="206">
                  <c:v>34.94</c:v>
                </c:pt>
                <c:pt idx="207">
                  <c:v>34.94</c:v>
                </c:pt>
                <c:pt idx="208">
                  <c:v>34.94</c:v>
                </c:pt>
                <c:pt idx="209">
                  <c:v>34.94</c:v>
                </c:pt>
                <c:pt idx="210">
                  <c:v>34.94</c:v>
                </c:pt>
                <c:pt idx="211">
                  <c:v>34.94</c:v>
                </c:pt>
                <c:pt idx="212">
                  <c:v>34.94</c:v>
                </c:pt>
                <c:pt idx="213">
                  <c:v>34.94</c:v>
                </c:pt>
                <c:pt idx="214">
                  <c:v>34.94</c:v>
                </c:pt>
                <c:pt idx="215">
                  <c:v>34.94</c:v>
                </c:pt>
                <c:pt idx="216">
                  <c:v>34.94</c:v>
                </c:pt>
                <c:pt idx="217">
                  <c:v>34.94</c:v>
                </c:pt>
                <c:pt idx="218">
                  <c:v>34.94</c:v>
                </c:pt>
                <c:pt idx="219">
                  <c:v>34.94</c:v>
                </c:pt>
                <c:pt idx="220">
                  <c:v>34.94</c:v>
                </c:pt>
                <c:pt idx="221">
                  <c:v>34.94</c:v>
                </c:pt>
                <c:pt idx="222">
                  <c:v>34.94</c:v>
                </c:pt>
                <c:pt idx="223">
                  <c:v>34.94</c:v>
                </c:pt>
                <c:pt idx="224">
                  <c:v>34.94</c:v>
                </c:pt>
                <c:pt idx="225">
                  <c:v>34.94</c:v>
                </c:pt>
                <c:pt idx="226">
                  <c:v>34.94</c:v>
                </c:pt>
                <c:pt idx="227">
                  <c:v>34.94</c:v>
                </c:pt>
                <c:pt idx="228">
                  <c:v>34.94</c:v>
                </c:pt>
                <c:pt idx="229">
                  <c:v>34.94</c:v>
                </c:pt>
                <c:pt idx="230">
                  <c:v>34.94</c:v>
                </c:pt>
                <c:pt idx="231">
                  <c:v>34.94</c:v>
                </c:pt>
                <c:pt idx="232">
                  <c:v>34.94</c:v>
                </c:pt>
                <c:pt idx="233">
                  <c:v>34.94</c:v>
                </c:pt>
                <c:pt idx="234">
                  <c:v>34.94</c:v>
                </c:pt>
                <c:pt idx="235">
                  <c:v>34.94</c:v>
                </c:pt>
                <c:pt idx="236">
                  <c:v>34.94</c:v>
                </c:pt>
                <c:pt idx="237">
                  <c:v>34.94</c:v>
                </c:pt>
                <c:pt idx="238">
                  <c:v>34.94</c:v>
                </c:pt>
                <c:pt idx="239">
                  <c:v>34.94</c:v>
                </c:pt>
                <c:pt idx="240">
                  <c:v>34.94</c:v>
                </c:pt>
                <c:pt idx="241">
                  <c:v>34.94</c:v>
                </c:pt>
                <c:pt idx="242">
                  <c:v>34.94</c:v>
                </c:pt>
                <c:pt idx="243">
                  <c:v>34.94</c:v>
                </c:pt>
                <c:pt idx="244">
                  <c:v>34.94</c:v>
                </c:pt>
                <c:pt idx="245">
                  <c:v>34.94</c:v>
                </c:pt>
                <c:pt idx="246">
                  <c:v>34.94</c:v>
                </c:pt>
                <c:pt idx="247">
                  <c:v>34.94</c:v>
                </c:pt>
                <c:pt idx="248">
                  <c:v>34.94</c:v>
                </c:pt>
                <c:pt idx="249">
                  <c:v>34.94</c:v>
                </c:pt>
                <c:pt idx="250">
                  <c:v>34.94</c:v>
                </c:pt>
                <c:pt idx="251">
                  <c:v>34.94</c:v>
                </c:pt>
                <c:pt idx="252">
                  <c:v>34.94</c:v>
                </c:pt>
                <c:pt idx="253">
                  <c:v>34.94</c:v>
                </c:pt>
                <c:pt idx="254">
                  <c:v>34.94</c:v>
                </c:pt>
                <c:pt idx="255">
                  <c:v>34.94</c:v>
                </c:pt>
                <c:pt idx="256">
                  <c:v>34.94</c:v>
                </c:pt>
                <c:pt idx="257">
                  <c:v>34.94</c:v>
                </c:pt>
                <c:pt idx="258">
                  <c:v>34.94</c:v>
                </c:pt>
                <c:pt idx="259">
                  <c:v>34.94</c:v>
                </c:pt>
                <c:pt idx="260">
                  <c:v>34.94</c:v>
                </c:pt>
                <c:pt idx="261">
                  <c:v>34.94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44-4AA5-9547-E4972EE486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(30.3×)</c:v>
                </c:pt>
              </c:strCache>
            </c:strRef>
          </c:tx>
          <c:spPr>
            <a:ln w="6350" cap="flat">
              <a:solidFill>
                <a:srgbClr val="CBD0D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30.33</c:v>
                </c:pt>
                <c:pt idx="1">
                  <c:v>30.33</c:v>
                </c:pt>
                <c:pt idx="2">
                  <c:v>30.33</c:v>
                </c:pt>
                <c:pt idx="3">
                  <c:v>30.33</c:v>
                </c:pt>
                <c:pt idx="4">
                  <c:v>30.33</c:v>
                </c:pt>
                <c:pt idx="5">
                  <c:v>30.33</c:v>
                </c:pt>
                <c:pt idx="6">
                  <c:v>30.33</c:v>
                </c:pt>
                <c:pt idx="7">
                  <c:v>30.33</c:v>
                </c:pt>
                <c:pt idx="8">
                  <c:v>30.33</c:v>
                </c:pt>
                <c:pt idx="9">
                  <c:v>30.33</c:v>
                </c:pt>
                <c:pt idx="10">
                  <c:v>30.33</c:v>
                </c:pt>
                <c:pt idx="11">
                  <c:v>30.33</c:v>
                </c:pt>
                <c:pt idx="12">
                  <c:v>30.33</c:v>
                </c:pt>
                <c:pt idx="13">
                  <c:v>30.33</c:v>
                </c:pt>
                <c:pt idx="14">
                  <c:v>30.33</c:v>
                </c:pt>
                <c:pt idx="15">
                  <c:v>30.33</c:v>
                </c:pt>
                <c:pt idx="16">
                  <c:v>30.33</c:v>
                </c:pt>
                <c:pt idx="17">
                  <c:v>30.33</c:v>
                </c:pt>
                <c:pt idx="18">
                  <c:v>30.33</c:v>
                </c:pt>
                <c:pt idx="19">
                  <c:v>30.33</c:v>
                </c:pt>
                <c:pt idx="20">
                  <c:v>30.33</c:v>
                </c:pt>
                <c:pt idx="21">
                  <c:v>30.33</c:v>
                </c:pt>
                <c:pt idx="22">
                  <c:v>30.33</c:v>
                </c:pt>
                <c:pt idx="23">
                  <c:v>30.33</c:v>
                </c:pt>
                <c:pt idx="24">
                  <c:v>30.33</c:v>
                </c:pt>
                <c:pt idx="25">
                  <c:v>30.33</c:v>
                </c:pt>
                <c:pt idx="26">
                  <c:v>30.33</c:v>
                </c:pt>
                <c:pt idx="27">
                  <c:v>30.33</c:v>
                </c:pt>
                <c:pt idx="28">
                  <c:v>30.33</c:v>
                </c:pt>
                <c:pt idx="29">
                  <c:v>30.33</c:v>
                </c:pt>
                <c:pt idx="30">
                  <c:v>30.33</c:v>
                </c:pt>
                <c:pt idx="31">
                  <c:v>30.33</c:v>
                </c:pt>
                <c:pt idx="32">
                  <c:v>30.33</c:v>
                </c:pt>
                <c:pt idx="33">
                  <c:v>30.33</c:v>
                </c:pt>
                <c:pt idx="34">
                  <c:v>30.33</c:v>
                </c:pt>
                <c:pt idx="35">
                  <c:v>30.33</c:v>
                </c:pt>
                <c:pt idx="36">
                  <c:v>30.33</c:v>
                </c:pt>
                <c:pt idx="37">
                  <c:v>30.33</c:v>
                </c:pt>
                <c:pt idx="38">
                  <c:v>30.33</c:v>
                </c:pt>
                <c:pt idx="39">
                  <c:v>30.33</c:v>
                </c:pt>
                <c:pt idx="40">
                  <c:v>30.33</c:v>
                </c:pt>
                <c:pt idx="41">
                  <c:v>30.33</c:v>
                </c:pt>
                <c:pt idx="42">
                  <c:v>30.33</c:v>
                </c:pt>
                <c:pt idx="43">
                  <c:v>30.33</c:v>
                </c:pt>
                <c:pt idx="44">
                  <c:v>30.33</c:v>
                </c:pt>
                <c:pt idx="45">
                  <c:v>30.33</c:v>
                </c:pt>
                <c:pt idx="46">
                  <c:v>30.33</c:v>
                </c:pt>
                <c:pt idx="47">
                  <c:v>30.33</c:v>
                </c:pt>
                <c:pt idx="48">
                  <c:v>30.33</c:v>
                </c:pt>
                <c:pt idx="49">
                  <c:v>30.33</c:v>
                </c:pt>
                <c:pt idx="50">
                  <c:v>30.33</c:v>
                </c:pt>
                <c:pt idx="51">
                  <c:v>30.33</c:v>
                </c:pt>
                <c:pt idx="52">
                  <c:v>30.33</c:v>
                </c:pt>
                <c:pt idx="53">
                  <c:v>30.33</c:v>
                </c:pt>
                <c:pt idx="54">
                  <c:v>30.33</c:v>
                </c:pt>
                <c:pt idx="55">
                  <c:v>30.33</c:v>
                </c:pt>
                <c:pt idx="56">
                  <c:v>30.33</c:v>
                </c:pt>
                <c:pt idx="57">
                  <c:v>30.33</c:v>
                </c:pt>
                <c:pt idx="58">
                  <c:v>30.33</c:v>
                </c:pt>
                <c:pt idx="59">
                  <c:v>30.33</c:v>
                </c:pt>
                <c:pt idx="60">
                  <c:v>30.33</c:v>
                </c:pt>
                <c:pt idx="61">
                  <c:v>30.33</c:v>
                </c:pt>
                <c:pt idx="62">
                  <c:v>30.33</c:v>
                </c:pt>
                <c:pt idx="63">
                  <c:v>30.33</c:v>
                </c:pt>
                <c:pt idx="64">
                  <c:v>30.33</c:v>
                </c:pt>
                <c:pt idx="65">
                  <c:v>30.33</c:v>
                </c:pt>
                <c:pt idx="66">
                  <c:v>30.33</c:v>
                </c:pt>
                <c:pt idx="67">
                  <c:v>30.33</c:v>
                </c:pt>
                <c:pt idx="68">
                  <c:v>30.33</c:v>
                </c:pt>
                <c:pt idx="69">
                  <c:v>30.33</c:v>
                </c:pt>
                <c:pt idx="70">
                  <c:v>30.33</c:v>
                </c:pt>
                <c:pt idx="71">
                  <c:v>30.33</c:v>
                </c:pt>
                <c:pt idx="72">
                  <c:v>30.33</c:v>
                </c:pt>
                <c:pt idx="73">
                  <c:v>30.33</c:v>
                </c:pt>
                <c:pt idx="74">
                  <c:v>30.33</c:v>
                </c:pt>
                <c:pt idx="75">
                  <c:v>30.33</c:v>
                </c:pt>
                <c:pt idx="76">
                  <c:v>30.33</c:v>
                </c:pt>
                <c:pt idx="77">
                  <c:v>30.33</c:v>
                </c:pt>
                <c:pt idx="78">
                  <c:v>30.33</c:v>
                </c:pt>
                <c:pt idx="79">
                  <c:v>30.33</c:v>
                </c:pt>
                <c:pt idx="80">
                  <c:v>30.33</c:v>
                </c:pt>
                <c:pt idx="81">
                  <c:v>30.33</c:v>
                </c:pt>
                <c:pt idx="82">
                  <c:v>30.33</c:v>
                </c:pt>
                <c:pt idx="83">
                  <c:v>30.33</c:v>
                </c:pt>
                <c:pt idx="84">
                  <c:v>30.33</c:v>
                </c:pt>
                <c:pt idx="85">
                  <c:v>30.33</c:v>
                </c:pt>
                <c:pt idx="86">
                  <c:v>30.33</c:v>
                </c:pt>
                <c:pt idx="87">
                  <c:v>30.33</c:v>
                </c:pt>
                <c:pt idx="88">
                  <c:v>30.33</c:v>
                </c:pt>
                <c:pt idx="89">
                  <c:v>30.33</c:v>
                </c:pt>
                <c:pt idx="90">
                  <c:v>30.33</c:v>
                </c:pt>
                <c:pt idx="91">
                  <c:v>30.33</c:v>
                </c:pt>
                <c:pt idx="92">
                  <c:v>30.33</c:v>
                </c:pt>
                <c:pt idx="93">
                  <c:v>30.33</c:v>
                </c:pt>
                <c:pt idx="94">
                  <c:v>30.33</c:v>
                </c:pt>
                <c:pt idx="95">
                  <c:v>30.33</c:v>
                </c:pt>
                <c:pt idx="96">
                  <c:v>30.33</c:v>
                </c:pt>
                <c:pt idx="97">
                  <c:v>30.33</c:v>
                </c:pt>
                <c:pt idx="98">
                  <c:v>30.33</c:v>
                </c:pt>
                <c:pt idx="99">
                  <c:v>30.33</c:v>
                </c:pt>
                <c:pt idx="100">
                  <c:v>30.33</c:v>
                </c:pt>
                <c:pt idx="101">
                  <c:v>30.33</c:v>
                </c:pt>
                <c:pt idx="102">
                  <c:v>30.33</c:v>
                </c:pt>
                <c:pt idx="103">
                  <c:v>30.33</c:v>
                </c:pt>
                <c:pt idx="104">
                  <c:v>30.33</c:v>
                </c:pt>
                <c:pt idx="105">
                  <c:v>30.33</c:v>
                </c:pt>
                <c:pt idx="106">
                  <c:v>30.33</c:v>
                </c:pt>
                <c:pt idx="107">
                  <c:v>30.33</c:v>
                </c:pt>
                <c:pt idx="108">
                  <c:v>30.33</c:v>
                </c:pt>
                <c:pt idx="109">
                  <c:v>30.33</c:v>
                </c:pt>
                <c:pt idx="110">
                  <c:v>30.33</c:v>
                </c:pt>
                <c:pt idx="111">
                  <c:v>30.33</c:v>
                </c:pt>
                <c:pt idx="112">
                  <c:v>30.33</c:v>
                </c:pt>
                <c:pt idx="113">
                  <c:v>30.33</c:v>
                </c:pt>
                <c:pt idx="114">
                  <c:v>30.33</c:v>
                </c:pt>
                <c:pt idx="115">
                  <c:v>30.33</c:v>
                </c:pt>
                <c:pt idx="116">
                  <c:v>30.33</c:v>
                </c:pt>
                <c:pt idx="117">
                  <c:v>30.33</c:v>
                </c:pt>
                <c:pt idx="118">
                  <c:v>30.33</c:v>
                </c:pt>
                <c:pt idx="119">
                  <c:v>30.33</c:v>
                </c:pt>
                <c:pt idx="120">
                  <c:v>30.33</c:v>
                </c:pt>
                <c:pt idx="121">
                  <c:v>30.33</c:v>
                </c:pt>
                <c:pt idx="122">
                  <c:v>30.33</c:v>
                </c:pt>
                <c:pt idx="123">
                  <c:v>30.33</c:v>
                </c:pt>
                <c:pt idx="124">
                  <c:v>30.33</c:v>
                </c:pt>
                <c:pt idx="125">
                  <c:v>30.33</c:v>
                </c:pt>
                <c:pt idx="126">
                  <c:v>30.33</c:v>
                </c:pt>
                <c:pt idx="127">
                  <c:v>30.33</c:v>
                </c:pt>
                <c:pt idx="128">
                  <c:v>30.33</c:v>
                </c:pt>
                <c:pt idx="129">
                  <c:v>30.33</c:v>
                </c:pt>
                <c:pt idx="130">
                  <c:v>30.33</c:v>
                </c:pt>
                <c:pt idx="131">
                  <c:v>30.33</c:v>
                </c:pt>
                <c:pt idx="132">
                  <c:v>30.33</c:v>
                </c:pt>
                <c:pt idx="133">
                  <c:v>30.33</c:v>
                </c:pt>
                <c:pt idx="134">
                  <c:v>30.33</c:v>
                </c:pt>
                <c:pt idx="135">
                  <c:v>30.33</c:v>
                </c:pt>
                <c:pt idx="136">
                  <c:v>30.33</c:v>
                </c:pt>
                <c:pt idx="137">
                  <c:v>30.33</c:v>
                </c:pt>
                <c:pt idx="138">
                  <c:v>30.33</c:v>
                </c:pt>
                <c:pt idx="139">
                  <c:v>30.33</c:v>
                </c:pt>
                <c:pt idx="140">
                  <c:v>30.33</c:v>
                </c:pt>
                <c:pt idx="141">
                  <c:v>30.33</c:v>
                </c:pt>
                <c:pt idx="142">
                  <c:v>30.33</c:v>
                </c:pt>
                <c:pt idx="143">
                  <c:v>30.33</c:v>
                </c:pt>
                <c:pt idx="144">
                  <c:v>30.33</c:v>
                </c:pt>
                <c:pt idx="145">
                  <c:v>30.33</c:v>
                </c:pt>
                <c:pt idx="146">
                  <c:v>30.33</c:v>
                </c:pt>
                <c:pt idx="147">
                  <c:v>30.33</c:v>
                </c:pt>
                <c:pt idx="148">
                  <c:v>30.33</c:v>
                </c:pt>
                <c:pt idx="149">
                  <c:v>30.33</c:v>
                </c:pt>
                <c:pt idx="150">
                  <c:v>30.33</c:v>
                </c:pt>
                <c:pt idx="151">
                  <c:v>30.33</c:v>
                </c:pt>
                <c:pt idx="152">
                  <c:v>30.33</c:v>
                </c:pt>
                <c:pt idx="153">
                  <c:v>30.33</c:v>
                </c:pt>
                <c:pt idx="154">
                  <c:v>30.33</c:v>
                </c:pt>
                <c:pt idx="155">
                  <c:v>30.33</c:v>
                </c:pt>
                <c:pt idx="156">
                  <c:v>30.33</c:v>
                </c:pt>
                <c:pt idx="157">
                  <c:v>30.33</c:v>
                </c:pt>
                <c:pt idx="158">
                  <c:v>30.33</c:v>
                </c:pt>
                <c:pt idx="159">
                  <c:v>30.33</c:v>
                </c:pt>
                <c:pt idx="160">
                  <c:v>30.33</c:v>
                </c:pt>
                <c:pt idx="161">
                  <c:v>30.33</c:v>
                </c:pt>
                <c:pt idx="162">
                  <c:v>30.33</c:v>
                </c:pt>
                <c:pt idx="163">
                  <c:v>30.33</c:v>
                </c:pt>
                <c:pt idx="164">
                  <c:v>30.33</c:v>
                </c:pt>
                <c:pt idx="165">
                  <c:v>30.33</c:v>
                </c:pt>
                <c:pt idx="166">
                  <c:v>30.33</c:v>
                </c:pt>
                <c:pt idx="167">
                  <c:v>30.33</c:v>
                </c:pt>
                <c:pt idx="168">
                  <c:v>30.33</c:v>
                </c:pt>
                <c:pt idx="169">
                  <c:v>30.33</c:v>
                </c:pt>
                <c:pt idx="170">
                  <c:v>30.33</c:v>
                </c:pt>
                <c:pt idx="171">
                  <c:v>30.33</c:v>
                </c:pt>
                <c:pt idx="172">
                  <c:v>30.33</c:v>
                </c:pt>
                <c:pt idx="173">
                  <c:v>30.33</c:v>
                </c:pt>
                <c:pt idx="174">
                  <c:v>30.33</c:v>
                </c:pt>
                <c:pt idx="175">
                  <c:v>30.33</c:v>
                </c:pt>
                <c:pt idx="176">
                  <c:v>30.33</c:v>
                </c:pt>
                <c:pt idx="177">
                  <c:v>30.33</c:v>
                </c:pt>
                <c:pt idx="178">
                  <c:v>30.33</c:v>
                </c:pt>
                <c:pt idx="179">
                  <c:v>30.33</c:v>
                </c:pt>
                <c:pt idx="180">
                  <c:v>30.33</c:v>
                </c:pt>
                <c:pt idx="181">
                  <c:v>30.33</c:v>
                </c:pt>
                <c:pt idx="182">
                  <c:v>30.33</c:v>
                </c:pt>
                <c:pt idx="183">
                  <c:v>30.33</c:v>
                </c:pt>
                <c:pt idx="184">
                  <c:v>30.33</c:v>
                </c:pt>
                <c:pt idx="185">
                  <c:v>30.33</c:v>
                </c:pt>
                <c:pt idx="186">
                  <c:v>30.33</c:v>
                </c:pt>
                <c:pt idx="187">
                  <c:v>30.33</c:v>
                </c:pt>
                <c:pt idx="188">
                  <c:v>30.33</c:v>
                </c:pt>
                <c:pt idx="189">
                  <c:v>30.33</c:v>
                </c:pt>
                <c:pt idx="190">
                  <c:v>30.33</c:v>
                </c:pt>
                <c:pt idx="191">
                  <c:v>30.33</c:v>
                </c:pt>
                <c:pt idx="192">
                  <c:v>30.33</c:v>
                </c:pt>
                <c:pt idx="193">
                  <c:v>30.33</c:v>
                </c:pt>
                <c:pt idx="194">
                  <c:v>30.33</c:v>
                </c:pt>
                <c:pt idx="195">
                  <c:v>30.33</c:v>
                </c:pt>
                <c:pt idx="196">
                  <c:v>30.33</c:v>
                </c:pt>
                <c:pt idx="197">
                  <c:v>30.33</c:v>
                </c:pt>
                <c:pt idx="198">
                  <c:v>30.33</c:v>
                </c:pt>
                <c:pt idx="199">
                  <c:v>30.33</c:v>
                </c:pt>
                <c:pt idx="200">
                  <c:v>30.33</c:v>
                </c:pt>
                <c:pt idx="201">
                  <c:v>30.33</c:v>
                </c:pt>
                <c:pt idx="202">
                  <c:v>30.33</c:v>
                </c:pt>
                <c:pt idx="203">
                  <c:v>30.33</c:v>
                </c:pt>
                <c:pt idx="204">
                  <c:v>30.33</c:v>
                </c:pt>
                <c:pt idx="205">
                  <c:v>30.33</c:v>
                </c:pt>
                <c:pt idx="206">
                  <c:v>30.33</c:v>
                </c:pt>
                <c:pt idx="207">
                  <c:v>30.33</c:v>
                </c:pt>
                <c:pt idx="208">
                  <c:v>30.33</c:v>
                </c:pt>
                <c:pt idx="209">
                  <c:v>30.33</c:v>
                </c:pt>
                <c:pt idx="210">
                  <c:v>30.33</c:v>
                </c:pt>
                <c:pt idx="211">
                  <c:v>30.33</c:v>
                </c:pt>
                <c:pt idx="212">
                  <c:v>30.33</c:v>
                </c:pt>
                <c:pt idx="213">
                  <c:v>30.33</c:v>
                </c:pt>
                <c:pt idx="214">
                  <c:v>30.33</c:v>
                </c:pt>
                <c:pt idx="215">
                  <c:v>30.33</c:v>
                </c:pt>
                <c:pt idx="216">
                  <c:v>30.33</c:v>
                </c:pt>
                <c:pt idx="217">
                  <c:v>30.33</c:v>
                </c:pt>
                <c:pt idx="218">
                  <c:v>30.33</c:v>
                </c:pt>
                <c:pt idx="219">
                  <c:v>30.33</c:v>
                </c:pt>
                <c:pt idx="220">
                  <c:v>30.33</c:v>
                </c:pt>
                <c:pt idx="221">
                  <c:v>30.33</c:v>
                </c:pt>
                <c:pt idx="222">
                  <c:v>30.33</c:v>
                </c:pt>
                <c:pt idx="223">
                  <c:v>30.33</c:v>
                </c:pt>
                <c:pt idx="224">
                  <c:v>30.33</c:v>
                </c:pt>
                <c:pt idx="225">
                  <c:v>30.33</c:v>
                </c:pt>
                <c:pt idx="226">
                  <c:v>30.33</c:v>
                </c:pt>
                <c:pt idx="227">
                  <c:v>30.33</c:v>
                </c:pt>
                <c:pt idx="228">
                  <c:v>30.33</c:v>
                </c:pt>
                <c:pt idx="229">
                  <c:v>30.33</c:v>
                </c:pt>
                <c:pt idx="230">
                  <c:v>30.33</c:v>
                </c:pt>
                <c:pt idx="231">
                  <c:v>30.33</c:v>
                </c:pt>
                <c:pt idx="232">
                  <c:v>30.33</c:v>
                </c:pt>
                <c:pt idx="233">
                  <c:v>30.33</c:v>
                </c:pt>
                <c:pt idx="234">
                  <c:v>30.33</c:v>
                </c:pt>
                <c:pt idx="235">
                  <c:v>30.33</c:v>
                </c:pt>
                <c:pt idx="236">
                  <c:v>30.33</c:v>
                </c:pt>
                <c:pt idx="237">
                  <c:v>30.33</c:v>
                </c:pt>
                <c:pt idx="238">
                  <c:v>30.33</c:v>
                </c:pt>
                <c:pt idx="239">
                  <c:v>30.33</c:v>
                </c:pt>
                <c:pt idx="240">
                  <c:v>30.33</c:v>
                </c:pt>
                <c:pt idx="241">
                  <c:v>30.33</c:v>
                </c:pt>
                <c:pt idx="242">
                  <c:v>30.33</c:v>
                </c:pt>
                <c:pt idx="243">
                  <c:v>30.33</c:v>
                </c:pt>
                <c:pt idx="244">
                  <c:v>30.33</c:v>
                </c:pt>
                <c:pt idx="245">
                  <c:v>30.33</c:v>
                </c:pt>
                <c:pt idx="246">
                  <c:v>30.33</c:v>
                </c:pt>
                <c:pt idx="247">
                  <c:v>30.33</c:v>
                </c:pt>
                <c:pt idx="248">
                  <c:v>30.33</c:v>
                </c:pt>
                <c:pt idx="249">
                  <c:v>30.33</c:v>
                </c:pt>
                <c:pt idx="250">
                  <c:v>30.33</c:v>
                </c:pt>
                <c:pt idx="251">
                  <c:v>30.33</c:v>
                </c:pt>
                <c:pt idx="252">
                  <c:v>30.33</c:v>
                </c:pt>
                <c:pt idx="253">
                  <c:v>30.33</c:v>
                </c:pt>
                <c:pt idx="254">
                  <c:v>30.33</c:v>
                </c:pt>
                <c:pt idx="255">
                  <c:v>30.33</c:v>
                </c:pt>
                <c:pt idx="256">
                  <c:v>30.33</c:v>
                </c:pt>
                <c:pt idx="257">
                  <c:v>30.33</c:v>
                </c:pt>
                <c:pt idx="258">
                  <c:v>30.33</c:v>
                </c:pt>
                <c:pt idx="259">
                  <c:v>30.33</c:v>
                </c:pt>
                <c:pt idx="260">
                  <c:v>30.33</c:v>
                </c:pt>
                <c:pt idx="261">
                  <c:v>30.33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544-4AA5-9547-E4972EE486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-1σ (25.7×)</c:v>
                </c:pt>
              </c:strCache>
            </c:strRef>
          </c:tx>
          <c:spPr>
            <a:ln w="6350" cap="flat">
              <a:solidFill>
                <a:srgbClr val="B33A2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Sheet1!$E$2:$E$263</c:f>
              <c:numCache>
                <c:formatCode>General</c:formatCode>
                <c:ptCount val="262"/>
                <c:pt idx="0">
                  <c:v>25.72</c:v>
                </c:pt>
                <c:pt idx="1">
                  <c:v>25.72</c:v>
                </c:pt>
                <c:pt idx="2">
                  <c:v>25.72</c:v>
                </c:pt>
                <c:pt idx="3">
                  <c:v>25.72</c:v>
                </c:pt>
                <c:pt idx="4">
                  <c:v>25.72</c:v>
                </c:pt>
                <c:pt idx="5">
                  <c:v>25.72</c:v>
                </c:pt>
                <c:pt idx="6">
                  <c:v>25.72</c:v>
                </c:pt>
                <c:pt idx="7">
                  <c:v>25.72</c:v>
                </c:pt>
                <c:pt idx="8">
                  <c:v>25.72</c:v>
                </c:pt>
                <c:pt idx="9">
                  <c:v>25.72</c:v>
                </c:pt>
                <c:pt idx="10">
                  <c:v>25.72</c:v>
                </c:pt>
                <c:pt idx="11">
                  <c:v>25.72</c:v>
                </c:pt>
                <c:pt idx="12">
                  <c:v>25.72</c:v>
                </c:pt>
                <c:pt idx="13">
                  <c:v>25.72</c:v>
                </c:pt>
                <c:pt idx="14">
                  <c:v>25.72</c:v>
                </c:pt>
                <c:pt idx="15">
                  <c:v>25.72</c:v>
                </c:pt>
                <c:pt idx="16">
                  <c:v>25.72</c:v>
                </c:pt>
                <c:pt idx="17">
                  <c:v>25.72</c:v>
                </c:pt>
                <c:pt idx="18">
                  <c:v>25.72</c:v>
                </c:pt>
                <c:pt idx="19">
                  <c:v>25.72</c:v>
                </c:pt>
                <c:pt idx="20">
                  <c:v>25.72</c:v>
                </c:pt>
                <c:pt idx="21">
                  <c:v>25.72</c:v>
                </c:pt>
                <c:pt idx="22">
                  <c:v>25.72</c:v>
                </c:pt>
                <c:pt idx="23">
                  <c:v>25.72</c:v>
                </c:pt>
                <c:pt idx="24">
                  <c:v>25.72</c:v>
                </c:pt>
                <c:pt idx="25">
                  <c:v>25.72</c:v>
                </c:pt>
                <c:pt idx="26">
                  <c:v>25.72</c:v>
                </c:pt>
                <c:pt idx="27">
                  <c:v>25.72</c:v>
                </c:pt>
                <c:pt idx="28">
                  <c:v>25.72</c:v>
                </c:pt>
                <c:pt idx="29">
                  <c:v>25.72</c:v>
                </c:pt>
                <c:pt idx="30">
                  <c:v>25.72</c:v>
                </c:pt>
                <c:pt idx="31">
                  <c:v>25.72</c:v>
                </c:pt>
                <c:pt idx="32">
                  <c:v>25.72</c:v>
                </c:pt>
                <c:pt idx="33">
                  <c:v>25.72</c:v>
                </c:pt>
                <c:pt idx="34">
                  <c:v>25.72</c:v>
                </c:pt>
                <c:pt idx="35">
                  <c:v>25.72</c:v>
                </c:pt>
                <c:pt idx="36">
                  <c:v>25.72</c:v>
                </c:pt>
                <c:pt idx="37">
                  <c:v>25.72</c:v>
                </c:pt>
                <c:pt idx="38">
                  <c:v>25.72</c:v>
                </c:pt>
                <c:pt idx="39">
                  <c:v>25.72</c:v>
                </c:pt>
                <c:pt idx="40">
                  <c:v>25.72</c:v>
                </c:pt>
                <c:pt idx="41">
                  <c:v>25.72</c:v>
                </c:pt>
                <c:pt idx="42">
                  <c:v>25.72</c:v>
                </c:pt>
                <c:pt idx="43">
                  <c:v>25.72</c:v>
                </c:pt>
                <c:pt idx="44">
                  <c:v>25.72</c:v>
                </c:pt>
                <c:pt idx="45">
                  <c:v>25.72</c:v>
                </c:pt>
                <c:pt idx="46">
                  <c:v>25.72</c:v>
                </c:pt>
                <c:pt idx="47">
                  <c:v>25.72</c:v>
                </c:pt>
                <c:pt idx="48">
                  <c:v>25.72</c:v>
                </c:pt>
                <c:pt idx="49">
                  <c:v>25.72</c:v>
                </c:pt>
                <c:pt idx="50">
                  <c:v>25.72</c:v>
                </c:pt>
                <c:pt idx="51">
                  <c:v>25.72</c:v>
                </c:pt>
                <c:pt idx="52">
                  <c:v>25.72</c:v>
                </c:pt>
                <c:pt idx="53">
                  <c:v>25.72</c:v>
                </c:pt>
                <c:pt idx="54">
                  <c:v>25.72</c:v>
                </c:pt>
                <c:pt idx="55">
                  <c:v>25.72</c:v>
                </c:pt>
                <c:pt idx="56">
                  <c:v>25.72</c:v>
                </c:pt>
                <c:pt idx="57">
                  <c:v>25.72</c:v>
                </c:pt>
                <c:pt idx="58">
                  <c:v>25.72</c:v>
                </c:pt>
                <c:pt idx="59">
                  <c:v>25.72</c:v>
                </c:pt>
                <c:pt idx="60">
                  <c:v>25.72</c:v>
                </c:pt>
                <c:pt idx="61">
                  <c:v>25.72</c:v>
                </c:pt>
                <c:pt idx="62">
                  <c:v>25.72</c:v>
                </c:pt>
                <c:pt idx="63">
                  <c:v>25.72</c:v>
                </c:pt>
                <c:pt idx="64">
                  <c:v>25.72</c:v>
                </c:pt>
                <c:pt idx="65">
                  <c:v>25.72</c:v>
                </c:pt>
                <c:pt idx="66">
                  <c:v>25.72</c:v>
                </c:pt>
                <c:pt idx="67">
                  <c:v>25.72</c:v>
                </c:pt>
                <c:pt idx="68">
                  <c:v>25.72</c:v>
                </c:pt>
                <c:pt idx="69">
                  <c:v>25.72</c:v>
                </c:pt>
                <c:pt idx="70">
                  <c:v>25.72</c:v>
                </c:pt>
                <c:pt idx="71">
                  <c:v>25.72</c:v>
                </c:pt>
                <c:pt idx="72">
                  <c:v>25.72</c:v>
                </c:pt>
                <c:pt idx="73">
                  <c:v>25.72</c:v>
                </c:pt>
                <c:pt idx="74">
                  <c:v>25.72</c:v>
                </c:pt>
                <c:pt idx="75">
                  <c:v>25.72</c:v>
                </c:pt>
                <c:pt idx="76">
                  <c:v>25.72</c:v>
                </c:pt>
                <c:pt idx="77">
                  <c:v>25.72</c:v>
                </c:pt>
                <c:pt idx="78">
                  <c:v>25.72</c:v>
                </c:pt>
                <c:pt idx="79">
                  <c:v>25.72</c:v>
                </c:pt>
                <c:pt idx="80">
                  <c:v>25.72</c:v>
                </c:pt>
                <c:pt idx="81">
                  <c:v>25.72</c:v>
                </c:pt>
                <c:pt idx="82">
                  <c:v>25.72</c:v>
                </c:pt>
                <c:pt idx="83">
                  <c:v>25.72</c:v>
                </c:pt>
                <c:pt idx="84">
                  <c:v>25.72</c:v>
                </c:pt>
                <c:pt idx="85">
                  <c:v>25.72</c:v>
                </c:pt>
                <c:pt idx="86">
                  <c:v>25.72</c:v>
                </c:pt>
                <c:pt idx="87">
                  <c:v>25.72</c:v>
                </c:pt>
                <c:pt idx="88">
                  <c:v>25.72</c:v>
                </c:pt>
                <c:pt idx="89">
                  <c:v>25.72</c:v>
                </c:pt>
                <c:pt idx="90">
                  <c:v>25.72</c:v>
                </c:pt>
                <c:pt idx="91">
                  <c:v>25.72</c:v>
                </c:pt>
                <c:pt idx="92">
                  <c:v>25.72</c:v>
                </c:pt>
                <c:pt idx="93">
                  <c:v>25.72</c:v>
                </c:pt>
                <c:pt idx="94">
                  <c:v>25.72</c:v>
                </c:pt>
                <c:pt idx="95">
                  <c:v>25.72</c:v>
                </c:pt>
                <c:pt idx="96">
                  <c:v>25.72</c:v>
                </c:pt>
                <c:pt idx="97">
                  <c:v>25.72</c:v>
                </c:pt>
                <c:pt idx="98">
                  <c:v>25.72</c:v>
                </c:pt>
                <c:pt idx="99">
                  <c:v>25.72</c:v>
                </c:pt>
                <c:pt idx="100">
                  <c:v>25.72</c:v>
                </c:pt>
                <c:pt idx="101">
                  <c:v>25.72</c:v>
                </c:pt>
                <c:pt idx="102">
                  <c:v>25.72</c:v>
                </c:pt>
                <c:pt idx="103">
                  <c:v>25.72</c:v>
                </c:pt>
                <c:pt idx="104">
                  <c:v>25.72</c:v>
                </c:pt>
                <c:pt idx="105">
                  <c:v>25.72</c:v>
                </c:pt>
                <c:pt idx="106">
                  <c:v>25.72</c:v>
                </c:pt>
                <c:pt idx="107">
                  <c:v>25.72</c:v>
                </c:pt>
                <c:pt idx="108">
                  <c:v>25.72</c:v>
                </c:pt>
                <c:pt idx="109">
                  <c:v>25.72</c:v>
                </c:pt>
                <c:pt idx="110">
                  <c:v>25.72</c:v>
                </c:pt>
                <c:pt idx="111">
                  <c:v>25.72</c:v>
                </c:pt>
                <c:pt idx="112">
                  <c:v>25.72</c:v>
                </c:pt>
                <c:pt idx="113">
                  <c:v>25.72</c:v>
                </c:pt>
                <c:pt idx="114">
                  <c:v>25.72</c:v>
                </c:pt>
                <c:pt idx="115">
                  <c:v>25.72</c:v>
                </c:pt>
                <c:pt idx="116">
                  <c:v>25.72</c:v>
                </c:pt>
                <c:pt idx="117">
                  <c:v>25.72</c:v>
                </c:pt>
                <c:pt idx="118">
                  <c:v>25.72</c:v>
                </c:pt>
                <c:pt idx="119">
                  <c:v>25.72</c:v>
                </c:pt>
                <c:pt idx="120">
                  <c:v>25.72</c:v>
                </c:pt>
                <c:pt idx="121">
                  <c:v>25.72</c:v>
                </c:pt>
                <c:pt idx="122">
                  <c:v>25.72</c:v>
                </c:pt>
                <c:pt idx="123">
                  <c:v>25.72</c:v>
                </c:pt>
                <c:pt idx="124">
                  <c:v>25.72</c:v>
                </c:pt>
                <c:pt idx="125">
                  <c:v>25.72</c:v>
                </c:pt>
                <c:pt idx="126">
                  <c:v>25.72</c:v>
                </c:pt>
                <c:pt idx="127">
                  <c:v>25.72</c:v>
                </c:pt>
                <c:pt idx="128">
                  <c:v>25.72</c:v>
                </c:pt>
                <c:pt idx="129">
                  <c:v>25.72</c:v>
                </c:pt>
                <c:pt idx="130">
                  <c:v>25.72</c:v>
                </c:pt>
                <c:pt idx="131">
                  <c:v>25.72</c:v>
                </c:pt>
                <c:pt idx="132">
                  <c:v>25.72</c:v>
                </c:pt>
                <c:pt idx="133">
                  <c:v>25.72</c:v>
                </c:pt>
                <c:pt idx="134">
                  <c:v>25.72</c:v>
                </c:pt>
                <c:pt idx="135">
                  <c:v>25.72</c:v>
                </c:pt>
                <c:pt idx="136">
                  <c:v>25.72</c:v>
                </c:pt>
                <c:pt idx="137">
                  <c:v>25.72</c:v>
                </c:pt>
                <c:pt idx="138">
                  <c:v>25.72</c:v>
                </c:pt>
                <c:pt idx="139">
                  <c:v>25.72</c:v>
                </c:pt>
                <c:pt idx="140">
                  <c:v>25.72</c:v>
                </c:pt>
                <c:pt idx="141">
                  <c:v>25.72</c:v>
                </c:pt>
                <c:pt idx="142">
                  <c:v>25.72</c:v>
                </c:pt>
                <c:pt idx="143">
                  <c:v>25.72</c:v>
                </c:pt>
                <c:pt idx="144">
                  <c:v>25.72</c:v>
                </c:pt>
                <c:pt idx="145">
                  <c:v>25.72</c:v>
                </c:pt>
                <c:pt idx="146">
                  <c:v>25.72</c:v>
                </c:pt>
                <c:pt idx="147">
                  <c:v>25.72</c:v>
                </c:pt>
                <c:pt idx="148">
                  <c:v>25.72</c:v>
                </c:pt>
                <c:pt idx="149">
                  <c:v>25.72</c:v>
                </c:pt>
                <c:pt idx="150">
                  <c:v>25.72</c:v>
                </c:pt>
                <c:pt idx="151">
                  <c:v>25.72</c:v>
                </c:pt>
                <c:pt idx="152">
                  <c:v>25.72</c:v>
                </c:pt>
                <c:pt idx="153">
                  <c:v>25.72</c:v>
                </c:pt>
                <c:pt idx="154">
                  <c:v>25.72</c:v>
                </c:pt>
                <c:pt idx="155">
                  <c:v>25.72</c:v>
                </c:pt>
                <c:pt idx="156">
                  <c:v>25.72</c:v>
                </c:pt>
                <c:pt idx="157">
                  <c:v>25.72</c:v>
                </c:pt>
                <c:pt idx="158">
                  <c:v>25.72</c:v>
                </c:pt>
                <c:pt idx="159">
                  <c:v>25.72</c:v>
                </c:pt>
                <c:pt idx="160">
                  <c:v>25.72</c:v>
                </c:pt>
                <c:pt idx="161">
                  <c:v>25.72</c:v>
                </c:pt>
                <c:pt idx="162">
                  <c:v>25.72</c:v>
                </c:pt>
                <c:pt idx="163">
                  <c:v>25.72</c:v>
                </c:pt>
                <c:pt idx="164">
                  <c:v>25.72</c:v>
                </c:pt>
                <c:pt idx="165">
                  <c:v>25.72</c:v>
                </c:pt>
                <c:pt idx="166">
                  <c:v>25.72</c:v>
                </c:pt>
                <c:pt idx="167">
                  <c:v>25.72</c:v>
                </c:pt>
                <c:pt idx="168">
                  <c:v>25.72</c:v>
                </c:pt>
                <c:pt idx="169">
                  <c:v>25.72</c:v>
                </c:pt>
                <c:pt idx="170">
                  <c:v>25.72</c:v>
                </c:pt>
                <c:pt idx="171">
                  <c:v>25.72</c:v>
                </c:pt>
                <c:pt idx="172">
                  <c:v>25.72</c:v>
                </c:pt>
                <c:pt idx="173">
                  <c:v>25.72</c:v>
                </c:pt>
                <c:pt idx="174">
                  <c:v>25.72</c:v>
                </c:pt>
                <c:pt idx="175">
                  <c:v>25.72</c:v>
                </c:pt>
                <c:pt idx="176">
                  <c:v>25.72</c:v>
                </c:pt>
                <c:pt idx="177">
                  <c:v>25.72</c:v>
                </c:pt>
                <c:pt idx="178">
                  <c:v>25.72</c:v>
                </c:pt>
                <c:pt idx="179">
                  <c:v>25.72</c:v>
                </c:pt>
                <c:pt idx="180">
                  <c:v>25.72</c:v>
                </c:pt>
                <c:pt idx="181">
                  <c:v>25.72</c:v>
                </c:pt>
                <c:pt idx="182">
                  <c:v>25.72</c:v>
                </c:pt>
                <c:pt idx="183">
                  <c:v>25.72</c:v>
                </c:pt>
                <c:pt idx="184">
                  <c:v>25.72</c:v>
                </c:pt>
                <c:pt idx="185">
                  <c:v>25.72</c:v>
                </c:pt>
                <c:pt idx="186">
                  <c:v>25.72</c:v>
                </c:pt>
                <c:pt idx="187">
                  <c:v>25.72</c:v>
                </c:pt>
                <c:pt idx="188">
                  <c:v>25.72</c:v>
                </c:pt>
                <c:pt idx="189">
                  <c:v>25.72</c:v>
                </c:pt>
                <c:pt idx="190">
                  <c:v>25.72</c:v>
                </c:pt>
                <c:pt idx="191">
                  <c:v>25.72</c:v>
                </c:pt>
                <c:pt idx="192">
                  <c:v>25.72</c:v>
                </c:pt>
                <c:pt idx="193">
                  <c:v>25.72</c:v>
                </c:pt>
                <c:pt idx="194">
                  <c:v>25.72</c:v>
                </c:pt>
                <c:pt idx="195">
                  <c:v>25.72</c:v>
                </c:pt>
                <c:pt idx="196">
                  <c:v>25.72</c:v>
                </c:pt>
                <c:pt idx="197">
                  <c:v>25.72</c:v>
                </c:pt>
                <c:pt idx="198">
                  <c:v>25.72</c:v>
                </c:pt>
                <c:pt idx="199">
                  <c:v>25.72</c:v>
                </c:pt>
                <c:pt idx="200">
                  <c:v>25.72</c:v>
                </c:pt>
                <c:pt idx="201">
                  <c:v>25.72</c:v>
                </c:pt>
                <c:pt idx="202">
                  <c:v>25.72</c:v>
                </c:pt>
                <c:pt idx="203">
                  <c:v>25.72</c:v>
                </c:pt>
                <c:pt idx="204">
                  <c:v>25.72</c:v>
                </c:pt>
                <c:pt idx="205">
                  <c:v>25.72</c:v>
                </c:pt>
                <c:pt idx="206">
                  <c:v>25.72</c:v>
                </c:pt>
                <c:pt idx="207">
                  <c:v>25.72</c:v>
                </c:pt>
                <c:pt idx="208">
                  <c:v>25.72</c:v>
                </c:pt>
                <c:pt idx="209">
                  <c:v>25.72</c:v>
                </c:pt>
                <c:pt idx="210">
                  <c:v>25.72</c:v>
                </c:pt>
                <c:pt idx="211">
                  <c:v>25.72</c:v>
                </c:pt>
                <c:pt idx="212">
                  <c:v>25.72</c:v>
                </c:pt>
                <c:pt idx="213">
                  <c:v>25.72</c:v>
                </c:pt>
                <c:pt idx="214">
                  <c:v>25.72</c:v>
                </c:pt>
                <c:pt idx="215">
                  <c:v>25.72</c:v>
                </c:pt>
                <c:pt idx="216">
                  <c:v>25.72</c:v>
                </c:pt>
                <c:pt idx="217">
                  <c:v>25.72</c:v>
                </c:pt>
                <c:pt idx="218">
                  <c:v>25.72</c:v>
                </c:pt>
                <c:pt idx="219">
                  <c:v>25.72</c:v>
                </c:pt>
                <c:pt idx="220">
                  <c:v>25.72</c:v>
                </c:pt>
                <c:pt idx="221">
                  <c:v>25.72</c:v>
                </c:pt>
                <c:pt idx="222">
                  <c:v>25.72</c:v>
                </c:pt>
                <c:pt idx="223">
                  <c:v>25.72</c:v>
                </c:pt>
                <c:pt idx="224">
                  <c:v>25.72</c:v>
                </c:pt>
                <c:pt idx="225">
                  <c:v>25.72</c:v>
                </c:pt>
                <c:pt idx="226">
                  <c:v>25.72</c:v>
                </c:pt>
                <c:pt idx="227">
                  <c:v>25.72</c:v>
                </c:pt>
                <c:pt idx="228">
                  <c:v>25.72</c:v>
                </c:pt>
                <c:pt idx="229">
                  <c:v>25.72</c:v>
                </c:pt>
                <c:pt idx="230">
                  <c:v>25.72</c:v>
                </c:pt>
                <c:pt idx="231">
                  <c:v>25.72</c:v>
                </c:pt>
                <c:pt idx="232">
                  <c:v>25.72</c:v>
                </c:pt>
                <c:pt idx="233">
                  <c:v>25.72</c:v>
                </c:pt>
                <c:pt idx="234">
                  <c:v>25.72</c:v>
                </c:pt>
                <c:pt idx="235">
                  <c:v>25.72</c:v>
                </c:pt>
                <c:pt idx="236">
                  <c:v>25.72</c:v>
                </c:pt>
                <c:pt idx="237">
                  <c:v>25.72</c:v>
                </c:pt>
                <c:pt idx="238">
                  <c:v>25.72</c:v>
                </c:pt>
                <c:pt idx="239">
                  <c:v>25.72</c:v>
                </c:pt>
                <c:pt idx="240">
                  <c:v>25.72</c:v>
                </c:pt>
                <c:pt idx="241">
                  <c:v>25.72</c:v>
                </c:pt>
                <c:pt idx="242">
                  <c:v>25.72</c:v>
                </c:pt>
                <c:pt idx="243">
                  <c:v>25.72</c:v>
                </c:pt>
                <c:pt idx="244">
                  <c:v>25.72</c:v>
                </c:pt>
                <c:pt idx="245">
                  <c:v>25.72</c:v>
                </c:pt>
                <c:pt idx="246">
                  <c:v>25.72</c:v>
                </c:pt>
                <c:pt idx="247">
                  <c:v>25.72</c:v>
                </c:pt>
                <c:pt idx="248">
                  <c:v>25.72</c:v>
                </c:pt>
                <c:pt idx="249">
                  <c:v>25.72</c:v>
                </c:pt>
                <c:pt idx="250">
                  <c:v>25.72</c:v>
                </c:pt>
                <c:pt idx="251">
                  <c:v>25.72</c:v>
                </c:pt>
                <c:pt idx="252">
                  <c:v>25.72</c:v>
                </c:pt>
                <c:pt idx="253">
                  <c:v>25.72</c:v>
                </c:pt>
                <c:pt idx="254">
                  <c:v>25.72</c:v>
                </c:pt>
                <c:pt idx="255">
                  <c:v>25.72</c:v>
                </c:pt>
                <c:pt idx="256">
                  <c:v>25.72</c:v>
                </c:pt>
                <c:pt idx="257">
                  <c:v>25.72</c:v>
                </c:pt>
                <c:pt idx="258">
                  <c:v>25.72</c:v>
                </c:pt>
                <c:pt idx="259">
                  <c:v>25.72</c:v>
                </c:pt>
                <c:pt idx="260">
                  <c:v>25.72</c:v>
                </c:pt>
                <c:pt idx="261">
                  <c:v>25.72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544-4AA5-9547-E4972EE48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solidFill>
              <a:srgbClr val="FAFA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90</c:v>
                </c:pt>
                <c:pt idx="2">
                  <c:v>220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C-4724-B140-E77295860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12315B"/>
            </a:solidFill>
            <a:effectLst/>
          </c:spPr>
          <c:invertIfNegative val="0"/>
          <c:dLbls>
            <c:dLbl>
              <c:idx val="0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90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B7C-4724-B140-E77295860268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7C-4724-B140-E772958602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dLbl>
              <c:idx val="1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B7C-4724-B140-E77295860268}"/>
                </c:ext>
              </c:extLst>
            </c:dLbl>
            <c:dLbl>
              <c:idx val="2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+110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B7C-4724-B140-E77295860268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1">
                  <c:v>130</c:v>
                </c:pt>
                <c:pt idx="2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B7C-4724-B140-E772958602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Neg</c:v>
                </c:pt>
              </c:strCache>
            </c:strRef>
          </c:tx>
          <c:spPr>
            <a:solidFill>
              <a:srgbClr val="B33A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6-6B7C-4724-B140-E7729586026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dLbl>
              <c:idx val="3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330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B7C-4724-B140-E77295860268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3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7C-4724-B140-E77295860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25× (bear floor)</c:v>
                </c:pt>
              </c:strCache>
            </c:strRef>
          </c:tx>
          <c:spPr>
            <a:ln w="25400" cap="flat">
              <a:solidFill>
                <a:srgbClr val="B33A2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213</c:v>
                </c:pt>
                <c:pt idx="1">
                  <c:v>225</c:v>
                </c:pt>
                <c:pt idx="2">
                  <c:v>234</c:v>
                </c:pt>
                <c:pt idx="3">
                  <c:v>238</c:v>
                </c:pt>
                <c:pt idx="4">
                  <c:v>250</c:v>
                </c:pt>
                <c:pt idx="5">
                  <c:v>263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CB-4DDE-95ED-6DA61DA681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28.9× (current)</c:v>
                </c:pt>
              </c:strCache>
            </c:strRef>
          </c:tx>
          <c:spPr>
            <a:ln w="25400" cap="flat">
              <a:solidFill>
                <a:srgbClr val="CBD0D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245</c:v>
                </c:pt>
                <c:pt idx="1">
                  <c:v>260</c:v>
                </c:pt>
                <c:pt idx="2">
                  <c:v>270</c:v>
                </c:pt>
                <c:pt idx="3">
                  <c:v>274</c:v>
                </c:pt>
                <c:pt idx="4">
                  <c:v>289</c:v>
                </c:pt>
                <c:pt idx="5">
                  <c:v>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CB-4DDE-95ED-6DA61DA681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33× (base case)</c:v>
                </c:pt>
              </c:strCache>
            </c:strRef>
          </c:tx>
          <c:spPr>
            <a:ln w="2540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280</c:v>
                </c:pt>
                <c:pt idx="1">
                  <c:v>297</c:v>
                </c:pt>
                <c:pt idx="2">
                  <c:v>309</c:v>
                </c:pt>
                <c:pt idx="3">
                  <c:v>314</c:v>
                </c:pt>
                <c:pt idx="4">
                  <c:v>330</c:v>
                </c:pt>
                <c:pt idx="5">
                  <c:v>347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CB-4DDE-95ED-6DA61DA6819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36× (bull case)</c:v>
                </c:pt>
              </c:strCache>
            </c:strRef>
          </c:tx>
          <c:spPr>
            <a:ln w="25400" cap="flat">
              <a:solidFill>
                <a:srgbClr val="1F7A4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306</c:v>
                </c:pt>
                <c:pt idx="1">
                  <c:v>324</c:v>
                </c:pt>
                <c:pt idx="2">
                  <c:v>337</c:v>
                </c:pt>
                <c:pt idx="3">
                  <c:v>342</c:v>
                </c:pt>
                <c:pt idx="4">
                  <c:v>360</c:v>
                </c:pt>
                <c:pt idx="5">
                  <c:v>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8CB-4DDE-95ED-6DA61DA68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</c:v>
                </c:pt>
              </c:strCache>
            </c:strRef>
          </c:tx>
          <c:spPr>
            <a:solidFill>
              <a:srgbClr val="B33A2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EU DMA fine</c:v>
                </c:pt>
                <c:pt idx="1">
                  <c:v>China App Store cut</c:v>
                </c:pt>
                <c:pt idx="2">
                  <c:v>India (neutral)</c:v>
                </c:pt>
                <c:pt idx="3">
                  <c:v>DOJ Google TAC</c:v>
                </c:pt>
                <c:pt idx="4">
                  <c:v>Total worst-case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-0.04</c:v>
                </c:pt>
                <c:pt idx="1">
                  <c:v>-0.06</c:v>
                </c:pt>
                <c:pt idx="3">
                  <c:v>-1.2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3-4DEC-99A8-4CECE70078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EU DMA fine</c:v>
                </c:pt>
                <c:pt idx="1">
                  <c:v>China App Store cut</c:v>
                </c:pt>
                <c:pt idx="2">
                  <c:v>India (neutral)</c:v>
                </c:pt>
                <c:pt idx="3">
                  <c:v>DOJ Google TAC</c:v>
                </c:pt>
                <c:pt idx="4">
                  <c:v>Total worst-case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3-4DEC-99A8-4CECE70078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last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EU DMA fine</c:v>
                </c:pt>
                <c:pt idx="1">
                  <c:v>China App Store cut</c:v>
                </c:pt>
                <c:pt idx="2">
                  <c:v>India (neutral)</c:v>
                </c:pt>
                <c:pt idx="3">
                  <c:v>DOJ Google TAC</c:v>
                </c:pt>
                <c:pt idx="4">
                  <c:v>Total worst-case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4">
                  <c:v>-1.3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D3-4DEC-99A8-4CECE7007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3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INITIATING COVERAGE  ·  BUY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Inc.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 ·  NASDAQ · USD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02920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Three-vector re-rating to $330 (+22% upside) — AI gateway monetization via 2.35B device surface × Services annuity compounding at 75.4% GM × $599B capital return discipline reinforced by $100B May 2025 re-authorization.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640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914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 vs spot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FY27E EPS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$5.05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 $4.78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892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TIMEFRAME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12 mo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Three-vector re-rating lifts AAPL from 29× to 33× — +22% to $330 in 12 months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AI-gateway distribution, Services margin compounding, and disciplined capital return each contribute independently to multiple expansion.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BASE CASE UPSIDE TO $330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kern="0" spc="-88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+22.0%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FY27E EPS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MS/Citi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75.4%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Products 37.2%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YIELD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2.60%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$105B returned FY25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3566160" cy="301752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566160" cy="45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474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GATEWAY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3822192"/>
            <a:ext cx="3163824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389534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kern="0" spc="-1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2.35B devices = largest AI distribution surface on earth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4718304"/>
            <a:ext cx="3163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 chip 3.5× AI throughput vs M4; 20+ Apple Intelligence features shipped. Spring 2026 Personalized Siri is the multiple re-rate gate. Google $1B/yr integration runs in parallel.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3566160" cy="301752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3566160" cy="45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8848" y="3474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MARGIN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98848" y="3822192"/>
            <a:ext cx="3163824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98848" y="389534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kern="0" spc="-1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Each 1pp Services mix adds 38bps blended GM — 60% headroom remains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98848" y="4718304"/>
            <a:ext cx="3163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FY25 $109.1B at 75.4% GM, +14% YoY. ARPU $77 CY25 × 2.35B = $181B theoretical ceiling vs $109B actual. ARPU compounding $69→$72→$77 per MS.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3291840"/>
            <a:ext cx="3566160" cy="301752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3291840"/>
            <a:ext cx="3566160" cy="45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39328" y="3474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39328" y="3822192"/>
            <a:ext cx="3163824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39328" y="389534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kern="0" spc="-1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$104.7B returned FY25 — $100B buyback re-authorized May 2025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39328" y="4718304"/>
            <a:ext cx="3163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FY20–FY25 cumulative $599B = 43% of starting mcap. Net-debt transition is leverage discipline, not risk. ~3% EPS mechanical lift from share count reduction.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FY24/FY25 10-K, F1Q26 release. Bernstein/Citi/MS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Prob-weighted EV $321 vs current $270 — 3:1 bull-bear skew on 4 F1Q26 signal beats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asymmetric skew exists because the bear requires three simultaneous failures, while the bull needs only Siri to ship on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probability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$212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DRAM 100% spike 2H26 breaks GM floor 2 consecutive quarters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FY26E EPS $8.50 at 25× = $212 PT (Uninodue bear case)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Bear requires China + AI miss simultaneously; deep-bear $160 needs DOJ too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probability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F1Q26 signals continue; Personalized Siri ships Spring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FY27E EPS $10.00 at 33× Fwd PE = $330 PT (Citi/MS framework)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ARPU breaks $296/user; China structural reversal confirmed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probability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$414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iPhone 17e captures 10% Android base = 46M incr. units, +$1.24 EPS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AI-gateway multiple expands to 36× on confirmed Siri monetization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FY27E EPS $10.50+ at 36× = $414 PT (Bernstein bull case)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Research, Citi/MS/Bernstein EPS paths. Apple F1Q26 release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01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THE COMPANY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 TAM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Units stall at 1.26B CY25 — Apple value share 22%→35% on 15%→20% units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saturated unit market Apple compounds revenue through Pro/Pro Max ASP migration — value share decouples structurally from unit share.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smartphone shipments CY2021–CY2027E (B units), B units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wins value, not units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holds 20% of units but captures 35%+ of dollar value — gap widening 2-3pp yearly as Pro mix rises.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Zero-growth TAM is not zero opportunity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Shipments stall at 1.26B in CY25, yet Apple extracts a 35%+ value share from its 20% unit position.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CY26 -2% volume headwind is real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17e at $599 targets 458M Android users; Bernstein India tracker is the key unit-validation signal.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Counterpoint Q4 CY25, IDC CY25-27E outlook. Bernstein Feb-26 tracker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REVENUE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China +38% F1Q26 reverses two-year decline — segment mix iPhone 50%/Services 26%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Two-year decline ends with Huawei flat — premium share recovery is structural; Services hit 29.2% single-quarter mix record in F3Q25.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revenue by geography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8046720" y="1645920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SPLIT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993392"/>
            <a:ext cx="3685032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46720" y="2103120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56448" y="2176272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Americas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56448" y="2377440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43%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01200" y="243230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$173B · +9.00% F1Q26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2798064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56448" y="2871216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56448" y="3072384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25%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01200" y="31272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$102B · +12.0% F1Q26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46720" y="3493008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56448" y="356616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Greater China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56448" y="3767328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16%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01200" y="382219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$64.0B · +38.0% F1Q26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46720" y="4187952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156448" y="4261104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Japan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156448" y="4462272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7%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601200" y="45171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$29.0B · OM 49.7%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46720" y="4882896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156448" y="4956048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APAC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56448" y="5157216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9%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601200" y="521208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$35.0B · India record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FY24/FY25 10-K geographic segment, F1Q26 earnings release. Bernstein China tracker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Samsung retreats; Huawei bounded — DoA metrics growing: 2.35B base, youth &gt;85%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retreat on both flanks widens the premium moat while DoA ecosystem metrics confirm lock-in is deepening, not eroding.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914400" y="5989320"/>
            <a:ext cx="6858000" cy="0"/>
          </a:xfrm>
          <a:prstGeom prst="line">
            <a:avLst/>
          </a:prstGeom>
          <a:noFill/>
          <a:ln w="9525">
            <a:solidFill>
              <a:srgbClr val="6C76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0" cy="4160520"/>
          </a:xfrm>
          <a:prstGeom prst="line">
            <a:avLst/>
          </a:prstGeom>
          <a:noFill/>
          <a:ln w="9525">
            <a:solidFill>
              <a:srgbClr val="6C76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61264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8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Unit Share (%)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 rot="-5400000">
            <a:off x="-1549908" y="37719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Positioning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1995678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29557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4013302"/>
            <a:ext cx="457200" cy="457200"/>
          </a:xfrm>
          <a:prstGeom prst="ellipse">
            <a:avLst/>
          </a:prstGeom>
          <a:solidFill>
            <a:srgbClr val="CBD0D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451622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08860" y="3794760"/>
            <a:ext cx="228600" cy="228600"/>
          </a:xfrm>
          <a:prstGeom prst="ellipse">
            <a:avLst/>
          </a:prstGeom>
          <a:solidFill>
            <a:srgbClr val="B87A2E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08860" y="40690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Huawei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54580" y="5005426"/>
            <a:ext cx="137160" cy="137160"/>
          </a:xfrm>
          <a:prstGeom prst="ellipse">
            <a:avLst/>
          </a:prstGeom>
          <a:solidFill>
            <a:srgbClr val="CBD0D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4580" y="518830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Xiaomi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43000" y="4612234"/>
            <a:ext cx="91440" cy="91440"/>
          </a:xfrm>
          <a:prstGeom prst="ellipse">
            <a:avLst/>
          </a:prstGeom>
          <a:solidFill>
            <a:srgbClr val="6FA2EC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3000" y="474939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6895" y="1645920"/>
            <a:ext cx="365760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76895" y="1645920"/>
            <a:ext cx="27432" cy="470916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87791" y="18105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87791" y="2139696"/>
            <a:ext cx="3145536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24367" y="241401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98687" y="235915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Value-share is structural, not cyclical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98687" y="2542032"/>
            <a:ext cx="2816352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units → 35% value share — premium positioning compounds via Pro/Pro Max ASP migration. Gap widening 2-3pp/yr.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87791" y="3526536"/>
            <a:ext cx="3145536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24367" y="3745992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98687" y="369112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Both flanks ceding premium share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98687" y="3874008"/>
            <a:ext cx="2816352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 retreats to mid-tier; Huawei bounded to China — Apple's defensible premium band is widening, not under attack.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87791" y="4858512"/>
            <a:ext cx="3145536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24367" y="507796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98687" y="5023104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DoA lock-in deepening, not eroding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98687" y="5205984"/>
            <a:ext cx="2816352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2.35B installed base + youth &gt;85% + devs +12% YoY — 'Death of Apple' thesis contradicted by every monitorable metric.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Counterpoint Q4 CY25, Bernstein competitive tracker. Piper Sandler survey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5Y REVENUE BREAKDOWN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mix 19%→26% structural shift — iPhone $138B→$210B; total $366B→$416B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is the only segment growing faster than total revenue; mix shift is self-reinforcing and mechanically lifts blended gross margin.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segment mix FY21–FY25A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14% CAGR vs hardware flat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grew $68B in FY21 to $109B in FY25 — each 1pp mix shift adds 38bps blended GM and 2-3% EPS.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iPhone ~50% stable; Services leads re-rate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held steady at $210B in FY25 vs $201B in FY24; re-rating catalyst is Services mix expansion, not iPhone volume.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Wearables -4% FY25 is the one weak segment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segment declining; the -4% in FY25 looks like a cyclical trough with &gt;50% first-time Apple Watch buyers intact.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 segment disclosures, Uninodue Research model.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EPS $5.6→$7.85 in 5Y on Services GM 69.7%→75.4% and $599B cumulative return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expansion and share-count reduction compound EPS 2.5× faster than revenue growth — the structural engine of the re-rate.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73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financials FY21A–FY25A (5Y annual)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7173468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932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44876" y="2139696"/>
            <a:ext cx="1902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FY21A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5363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FY22A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1689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FY23A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8015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FY24A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64342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7173468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44876" y="2505456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365.8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5363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394.3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1689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383.3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98015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391.0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64342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416.2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91256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44876" y="2852928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5363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1689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44.1%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98015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4342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46.9%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38728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3200400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GM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44876" y="3200400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35.4%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5363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31689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98015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64342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3547872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44876" y="3547872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65363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71.7%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31689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98015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64342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75.4%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33672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" y="3895344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Income ($B)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44876" y="3895344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65363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31689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98015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64342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112.0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581144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242816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Margin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444876" y="4242816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25.9%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365363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431689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98015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64342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26.9%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28616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" y="4590288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($B)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444876" y="4590288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365363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111.4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431689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98015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108.8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64342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5276088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5488" y="4937760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($B)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444876" y="4937760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365363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431689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498015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564342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" y="5623560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5488" y="5285232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($B)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444876" y="5285232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85.5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365363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431689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498015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564342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89.3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904988" y="1645920"/>
            <a:ext cx="3799332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904988" y="1645920"/>
            <a:ext cx="36576" cy="475488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15884" y="1847088"/>
            <a:ext cx="3287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215884" y="2103120"/>
            <a:ext cx="3287268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215884" y="226771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398764" y="2194560"/>
            <a:ext cx="3104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EXPANSION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398764" y="243230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+570bps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8398764" y="2761488"/>
            <a:ext cx="3104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FY21 69.7% → FY25 75.4%; drove 60% of blended GM re-rate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215884" y="3639312"/>
            <a:ext cx="109728" cy="109728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398764" y="3566160"/>
            <a:ext cx="3104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5-YR AVG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398764" y="380390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$102B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8398764" y="4133088"/>
            <a:ext cx="3104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103% avg FCF conversion FY21-25; FY25 at 88% trough (capex +35%)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8215884" y="501091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8398764" y="4937760"/>
            <a:ext cx="3104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RETURN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398764" y="517550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$599B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8398764" y="5504688"/>
            <a:ext cx="3104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FY20-FY25 returned = 43% of FY20 starting mcap; pace holds $85-90B/yr through FY27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 IS, _aapl_argumentation_extracted.md. Uninodue Research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02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TWO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THE THESIS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AI gateway, Services GM, capital return — 3 pillars triangulate $330 PT (+38%)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247120" cy="4846320"/>
          </a:xfrm>
          <a:prstGeom prst="rect">
            <a:avLst/>
          </a:prstGeom>
          <a:solidFill>
            <a:srgbClr val="FA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PRICE TARGET (+38% UPSIDE)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kern="0" spc="-112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1247120" cy="0"/>
          </a:xfrm>
          <a:prstGeom prst="line">
            <a:avLst/>
          </a:prstGeom>
          <a:noFill/>
          <a:ln w="9525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3566160" cy="2249424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3566160" cy="38405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570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  ·  V1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54970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kern="0" spc="2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AI-GATEWAY MONETIZATION UNDERVALUED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06901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28.9× Fwd PE prices zero AI premium despite 2.35B distribution surface and 20+ AI features shipped; Google $1B/yr deal converts rival to supplier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747565"/>
            <a:ext cx="320040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79328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FY26E $121B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072384"/>
            <a:ext cx="3566160" cy="2249424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072384"/>
            <a:ext cx="3566160" cy="38405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32570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  ·  V2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54970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kern="0" spc="2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75.4% GM COMPOUNDS BLENDED MARGIN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4006901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 +7% YoY (Mar-26) re-acceleration; each 1pp Services mix shift adds 38bps blended GM; mix 22%→26% lifts blended GM mechanically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4747565"/>
            <a:ext cx="320040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0" y="479328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75.4%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3072384"/>
            <a:ext cx="3566160" cy="2249424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38160" y="3072384"/>
            <a:ext cx="3566160" cy="38405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21040" y="32570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  ·  V3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54970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kern="0" spc="2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CAPITAL RETURN MECHANICALLY LIFTS EPS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006901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$110B/yr buyback shrinks share count 4-5%/yr — EPS lift independent of revenue; $599B returned FY20-25 = 43% of starting mcap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21040" y="4747565"/>
            <a:ext cx="320040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479328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$110B/yr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1124712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$467B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 Rev (+5% YoY)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$8.51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3756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 EPS (+11% YoY)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33.8x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1792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PE (76th %ile 5Y)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9828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$58B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9828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cash (1.5% mkt cap)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Capital IQ consensus, _aapl_pe_band_data.json. Est. denotes our forecast.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MONETIZATION UNDERVALUED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28.9× Fwd PE prices ZERO AI premium across 2.35B device distribution surface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pillars below show ARPU ceiling unpriced, on-device moat undervalued, and Google deal converts rival to supplier.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V1A — ARPU CEILING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 of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$181B ceiling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ARPU $77 × 2.35B devices = $181B theoretical ceiling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66% headroom unpriced at 28.9× hardware multiple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$5/user AI subscription on 200M paid subs = +$12B Services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vs Street $109B FY25 actual — four independent ARPU levers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V1B — ON-DEVICE AI MOAT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2 of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3.5× faster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M5 vs M4: 3.5× AI inference throughput uplift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20+ Apple Intelligence features shipped on 2.35B devices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Apple 28.9× vs MAG7 median 32.4× — 3.5-turn discount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Personalized Siri Spring 2026 is the multiple re-rate gate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V1C — GOOGLE DEAL = SUPPLIER LOCK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3 of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$1B/yr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Apple pays Google ~$1B/yr for AI integration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Converts rival into commercial supplier; Apple retains iOS interface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Disintermediation tail 2028+, not 12M thesis risk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WWDC June-26 paid AI tier announcement = 1-2 turn upside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v1 lead, _aapl_argumentation_extracted.md. Bernstein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V1A SERVICES ECONOMICS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ARPU $77 × 2.35B = $181B ceiling — 66% headroom unpriced at 28.9×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independent ARPU levers compound at +7%/yr; Street $123B FY26E captures only 68% of the $181B device-addressable ARPU ceiling.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revenue + ARPU trajectory FY21–FY27E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Four ARPU levers compound independently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Store, Ads, iCloud, and TV+ lift ARPU $69→$72→$77 at +7%/yr on separate demand drivers — the four-lever structure keeps compounding.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mix = mechanical EPS lift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1pp of Services mix adds 38bps to blended GM; FY27E mix at 29.8% = 200bps of structural margin expansion baked into the base case.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 Store &lt;10% = downgrade trigger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Mar-26 print of +7% was re-acceleration from +4-5% in Dec-25, but two consecutive quarters below 10% growth would signal annuity thesis erosion.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10-K, Bernstein ARPU model. MS Services ARPU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V1B APPLE SILICON + 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M5 3.5× AI throughput + 20 features shipped — Apple at 28.9× vs MAG7 median 32.4×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owns the chip stack, the distribution surface, and the interface layer — yet the market applies a hardware PE, not a platform 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 revenue arc + Apple Silicon generation FY21–FY25A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Silicon moat = Products GM floor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 stack ownership floors Products GM 5pp above OEMs — no rival matches. M-series 32% (FY22) → 39.3% (F1Q26).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M5 — on-device AI inference substrate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 delivers 3.5× AI throughput vs M4 — 20+ features on 2.35B devices; every device is an AI endpoint.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MAG7 discount 3.5× — unwarranted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at 28.9× vs MAG7 median 32.4× despite comparable R&amp;D intensity; Siri is the catalyst for PE re-rate to 33×.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Apple Silicon launch events, FY23-FY25 10-K Mac segment. F1Q26 release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V1C APPLE-GOOGLE AI DEAL: SUPPLIER NOT SURRENDER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pays Google ~$1B/yr for Siri AI — rival becomes supplier; tail risk is 2028+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Research adjudicates 60/40 bull: Apple retains iOS interface while Google funds model cost — 12M risk is bounded, 12M upside is not.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Google $1B/yr = revenue-generating supplier relationship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pays ~$1B/yr for model access; Google $20B/yr Search TAC still flows to Apple — aggregate Google relationship is net positive by ~$19B.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1183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9354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iOS interface layer retained — Apple owns AI 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1299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Siri retains the consumer interface layer; Google provides model weight behind the scenes. Privacy positioning is Apple's, not Google's.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Dumb-glass scenario requires behavior change + DMA simultaneously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47598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LLMs routing around Siri requires consumer switch to alt-store apps plus EU DMA global cascade — joint probability low in 12M window.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33781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31952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Vision Pro enterprise moat building ahead of consumer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53897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1.5M compatible apps + 2,500 native spatial apps + BMW/Cisco enterprise deployment — AirPods playbook ($0 FY14 → $18-20B FY25) repeating.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DOJ Google TAC -$1.20 EPS is the actual tail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35000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$20B/yr Search TAC injunction eliminates Apple's default payment — ~$18B direct profit loss = ~$1.20 EPS drag, -15% share price. CY26-27 timeline.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21183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19354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Open-source AI commoditizes the interface layer (2028+ risk)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41299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Llama-tier models ship natively on-device by FY27-28, Apple's Siri premium over commodity AI shrinks — not a 12M thesis risk but a 3-5Y strategic watch.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v1c, _aapl_argumentation_extracted.md. DOJ filings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 COUNTER · SIRI DELAY COUNTER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Personalized Siri delay → 27× × $9.35 = $253; $100B buyback caps de-rating duration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bear requires Siri to miss Spring 2026 AND market to hold the discount for 2+ quarters — both conditions necessary, not either/or.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FY27E EPS $10 path is not Siri-dependent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 EPS requires only 6.3% revenue growth + 50bps OP leverage + 1.5%/yr share count reduction — all within trailing 3Y history, no AI premium assumed.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75.4% GM cash-cow floors FCF regardless of AI narrative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generates $98-108B FCF/yr independent of Siri; the fundamental earnings power is not at risk in the delay scenario, only the multiple.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$100B buyback creates mechanical floor at $260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18464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$260, buyback yield ~3.5%, which limits duration of de-rating — Street buyback support mechanically limits how long the discount persists.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Delay crystallizes AI laggard narrative — 27× de-rate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Siri ships late or underwhelms; AI narrative crystallizes as laggard, multiple reverts from 29× to historical 27× mean (Citi), PT falls to $252-$261.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Metro Research hard stop $240 is the invalidation level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Research hard stop at $240 (below UBS bear $258) is the thesis invalidation level — not a re-rate from 29× to 27×. Below $240 = thesis broken.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v1_counter,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75.4% GM COMPOUNDS BLENDED MARGIN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Each 1pp Services mix adds 38bps blended GM = +2-3% EPS — Street underprices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evidences confirm mix-shift is mechanical: 510bps GM lift over 5Y, App Store re-acceleration, SOTP $740B ecosystem premium unpriced.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V2A — 510BPS GM EXPANSION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 of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+510bps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41.8% → 46.9% blended GM in 5 years (FY21→FY25)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contributed 60% of blended GM lift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Street FY27E 47.9% underprices structural compounder by 40-80bps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100bps Services GM lift adds 26bps blended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V2B — APP STORE +7%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2 of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+7% YoY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Mar-26 App Store re-accelerates from +4-5% Dec-25 to +7%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GS + UBS dual-source confirmation — saturation narrative disproved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GM 73.9% → 75.4% (+150bps FY24→FY25)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Street still models only 10-13% Services CAGR FY26-27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V2C — SOTP $740B PREMIUM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3 of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$3.26T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$2.24T (30× $74.6B NI) + Hardware $1.02T = $3.26T parts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vs current $3.97T market — $740B ecosystem premium not in parts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Confirms blended PE re-rate from 28.9× to 33× is justified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Hardware comps structurally undervalue Services annuity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v2 lead, _aapl_argumentation_extracted.md. GS+UBS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V2A GROSS MARGIN ANATOMY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510bps blended GM in 5Y — Services drove 60%; Street FY27E underprices by 40-80bps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 is the structural driver — DRAM headwind in FY26 reverses as memory normalizes; Services expansion continues undisturbed. Arithmetic not narrative.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gross margin inflection FY21–FY27E (%), %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GM drove 60% of 510bps expansion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expanded 70%→75.4% (+570bps), driving 60% of the blended improvement — each 100bps Services GM lift adds 26bps blended.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Mix +180bps beats DRAM -140bps headwind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+180bps tailwind from Services mix and Pro channel offsets the -140bps DRAM headwind in FY26E, landing blended GM at 47.2% — net +30bps vs FY25.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Products GM floor 36.8% via Apple Silicon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Silicon removes the third-party chip vendor tax, establishing a Products gross margin floor at 36.8% — ~5pp above comparable OEM hardware margins.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 GM disclosures, Citi FY26E GM model.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V2B APP STORE RE-ACCELERATION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 Store +7% Mar-26 re-accelerates vs +4-5% Dec-25 — saturation narrative disproved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GS+UBS dual-source +7% re-acceleration contradicts Street's deceleration assumption — consensus models 10-13% FY26-27 vs FY25's 14% actual.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revenue trajectory + Street consensus FY21–FY27E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 Store +7% Mar-26 re-acceleration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+7% from +4-5% Dec-25; two quarters above 15% validates AI monetization; justifies 35-37× multiple.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GM +150bps — no saturation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73.9%→75.4% — no margin saturation evidence. China App Store cut adds only ~-$1.1B/yr drag.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Street CAGR undermodels FY25 actual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models 10-13% FY26-27 vs FY25 14% actual; 2-quarter re-acceleration forces FY27E consensus revision.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10-K, GS+UBS dual-source App Store data.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V2C SUM-OF-PARTS 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SOTP $3.26T parts vs $3.97T mcap — $740B ecosystem premium not in parts-only analysis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comps structurally undervalue the Services annuity and installed-base network effect — the ecosystem premium accrues here, not in parts.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SOTP build → ecosystem premium → PT $330, $/share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64008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713232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FY27E vs STREET CONSENSUS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1993392"/>
            <a:ext cx="457200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($/share)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611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2779776"/>
            <a:ext cx="45720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611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899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323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($B)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9611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875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7899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3232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611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8755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47.2%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7899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+40.0bps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323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9611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755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$9.70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7899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+$0.30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1323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Fwd PE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9611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33×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8755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31×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7899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+2.00×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132320" y="4443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PT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9611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8755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7899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+$33.0 (+11.0%)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Visible Alpha FY27E consensus, Bernstein/Citi/MS/JPM TPs. Uninodue Research SOTP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 COUNTER · EU DMA SERVICES BEAR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EU DMA forces App Store alternatives → Services GM 75%→60% = -$0.75 EPS, PT $245-252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DMA bear requires global multi-jurisdiction enforcement simultaneously — Apple's 30%→17% EU rate cut shows adaptive pricing limits the cascade.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DMA covers EU only — ~15% of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is ~$18B of $109B total Services; even if full mandate hits, other 85% of Services revenue (US, China, APAC) is unaffected and continues at 75%+ GM.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already adapted — 30%→17% EU rate for standard devs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proved it can re-price without losing platform; the voluntary rate cut pre-empts full alternative-store mandate by absorbing the regulatory pressure at lower cost.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Even at 60% Services GM — thesis intact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18464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Services GM on $120B still generates $72B gross profit — more profitable than any hardware segment; Services growing faster than hardware thesis survives DMA.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Global App Store alternative mandate → -$0.75 EPS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Research bear scenario 2: Services GM 75.4%→~60% removes ~$11B NI, ~$0.75 EPS; at 28× on $8.75-9.00 EPS revised → PT $245-$252 (-7% to -9%).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multiple re-rates from 30× to 22× on DMA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overhang de-rates Services comparables; a 22× NI multiple on compressed $63B Services NI reduces Services intrinsic value by ~$800B → -$53/share equivalent.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EU Commission DMA docket, _aapl_argumentation_extracted.md. Metro Research bear scenario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RETURN MECHANICALLY LIFTS EPS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$599B returned FY20-25 = 43% of starting mcap; capital return = 22% of 3Y return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$89B FY25 buyback funded by $99B FCF + cheap debt; capital return ranks 2nd in 4-factor 3Y attribution at 22%.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V3A — $89B BUYBACK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 of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2.5%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FY25 $89.3B buyback compressed share count ~2.5% annually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$100B re-auth = 3-year runway at $85B/yr pace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FY27E $10 EPS needs only 1.5%/yr share + 6.3% rev + 50bps 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All three within 3Y trailing history — no heroics 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V3B — FUNDED STRUCTURALLY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2 of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$99B FCF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Net debt $24B is leverage discipline, not impairment (AA+/Aa1)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$99B FCF + $20B/yr cheap debt at 4.0-4.85% coupon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45% in 5-10yr maturities — roll, don't issue expensive new debt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Sustains $85-90B/yr buyback through FY27 at 1.2× net debt/EBITDA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V3C — 22% OF RETURN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3 of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+10.9% cum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4-factor 3Y: Revenue 35% / Capital Return 22% / Multiple 14% / Margin 12%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Capital return is 2nd-largest driver — most predictable lever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Floor at $260: buyback yield 3.5% = mechanical drawdown self-correction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Only requires FCF &gt; 0 + Board authorization — both locked through FY27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v3 lead,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V3A FCF &amp; CAPITAL RETURN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$89.3B FY25 buyback = 2.5% share compression — $599B returned FY20-25 = 43% of mcap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math creates an EPS floor independent of growth — $85B/yr at $270 retires ~315M shares/yr, delivering 6% cumulative EPS uplift over 3 years.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 (buyback + dividend) FY20–FY25A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$89.3B = 2.5% annual share compression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$100B re-auth gives 3-year runway at $85B/yr; Street FY26E ~$85B is conservative vs $89-95B actuals.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 EPS needs 1.5%/yr share reduction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 +6.3% YoY + 50bps OP leverage + 1.5% share cut = $10 — within 3Y trailing range; no heroics needed.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Buyback pace moderates $90B→$85B FY26E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trough $98.8B (capex +35%) — $83-88B buyback after dividends; not a thesis break; $315 PT worst case.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FY20-FY25 10-K capital return, FY24/FY25Q4 EC mgmt net cash. yfinance TTM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V3B BALANCE SHEET + BUYBACK FUNDING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Net debt $24B is leverage discipline — 4.0-4.85% debt cost sustains $85-90B buyback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bear narrative that net debt ends the buyback is wrong — Apple's $99B debt at 4.0-4.85% coupon is only ~$0.02 EPS drag annually.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cash trajectory FY21–TTM ($B, mgmt basis),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Net debt = deliberate discipline, AA+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AA+/Aa1 rated; $99B debt at avg &lt;3.5% coupon; 45% in 5-10yr maturities — balance sheet is a feature, not a risk.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FCF recovering $105-110B from trough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FCF $98.8B was capex-driven trough; TTM $106.3B already recovering; 5Y avg ~$102B confirms health.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FY21 bonds rolling: +$300-500M/yr drag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4.0-4.85% new vs FY21 0.7-2.85% adds ~$0.02 EPS drag annually — trivial vs $2-3 EPS buyback accretion.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10-K, yfinance TTM net cash.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V3C 3Y RETURN ATTRIBUTION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Capital Return = 22% of base case total return — most predictable lever vs AI (14%)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 is the most machine-like alpha — Board authorization is locked, FCF is known, buyback math is a pure function of share price.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Capital Return = 22% of 3Y base case (+10.9% cumulative)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4-factor attribution: Revenue Growth 35% / Capital Return 22% / Multiple Re-rate 14% / Margin Expansion 12% / cross-effect 7% = total base case +42% over 3Y.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Most predictable return driver — lowest execution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requires macro; multiple re-rate requires AI delivery; margin needs Services mix. Capital return requires only FCF &gt; 0 and Board authorization — both locked.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Self-correcting at drawdown: $255-260 add-on zone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18464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AAPL pulls back to $255-260 (Metro Research add-on zone), buyback yield increases to ~3.5%, making each buyback dollar more EPS-accretive — mechanical self-correction.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3Y +42% base case needs all 4 factors contributing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+35% contribution requires 5.5%/yr CAGR — in line with FY21-25 actual; if China or iPhone cycle disappoints, revenue attribution shrinks.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Shareholder yield FY25 2.9% — modest on absolute basis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total return $104.7B on $3.97T mcap = 2.6% yield; not extraordinary vs S&amp;P average, but combined with EPS growth it compounds the total return floor.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v3c attribution,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 COUNTER · FCF TROUGH COUNTER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Capex +35% to $12.7B + $500B US manufacturing pledge — $70B buyback cuts PT to $315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trough scenario still produces a BUY at $315 — above current $270; capital return counter is a floor-adjuster, not a thesis-breaker.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Even $70B/yr buyback = $315 PT — still BUY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15-20% buyback cut to $70B/yr from $89B actuals drops annual EPS accretion from 2.5% to 2.0%; FY27E EPS falls ~-$0.45 to $9.55; at 33× = $315 PT — low end, still BUY.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Existing debt profile allows roll without new issuance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7598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Apple's $99B debt averages &lt;3.5% coupon with 45% in 5-10yr maturities — they roll existing paper rather than issuing new expensive bonds during FCF troughs. Combined with $20B/yr cheap incremental debt at 4.0-4.85%, the $85-90B buyback pace is structurally funded; net debt/EBITDA stays manageable at ~1.2× through FY27.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Capex +35% YoY to $12.7B — AI infra + US manufacturing drag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35000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capex $12.7B vs $9.45B FY24 (+35%); $500B US manufacturing commitment over 4 years implies structural capex elevation through FY28-29; FCF conversion troughs at 88%.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106% payout ratio FY25 — third year above 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47598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total return $104.7B vs FCF $98.8B (payout 106%); if FCF declines to $90-95B while buyback held, Apple must issue $15-20B additional debt/yr — leverage ratio rises.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v3_counter, _aapl_argumentation_extracted.md. FY25 10-K capex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03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THE VALUATION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 BAND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Current PE 33.8× at 76th %ile vs 5Y mean 30.3× (±1σ 25.7-34.9×) — 11.5% premium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33.8× AAPL sits within the ±1σ upper band — 11.5% premium to the 5Y mean, consistent with, not stretched beyond, historical re-rate ranges.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trailing PE weekly — 5Y band (±1σ) Apr-2021 to Apr-2026, PE×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33.8× in ±1σ band — not stretched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76th %ile vs 5Y history; ±1σ upper band is 34.9× — current 33.8× is within band; premium is defensible.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5Y mean 30.3× = fair PE baseline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5Y mean 30.3× is the fair PE at current mix; 33× base case implies a modest premium on Services trend.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41.8× peak vs 33.8× now — compressed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Compressed from 41.8× (Dec-24) to 33.8× (Apr-26); 33× PT restores the multiple, not asking for new highs.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_aapl_pe_band_data.json (yfinance weekly), Uninodue Research PE framework. Bloomberg 5Y PE range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MAG7 PEER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Apple's 3.5-turn MAG7 PE discount is unwarranted given 71% ROIC and 3.5% yield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ROIC leadership and yield justify a higher multiple even at below-median growth — total-return math favors Apple over faster-growing peers.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MAG7 + premium hardware trading comparables — LTM (CIQ data)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483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5369" y="2139696"/>
            <a:ext cx="3003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MCAP ($T)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16843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LTM 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871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EV/EBITDA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058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32451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1124712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505456"/>
            <a:ext cx="11247120" cy="347472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(target)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5369" y="250545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6843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33.8×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8871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{{placeholder}}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058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32451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— 76th %ile vs 5Y PE band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91256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95369" y="2852928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6843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8871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18.2×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058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32451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SaaS-heavy; lower yield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38728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3200400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95369" y="3200400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6843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32.4×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8871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058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32451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TAC payer to AAPL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3547872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NVDA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95369" y="3547872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6843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44.2×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8871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39.1×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058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32451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infra premium; cyclical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33672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" y="3895344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95369" y="3895344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16843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8871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54.6×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6058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32451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silicon; M&amp;A driven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24281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995369" y="424281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16843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33.6×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8871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14.4×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6058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032451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HW peer; DRAM exposure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vs GOOGL PE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+1.4×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65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33.8× vs GOOGL 32.4× — Services GM 75.4% vs Search blended 57%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6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6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vs MSFT PE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46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+7.2×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446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at premium to MSFT despite MSFT higher GM — ROIC 71% vs 52% defends gap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7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27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 COMP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7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33.6× LTM PE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827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HW peer at same PE on 13.6% NPM vs Apple 26.9% — Apple quality premium justified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_aapl_ciq_extract.json (CIQ Pro), Visible Alpha consensus FY27E. Uninodue Research</a:t>
            </a:r>
            <a:endParaRPr lang="en-US" sz="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SELL-SIDE CONSENSUS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Street FY27E $9.35 EPS vs Uninodue $10.00 — 7% upgrade ahead is the alpha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consensus embeds deceleration — Uninodue's $10 EPS requires only repeating FY25's growth trajectory, not heroic assumptions.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Sell-side consensus vs Uninodue Research — FY24A to FY28E (CIQ data)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483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5369" y="2139696"/>
            <a:ext cx="3003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FY24A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16843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871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058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32451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FY28E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1124712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5369" y="250545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390.5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6843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415.7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8871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466.9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058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500.7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32451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536.0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91256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(norm)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95369" y="2852928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$6.70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6843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$7.39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8871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$8.51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058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$9.35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32451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$10.42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38728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3200400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 ($B, norm)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95369" y="3200400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6843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110.9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8871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124.5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058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133.9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32451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146.3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3547872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($B)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95369" y="3547872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108.5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6843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112.0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8871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136.9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058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149.9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32451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165.6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33672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" y="3895344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 (%)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95369" y="3895344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46.1%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16843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46.8%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8871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6058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47.9%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32451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48.3%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242816"/>
            <a:ext cx="11247120" cy="347472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24281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FY27E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995369" y="424281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16843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8871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$438B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6058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032451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CITRI vs STREET FY27E EPS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+$0.65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65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$10.00 Uninodue vs $9.35 CIQ consensus — 7% upgrade alpha; needs only 6.3% rev + 50bps OP leverage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6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6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 REVENUE CONSENSUS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46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$466.9B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446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CIQ 25-46 brokers; Uninodue $438B is conservative vs street $467B on revenue — EPS alpha from margin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7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27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CONSENSUS FY27E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7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$149.9B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827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already models FCF recovery above FY25 trough — buyback runway confirmed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_aapl_ciq_extract.json (CIQ Pro 25-46 brokers), Uninodue Research model. Visible Alpha</a:t>
            </a:r>
            <a:endParaRPr lang="en-US" sz="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SUM-OF-PARTS 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$90 hardware + $130 services + $110 ecosystem = $330 — SOTP $220 is bear-side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comps undervalue the Services annuity and installed-base network effect — exactly where the ecosystem integration premium accrues.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SOTP build → ecosystem premium → PT $330, $/share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64008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713232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FY27E vs STREET CONSENSUS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1993392"/>
            <a:ext cx="457200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($/share)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611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2779776"/>
            <a:ext cx="45720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611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899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323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($B)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9611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875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7899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3232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611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8755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47.2%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7899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+40.0bps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323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9611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755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$9.70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7899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+$0.30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1323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Fwd PE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9611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33×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8755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31×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7899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+2.00×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132320" y="4443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PT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9611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8755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7899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+$33.0 (+11.0%)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Visible Alpha FY27E consensus, Bernstein/Citi/MS/JPM TPs. Uninodue Research SOTP</a:t>
            </a:r>
            <a:endParaRPr lang="en-US" sz="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SENSITIVITY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FY26 EPS $9.35 priced at $270 — AI gateway, India, foldable free options worth $30-60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pays only for visible FY26 earnings, leaving AI gateway, India, and foldable optionality entirely uncompensated at $270.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price target sensitivity: PE multiple × FY27E EPS ($/share), $/share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FY27E $10 + 33× = $330, +22% from $270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28.9× × $9.35 = $270 = FY26 priced; $10 at 33× = $330 (+22%); each turn adds ~$20/share.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AI, India, foldable = free options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credit in 28.9× for 2.35B-device AI moat; Siri gate; India/foldable each worth $10-30/share.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Bear $213: EPS miss + de-rate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25× × $8.50 = $213 needs DRAM and AI miss simultaneously — joint probability below 15%; 3:1 risk-reward.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PE × EPS sensitivity, AAPL 5-yr PE range Bloomberg. _aapl_pe_band_data.json</a:t>
            </a: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04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RISKS &amp; CATALYSTS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RISK &amp; CATALYST DASHBOARD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DOJ Google TAC is the only tail (-$1.20 EPS); 8 catalysts 3M-12M; 3 options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view across regulatory aggregate, six quantified vectors, catalyst timeline, and optionality not in base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R0 — REGULATORY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node 1 of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-$1.30 EPS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DOJ Google TAC ~-$1.20 EPS / -15% — the only tail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EU DMA + China app store + India local content all bounded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4-front aggregate worst case = -$1.30 EPS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R1 quantifies 6 individual risk vectors below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— CATALYSTS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node 3 of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8 events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F2Q26 earnings (~Apr 30 2026) is the immediate gate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Personalized Siri Spring 2026 — AI re-rate gate (+$30/sh)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WWDC June 2026 China Apple Intelligence rollout (+$10/sh)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iPhone 18 launch Sept 2026 + ARPU threshold Oct 2026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— OPTIONALITY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Upside node 4 of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+$10-30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Paid AI subscription tier: ~$5-10/user/month on 200M subs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India domestic manufacturing scale-up: record Q4 FY25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Foldable iPhone product launch: AirPods playbook repeat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Any one of three layers adds $10-30 to $330 base 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R lead,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R0 · REGULATORY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Regulatory aggregate drag -$1.30 EPS worst case; only DOJ TAC is a tail risk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of four fronts are already priced in; only the DOJ Google TAC ruling has the magnitude to meaningfully reset the bear floor.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All-bear regulatory EPS impact per front + aggregate ($), EPS drag ($)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Three of four fronts are manageable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fine is one-time, China App Store is in the base case, India is net positive — three fronts priced in.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DOJ TAC is the only real tail risk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$20B/yr Google TAC removal is -$1.20 EPS — the only scenario that meaningfully tests the bear floor.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Aggregate drag bounded — floor $212 holds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All-bear EPS = $8.50 and 25× floor = $212 — the $1.30 drag is bounded; simultaneous failures required.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EU Commission DMA docket, DOJ filings. App Store policy updates</a:t>
            </a:r>
            <a:endParaRPr lang="en-US" sz="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R1 · RISK QUANTIFICATION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Six risk vectors quantified — DRAM and China are 2026 watch items; DOJ is the tail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vectors carry single-digit EPS impact; only the DOJ Google TAC ruling has the magnitude to reset the bear floor.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vector quantification — EPS and PT 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748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60745" y="2139696"/>
            <a:ext cx="3533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12971" y="2139696"/>
            <a:ext cx="1890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6754" y="2139696"/>
            <a:ext cx="1890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 IMPACT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40537" y="2139696"/>
            <a:ext cx="1890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TRIPWIRE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1124712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505456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 100% 2H26 spike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0745" y="2505456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12971" y="250545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-$0.37 EPS (-140bps → -4.00%)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6754" y="250545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-$40.0 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40537" y="250545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F3Q26 GM print Jul 2026; Citi $1.93 EPS bogey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91256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2852928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Google TAC removed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60745" y="2852928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Medium-Low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12971" y="285292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-$1.20 EPS ($20.0B/yr TAC)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6754" y="285292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-$118 PT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40537" y="285292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ruling timeline CY26-27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38728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200400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Greater China structural loss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60745" y="3200400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12971" y="3200400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-$0.80 EPS (17.0%→10.0% rev)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6754" y="3200400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-$65.0 PT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40537" y="3200400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CAICT -15% YoY for 3+ consecutive months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" y="3547872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laggard crystallizes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60745" y="3547872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12971" y="3547872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de-rate to 26×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6754" y="3547872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-$50.0 PT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40537" y="3547872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2026 Siri miss; Services &lt;10% for 2 qtrs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33672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3895344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DMA app store mandate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60745" y="3895344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12971" y="3895344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-$0.04 one-time + $0.06/yr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6754" y="3895344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-$5.00 PT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40537" y="3895344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 DMA appeal ruling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" y="4242816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replacement 5+ yr cycle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60745" y="4242816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(LT)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12971" y="424281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-$0.55 EPS (262M→240M units)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6754" y="424281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-$45.0 PT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740537" y="424281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Bernstein replacement cycle tracker (quarterly)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11247120" cy="347472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590288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 -$212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60745" y="4590288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 + China + AI miss simultaneously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12971" y="459028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 prob &lt;10%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6754" y="459028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40537" y="459028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 BEAR FLOOR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5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B87A2E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$212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65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25× × $8.50 bear EPS (Uninodue bear case)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6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6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BEAR FLOOR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46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B33A2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$160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446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+ China + DRAM all firing simultaneously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7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27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JOINT PROB.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27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&lt;10.0%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827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simultaneous failures required for bear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risk framework, CAICT data. EU Commission DMA docket</a:t>
            </a:r>
            <a:endParaRPr lang="en-US" sz="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R2 · CATALYST TIMELINE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Eight catalysts spanning 3M–12M — Personalized Siri launch is the AI-gateway gate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Siri carries the largest single unlock; the other seven catalysts provide sequential confirmation of each pillar in the base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75104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F2Q26 earnings print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 $109B/$1.93 vs street $105B/$1.83. First China F2Q26 read.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26464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miss below $1.85 → DRAM/GM concern 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26464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+$15.0/share if beat; -$20.0 if miss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10128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10128" y="1645920"/>
            <a:ext cx="45720" cy="1778508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11296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11296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EU DMA appeal ruling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11296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€500M fine on appeal; alt-store mandate determination. EU -$0.04.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11296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11296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79392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alt-store mandate = -$0.06/yr additional drag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11296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79392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— not in base case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63056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63056" y="16459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64224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64224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Personalized Siri launch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64224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on-device + cloud (Google $1B/yr). M5 12GB enables inference.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4224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64224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collapses AI multiple to 26×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64224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+$30.0/share (29× to 33×) if reception positive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015984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015984" y="16459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217152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2026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33888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217152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WWDC 2026 — AI China rollout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217152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Intelligence China launch. Unlocks 1.4B addressable market.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217152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217152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985248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= China bull case deferred 1-2 years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17152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985248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+$10.0/share on confirmed rollout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7200" y="3589020"/>
            <a:ext cx="45720" cy="1778508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8368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2026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975104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8368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F3Q26 GM print (DRAM test)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8368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full DRAM 2H26 cost quarter. 140bps headwind; critical GM test.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8368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8368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426464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 below 46.5% = DRAM pass-through failure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426464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+/-$40.0/share on outcome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10128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310128" y="35890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511296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2026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28032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511296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iPhone 17e India unit data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511296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Bernstein India/SEA 17e tracker. $599 = Android OEM entry point.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511296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511296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279392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units below Citi +5.60% CY27 trajectory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511296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279392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+$12.0-$25.0 if Bernstein 46M incr. units validate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63056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163056" y="35890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364224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680960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07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64224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ARPU threshold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364224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 ARPU — above $296/user unlocks Services multiple re-rate.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364224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364224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132320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 stagnation = Services annuity thesis weakens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364224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132320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+$15.0/share on confirmed ARPU acceleration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015984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015984" y="35890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217152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0533888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08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217152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FY27E EPS path confirmed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9217152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FY27Q1 confirms $10 EPS. Most important multiple anchor for $330.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217152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9217152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9985248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below $9.50 triggers multiple compression to 29×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217152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9985248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 base case fully realized at $10 × 33×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57200" y="5532120"/>
            <a:ext cx="45720" cy="868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76656" y="5660136"/>
            <a:ext cx="1093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SYNTHESIS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76656" y="5897880"/>
            <a:ext cx="1093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catalyst: Personalized Siri Spring 2026. AI-gateway re-rate 29×→33× = +$60 unlock. All 7 other catalysts are supporting evidence.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catalyst map, Apple IR calendar. Citi/MS/Bernstein timing forecasts</a:t>
            </a:r>
            <a:endParaRPr lang="en-US" sz="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R3 · OPTIONALITY LAYERS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Three optionality layers not in base case — any one adds $10–$30 to the price target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consensus prices in none of these layers, so realizing even one creates asymmetric upside beyond the $330 base target.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PRO OPTIONALITY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probability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+$30.0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Miniaturize + reprice Vision Pro Gen-2 to $1,500–$2,000 by FY27-28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AirPods playbook: $0 FY14 → $18-20B/yr FY25 estimate in 9 years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Gate: WWDC 2026 Gen-2 specs + pricing; current enterprise-only, low-100k units FY25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DEMAND INFLECTION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probability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+$15.0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'Vast majority of US iPhones now produced in India' — FY25Q3 earnings call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FY25Q4 India quarterly revenue record; 4 new India stores opening FY26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Gate: iPhone 17e India unit tracker Aug 2026+; target 6-7% revenue share FY27E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M&amp;A OPTIONALITY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probability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+$25.0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~1 small acquisition/month; Cook: 'does not rule out larger acquisitions' FY25Q1 EC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$195B cumulative bond issuance; AA+ rating; $30-50B deal supportable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Gate: Any acquisition above $5B market cap; AI vertical = +2-3× PE turns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Apple FY25Q3/Q4 EC, Sell-side Vision Pro estimates. Cook FY25Q1 EC</a:t>
            </a:r>
            <a:endParaRPr lang="en-US" sz="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 Apple — $330 PT on 33× FY27E $10 EPS, 3:1 risk-reward, MAG7 OVERWEIGHT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vectors de-risk each other — AI optionality, Services durability, and capital return underpin the floor and compound the upside path.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112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6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 vs $270.23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0" cy="3584448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984248"/>
            <a:ext cx="6492240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Gateway re-rating: 2.35B devices + 20+ Apple Intelligence features + Spring 2026 Personalized Siri = largest consumer AI distribution surface. Multiple re-rates 29×→33× on confirmed monetization.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023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3041904"/>
            <a:ext cx="6492240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margin compounder: $109B FY25 at 75.4% GM, +14% YoY. Each +1pp mix = +38bps blended GM = +2-3% EPS mechanical lift. FY27E $138B Services at 29.8% mix adds 200bps structural margin.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081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4099560"/>
            <a:ext cx="6492240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 floor: $599B returned FY20-FY25 (43% of starting mcap); $100B re-authorized May 2025; net debt = deliberate leverage discipline. Zero-growth bear provides 3-4%/yr return floor.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32180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CATALYSTS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669280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5724144"/>
            <a:ext cx="2743200" cy="6858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5724144"/>
            <a:ext cx="2743200" cy="365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" y="5815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6089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Siri launch — AI-gateway multiple gate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5724144"/>
            <a:ext cx="2743200" cy="6858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0" y="5724144"/>
            <a:ext cx="2743200" cy="365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47872" y="5815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47872" y="6089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F2Q26 earnings: Citi $109B/$1.93 vs street $105B/$1.83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5724144"/>
            <a:ext cx="2743200" cy="6858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5724144"/>
            <a:ext cx="2743200" cy="365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73952" y="5815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73952" y="6089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F3Q26 GM print — first DRAM 2H26 cost read-through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Research, FY24/FY25 10-K. F1Q26 earnings release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8403</Words>
  <Application>Microsoft Office PowerPoint</Application>
  <PresentationFormat>宽屏</PresentationFormat>
  <Paragraphs>1120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3" baseType="lpstr">
      <vt:lpstr>Tiempos Headline Regular</vt:lpstr>
      <vt:lpstr>Arial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Jason Dong</cp:lastModifiedBy>
  <cp:revision>3</cp:revision>
  <dcterms:created xsi:type="dcterms:W3CDTF">2026-04-29T06:14:39Z</dcterms:created>
  <dcterms:modified xsi:type="dcterms:W3CDTF">2026-04-29T06:34:47Z</dcterms:modified>
</cp:coreProperties>
</file>