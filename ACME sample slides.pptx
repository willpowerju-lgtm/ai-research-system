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rgbClr val="1034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12.3</c:v>
                </c:pt>
                <c:pt idx="1">
                  <c:v>14.1</c:v>
                </c:pt>
                <c:pt idx="2">
                  <c:v>16</c:v>
                </c:pt>
                <c:pt idx="3">
                  <c:v>18.2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32-4199-864B-92D2CF5D8C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2E6FB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</c:v>
                </c:pt>
                <c:pt idx="1">
                  <c:v>5.8</c:v>
                </c:pt>
                <c:pt idx="2">
                  <c:v>9.4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32-4199-864B-92D2CF5D8CC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ea typeface="Microsoft YaHei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Cons</c:v>
                </c:pt>
                <c:pt idx="1">
                  <c:v>Actual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4.9000000000000004</c:v>
                </c:pt>
                <c:pt idx="1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E-4B54-83D3-FD57982C14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FY25</c:v>
                </c:pt>
                <c:pt idx="1">
                  <c:v>FY27E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44.7</c:v>
                </c:pt>
                <c:pt idx="1">
                  <c:v>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0-42F8-ADB5-0A1B9A7C18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Cons</c:v>
                </c:pt>
                <c:pt idx="1">
                  <c:v>Actual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4.9000000000000004</c:v>
                </c:pt>
                <c:pt idx="1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E2-488F-89A0-3EDACC23A5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FY25</c:v>
                </c:pt>
                <c:pt idx="1">
                  <c:v>FY27E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44.7</c:v>
                </c:pt>
                <c:pt idx="1">
                  <c:v>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5-472C-B47E-F7AF28399F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FY26E</c:v>
                </c:pt>
                <c:pt idx="4">
                  <c:v>FY27E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12.6</c:v>
                </c:pt>
                <c:pt idx="1">
                  <c:v>15.4</c:v>
                </c:pt>
                <c:pt idx="2">
                  <c:v>19.899999999999999</c:v>
                </c:pt>
                <c:pt idx="3">
                  <c:v>25.4</c:v>
                </c:pt>
                <c:pt idx="4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D0-4CD7-B31B-BFA012464D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FY26E</c:v>
                </c:pt>
                <c:pt idx="4">
                  <c:v>FY27E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42.1</c:v>
                </c:pt>
                <c:pt idx="1">
                  <c:v>43.4</c:v>
                </c:pt>
                <c:pt idx="2">
                  <c:v>44.7</c:v>
                </c:pt>
                <c:pt idx="3">
                  <c:v>48.6</c:v>
                </c:pt>
                <c:pt idx="4">
                  <c:v>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80-46CF-A9BE-B2F4126EA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FY26E</c:v>
                </c:pt>
                <c:pt idx="4">
                  <c:v>FY27E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1.42</c:v>
                </c:pt>
                <c:pt idx="1">
                  <c:v>1.71</c:v>
                </c:pt>
                <c:pt idx="2">
                  <c:v>2.1800000000000002</c:v>
                </c:pt>
                <c:pt idx="3">
                  <c:v>2.78</c:v>
                </c:pt>
                <c:pt idx="4">
                  <c:v>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3-4D49-AC53-2B15CD2B5E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FY26E</c:v>
                </c:pt>
                <c:pt idx="4">
                  <c:v>FY27E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1.9</c:v>
                </c:pt>
                <c:pt idx="2">
                  <c:v>2.5</c:v>
                </c:pt>
                <c:pt idx="3">
                  <c:v>3</c:v>
                </c:pt>
                <c:pt idx="4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A7-4D34-95C7-751EAAA88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6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87-4A98-B378-3C3C75D2FEA9}"/>
              </c:ext>
            </c:extLst>
          </c:dPt>
          <c:dPt>
            <c:idx val="1"/>
            <c:bubble3D val="0"/>
            <c:spPr>
              <a:solidFill>
                <a:srgbClr val="2C6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87-4A98-B378-3C3C75D2FEA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Inter"/>
                      <a:ea typeface="Microsoft YaHei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87-4A98-B378-3C3C75D2FEA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Inter"/>
                      <a:ea typeface="Microsoft YaHei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87-4A98-B378-3C3C75D2FEA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  <a:ea typeface="Microsoft YaHei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Hardware</c:v>
                </c:pt>
                <c:pt idx="1">
                  <c:v>Services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18.2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87-4A98-B378-3C3C75D2F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ea typeface="Microsoft YaHei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FY25</c:v>
                </c:pt>
                <c:pt idx="1">
                  <c:v>FY27E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38.200000000000003</c:v>
                </c:pt>
                <c:pt idx="1">
                  <c:v>39.1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1-4563-8130-E65FA59D80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FY25</c:v>
                </c:pt>
                <c:pt idx="1">
                  <c:v>FY27E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62.4</c:v>
                </c:pt>
                <c:pt idx="1">
                  <c:v>67.8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B1-4563-8130-E65FA59D80B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ea typeface="Microsoft YaHei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APAC</c:v>
                </c:pt>
                <c:pt idx="1">
                  <c:v>Fab-12</c:v>
                </c:pt>
                <c:pt idx="2">
                  <c:v>Guide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7-42DB-88E1-F185462D6D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B87A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DMA</c:v>
                </c:pt>
                <c:pt idx="1">
                  <c:v>Lock-up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-7</c:v>
                </c:pt>
                <c:pt idx="1">
                  <c:v>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80-4257-9A8B-CBC69DB5EF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  <a:ea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32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B-4F95-8476-975B530AD1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91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icrosoft YaHei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icrosoft YaHei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icrosoft YaHei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icrosoft YaHei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YaHei"/>
          <a:cs typeface="+mn-cs"/>
        </a:defRPr>
      </a:lvl9pPr>
    </p:bodyStyle>
    <p:otherStyle>
      <a:defPPr>
        <a:defRPr lang="en-US">
          <a:ea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YaHei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INITIATING COVERAGE  ·  BUY</a:t>
            </a:r>
            <a:endParaRPr lang="en-US" sz="1200" dirty="0">
              <a:ea typeface="Microsoft YaHe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FFFFF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Acme Semis</a:t>
            </a:r>
            <a:endParaRPr lang="en-US" sz="7200" dirty="0">
              <a:ea typeface="Microsoft YaHe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3E8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ACME  ·  NASDAQ · USD · spot $44</a:t>
            </a:r>
            <a:endParaRPr lang="en-US" sz="1400" dirty="0">
              <a:ea typeface="Microsoft YaHe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02920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C8D3E8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mix doubles by FY27, lifting blended GM 820 bps and re-rating PE from 22x to 27x. Four dense IC dashboard layouts showcased: 2+1 (A/B) and 2+2 (a/b).</a:t>
            </a:r>
            <a:endParaRPr lang="en-US" sz="1300" dirty="0">
              <a:ea typeface="Microsoft YaHe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0" y="640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RATING</a:t>
            </a:r>
            <a:endParaRPr lang="en-US" sz="10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0" y="914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Buy</a:t>
            </a:r>
            <a:endParaRPr lang="en-US" sz="3600" dirty="0">
              <a:ea typeface="Microsoft YaHe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PRICE TARGET</a:t>
            </a:r>
            <a:endParaRPr lang="en-US" sz="1000" dirty="0">
              <a:ea typeface="Microsoft YaHe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$58</a:t>
            </a:r>
            <a:endParaRPr lang="en-US" sz="36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+32% vs spot</a:t>
            </a:r>
            <a:endParaRPr lang="en-US" sz="11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 EPS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$3.42</a:t>
            </a:r>
            <a:endParaRPr lang="en-US" sz="3600" dirty="0">
              <a:ea typeface="Microsoft YaHe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Consensus $3.12 (n=18)</a:t>
            </a:r>
            <a:endParaRPr lang="en-US" sz="1100" dirty="0">
              <a:ea typeface="Microsoft YaHe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0" y="4892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TIMEFRAME</a:t>
            </a:r>
            <a:endParaRPr lang="en-US" sz="1000" dirty="0">
              <a:ea typeface="Microsoft YaHe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12 mo</a:t>
            </a:r>
            <a:endParaRPr lang="en-US" sz="3600" dirty="0">
              <a:ea typeface="Microsoft YaHe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8D3E8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800" dirty="0"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&amp; MARGIN BUILD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02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Services mix doubles by FY27, lifting blended GM 820 bps.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 base + Services growth → blended margin re-rate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by segment ($B,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318254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Gross margin build (%)</a:t>
            </a:r>
            <a:endParaRPr lang="en-US" sz="1000" dirty="0">
              <a:ea typeface="Microsoft Ya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4647438"/>
            <a:ext cx="2276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870622" y="4647438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61838" y="4647438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53055" y="4647438"/>
            <a:ext cx="12615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Δ bps</a:t>
            </a:r>
            <a:endParaRPr lang="en-US" sz="1000" dirty="0">
              <a:ea typeface="Microsoft YaHe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" y="4903470"/>
            <a:ext cx="7103107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976622"/>
            <a:ext cx="2276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</a:t>
            </a:r>
            <a:endParaRPr lang="en-US" sz="10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870622" y="497662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38.2%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61838" y="497662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39.1%</a:t>
            </a:r>
            <a:endParaRPr lang="en-US" sz="1000" dirty="0">
              <a:ea typeface="Microsoft YaHe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53055" y="4976622"/>
            <a:ext cx="12615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+90</a:t>
            </a:r>
            <a:endParaRPr lang="en-US" sz="1000" dirty="0">
              <a:ea typeface="Microsoft YaHei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5232654"/>
            <a:ext cx="7103107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5296662"/>
            <a:ext cx="2276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870622" y="529666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62.4%</a:t>
            </a:r>
            <a:endParaRPr lang="en-US" sz="1000" dirty="0">
              <a:ea typeface="Microsoft YaHei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61838" y="529666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67.8%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53055" y="5296662"/>
            <a:ext cx="12615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+540</a:t>
            </a:r>
            <a:endParaRPr lang="en-US" sz="1000" dirty="0">
              <a:ea typeface="Microsoft YaHe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57200" y="5552694"/>
            <a:ext cx="7103107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2920" y="5616702"/>
            <a:ext cx="2276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</a:t>
            </a:r>
            <a:endParaRPr lang="en-US" sz="1000" dirty="0">
              <a:ea typeface="Microsoft YaHe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0622" y="561670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44.7%</a:t>
            </a:r>
            <a:endParaRPr lang="en-US" sz="1000" dirty="0">
              <a:ea typeface="Microsoft YaHe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61838" y="5616702"/>
            <a:ext cx="159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52.9%</a:t>
            </a:r>
            <a:endParaRPr lang="en-US" sz="1000" dirty="0">
              <a:ea typeface="Microsoft YaHei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53055" y="5616702"/>
            <a:ext cx="12615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+820</a:t>
            </a:r>
            <a:endParaRPr lang="en-US" sz="1000" dirty="0">
              <a:ea typeface="Microsoft YaHe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864803" y="1645920"/>
            <a:ext cx="3839517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864803" y="1645920"/>
            <a:ext cx="27432" cy="470916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175699" y="1810512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KEY TAKEAWAYS</a:t>
            </a:r>
            <a:endParaRPr lang="en-US" sz="1000" dirty="0">
              <a:ea typeface="Microsoft YaHe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175699" y="2139696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212275" y="241401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486595" y="23591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Mix shift drives lift</a:t>
            </a:r>
            <a:endParaRPr lang="en-US" sz="1100" dirty="0">
              <a:ea typeface="Microsoft YaHei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486595" y="2542032"/>
            <a:ext cx="2998269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revenue share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22% → 40%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by FY27 underpins +820 bps blended GM expansion.</a:t>
            </a:r>
            <a:endParaRPr lang="en-US" sz="1000" dirty="0">
              <a:ea typeface="Microsoft YaHei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8175699" y="3526536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212275" y="374599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486595" y="3691128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Margin compounds</a:t>
            </a:r>
            <a:endParaRPr lang="en-US" sz="1100" dirty="0">
              <a:ea typeface="Microsoft YaHei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486595" y="3874008"/>
            <a:ext cx="2998269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GM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44.7% → 52.9%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— Hardware holds, Services adds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540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at the segment level.</a:t>
            </a:r>
            <a:endParaRPr lang="en-US" sz="1000" dirty="0">
              <a:ea typeface="Microsoft YaHei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175699" y="485851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212275" y="507796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486595" y="502310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Multiple re-rate</a:t>
            </a:r>
            <a:endParaRPr lang="en-US" sz="1100" dirty="0">
              <a:ea typeface="Microsoft YaHe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486595" y="5205984"/>
            <a:ext cx="2998269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Fwd PE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22x → 27x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as Services becomes &gt;40% of revenue; comps trade 25–32x.</a:t>
            </a:r>
            <a:endParaRPr lang="en-US" sz="1000" dirty="0">
              <a:ea typeface="Microsoft YaHei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IC Memo, Internal forecast.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Q3 SCORECARD — 2+1 (A)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03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Beat across the board; Services drove 65% of upside.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Top-line + margin + cash flow snapshot vs sell-side consensus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47905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BEAT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+4.1%</a:t>
            </a:r>
            <a:endParaRPr lang="en-US" sz="22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$5.1B vs cons $4.9B; Services drove 65% of the upside.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($B, Q3)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621792" y="3410712"/>
          <a:ext cx="3168155" cy="493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100843" y="1691640"/>
            <a:ext cx="347905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65435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GROSS MARGIN</a:t>
            </a:r>
            <a:endParaRPr lang="en-US" sz="1000" dirty="0">
              <a:ea typeface="Microsoft Ya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65435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+820 bps</a:t>
            </a:r>
            <a:endParaRPr lang="en-US" sz="22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65435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GM 67% pulls Hardware 38% higher as mix doubles.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65435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GM (%,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1" name="Chart 1"/>
          <p:cNvGraphicFramePr/>
          <p:nvPr/>
        </p:nvGraphicFramePr>
        <p:xfrm>
          <a:off x="4265435" y="3410712"/>
          <a:ext cx="3168155" cy="493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050792"/>
            <a:ext cx="7122695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1792" y="4197096"/>
            <a:ext cx="6811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Gross margin build (%)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67512" y="4526280"/>
            <a:ext cx="1342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</a:t>
            </a:r>
            <a:endParaRPr lang="en-US" sz="1000" dirty="0">
              <a:ea typeface="Microsoft Ya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101575" y="4526280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057617" y="4526280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013659" y="4526280"/>
            <a:ext cx="7450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Δ bps</a:t>
            </a:r>
            <a:endParaRPr lang="en-US" sz="1000" dirty="0">
              <a:ea typeface="Microsoft YaHe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850195" y="4526280"/>
            <a:ext cx="2537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Driver</a:t>
            </a:r>
            <a:endParaRPr lang="en-US" sz="1000" dirty="0">
              <a:ea typeface="Microsoft YaHei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21792" y="4782312"/>
            <a:ext cx="6811799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67512" y="4855464"/>
            <a:ext cx="1342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</a:t>
            </a:r>
            <a:endParaRPr lang="en-US" sz="1000" dirty="0">
              <a:ea typeface="Microsoft YaHe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101575" y="485546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38.2%</a:t>
            </a:r>
            <a:endParaRPr lang="en-US" sz="1000" dirty="0">
              <a:ea typeface="Microsoft YaHei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057617" y="485546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39.1%</a:t>
            </a:r>
            <a:endParaRPr lang="en-US" sz="1000" dirty="0">
              <a:ea typeface="Microsoft YaHei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4013659" y="4855464"/>
            <a:ext cx="7450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+90</a:t>
            </a:r>
            <a:endParaRPr lang="en-US" sz="1000" dirty="0">
              <a:ea typeface="Microsoft YaHei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850195" y="4855464"/>
            <a:ext cx="2537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Unit cost down + premiumization</a:t>
            </a:r>
            <a:endParaRPr lang="en-US" sz="1000" dirty="0">
              <a:ea typeface="Microsoft YaHei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21792" y="5111496"/>
            <a:ext cx="6811799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67512" y="5175504"/>
            <a:ext cx="1342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</a:t>
            </a:r>
            <a:endParaRPr lang="en-US" sz="1000" dirty="0">
              <a:ea typeface="Microsoft YaHei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2101575" y="517550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62.4%</a:t>
            </a:r>
            <a:endParaRPr lang="en-US" sz="1000" dirty="0">
              <a:ea typeface="Microsoft YaHei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3057617" y="517550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67.8%</a:t>
            </a:r>
            <a:endParaRPr lang="en-US" sz="1000" dirty="0">
              <a:ea typeface="Microsoft YaHei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4013659" y="5175504"/>
            <a:ext cx="7450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+540</a:t>
            </a:r>
            <a:endParaRPr lang="en-US" sz="1000" dirty="0">
              <a:ea typeface="Microsoft YaHei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4850195" y="5175504"/>
            <a:ext cx="2537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Take-rate +24% as enterprise tier scales</a:t>
            </a:r>
            <a:endParaRPr lang="en-US" sz="1000" dirty="0">
              <a:ea typeface="Microsoft YaHei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621792" y="5431536"/>
            <a:ext cx="6811799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67512" y="5495544"/>
            <a:ext cx="1342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</a:t>
            </a:r>
            <a:endParaRPr lang="en-US" sz="1000" dirty="0">
              <a:ea typeface="Microsoft YaHei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2101575" y="549554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44.7%</a:t>
            </a:r>
            <a:endParaRPr lang="en-US" sz="1000" dirty="0">
              <a:ea typeface="Microsoft YaHei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3057617" y="5495544"/>
            <a:ext cx="864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52.9%</a:t>
            </a:r>
            <a:endParaRPr lang="en-US" sz="1000" dirty="0">
              <a:ea typeface="Microsoft YaHei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4013659" y="5495544"/>
            <a:ext cx="7450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+820</a:t>
            </a:r>
            <a:endParaRPr lang="en-US" sz="1000" dirty="0">
              <a:ea typeface="Microsoft YaHei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4850195" y="5495544"/>
            <a:ext cx="2537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share 22% → 40% of revenue</a:t>
            </a:r>
            <a:endParaRPr lang="en-US" sz="1000" dirty="0">
              <a:ea typeface="Microsoft YaHei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7884390" y="1691640"/>
            <a:ext cx="3850105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884390" y="1691640"/>
            <a:ext cx="27432" cy="466344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8195286" y="1856232"/>
            <a:ext cx="33380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KEY TAKEAWAYS</a:t>
            </a:r>
            <a:endParaRPr lang="en-US" sz="1000" dirty="0">
              <a:ea typeface="Microsoft YaHei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8195286" y="2185416"/>
            <a:ext cx="3338041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8231862" y="245973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506182" y="2404872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Beat across the board</a:t>
            </a:r>
            <a:endParaRPr lang="en-US" sz="1100" dirty="0">
              <a:ea typeface="Microsoft YaHei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8506182" y="2587752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+4.1%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and EPS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+9.0%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vs consensus — Services-led upside with hardware merely in-line.</a:t>
            </a:r>
            <a:endParaRPr lang="en-US" sz="1000" dirty="0">
              <a:ea typeface="Microsoft YaHei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8195286" y="3557016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8231862" y="377647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8506182" y="3721608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GM beat is structural</a:t>
            </a:r>
            <a:endParaRPr lang="en-US" sz="1100" dirty="0">
              <a:ea typeface="Microsoft YaHei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8506182" y="3904488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+220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lift driven by mix not pricing — sustainable into FY26 as Services share continues to scale.</a:t>
            </a:r>
            <a:endParaRPr lang="en-US" sz="1000" dirty="0">
              <a:ea typeface="Microsoft YaHei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8195286" y="4873752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8231862" y="509320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8506182" y="5038344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Hardware ASP softer</a:t>
            </a:r>
            <a:endParaRPr lang="en-US" sz="1100" dirty="0">
              <a:ea typeface="Microsoft YaHei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8506182" y="5221224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Watch Q4 ASP for share-cycling — consensus models flat hardware GM through FY26 which may prove optimistic.</a:t>
            </a:r>
            <a:endParaRPr lang="en-US" sz="1000" dirty="0">
              <a:ea typeface="Microsoft YaHei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Q3 FY26 Filing, Bloomberg consensus n=18.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Q3 SCORECARD — 2+1 (B)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04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Beat across the board; Services drove 65% of upside.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Top-line + margin + cash flow snapshot vs sell-side consensus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47905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BEAT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+4.1%</a:t>
            </a:r>
            <a:endParaRPr lang="en-US" sz="22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$5.1B vs cons $4.9B; Services drove 65% of the upside.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($B, Q3)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621792" y="3410712"/>
          <a:ext cx="3168155" cy="493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100843" y="1691640"/>
            <a:ext cx="3479051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65435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GROSS MARGIN</a:t>
            </a:r>
            <a:endParaRPr lang="en-US" sz="1000" dirty="0">
              <a:ea typeface="Microsoft Ya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65435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+820 bps</a:t>
            </a:r>
            <a:endParaRPr lang="en-US" sz="22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65435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GM 67% pulls Hardware 38% higher as mix doubles.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65435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GM (%,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1" name="Chart 1"/>
          <p:cNvGraphicFramePr/>
          <p:nvPr/>
        </p:nvGraphicFramePr>
        <p:xfrm>
          <a:off x="4265435" y="3410712"/>
          <a:ext cx="3168155" cy="493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050792"/>
            <a:ext cx="167780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1792" y="4197096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EPS BEAT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21792" y="4434840"/>
            <a:ext cx="1366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+9.0%</a:t>
            </a:r>
            <a:endParaRPr lang="en-US" sz="2200" dirty="0">
              <a:ea typeface="Microsoft Ya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21792" y="4965192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$0.85 VS CONS $0.78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21792" y="5202936"/>
            <a:ext cx="13669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Operating leverage from mix shift plus modest buyback drove the bottom-line beat.</a:t>
            </a:r>
            <a:endParaRPr lang="en-US" sz="1000" dirty="0">
              <a:ea typeface="Microsoft YaHei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2272164" y="4050792"/>
            <a:ext cx="167780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436756" y="4197096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OP MARGIN</a:t>
            </a:r>
            <a:endParaRPr lang="en-US" sz="1000" dirty="0">
              <a:ea typeface="Microsoft YaHei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2436756" y="4434840"/>
            <a:ext cx="1366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23.1%</a:t>
            </a:r>
            <a:endParaRPr lang="en-US" sz="2200" dirty="0">
              <a:ea typeface="Microsoft YaHe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2436756" y="4965192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+180 bps YoY</a:t>
            </a:r>
            <a:endParaRPr lang="en-US" sz="1000" dirty="0">
              <a:ea typeface="Microsoft YaHe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436756" y="5202936"/>
            <a:ext cx="13669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Mix shift dropped to operating line; opex grew slower than revenue.</a:t>
            </a:r>
            <a:endParaRPr lang="en-US" sz="1000" dirty="0">
              <a:ea typeface="Microsoft YaHei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087127" y="4050792"/>
            <a:ext cx="167780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251719" y="4197096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FCF</a:t>
            </a:r>
            <a:endParaRPr lang="en-US" sz="1000" dirty="0">
              <a:ea typeface="Microsoft YaHei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251719" y="4434840"/>
            <a:ext cx="1366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$0.9B</a:t>
            </a:r>
            <a:endParaRPr lang="en-US" sz="2200" dirty="0">
              <a:ea typeface="Microsoft YaHei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251719" y="4965192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+18% YoY</a:t>
            </a:r>
            <a:endParaRPr lang="en-US" sz="1000" dirty="0">
              <a:ea typeface="Microsoft YaHei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251719" y="5202936"/>
            <a:ext cx="13669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Working capital release plus tighter capex pacing as Fab-12 phase 1 wraps.</a:t>
            </a:r>
            <a:endParaRPr lang="en-US" sz="1000" dirty="0">
              <a:ea typeface="Microsoft YaHei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5902091" y="4050792"/>
            <a:ext cx="167780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066683" y="4197096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NET CASH</a:t>
            </a:r>
            <a:endParaRPr lang="en-US" sz="1000" dirty="0">
              <a:ea typeface="Microsoft YaHei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066683" y="4434840"/>
            <a:ext cx="1366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$2.1B</a:t>
            </a:r>
            <a:endParaRPr lang="en-US" sz="2200" dirty="0">
              <a:ea typeface="Microsoft YaHei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6066683" y="4965192"/>
            <a:ext cx="136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+$0.3B Q3 BUILD</a:t>
            </a:r>
            <a:endParaRPr lang="en-US" sz="1000" dirty="0">
              <a:ea typeface="Microsoft YaHei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6066683" y="5202936"/>
            <a:ext cx="13669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~17% of market cap; supports buyback acceleration into 2H26.</a:t>
            </a:r>
            <a:endParaRPr lang="en-US" sz="1000" dirty="0">
              <a:ea typeface="Microsoft YaHei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7884390" y="1691640"/>
            <a:ext cx="3850105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7884390" y="1691640"/>
            <a:ext cx="27432" cy="466344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195286" y="1856232"/>
            <a:ext cx="33380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KEY TAKEAWAYS</a:t>
            </a:r>
            <a:endParaRPr lang="en-US" sz="1000" dirty="0">
              <a:ea typeface="Microsoft YaHei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8195286" y="2185416"/>
            <a:ext cx="3338041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8231862" y="245973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8506182" y="2404872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Beat across the board</a:t>
            </a:r>
            <a:endParaRPr lang="en-US" sz="1100" dirty="0">
              <a:ea typeface="Microsoft YaHei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8506182" y="2587752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+4.1%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and EPS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+9.0%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vs consensus — Services-led upside with hardware merely in-line.</a:t>
            </a:r>
            <a:endParaRPr lang="en-US" sz="1000" dirty="0">
              <a:ea typeface="Microsoft YaHei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8195286" y="3557016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8231862" y="377647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8506182" y="3721608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GM beat is structural</a:t>
            </a:r>
            <a:endParaRPr lang="en-US" sz="1100" dirty="0">
              <a:ea typeface="Microsoft YaHei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8506182" y="3904488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+220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lift driven by mix not pricing — sustainable into FY26 as Services share continues to scale.</a:t>
            </a:r>
            <a:endParaRPr lang="en-US" sz="1000" dirty="0">
              <a:ea typeface="Microsoft YaHei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8195286" y="4873752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8231862" y="509320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8506182" y="5038344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Hardware ASP softer</a:t>
            </a:r>
            <a:endParaRPr lang="en-US" sz="1100" dirty="0">
              <a:ea typeface="Microsoft YaHei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8506182" y="5221224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Watch Q4 ASP for share-cycling — consensus models flat hardware GM through FY26 which may prove optimistic.</a:t>
            </a:r>
            <a:endParaRPr lang="en-US" sz="1000" dirty="0">
              <a:ea typeface="Microsoft YaHei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Q3 FY26 Filing, Bloomberg consensus n=18.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Q3 SCORECARD — 2+2 (a)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05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Four operating signals; all align with the FY27 mix-shift thesis.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2×2 parallel cards — each a minimum unit (chart + hero + text)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479051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$31.2B</a:t>
            </a:r>
            <a:endParaRPr lang="en-US" sz="22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 rev, **+22% CAGR** FY23-27.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($B,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621792" y="3410712"/>
          <a:ext cx="3168155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100843" y="1691640"/>
            <a:ext cx="3479051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65435" y="1837944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GM</a:t>
            </a:r>
            <a:endParaRPr lang="en-US" sz="1000" dirty="0">
              <a:ea typeface="Microsoft Ya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65435" y="2057400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52.9%</a:t>
            </a:r>
            <a:endParaRPr lang="en-US" sz="22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65435" y="2532888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FY27E, **+820 bps** vs FY25 from Services mix.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65435" y="3081528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GM (%,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1" name="Chart 1"/>
          <p:cNvGraphicFramePr/>
          <p:nvPr/>
        </p:nvGraphicFramePr>
        <p:xfrm>
          <a:off x="4265435" y="3410712"/>
          <a:ext cx="3168155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105656"/>
            <a:ext cx="3479051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1792" y="4251960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EPS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21792" y="4471416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$3.42</a:t>
            </a:r>
            <a:endParaRPr lang="en-US" sz="2200" dirty="0">
              <a:ea typeface="Microsoft Ya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21792" y="4946904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FY27E, **2.0× FY24** on margin + buyback.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21792" y="5495544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EPS ($,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7" name="Chart 2"/>
          <p:cNvGraphicFramePr/>
          <p:nvPr/>
        </p:nvGraphicFramePr>
        <p:xfrm>
          <a:off x="621792" y="5824728"/>
          <a:ext cx="3168155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Shape 23"/>
          <p:cNvSpPr/>
          <p:nvPr/>
        </p:nvSpPr>
        <p:spPr>
          <a:xfrm>
            <a:off x="4100843" y="4105656"/>
            <a:ext cx="3479051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265435" y="4251960"/>
            <a:ext cx="31681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FCF</a:t>
            </a:r>
            <a:endParaRPr lang="en-US" sz="1000" dirty="0">
              <a:ea typeface="Microsoft YaHei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265435" y="4471416"/>
            <a:ext cx="3168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$3.6B</a:t>
            </a:r>
            <a:endParaRPr lang="en-US" sz="2200" dirty="0">
              <a:ea typeface="Microsoft YaHei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265435" y="4946904"/>
            <a:ext cx="3168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FY27E, capex pacing tightens post Fab-12.</a:t>
            </a:r>
            <a:endParaRPr lang="en-US" sz="1000" dirty="0">
              <a:ea typeface="Microsoft YaHei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265435" y="5495544"/>
            <a:ext cx="3168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FCF ($B, FY)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33" name="Chart 3"/>
          <p:cNvGraphicFramePr/>
          <p:nvPr/>
        </p:nvGraphicFramePr>
        <p:xfrm>
          <a:off x="4265435" y="5824728"/>
          <a:ext cx="3168155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4" name="Shape 28"/>
          <p:cNvSpPr/>
          <p:nvPr/>
        </p:nvSpPr>
        <p:spPr>
          <a:xfrm>
            <a:off x="7884390" y="1691640"/>
            <a:ext cx="3850105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884390" y="1691640"/>
            <a:ext cx="27432" cy="466344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195286" y="1856232"/>
            <a:ext cx="33380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KEY TAKEAWAYS</a:t>
            </a:r>
            <a:endParaRPr lang="en-US" sz="1000" dirty="0">
              <a:ea typeface="Microsoft YaHei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8195286" y="2185416"/>
            <a:ext cx="3338041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231862" y="245973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8506182" y="2404872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Beat is broad-based</a:t>
            </a:r>
            <a:endParaRPr lang="en-US" sz="1100" dirty="0">
              <a:ea typeface="Microsoft YaHei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8506182" y="2587752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+4.1%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, EPS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+9.0%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, OP margin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+180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, FCF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+18%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— all 4 KPIs above consensus.</a:t>
            </a:r>
            <a:endParaRPr lang="en-US" sz="1000" dirty="0">
              <a:ea typeface="Microsoft YaHei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8195286" y="3557016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8231862" y="377647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8506182" y="3721608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GM lift is structural</a:t>
            </a:r>
            <a:endParaRPr lang="en-US" sz="1100" dirty="0">
              <a:ea typeface="Microsoft YaHei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8506182" y="3904488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+220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Q3 lift extends the FY25 → FY27E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+820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trajectory; mix not pricing.</a:t>
            </a:r>
            <a:endParaRPr lang="en-US" sz="1000" dirty="0">
              <a:ea typeface="Microsoft YaHei"/>
            </a:endParaRPr>
          </a:p>
        </p:txBody>
      </p:sp>
      <p:sp>
        <p:nvSpPr>
          <p:cNvPr id="45" name="Shape 39"/>
          <p:cNvSpPr/>
          <p:nvPr/>
        </p:nvSpPr>
        <p:spPr>
          <a:xfrm>
            <a:off x="8195286" y="4873752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8231862" y="50932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8506182" y="5038344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Cash flow inflects</a:t>
            </a:r>
            <a:endParaRPr lang="en-US" sz="1100" dirty="0">
              <a:ea typeface="Microsoft YaHei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8506182" y="5221224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$0.9B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Q3 FCF supports accelerated buyback into 2H26; net cash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$2.1B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= 17% of mkt cap.</a:t>
            </a:r>
            <a:endParaRPr lang="en-US" sz="1000" dirty="0">
              <a:ea typeface="Microsoft YaHei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Q3 FY26 Filing, Bloomberg consensus n=18.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 DEEP-DIVE — 2+2 (b)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06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Services growth drives mix shift; Hardware holds margin floor.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Each row: chart on left, freely composed content on right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7122695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272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mix ($B, FY27E)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2" name="Chart 0"/>
          <p:cNvGraphicFramePr/>
          <p:nvPr/>
        </p:nvGraphicFramePr>
        <p:xfrm>
          <a:off x="621792" y="2167128"/>
          <a:ext cx="2724719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3565967" y="1837944"/>
            <a:ext cx="3867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 REVENUE SHARE, FY27E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65967" y="2167128"/>
            <a:ext cx="3867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42%</a:t>
            </a:r>
            <a:endParaRPr lang="en-US" sz="2200" dirty="0">
              <a:ea typeface="Microsoft YaHe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65967" y="2734056"/>
            <a:ext cx="386762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reaches **$13B** of FY27E revenue, **42%** of the mix vs **22%** in FY24. The transition lifts blended GM **820 bps** as Services 67% pulls Hardware 38% higher.</a:t>
            </a:r>
            <a:endParaRPr lang="en-US" sz="1000" dirty="0">
              <a:ea typeface="Microsoft YaHe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4105656"/>
            <a:ext cx="7122695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1792" y="4251960"/>
            <a:ext cx="2452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 GM build (%)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3889118231"/>
              </p:ext>
            </p:extLst>
          </p:nvPr>
        </p:nvGraphicFramePr>
        <p:xfrm>
          <a:off x="621792" y="4581144"/>
          <a:ext cx="2724719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3565967" y="4251960"/>
            <a:ext cx="3867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Gross margin build (%)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565967" y="4581144"/>
            <a:ext cx="12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</a:t>
            </a:r>
            <a:endParaRPr lang="en-US" sz="1000" dirty="0">
              <a:ea typeface="Microsoft YaHei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19247" y="4581144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704984" y="4581144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690721" y="4581144"/>
            <a:ext cx="697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Δ bps</a:t>
            </a:r>
            <a:endParaRPr lang="en-US" sz="1000" dirty="0">
              <a:ea typeface="Microsoft YaHei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565967" y="4837176"/>
            <a:ext cx="3867624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565967" y="4910328"/>
            <a:ext cx="12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719247" y="491032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38.2%</a:t>
            </a:r>
            <a:endParaRPr lang="en-US" sz="1000" dirty="0">
              <a:ea typeface="Microsoft YaHe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704984" y="491032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39.1%</a:t>
            </a:r>
            <a:endParaRPr lang="en-US" sz="1000" dirty="0">
              <a:ea typeface="Microsoft YaHe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690721" y="4910328"/>
            <a:ext cx="697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+90</a:t>
            </a:r>
            <a:endParaRPr lang="en-US" sz="1000" dirty="0">
              <a:ea typeface="Microsoft YaHei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565967" y="5166360"/>
            <a:ext cx="3867624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565967" y="5230368"/>
            <a:ext cx="12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</a:t>
            </a:r>
            <a:endParaRPr lang="en-US" sz="1000" dirty="0">
              <a:ea typeface="Microsoft YaHe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4719247" y="523036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62.4%</a:t>
            </a:r>
            <a:endParaRPr lang="en-US" sz="1000" dirty="0">
              <a:ea typeface="Microsoft YaHei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704984" y="523036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67.8%</a:t>
            </a:r>
            <a:endParaRPr lang="en-US" sz="1000" dirty="0">
              <a:ea typeface="Microsoft YaHei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690721" y="5230368"/>
            <a:ext cx="697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+540</a:t>
            </a:r>
            <a:endParaRPr lang="en-US" sz="1000" dirty="0">
              <a:ea typeface="Microsoft YaHei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3565967" y="5486400"/>
            <a:ext cx="3867624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565967" y="5550408"/>
            <a:ext cx="1288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</a:t>
            </a:r>
            <a:endParaRPr lang="en-US" sz="1000" dirty="0">
              <a:ea typeface="Microsoft YaHei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719247" y="555040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44.7%</a:t>
            </a:r>
            <a:endParaRPr lang="en-US" sz="1000" dirty="0">
              <a:ea typeface="Microsoft YaHei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5704984" y="5550408"/>
            <a:ext cx="8942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52.9%</a:t>
            </a:r>
            <a:endParaRPr lang="en-US" sz="1000" dirty="0">
              <a:ea typeface="Microsoft YaHei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690721" y="5550408"/>
            <a:ext cx="697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+820</a:t>
            </a:r>
            <a:endParaRPr lang="en-US" sz="1000" dirty="0">
              <a:ea typeface="Microsoft YaHei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7884390" y="1691640"/>
            <a:ext cx="3850105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7884390" y="1691640"/>
            <a:ext cx="27432" cy="466344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8195286" y="1856232"/>
            <a:ext cx="33380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KEY TAKEAWAYS</a:t>
            </a:r>
            <a:endParaRPr lang="en-US" sz="1000" dirty="0">
              <a:ea typeface="Microsoft YaHei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8195286" y="2185416"/>
            <a:ext cx="3338041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8231862" y="245973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506182" y="2404872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Mix shift = margin lift</a:t>
            </a:r>
            <a:endParaRPr lang="en-US" sz="1100" dirty="0">
              <a:ea typeface="Microsoft YaHei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8506182" y="2587752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22% → 40% of revenue; blended GM 44.7% → 52.9% by FY27E.</a:t>
            </a:r>
            <a:endParaRPr lang="en-US" sz="1000" dirty="0">
              <a:ea typeface="Microsoft YaHei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8195286" y="3557016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8231862" y="377647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506182" y="3721608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Hardware holds the floor</a:t>
            </a:r>
            <a:endParaRPr lang="en-US" sz="1100" dirty="0">
              <a:ea typeface="Microsoft YaHei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8506182" y="3904488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 GM </a:t>
            </a: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+90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through FY27 from premiumization, not exposed to ASP cycle.</a:t>
            </a:r>
            <a:endParaRPr lang="en-US" sz="1000" dirty="0">
              <a:ea typeface="Microsoft YaHei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8195286" y="4873752"/>
            <a:ext cx="3338041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8231862" y="50932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506182" y="5038344"/>
            <a:ext cx="30088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Underwrites re-rate</a:t>
            </a:r>
            <a:endParaRPr lang="en-US" sz="1100" dirty="0">
              <a:ea typeface="Microsoft YaHei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8506182" y="5221224"/>
            <a:ext cx="300885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+820 bps</a:t>
            </a: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 GM lift + 40% Services share supports PE re-rate from 22x to 27x by FY27.</a:t>
            </a:r>
            <a:endParaRPr lang="en-US" sz="1000" dirty="0">
              <a:ea typeface="Microsoft YaHei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IC Memo, Internal forecast. Est. denotes our forecast.</a:t>
            </a:r>
            <a:endParaRPr lang="en-US" sz="600" dirty="0">
              <a:ea typeface="Microsoft YaHei"/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EBD800D1-39D8-EBF4-BFF2-6A2EDB2CDF22}"/>
              </a:ext>
            </a:extLst>
          </p:cNvPr>
          <p:cNvSpPr/>
          <p:nvPr/>
        </p:nvSpPr>
        <p:spPr>
          <a:xfrm>
            <a:off x="1140754" y="2832613"/>
            <a:ext cx="843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kern="0" spc="-36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106.9</a:t>
            </a:r>
            <a:endParaRPr lang="en-US" dirty="0">
              <a:ea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CATALYST + WATCH ITEMS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08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Six events through 4Q26 across catalysts, watch items, and peer cycles.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3-pillar derived: text on top, chart at bottom of each pillar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NEAR-TERM CATALYSTS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3 events lift FY27 EPS +$0.30</a:t>
            </a:r>
            <a:endParaRPr lang="en-US" sz="14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APAC launch (Q2): **+$0.15** EPS if first-month ARPU clears $12. Fab-12 ramp (Q3): **+180 bps** GM from 85% utilization. FY27 guide (Q1 27): re-rate trigger if Services growth guide clears 18%.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EPS uplift by event ($)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621792" y="3867912"/>
          <a:ext cx="332628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277258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41850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WATCH RISKS</a:t>
            </a:r>
            <a:endParaRPr lang="en-US" sz="1000" dirty="0">
              <a:ea typeface="Microsoft Ya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41850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2 events with downside skew</a:t>
            </a:r>
            <a:endParaRPr lang="en-US" sz="14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41850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EU DMA ruling (Q4): downside scenario **-5 to -8%** if restrictive remedies land. Lock-up expiry (Q2 27): 12-month supply overhang from pre-IPO insiders.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41850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Downside scenarios (%)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1" name="Chart 1"/>
          <p:cNvGraphicFramePr/>
          <p:nvPr/>
        </p:nvGraphicFramePr>
        <p:xfrm>
          <a:off x="4441850" y="3867912"/>
          <a:ext cx="332628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8097317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61909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PEER CYCLE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261909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1 event tied to industry tape</a:t>
            </a:r>
            <a:endParaRPr lang="en-US" sz="1400" dirty="0">
              <a:ea typeface="Microsoft Ya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261909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TSMC capex guide (Feb 27 earnings): supply-cycle read-through for Hardware ASP into FY27 — watch capex/sales above **35%** as tell for tight supply.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8261909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TSMC capex/sales (%)</a:t>
            </a:r>
            <a:endParaRPr lang="en-US" sz="1000" dirty="0">
              <a:ea typeface="Microsoft YaHei"/>
            </a:endParaRPr>
          </a:p>
        </p:txBody>
      </p:sp>
      <p:graphicFrame>
        <p:nvGraphicFramePr>
          <p:cNvPr id="27" name="Chart 2"/>
          <p:cNvGraphicFramePr/>
          <p:nvPr/>
        </p:nvGraphicFramePr>
        <p:xfrm>
          <a:off x="8261909" y="3867912"/>
          <a:ext cx="332628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 23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Catalyst tracker, Internal.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SEGMENT TRAJECTORY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09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Hardware holds, Services scales, Blended re-rates by FY27.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3-pillar derived: text on top, table at bottom of each pillar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Floor margin holds</a:t>
            </a:r>
            <a:endParaRPr lang="en-US" sz="14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GM **38.2% → 39.1%** through FY27 from premiumization, not exposed to ASP cycle. Volume mix shifts into higher-tier SKUs as APAC enterprise tier scales.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666744"/>
            <a:ext cx="332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Hardware build (%)</a:t>
            </a:r>
            <a:endParaRPr lang="en-US" sz="1000" dirty="0">
              <a:ea typeface="Microsoft YaHe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" y="3995928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ea typeface="Microsoft YaHe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45860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69827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4251960"/>
            <a:ext cx="332628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432511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 ($B)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45860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14.1</a:t>
            </a:r>
            <a:endParaRPr lang="en-US" sz="1000" dirty="0">
              <a:ea typeface="Microsoft YaHe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69827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18.2</a:t>
            </a:r>
            <a:endParaRPr lang="en-US" sz="1000" dirty="0">
              <a:ea typeface="Microsoft YaHe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" y="458114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464515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GM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45860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38.2%</a:t>
            </a:r>
            <a:endParaRPr lang="en-US" sz="1000" dirty="0">
              <a:ea typeface="Microsoft YaHe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69827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39.1%</a:t>
            </a:r>
            <a:endParaRPr lang="en-US" sz="1000" dirty="0">
              <a:ea typeface="Microsoft YaHe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" y="490118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96519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ASP ($)</a:t>
            </a:r>
            <a:endParaRPr lang="en-US" sz="1000" dirty="0">
              <a:ea typeface="Microsoft YaHe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45860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142</a:t>
            </a:r>
            <a:endParaRPr lang="en-US" sz="1000" dirty="0">
              <a:ea typeface="Microsoft YaHe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69827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156</a:t>
            </a:r>
            <a:endParaRPr lang="en-US" sz="1000" dirty="0">
              <a:ea typeface="Microsoft YaHe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77258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41850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</a:t>
            </a:r>
            <a:endParaRPr lang="en-US" sz="1000" dirty="0">
              <a:ea typeface="Microsoft YaHe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41850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Mix-shift engine</a:t>
            </a:r>
            <a:endParaRPr lang="en-US" sz="1400" dirty="0">
              <a:ea typeface="Microsoft YaHe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41850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Revenue **$5.8B → $13.0B** through FY27, GM lifts **+540 bps** as APAC enterprise tier reaches 40% of mix. Take-rate up 24%.</a:t>
            </a:r>
            <a:endParaRPr lang="en-US" sz="1000" dirty="0">
              <a:ea typeface="Microsoft YaHe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41850" y="3666744"/>
            <a:ext cx="332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Services build (%)</a:t>
            </a:r>
            <a:endParaRPr lang="en-US" sz="1000" dirty="0">
              <a:ea typeface="Microsoft YaHe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87570" y="3995928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ea typeface="Microsoft YaHe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65918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89885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41850" y="4251960"/>
            <a:ext cx="332628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87570" y="432511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 ($B)</a:t>
            </a:r>
            <a:endParaRPr lang="en-US" sz="1000" dirty="0">
              <a:ea typeface="Microsoft YaHe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65918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5.8</a:t>
            </a:r>
            <a:endParaRPr lang="en-US" sz="1000" dirty="0">
              <a:ea typeface="Microsoft YaHe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89885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13.0</a:t>
            </a:r>
            <a:endParaRPr lang="en-US" sz="1000" dirty="0">
              <a:ea typeface="Microsoft YaHe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441850" y="458114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87570" y="464515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GM</a:t>
            </a:r>
            <a:endParaRPr lang="en-US" sz="1000" dirty="0">
              <a:ea typeface="Microsoft YaHe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65918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62.4%</a:t>
            </a:r>
            <a:endParaRPr lang="en-US" sz="1000" dirty="0">
              <a:ea typeface="Microsoft YaHe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89885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67.8%</a:t>
            </a:r>
            <a:endParaRPr lang="en-US" sz="1000" dirty="0">
              <a:ea typeface="Microsoft YaHei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441850" y="490118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87570" y="496519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Take-rate</a:t>
            </a:r>
            <a:endParaRPr lang="en-US" sz="1000" dirty="0">
              <a:ea typeface="Microsoft YaHe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65918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18%</a:t>
            </a:r>
            <a:endParaRPr lang="en-US" sz="1000" dirty="0">
              <a:ea typeface="Microsoft YaHe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89885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22%</a:t>
            </a:r>
            <a:endParaRPr lang="en-US" sz="1000" dirty="0">
              <a:ea typeface="Microsoft YaHe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097317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61909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</a:t>
            </a:r>
            <a:endParaRPr lang="en-US" sz="1000" dirty="0">
              <a:ea typeface="Microsoft YaHe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61909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Re-rate underwrites PT</a:t>
            </a:r>
            <a:endParaRPr lang="en-US" sz="1400" dirty="0">
              <a:ea typeface="Microsoft YaHe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61909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**+820 bps** blended GM lift drives PE re-rate from **22x → 27x** as Services becomes &gt;40% of revenue. Comps trade 25-32x.</a:t>
            </a:r>
            <a:endParaRPr lang="en-US" sz="1000" dirty="0">
              <a:ea typeface="Microsoft YaHe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61909" y="3666744"/>
            <a:ext cx="332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Blended (%)</a:t>
            </a:r>
            <a:endParaRPr lang="en-US" sz="1000" dirty="0">
              <a:ea typeface="Microsoft YaHe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307629" y="3995928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ea typeface="Microsoft YaHei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785977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FY25</a:t>
            </a:r>
            <a:endParaRPr lang="en-US" sz="1000" dirty="0">
              <a:ea typeface="Microsoft YaHei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709944" y="3995928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FY27E</a:t>
            </a:r>
            <a:endParaRPr lang="en-US" sz="1000" dirty="0">
              <a:ea typeface="Microsoft YaHe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261909" y="4251960"/>
            <a:ext cx="332628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307629" y="432511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Rev ($B)</a:t>
            </a:r>
            <a:endParaRPr lang="en-US" sz="1000" dirty="0">
              <a:ea typeface="Microsoft YaHei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785977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19.9</a:t>
            </a:r>
            <a:endParaRPr lang="en-US" sz="1000" dirty="0">
              <a:ea typeface="Microsoft YaHei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709944" y="432511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31.2</a:t>
            </a:r>
            <a:endParaRPr lang="en-US" sz="1000" dirty="0">
              <a:ea typeface="Microsoft YaHei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261909" y="458114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07629" y="464515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GM</a:t>
            </a:r>
            <a:endParaRPr lang="en-US" sz="1000" dirty="0">
              <a:ea typeface="Microsoft YaHei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785977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44.7%</a:t>
            </a:r>
            <a:endParaRPr lang="en-US" sz="1000" dirty="0">
              <a:ea typeface="Microsoft YaHei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0709944" y="464515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52.9%</a:t>
            </a:r>
            <a:endParaRPr lang="en-US" sz="1000" dirty="0">
              <a:ea typeface="Microsoft YaHei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261909" y="4901184"/>
            <a:ext cx="3326282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07629" y="4965192"/>
            <a:ext cx="13869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PE (x)</a:t>
            </a:r>
            <a:endParaRPr lang="en-US" sz="1000" dirty="0">
              <a:ea typeface="Microsoft YaHei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9785977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22</a:t>
            </a:r>
            <a:endParaRPr lang="en-US" sz="1000" dirty="0">
              <a:ea typeface="Microsoft YaHei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0709944" y="4965192"/>
            <a:ext cx="8325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27</a:t>
            </a:r>
            <a:endParaRPr lang="en-US" sz="1000" dirty="0">
              <a:ea typeface="Microsoft YaHei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IC Memo, Internal forecast.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PRODUCT &amp; STRATEGY</a:t>
            </a:r>
            <a:endParaRPr lang="en-US" sz="800" dirty="0">
              <a:ea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10</a:t>
            </a:r>
            <a:endParaRPr lang="en-US" sz="800" dirty="0">
              <a:ea typeface="Microsoft YaHe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Three product pillars underwrite the FY27 Services thesis.</a:t>
            </a:r>
            <a:endParaRPr lang="en-US" sz="2200" dirty="0">
              <a:ea typeface="Microsoft YaHe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3-pillar derived: text on top, image placeholder at bottom of each pillar</a:t>
            </a:r>
            <a:endParaRPr lang="en-US" sz="1200" dirty="0">
              <a:ea typeface="Microsoft YaHe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Investment Research</a:t>
            </a:r>
            <a:endParaRPr lang="en-US" sz="700" dirty="0">
              <a:ea typeface="Microsoft Ya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Uninodue  ·  Initiating Coverage  ·  2026</a:t>
            </a:r>
            <a:endParaRPr lang="en-US" sz="700" dirty="0">
              <a:ea typeface="Microsoft YaHe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PLATFORM</a:t>
            </a:r>
            <a:endParaRPr lang="en-US" sz="1000" dirty="0">
              <a:ea typeface="Microsoft YaHe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Unified data fabric</a:t>
            </a:r>
            <a:endParaRPr lang="en-US" sz="1400" dirty="0">
              <a:ea typeface="Microsoft YaHe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Single API across Hardware + Services lets enterprise customers consolidate workloads. **Lock-in deepens** as services revenue grows; switching cost rises with usage.</a:t>
            </a:r>
            <a:endParaRPr lang="en-US" sz="1000" dirty="0">
              <a:ea typeface="Microsoft YaHe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Platform architecture (illustrative)</a:t>
            </a:r>
            <a:endParaRPr lang="en-US" sz="1000" dirty="0">
              <a:ea typeface="Microsoft YaHei"/>
            </a:endParaRPr>
          </a:p>
        </p:txBody>
      </p:sp>
      <p:pic>
        <p:nvPicPr>
          <p:cNvPr id="15" name="Image 0" descr="C:\Users\80546\.claude\skills\mck-slides-creator-json\examples\out\images\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67912"/>
            <a:ext cx="3326282" cy="23042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77258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41850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GO-TO-MARKET</a:t>
            </a:r>
            <a:endParaRPr lang="en-US" sz="1000" dirty="0">
              <a:ea typeface="Microsoft Ya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41850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APAC enterprise push</a:t>
            </a:r>
            <a:endParaRPr lang="en-US" sz="1400" dirty="0">
              <a:ea typeface="Microsoft Ya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41850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Direct sales-led model in TW/JP/SK targeting fortune-500 anchor accounts. **18-24 month** sales cycle but high net retention (~120%) once landed.</a:t>
            </a:r>
            <a:endParaRPr lang="en-US" sz="1000" dirty="0">
              <a:ea typeface="Microsoft Ya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41850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APAC GTM motion (illustrative)</a:t>
            </a:r>
            <a:endParaRPr lang="en-US" sz="1000" dirty="0">
              <a:ea typeface="Microsoft YaHei"/>
            </a:endParaRPr>
          </a:p>
        </p:txBody>
      </p:sp>
      <p:pic>
        <p:nvPicPr>
          <p:cNvPr id="21" name="Image 1" descr="C:\Users\80546\.claude\skills\mck-slides-creator-json\examples\out\images\gt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50" y="3867912"/>
            <a:ext cx="3326282" cy="23042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097317" y="169164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61909" y="1837944"/>
            <a:ext cx="332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2315B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COMPETITIVE</a:t>
            </a:r>
            <a:endParaRPr lang="en-US" sz="1000" dirty="0">
              <a:ea typeface="Microsoft Ya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261909" y="2093976"/>
            <a:ext cx="332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kern="0" spc="-14" dirty="0">
                <a:solidFill>
                  <a:srgbClr val="0B1F3A"/>
                </a:solidFill>
                <a:latin typeface="Tiempos Headline Regular" pitchFamily="34" charset="0"/>
                <a:ea typeface="KaiTi" pitchFamily="34" charset="-122"/>
                <a:cs typeface="Tiempos Headline Regular" pitchFamily="34" charset="-120"/>
              </a:rPr>
              <a:t>Moat = bundled stack</a:t>
            </a:r>
            <a:endParaRPr lang="en-US" sz="1400" dirty="0">
              <a:ea typeface="Microsoft Ya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261909" y="2478024"/>
            <a:ext cx="33262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Peers compete on Hardware OR Services; ACME bundles both with shared data plane. **Switching cost** rises with services attach as customers integrate workflows.</a:t>
            </a:r>
            <a:endParaRPr lang="en-US" sz="1000" dirty="0">
              <a:ea typeface="Microsoft YaHe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8261909" y="3666744"/>
            <a:ext cx="3326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0B1F3A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Competitive positioning (illustrative)</a:t>
            </a:r>
            <a:endParaRPr lang="en-US" sz="1000" dirty="0">
              <a:ea typeface="Microsoft YaHei"/>
            </a:endParaRPr>
          </a:p>
        </p:txBody>
      </p:sp>
      <p:pic>
        <p:nvPicPr>
          <p:cNvPr id="27" name="Image 2" descr="C:\Users\80546\.claude\skills\mck-slides-creator-json\examples\out\images\compet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909" y="3867912"/>
            <a:ext cx="3326282" cy="23042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Microsoft YaHei" pitchFamily="34" charset="-122"/>
                <a:cs typeface="Inter" pitchFamily="34" charset="-120"/>
              </a:rPr>
              <a:t>Source: ACME 2026-04-29 IC Memo, Internal. Est. denotes our forecast.</a:t>
            </a:r>
            <a:endParaRPr lang="en-US" sz="600" dirty="0"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1769</Words>
  <Application>Microsoft Office PowerPoint</Application>
  <PresentationFormat>宽屏</PresentationFormat>
  <Paragraphs>296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Arial</vt:lpstr>
      <vt:lpstr>Inter</vt:lpstr>
      <vt:lpstr>Tiempos Headline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Dong</cp:lastModifiedBy>
  <cp:revision>3</cp:revision>
  <dcterms:created xsi:type="dcterms:W3CDTF">2026-04-29T11:59:12Z</dcterms:created>
  <dcterms:modified xsi:type="dcterms:W3CDTF">2026-04-29T12:03:30Z</dcterms:modified>
</cp:coreProperties>
</file>