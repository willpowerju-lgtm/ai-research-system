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rts/chart1.xml" ContentType="application/vnd.openxmlformats-officedocument.drawingml.chart+xml"/>
  <Override PartName="/ppt/tags/tag11.xml" ContentType="application/vnd.openxmlformats-officedocument.presentationml.tags+xml"/>
  <Override PartName="/ppt/charts/chart2.xml" ContentType="application/vnd.openxmlformats-officedocument.drawingml.chart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charts/chart3.xml" ContentType="application/vnd.openxmlformats-officedocument.drawingml.chart+xml"/>
  <Override PartName="/ppt/tags/tag53.xml" ContentType="application/vnd.openxmlformats-officedocument.presentationml.tags+xml"/>
  <Override PartName="/ppt/charts/chart4.xml" ContentType="application/vnd.openxmlformats-officedocument.drawingml.chart+xml"/>
  <Override PartName="/ppt/tags/tag54.xml" ContentType="application/vnd.openxmlformats-officedocument.presentationml.tags+xml"/>
  <Override PartName="/ppt/charts/chart5.xml" ContentType="application/vnd.openxmlformats-officedocument.drawingml.chart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charts/chart8.xml" ContentType="application/vnd.openxmlformats-officedocument.drawingml.chart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tags/tag117.xml" ContentType="application/vnd.openxmlformats-officedocument.presentationml.tags+xml"/>
  <Override PartName="/ppt/charts/chart19.xml" ContentType="application/vnd.openxmlformats-officedocument.drawingml.chart+xml"/>
  <Override PartName="/ppt/tags/tag118.xml" ContentType="application/vnd.openxmlformats-officedocument.presentationml.tags+xml"/>
  <Override PartName="/ppt/charts/chart20.xml" ContentType="application/vnd.openxmlformats-officedocument.drawingml.chart+xml"/>
  <Override PartName="/ppt/tags/tag119.xml" ContentType="application/vnd.openxmlformats-officedocument.presentationml.tags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tags/tag120.xml" ContentType="application/vnd.openxmlformats-officedocument.presentationml.tags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61"/>
  </p:notesMasterIdLst>
  <p:sldIdLst>
    <p:sldId id="256" r:id="rId2"/>
    <p:sldId id="395" r:id="rId3"/>
    <p:sldId id="394" r:id="rId4"/>
    <p:sldId id="402" r:id="rId5"/>
    <p:sldId id="401" r:id="rId6"/>
    <p:sldId id="397" r:id="rId7"/>
    <p:sldId id="398" r:id="rId8"/>
    <p:sldId id="437" r:id="rId9"/>
    <p:sldId id="400" r:id="rId10"/>
    <p:sldId id="438" r:id="rId11"/>
    <p:sldId id="403" r:id="rId12"/>
    <p:sldId id="404" r:id="rId13"/>
    <p:sldId id="405" r:id="rId14"/>
    <p:sldId id="436" r:id="rId15"/>
    <p:sldId id="406" r:id="rId16"/>
    <p:sldId id="407" r:id="rId17"/>
    <p:sldId id="408" r:id="rId18"/>
    <p:sldId id="410" r:id="rId19"/>
    <p:sldId id="411" r:id="rId20"/>
    <p:sldId id="412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4" r:id="rId29"/>
    <p:sldId id="420" r:id="rId30"/>
    <p:sldId id="421" r:id="rId31"/>
    <p:sldId id="422" r:id="rId32"/>
    <p:sldId id="423" r:id="rId33"/>
    <p:sldId id="425" r:id="rId34"/>
    <p:sldId id="428" r:id="rId35"/>
    <p:sldId id="426" r:id="rId36"/>
    <p:sldId id="427" r:id="rId37"/>
    <p:sldId id="277" r:id="rId38"/>
    <p:sldId id="429" r:id="rId39"/>
    <p:sldId id="257" r:id="rId40"/>
    <p:sldId id="430" r:id="rId41"/>
    <p:sldId id="280" r:id="rId42"/>
    <p:sldId id="431" r:id="rId43"/>
    <p:sldId id="432" r:id="rId44"/>
    <p:sldId id="433" r:id="rId45"/>
    <p:sldId id="369" r:id="rId46"/>
    <p:sldId id="370" r:id="rId47"/>
    <p:sldId id="297" r:id="rId48"/>
    <p:sldId id="284" r:id="rId49"/>
    <p:sldId id="330" r:id="rId50"/>
    <p:sldId id="372" r:id="rId51"/>
    <p:sldId id="373" r:id="rId52"/>
    <p:sldId id="374" r:id="rId53"/>
    <p:sldId id="375" r:id="rId54"/>
    <p:sldId id="376" r:id="rId55"/>
    <p:sldId id="377" r:id="rId56"/>
    <p:sldId id="378" r:id="rId57"/>
    <p:sldId id="379" r:id="rId58"/>
    <p:sldId id="380" r:id="rId59"/>
    <p:sldId id="381" r:id="rId60"/>
  </p:sldIdLst>
  <p:sldSz cx="12192000" cy="6858000"/>
  <p:notesSz cx="7099300" cy="10234613"/>
  <p:custDataLst>
    <p:tags r:id="rId6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6Q1" id="{109B9641-C172-4AE8-B306-0972161F7ACD}">
          <p14:sldIdLst>
            <p14:sldId id="256"/>
            <p14:sldId id="395"/>
            <p14:sldId id="394"/>
            <p14:sldId id="402"/>
            <p14:sldId id="401"/>
            <p14:sldId id="397"/>
            <p14:sldId id="398"/>
            <p14:sldId id="437"/>
            <p14:sldId id="400"/>
            <p14:sldId id="438"/>
            <p14:sldId id="403"/>
            <p14:sldId id="404"/>
            <p14:sldId id="405"/>
            <p14:sldId id="436"/>
            <p14:sldId id="406"/>
            <p14:sldId id="407"/>
            <p14:sldId id="408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4"/>
            <p14:sldId id="420"/>
            <p14:sldId id="421"/>
            <p14:sldId id="422"/>
            <p14:sldId id="423"/>
            <p14:sldId id="425"/>
            <p14:sldId id="428"/>
            <p14:sldId id="426"/>
            <p14:sldId id="427"/>
            <p14:sldId id="277"/>
            <p14:sldId id="429"/>
            <p14:sldId id="257"/>
            <p14:sldId id="430"/>
            <p14:sldId id="280"/>
            <p14:sldId id="431"/>
            <p14:sldId id="432"/>
            <p14:sldId id="433"/>
            <p14:sldId id="369"/>
            <p14:sldId id="370"/>
            <p14:sldId id="297"/>
            <p14:sldId id="284"/>
            <p14:sldId id="330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epach" initials="p" lastIdx="1" clrIdx="0"/>
  <p:cmAuthor id="2" name="Jason Dong" initials="JD" lastIdx="1" clrIdx="1">
    <p:extLst>
      <p:ext uri="{19B8F6BF-5375-455C-9EA6-DF929625EA0E}">
        <p15:presenceInfo xmlns:p15="http://schemas.microsoft.com/office/powerpoint/2012/main" userId="Jason Do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7D5D4"/>
    <a:srgbClr val="E6ACAA"/>
    <a:srgbClr val="7399C6"/>
    <a:srgbClr val="EFABA8"/>
    <a:srgbClr val="DAD7D7"/>
    <a:srgbClr val="A29C9C"/>
    <a:srgbClr val="EC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66" autoAdjust="0"/>
    <p:restoredTop sz="90283" autoAdjust="0"/>
  </p:normalViewPr>
  <p:slideViewPr>
    <p:cSldViewPr snapToGrid="0">
      <p:cViewPr varScale="1">
        <p:scale>
          <a:sx n="161" d="100"/>
          <a:sy n="161" d="100"/>
        </p:scale>
        <p:origin x="180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全球需求 GVA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3066</c:v>
                </c:pt>
                <c:pt idx="1">
                  <c:v>3300</c:v>
                </c:pt>
                <c:pt idx="2">
                  <c:v>3600</c:v>
                </c:pt>
                <c:pt idx="3">
                  <c:v>3900</c:v>
                </c:pt>
                <c:pt idx="4">
                  <c:v>4200</c:v>
                </c:pt>
                <c:pt idx="5">
                  <c:v>4500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60-3243-A4E3-331BE27A85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Tier1产能 GVA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2359</c:v>
                </c:pt>
                <c:pt idx="1">
                  <c:v>2700</c:v>
                </c:pt>
                <c:pt idx="2">
                  <c:v>3100</c:v>
                </c:pt>
                <c:pt idx="3">
                  <c:v>3700</c:v>
                </c:pt>
                <c:pt idx="4">
                  <c:v>4200</c:v>
                </c:pt>
                <c:pt idx="5">
                  <c:v>4593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60-3243-A4E3-331BE27A85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18791784"/>
        <c:axId val="2140495176"/>
      </c:bar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Book Antiqua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大型电力变压器（LPT）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2025E</c:v>
                </c:pt>
                <c:pt idx="7">
                  <c:v>2027E</c:v>
                </c:pt>
                <c:pt idx="8">
                  <c:v>2030E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95</c:v>
                </c:pt>
                <c:pt idx="2">
                  <c:v>110</c:v>
                </c:pt>
                <c:pt idx="3">
                  <c:v>155</c:v>
                </c:pt>
                <c:pt idx="4">
                  <c:v>182</c:v>
                </c:pt>
                <c:pt idx="5">
                  <c:v>216</c:v>
                </c:pt>
                <c:pt idx="6">
                  <c:v>240</c:v>
                </c:pt>
                <c:pt idx="7">
                  <c:v>280</c:v>
                </c:pt>
                <c:pt idx="8">
                  <c:v>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76-B143-A21C-2315165371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GSU发电机升压变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2025E</c:v>
                </c:pt>
                <c:pt idx="7">
                  <c:v>2027E</c:v>
                </c:pt>
                <c:pt idx="8">
                  <c:v>2030E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100</c:v>
                </c:pt>
                <c:pt idx="1">
                  <c:v>85</c:v>
                </c:pt>
                <c:pt idx="2">
                  <c:v>130</c:v>
                </c:pt>
                <c:pt idx="3">
                  <c:v>220</c:v>
                </c:pt>
                <c:pt idx="4">
                  <c:v>310</c:v>
                </c:pt>
                <c:pt idx="5">
                  <c:v>374</c:v>
                </c:pt>
                <c:pt idx="6">
                  <c:v>420</c:v>
                </c:pt>
                <c:pt idx="7">
                  <c:v>510</c:v>
                </c:pt>
                <c:pt idx="8">
                  <c:v>630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76-B143-A21C-2315165371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美国电网投资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2025E</c:v>
                </c:pt>
                <c:pt idx="7">
                  <c:v>2027E</c:v>
                </c:pt>
                <c:pt idx="8">
                  <c:v>2030E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100</c:v>
                </c:pt>
                <c:pt idx="1">
                  <c:v>98</c:v>
                </c:pt>
                <c:pt idx="2">
                  <c:v>105</c:v>
                </c:pt>
                <c:pt idx="3">
                  <c:v>115</c:v>
                </c:pt>
                <c:pt idx="4">
                  <c:v>125</c:v>
                </c:pt>
                <c:pt idx="5">
                  <c:v>140</c:v>
                </c:pt>
                <c:pt idx="6">
                  <c:v>158</c:v>
                </c:pt>
                <c:pt idx="7">
                  <c:v>185</c:v>
                </c:pt>
                <c:pt idx="8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76-B143-A21C-2315165371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18791784"/>
        <c:axId val="2140495176"/>
      </c:bar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Book Antiqua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899313501144164E-2"/>
          <c:y val="4.9203049203049201E-2"/>
          <c:w val="0.9762013729977117"/>
          <c:h val="0.9015939015939016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Sheet1!$A$1:$G$1</c:f>
              <c:numCache>
                <c:formatCode>General</c:formatCode>
                <c:ptCount val="7"/>
                <c:pt idx="0">
                  <c:v>5</c:v>
                </c:pt>
                <c:pt idx="1">
                  <c:v>4.8</c:v>
                </c:pt>
                <c:pt idx="2">
                  <c:v>5.5</c:v>
                </c:pt>
                <c:pt idx="3">
                  <c:v>7.7</c:v>
                </c:pt>
                <c:pt idx="4">
                  <c:v>8.1999999999999993</c:v>
                </c:pt>
                <c:pt idx="5">
                  <c:v>9.6999999999999993</c:v>
                </c:pt>
                <c:pt idx="6">
                  <c:v>10.8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73-4331-97EE-3C0ABECFBC09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Sheet1!$A$2:$G$2</c:f>
              <c:numCache>
                <c:formatCode>General</c:formatCode>
                <c:ptCount val="7"/>
                <c:pt idx="0">
                  <c:v>3.9000000000000004</c:v>
                </c:pt>
                <c:pt idx="1">
                  <c:v>3.7</c:v>
                </c:pt>
                <c:pt idx="2">
                  <c:v>4.3000000000000007</c:v>
                </c:pt>
                <c:pt idx="3">
                  <c:v>5.9999999999999991</c:v>
                </c:pt>
                <c:pt idx="4">
                  <c:v>6.4</c:v>
                </c:pt>
                <c:pt idx="5">
                  <c:v>7.5999999999999979</c:v>
                </c:pt>
                <c:pt idx="6">
                  <c:v>8.4000000000000021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73-4331-97EE-3C0ABECFBC09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5"/>
              <c:layout>
                <c:manualLayout>
                  <c:x val="0"/>
                  <c:y val="-1.039501039501039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F73-4331-97EE-3C0ABECFBC09}"/>
                </c:ext>
              </c:extLst>
            </c:dLbl>
            <c:dLbl>
              <c:idx val="6"/>
              <c:layout>
                <c:manualLayout>
                  <c:x val="0"/>
                  <c:y val="-1.039501039501039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6F73-4331-97EE-3C0ABECFBC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Sheet1!$A$3:$G$3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0.19999999999999929</c:v>
                </c:pt>
                <c:pt idx="4">
                  <c:v>0.5</c:v>
                </c:pt>
                <c:pt idx="5">
                  <c:v>1.1000000000000014</c:v>
                </c:pt>
                <c:pt idx="6">
                  <c:v>2.3999999999999986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73-4331-97EE-3C0ABECFBC09}"/>
            </c:ext>
          </c:extLst>
        </c:ser>
        <c:ser>
          <c:idx val="3"/>
          <c:order val="3"/>
          <c:spPr>
            <a:solidFill>
              <a:schemeClr val="accent4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1.9450800915331808E-2"/>
                  <c:y val="-1.039501039501039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6F73-4331-97EE-3C0ABECFBC09}"/>
                </c:ext>
              </c:extLst>
            </c:dLbl>
            <c:dLbl>
              <c:idx val="1"/>
              <c:layout>
                <c:manualLayout>
                  <c:x val="1.9450800915331808E-2"/>
                  <c:y val="-1.039501039501039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6F73-4331-97EE-3C0ABECFBC09}"/>
                </c:ext>
              </c:extLst>
            </c:dLbl>
            <c:dLbl>
              <c:idx val="2"/>
              <c:layout>
                <c:manualLayout>
                  <c:x val="1.9450800915331808E-2"/>
                  <c:y val="-1.039501039501039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6F73-4331-97EE-3C0ABECFBC09}"/>
                </c:ext>
              </c:extLst>
            </c:dLbl>
            <c:dLbl>
              <c:idx val="3"/>
              <c:layout>
                <c:manualLayout>
                  <c:x val="0"/>
                  <c:y val="-1.38600138600138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6F73-4331-97EE-3C0ABECFBC09}"/>
                </c:ext>
              </c:extLst>
            </c:dLbl>
            <c:dLbl>
              <c:idx val="4"/>
              <c:layout>
                <c:manualLayout>
                  <c:x val="0"/>
                  <c:y val="-1.039501039501039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6F73-4331-97EE-3C0ABECFBC09}"/>
                </c:ext>
              </c:extLst>
            </c:dLbl>
            <c:dLbl>
              <c:idx val="5"/>
              <c:layout>
                <c:manualLayout>
                  <c:x val="0"/>
                  <c:y val="-1.039501039501039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6F73-4331-97EE-3C0ABECFBC09}"/>
                </c:ext>
              </c:extLst>
            </c:dLbl>
            <c:dLbl>
              <c:idx val="6"/>
              <c:layout>
                <c:manualLayout>
                  <c:x val="0"/>
                  <c:y val="-1.039501039501039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6F73-4331-97EE-3C0ABECFBC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Sheet1!$A$4:$G$4</c:f>
              <c:numCache>
                <c:formatCode>General</c:formatCode>
                <c:ptCount val="7"/>
                <c:pt idx="0">
                  <c:v>1.3000000000000007</c:v>
                </c:pt>
                <c:pt idx="1">
                  <c:v>1.1999999999999993</c:v>
                </c:pt>
                <c:pt idx="2">
                  <c:v>1.4000000000000004</c:v>
                </c:pt>
                <c:pt idx="3">
                  <c:v>2</c:v>
                </c:pt>
                <c:pt idx="4">
                  <c:v>2.0999999999999996</c:v>
                </c:pt>
                <c:pt idx="5">
                  <c:v>3.1999999999999993</c:v>
                </c:pt>
                <c:pt idx="6">
                  <c:v>3.6000000000000014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F73-4331-97EE-3C0ABECFBC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12936943"/>
        <c:axId val="1"/>
      </c:barChart>
      <c:catAx>
        <c:axId val="1129369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.20000000000000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293694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年新增装机（GW）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latin typeface="Book Antiqua" panose="02040602050305030304" pitchFamily="18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2024E</c:v>
                </c:pt>
                <c:pt idx="5">
                  <c:v>2025E</c:v>
                </c:pt>
                <c:pt idx="6">
                  <c:v>2026E</c:v>
                </c:pt>
                <c:pt idx="7">
                  <c:v>2027E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256</c:v>
                </c:pt>
                <c:pt idx="1">
                  <c:v>295</c:v>
                </c:pt>
                <c:pt idx="2">
                  <c:v>325</c:v>
                </c:pt>
                <c:pt idx="3">
                  <c:v>440</c:v>
                </c:pt>
                <c:pt idx="4">
                  <c:v>510</c:v>
                </c:pt>
                <c:pt idx="5">
                  <c:v>560</c:v>
                </c:pt>
                <c:pt idx="6">
                  <c:v>610</c:v>
                </c:pt>
                <c:pt idx="7">
                  <c:v>680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83F-1F48-8675-5876F30CD5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累计等待并网（GW）</c:v>
                </c:pt>
              </c:strCache>
            </c:strRef>
          </c:tx>
          <c:spPr>
            <a:solidFill>
              <a:srgbClr val="F48A2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latin typeface="Book Antiqua" panose="02040602050305030304" pitchFamily="18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2024E</c:v>
                </c:pt>
                <c:pt idx="5">
                  <c:v>2025E</c:v>
                </c:pt>
                <c:pt idx="6">
                  <c:v>2026E</c:v>
                </c:pt>
                <c:pt idx="7">
                  <c:v>2027E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600</c:v>
                </c:pt>
                <c:pt idx="1">
                  <c:v>800</c:v>
                </c:pt>
                <c:pt idx="2">
                  <c:v>1000</c:v>
                </c:pt>
                <c:pt idx="3">
                  <c:v>1200</c:v>
                </c:pt>
                <c:pt idx="4">
                  <c:v>1500</c:v>
                </c:pt>
                <c:pt idx="5">
                  <c:v>1650</c:v>
                </c:pt>
                <c:pt idx="6">
                  <c:v>1800</c:v>
                </c:pt>
                <c:pt idx="7">
                  <c:v>2000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83F-1F48-8675-5876F30CD5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Book Antiqu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传统数据中心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solidFill>
                      <a:schemeClr val="bg1"/>
                    </a:solidFill>
                    <a:latin typeface="Book Antiqua" panose="02040602050305030304" pitchFamily="18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2025E</c:v>
                </c:pt>
                <c:pt idx="3">
                  <c:v>2027E</c:v>
                </c:pt>
                <c:pt idx="4">
                  <c:v>2030E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405</c:v>
                </c:pt>
                <c:pt idx="1">
                  <c:v>380</c:v>
                </c:pt>
                <c:pt idx="2">
                  <c:v>360</c:v>
                </c:pt>
                <c:pt idx="3">
                  <c:v>340</c:v>
                </c:pt>
                <c:pt idx="4">
                  <c:v>320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3A-0949-A7A8-BF5B2165CC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AI训练/推理</c:v>
                </c:pt>
              </c:strCache>
            </c:strRef>
          </c:tx>
          <c:spPr>
            <a:solidFill>
              <a:srgbClr val="F48A2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latin typeface="Book Antiqua" panose="02040602050305030304" pitchFamily="18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2025E</c:v>
                </c:pt>
                <c:pt idx="3">
                  <c:v>2027E</c:v>
                </c:pt>
                <c:pt idx="4">
                  <c:v>2030E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35</c:v>
                </c:pt>
                <c:pt idx="2">
                  <c:v>85</c:v>
                </c:pt>
                <c:pt idx="3">
                  <c:v>220</c:v>
                </c:pt>
                <c:pt idx="4">
                  <c:v>625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B3A-0949-A7A8-BF5B2165CC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5710988368468682"/>
          <c:y val="0.84759304544269021"/>
          <c:w val="0.28578009828009826"/>
          <c:h val="0.11051152573319639"/>
        </c:manualLayout>
      </c:layout>
      <c:overlay val="0"/>
      <c:txPr>
        <a:bodyPr/>
        <a:lstStyle/>
        <a:p>
          <a:pPr>
            <a:defRPr sz="1000">
              <a:latin typeface="Book Antiqu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25E Installed Stock (GW)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★ Saudi Arabia</c:v>
                </c:pt>
                <c:pt idx="1">
                  <c:v>★ UAE</c:v>
                </c:pt>
                <c:pt idx="2">
                  <c:v>Canada</c:v>
                </c:pt>
                <c:pt idx="3">
                  <c:v>Singapore</c:v>
                </c:pt>
                <c:pt idx="4">
                  <c:v>India</c:v>
                </c:pt>
                <c:pt idx="5">
                  <c:v>Germany</c:v>
                </c:pt>
                <c:pt idx="6">
                  <c:v>Japan</c:v>
                </c:pt>
                <c:pt idx="7">
                  <c:v>UK</c:v>
                </c:pt>
                <c:pt idx="8">
                  <c:v>China</c:v>
                </c:pt>
                <c:pt idx="9">
                  <c:v>USA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0.22</c:v>
                </c:pt>
                <c:pt idx="1">
                  <c:v>0.35</c:v>
                </c:pt>
                <c:pt idx="2">
                  <c:v>1.6</c:v>
                </c:pt>
                <c:pt idx="3">
                  <c:v>1.8</c:v>
                </c:pt>
                <c:pt idx="4">
                  <c:v>1.2</c:v>
                </c:pt>
                <c:pt idx="5">
                  <c:v>3.8</c:v>
                </c:pt>
                <c:pt idx="6">
                  <c:v>3.5</c:v>
                </c:pt>
                <c:pt idx="7">
                  <c:v>4.2</c:v>
                </c:pt>
                <c:pt idx="8">
                  <c:v>14</c:v>
                </c:pt>
                <c:pt idx="9">
                  <c:v>32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5ED-4592-892B-D4E7181A49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2025–28 New Additions (GW)</c:v>
                </c:pt>
              </c:strCache>
            </c:strRef>
          </c:tx>
          <c:spPr>
            <a:solidFill>
              <a:srgbClr val="7399C6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★ Saudi Arabia</c:v>
                </c:pt>
                <c:pt idx="1">
                  <c:v>★ UAE</c:v>
                </c:pt>
                <c:pt idx="2">
                  <c:v>Canada</c:v>
                </c:pt>
                <c:pt idx="3">
                  <c:v>Singapore</c:v>
                </c:pt>
                <c:pt idx="4">
                  <c:v>India</c:v>
                </c:pt>
                <c:pt idx="5">
                  <c:v>Germany</c:v>
                </c:pt>
                <c:pt idx="6">
                  <c:v>Japan</c:v>
                </c:pt>
                <c:pt idx="7">
                  <c:v>UK</c:v>
                </c:pt>
                <c:pt idx="8">
                  <c:v>China</c:v>
                </c:pt>
                <c:pt idx="9">
                  <c:v>USA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0.78</c:v>
                </c:pt>
                <c:pt idx="1">
                  <c:v>0.65</c:v>
                </c:pt>
                <c:pt idx="2">
                  <c:v>1.5</c:v>
                </c:pt>
                <c:pt idx="3">
                  <c:v>1.5</c:v>
                </c:pt>
                <c:pt idx="4">
                  <c:v>2.5</c:v>
                </c:pt>
                <c:pt idx="5">
                  <c:v>2.5</c:v>
                </c:pt>
                <c:pt idx="6">
                  <c:v>3.2</c:v>
                </c:pt>
                <c:pt idx="7">
                  <c:v>2.8</c:v>
                </c:pt>
                <c:pt idx="8">
                  <c:v>11</c:v>
                </c:pt>
                <c:pt idx="9">
                  <c:v>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5ED-4592-892B-D4E7181A49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2028–30 New Additions (GW)</c:v>
                </c:pt>
              </c:strCache>
            </c:strRef>
          </c:tx>
          <c:spPr>
            <a:solidFill>
              <a:srgbClr val="F48A20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★ Saudi Arabia</c:v>
                </c:pt>
                <c:pt idx="1">
                  <c:v>★ UAE</c:v>
                </c:pt>
                <c:pt idx="2">
                  <c:v>Canada</c:v>
                </c:pt>
                <c:pt idx="3">
                  <c:v>Singapore</c:v>
                </c:pt>
                <c:pt idx="4">
                  <c:v>India</c:v>
                </c:pt>
                <c:pt idx="5">
                  <c:v>Germany</c:v>
                </c:pt>
                <c:pt idx="6">
                  <c:v>Japan</c:v>
                </c:pt>
                <c:pt idx="7">
                  <c:v>UK</c:v>
                </c:pt>
                <c:pt idx="8">
                  <c:v>China</c:v>
                </c:pt>
                <c:pt idx="9">
                  <c:v>USA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1.2</c:v>
                </c:pt>
                <c:pt idx="3">
                  <c:v>1.2</c:v>
                </c:pt>
                <c:pt idx="4">
                  <c:v>2.8</c:v>
                </c:pt>
                <c:pt idx="5">
                  <c:v>2</c:v>
                </c:pt>
                <c:pt idx="6">
                  <c:v>2.5</c:v>
                </c:pt>
                <c:pt idx="7">
                  <c:v>2.2000000000000002</c:v>
                </c:pt>
                <c:pt idx="8">
                  <c:v>9</c:v>
                </c:pt>
                <c:pt idx="9">
                  <c:v>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5ED-4592-892B-D4E7181A49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Book Antiqu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产能（GVA）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1-55E1-4126-9F8B-82F357F59D9E}"/>
              </c:ext>
            </c:extLst>
          </c:dPt>
          <c:dPt>
            <c:idx val="2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4-9A55-F944-8026-5DDE960C1001}"/>
              </c:ext>
            </c:extLst>
          </c:dPt>
          <c:dPt>
            <c:idx val="5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0-55E1-4126-9F8B-82F357F59D9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solidFill>
                      <a:schemeClr val="bg1"/>
                    </a:solidFill>
                    <a:latin typeface="Book Antiqua" panose="02040602050305030304" pitchFamily="18" charset="0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Sheet1!$A$2:$A$12</c:f>
              <c:strCache>
                <c:ptCount val="11"/>
                <c:pt idx="0">
                  <c:v>TBEA特变电工</c:v>
                </c:pt>
                <c:pt idx="1">
                  <c:v>Hitachi日立能源</c:v>
                </c:pt>
                <c:pt idx="2">
                  <c:v>西电集团</c:v>
                </c:pt>
                <c:pt idx="3">
                  <c:v>Siemens西门子</c:v>
                </c:pt>
                <c:pt idx="4">
                  <c:v>GE Vernova</c:v>
                </c:pt>
                <c:pt idx="5">
                  <c:v>思源电气 *</c:v>
                </c:pt>
                <c:pt idx="6">
                  <c:v>Mitsubishi三菱</c:v>
                </c:pt>
                <c:pt idx="7">
                  <c:v>HD Hyundai现代</c:v>
                </c:pt>
                <c:pt idx="8">
                  <c:v>Hyosung孝星</c:v>
                </c:pt>
                <c:pt idx="9">
                  <c:v>Toshiba东芝</c:v>
                </c:pt>
                <c:pt idx="10">
                  <c:v>CG Power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500</c:v>
                </c:pt>
                <c:pt idx="1">
                  <c:v>290</c:v>
                </c:pt>
                <c:pt idx="2">
                  <c:v>200</c:v>
                </c:pt>
                <c:pt idx="3">
                  <c:v>219</c:v>
                </c:pt>
                <c:pt idx="4">
                  <c:v>184</c:v>
                </c:pt>
                <c:pt idx="5">
                  <c:v>150</c:v>
                </c:pt>
                <c:pt idx="6">
                  <c:v>132</c:v>
                </c:pt>
                <c:pt idx="7">
                  <c:v>116</c:v>
                </c:pt>
                <c:pt idx="8">
                  <c:v>99</c:v>
                </c:pt>
                <c:pt idx="9">
                  <c:v>90</c:v>
                </c:pt>
                <c:pt idx="10">
                  <c:v>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2F5-264E-AC27-A5EBCE443C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94045865768988E-2"/>
          <c:y val="5.9421025901472829E-2"/>
          <c:w val="0.97811908268462022"/>
          <c:h val="0.8811579481970544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9A9-4F4F-A3EC-F657D88B299C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9A9-4F4F-A3EC-F657D88B299C}"/>
              </c:ext>
            </c:extLst>
          </c:dPt>
          <c:dLbls>
            <c:dLbl>
              <c:idx val="0"/>
              <c:layout>
                <c:manualLayout>
                  <c:x val="0"/>
                  <c:y val="-1.5236160487557136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9A9-4F4F-A3EC-F657D88B299C}"/>
                </c:ext>
              </c:extLst>
            </c:dLbl>
            <c:dLbl>
              <c:idx val="6"/>
              <c:layout>
                <c:manualLayout>
                  <c:x val="0"/>
                  <c:y val="-1.01574403250380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9A9-4F4F-A3EC-F657D88B299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500</c:v>
                </c:pt>
                <c:pt idx="1">
                  <c:v>2359</c:v>
                </c:pt>
                <c:pt idx="2">
                  <c:v>2700</c:v>
                </c:pt>
                <c:pt idx="3">
                  <c:v>3100</c:v>
                </c:pt>
                <c:pt idx="4">
                  <c:v>3700</c:v>
                </c:pt>
                <c:pt idx="5">
                  <c:v>4200</c:v>
                </c:pt>
                <c:pt idx="6">
                  <c:v>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A9-4F4F-A3EC-F657D88B299C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9A9-4F4F-A3EC-F657D88B299C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19A9-4F4F-A3EC-F657D88B299C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19A9-4F4F-A3EC-F657D88B299C}"/>
              </c:ext>
            </c:extLst>
          </c:dPt>
          <c:dLbls>
            <c:dLbl>
              <c:idx val="0"/>
              <c:layout>
                <c:manualLayout>
                  <c:x val="0"/>
                  <c:y val="-1.01574403250380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9A9-4F4F-A3EC-F657D88B299C}"/>
                </c:ext>
              </c:extLst>
            </c:dLbl>
            <c:dLbl>
              <c:idx val="1"/>
              <c:layout>
                <c:manualLayout>
                  <c:x val="4.9232063959604458E-2"/>
                  <c:y val="3.40274250888776E-2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Book Antiqua"/>
                      <a:ea typeface="+mn-ea"/>
                      <a:cs typeface="+mn-cs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9A9-4F4F-A3EC-F657D88B299C}"/>
                </c:ext>
              </c:extLst>
            </c:dLbl>
            <c:dLbl>
              <c:idx val="6"/>
              <c:layout>
                <c:manualLayout>
                  <c:x val="0"/>
                  <c:y val="-1.01574403250380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19A9-4F4F-A3EC-F657D88B299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0">
                  <c:v>693</c:v>
                </c:pt>
                <c:pt idx="1">
                  <c:v>50</c:v>
                </c:pt>
                <c:pt idx="2">
                  <c:v>70</c:v>
                </c:pt>
                <c:pt idx="3">
                  <c:v>80</c:v>
                </c:pt>
                <c:pt idx="4">
                  <c:v>50</c:v>
                </c:pt>
                <c:pt idx="5">
                  <c:v>20</c:v>
                </c:pt>
                <c:pt idx="6">
                  <c:v>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9A9-4F4F-A3EC-F657D88B299C}"/>
            </c:ext>
          </c:extLst>
        </c:ser>
        <c:ser>
          <c:idx val="2"/>
          <c:order val="2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19A9-4F4F-A3EC-F657D88B299C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19A9-4F4F-A3EC-F657D88B299C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A-19A9-4F4F-A3EC-F657D88B299C}"/>
              </c:ext>
            </c:extLst>
          </c:dPt>
          <c:dLbls>
            <c:dLbl>
              <c:idx val="0"/>
              <c:layout>
                <c:manualLayout>
                  <c:x val="0"/>
                  <c:y val="-1.5236160487557136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19A9-4F4F-A3EC-F657D88B299C}"/>
                </c:ext>
              </c:extLst>
            </c:dLbl>
            <c:dLbl>
              <c:idx val="5"/>
              <c:layout>
                <c:manualLayout>
                  <c:x val="1.9566589522406901E-2"/>
                  <c:y val="-1.5236160487557136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19A9-4F4F-A3EC-F657D88B299C}"/>
                </c:ext>
              </c:extLst>
            </c:dLbl>
            <c:dLbl>
              <c:idx val="6"/>
              <c:layout>
                <c:manualLayout>
                  <c:x val="0"/>
                  <c:y val="-1.5236160487557136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19A9-4F4F-A3EC-F657D88B299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Sheet1!$A$3:$G$3</c:f>
              <c:numCache>
                <c:formatCode>General</c:formatCode>
                <c:ptCount val="7"/>
                <c:pt idx="0">
                  <c:v>437</c:v>
                </c:pt>
                <c:pt idx="1">
                  <c:v>25</c:v>
                </c:pt>
                <c:pt idx="2">
                  <c:v>35</c:v>
                </c:pt>
                <c:pt idx="3">
                  <c:v>65</c:v>
                </c:pt>
                <c:pt idx="4">
                  <c:v>25</c:v>
                </c:pt>
                <c:pt idx="5">
                  <c:v>240</c:v>
                </c:pt>
                <c:pt idx="6">
                  <c:v>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9A9-4F4F-A3EC-F657D88B299C}"/>
            </c:ext>
          </c:extLst>
        </c:ser>
        <c:ser>
          <c:idx val="3"/>
          <c:order val="3"/>
          <c:spPr>
            <a:solidFill>
              <a:schemeClr val="accent3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19A9-4F4F-A3EC-F657D88B299C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19A9-4F4F-A3EC-F657D88B299C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E-19A9-4F4F-A3EC-F657D88B299C}"/>
              </c:ext>
            </c:extLst>
          </c:dPt>
          <c:dLbls>
            <c:dLbl>
              <c:idx val="0"/>
              <c:layout>
                <c:manualLayout>
                  <c:x val="0"/>
                  <c:y val="-1.01574403250380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19A9-4F4F-A3EC-F657D88B299C}"/>
                </c:ext>
              </c:extLst>
            </c:dLbl>
            <c:dLbl>
              <c:idx val="6"/>
              <c:layout>
                <c:manualLayout>
                  <c:x val="0"/>
                  <c:y val="-1.01574403250380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19A9-4F4F-A3EC-F657D88B299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Sheet1!$A$4:$G$4</c:f>
              <c:numCache>
                <c:formatCode>General</c:formatCode>
                <c:ptCount val="7"/>
                <c:pt idx="0">
                  <c:v>350</c:v>
                </c:pt>
                <c:pt idx="1">
                  <c:v>15</c:v>
                </c:pt>
                <c:pt idx="2">
                  <c:v>35</c:v>
                </c:pt>
                <c:pt idx="3">
                  <c:v>30</c:v>
                </c:pt>
                <c:pt idx="4">
                  <c:v>20</c:v>
                </c:pt>
                <c:pt idx="5">
                  <c:v>133</c:v>
                </c:pt>
                <c:pt idx="6">
                  <c:v>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19A9-4F4F-A3EC-F657D88B299C}"/>
            </c:ext>
          </c:extLst>
        </c:ser>
        <c:ser>
          <c:idx val="4"/>
          <c:order val="4"/>
          <c:spPr>
            <a:solidFill>
              <a:schemeClr val="accent4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0-19A9-4F4F-A3EC-F657D88B299C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1-19A9-4F4F-A3EC-F657D88B299C}"/>
              </c:ext>
            </c:extLst>
          </c:dPt>
          <c:dLbls>
            <c:dLbl>
              <c:idx val="0"/>
              <c:layout>
                <c:manualLayout>
                  <c:x val="0"/>
                  <c:y val="-1.01574403250380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19A9-4F4F-A3EC-F657D88B299C}"/>
                </c:ext>
              </c:extLst>
            </c:dLbl>
            <c:dLbl>
              <c:idx val="1"/>
              <c:layout>
                <c:manualLayout>
                  <c:x val="4.9232063959604458E-2"/>
                  <c:y val="1.4728288471305232E-2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Book Antiqua"/>
                      <a:ea typeface="+mn-ea"/>
                      <a:cs typeface="+mn-cs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19A9-4F4F-A3EC-F657D88B299C}"/>
                </c:ext>
              </c:extLst>
            </c:dLbl>
            <c:dLbl>
              <c:idx val="6"/>
              <c:layout>
                <c:manualLayout>
                  <c:x val="0"/>
                  <c:y val="-1.01574403250380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19A9-4F4F-A3EC-F657D88B299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Sheet1!$A$5:$G$5</c:f>
              <c:numCache>
                <c:formatCode>General</c:formatCode>
                <c:ptCount val="7"/>
                <c:pt idx="0">
                  <c:v>200</c:v>
                </c:pt>
                <c:pt idx="1">
                  <c:v>36</c:v>
                </c:pt>
                <c:pt idx="2">
                  <c:v>45</c:v>
                </c:pt>
                <c:pt idx="3">
                  <c:v>35</c:v>
                </c:pt>
                <c:pt idx="4">
                  <c:v>40</c:v>
                </c:pt>
                <c:pt idx="6">
                  <c:v>1230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19A9-4F4F-A3EC-F657D88B299C}"/>
            </c:ext>
          </c:extLst>
        </c:ser>
        <c:ser>
          <c:idx val="5"/>
          <c:order val="5"/>
          <c:spPr>
            <a:solidFill>
              <a:schemeClr val="accent5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4-19A9-4F4F-A3EC-F657D88B299C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19A9-4F4F-A3EC-F657D88B299C}"/>
              </c:ext>
            </c:extLst>
          </c:dPt>
          <c:dLbls>
            <c:dLbl>
              <c:idx val="0"/>
              <c:layout>
                <c:manualLayout>
                  <c:x val="0"/>
                  <c:y val="-1.01574403250380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19A9-4F4F-A3EC-F657D88B299C}"/>
                </c:ext>
              </c:extLst>
            </c:dLbl>
            <c:dLbl>
              <c:idx val="1"/>
              <c:layout>
                <c:manualLayout>
                  <c:x val="5.259835893120135E-2"/>
                  <c:y val="-3.0472320975114273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19A9-4F4F-A3EC-F657D88B299C}"/>
                </c:ext>
              </c:extLst>
            </c:dLbl>
            <c:dLbl>
              <c:idx val="2"/>
              <c:layout>
                <c:manualLayout>
                  <c:x val="-1.9356196086682095E-2"/>
                  <c:y val="-1.5236160487557136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Book Antiqua"/>
                      <a:ea typeface="+mn-ea"/>
                      <a:cs typeface="+mn-cs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19A9-4F4F-A3EC-F657D88B299C}"/>
                </c:ext>
              </c:extLst>
            </c:dLbl>
            <c:dLbl>
              <c:idx val="3"/>
              <c:layout>
                <c:manualLayout>
                  <c:x val="-1.9356196086682095E-2"/>
                  <c:y val="-1.01574403250380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19A9-4F4F-A3EC-F657D88B299C}"/>
                </c:ext>
              </c:extLst>
            </c:dLbl>
            <c:dLbl>
              <c:idx val="4"/>
              <c:layout>
                <c:manualLayout>
                  <c:x val="-1.9356196086682095E-2"/>
                  <c:y val="-1.015744032503809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19A9-4F4F-A3EC-F657D88B299C}"/>
                </c:ext>
              </c:extLst>
            </c:dLbl>
            <c:dLbl>
              <c:idx val="6"/>
              <c:layout>
                <c:manualLayout>
                  <c:x val="0"/>
                  <c:y val="-1.5236160487557136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Book Antiqua"/>
                      <a:ea typeface="Book Antiqua"/>
                      <a:cs typeface="Book Antiqua"/>
                      <a:sym typeface="Book Antiqua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19A9-4F4F-A3EC-F657D88B299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Sheet1!$A$6:$G$6</c:f>
              <c:numCache>
                <c:formatCode>General</c:formatCode>
                <c:ptCount val="7"/>
                <c:pt idx="0">
                  <c:v>179</c:v>
                </c:pt>
                <c:pt idx="1">
                  <c:v>145</c:v>
                </c:pt>
                <c:pt idx="2">
                  <c:v>145</c:v>
                </c:pt>
                <c:pt idx="3">
                  <c:v>255</c:v>
                </c:pt>
                <c:pt idx="4">
                  <c:v>245</c:v>
                </c:pt>
                <c:pt idx="6">
                  <c:v>707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19A9-4F4F-A3EC-F657D88B299C}"/>
            </c:ext>
          </c:extLst>
        </c:ser>
        <c:ser>
          <c:idx val="6"/>
          <c:order val="6"/>
          <c:spPr>
            <a:solidFill>
              <a:schemeClr val="accent6"/>
            </a:solidFill>
            <a:ln>
              <a:noFill/>
            </a:ln>
          </c:spPr>
          <c:invertIfNegative val="0"/>
          <c:val>
            <c:numRef>
              <c:f>Sheet1!$A$7:$G$7</c:f>
              <c:numCache>
                <c:formatCode>General</c:formatCode>
                <c:ptCount val="7"/>
                <c:pt idx="1">
                  <c:v>70</c:v>
                </c:pt>
                <c:pt idx="2">
                  <c:v>70</c:v>
                </c:pt>
                <c:pt idx="3">
                  <c:v>135</c:v>
                </c:pt>
                <c:pt idx="4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19A9-4F4F-A3EC-F657D88B29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528244799"/>
        <c:axId val="1"/>
      </c:barChart>
      <c:catAx>
        <c:axId val="5282447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59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282447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ROIC（%）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2025E</c:v>
                </c:pt>
                <c:pt idx="5">
                  <c:v>2027E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10.9</c:v>
                </c:pt>
                <c:pt idx="1">
                  <c:v>14.2</c:v>
                </c:pt>
                <c:pt idx="2">
                  <c:v>18.5</c:v>
                </c:pt>
                <c:pt idx="3">
                  <c:v>25.7</c:v>
                </c:pt>
                <c:pt idx="4">
                  <c:v>27</c:v>
                </c:pt>
                <c:pt idx="5">
                  <c:v>28.5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FB-E048-8029-78E83C86CE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18791784"/>
        <c:axId val="2140495176"/>
      </c:bar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Backlog ($B)</c:v>
                </c:pt>
              </c:strCache>
            </c:strRef>
          </c:tx>
          <c:spPr>
            <a:solidFill>
              <a:srgbClr val="FFC000"/>
            </a:solidFill>
          </c:spPr>
          <c:invertIfNegative val="1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2025E</c:v>
                </c:pt>
                <c:pt idx="5">
                  <c:v>2027E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26.4</c:v>
                </c:pt>
                <c:pt idx="1">
                  <c:v>36.5</c:v>
                </c:pt>
                <c:pt idx="2">
                  <c:v>44.7</c:v>
                </c:pt>
                <c:pt idx="3">
                  <c:v>56</c:v>
                </c:pt>
                <c:pt idx="4">
                  <c:v>59.7</c:v>
                </c:pt>
                <c:pt idx="5">
                  <c:v>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487-DF4F-BE38-7E4CE2194D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0&quot;$B&quot;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Book Antiqua" panose="02040602050305030304" pitchFamily="18" charset="0"/>
        </a:defRPr>
      </a:pPr>
      <a:endParaRPr lang="zh-CN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HD现代电气 营业利润率%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6.3</c:v>
                </c:pt>
                <c:pt idx="1">
                  <c:v>11.7</c:v>
                </c:pt>
                <c:pt idx="2">
                  <c:v>24.4</c:v>
                </c:pt>
                <c:pt idx="3">
                  <c:v>22.7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26-D04E-B7FF-EADA39BA02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孝星HICO 净利率%（推算）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-5</c:v>
                </c:pt>
                <c:pt idx="1">
                  <c:v>-3</c:v>
                </c:pt>
                <c:pt idx="2">
                  <c:v>8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26-D04E-B7FF-EADA39BA025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LS Electric 营业利润率%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5.6</c:v>
                </c:pt>
                <c:pt idx="1">
                  <c:v>7.7</c:v>
                </c:pt>
                <c:pt idx="2">
                  <c:v>8.6</c:v>
                </c:pt>
                <c:pt idx="3">
                  <c:v>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26-D04E-B7FF-EADA39BA02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18791784"/>
        <c:axId val="2140495176"/>
      </c:bar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Book Antiqua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GIS/高压开关</c:v>
                </c:pt>
              </c:strCache>
            </c:strRef>
          </c:tx>
          <c:spPr>
            <a:solidFill>
              <a:srgbClr val="00355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</c:v>
                </c:pt>
                <c:pt idx="1">
                  <c:v>590</c:v>
                </c:pt>
                <c:pt idx="2">
                  <c:v>680</c:v>
                </c:pt>
                <c:pt idx="3">
                  <c:v>781</c:v>
                </c:pt>
                <c:pt idx="4">
                  <c:v>954</c:v>
                </c:pt>
                <c:pt idx="5">
                  <c:v>1288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ABA-EB42-80CC-7C42AC6AA4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线圈/变压器</c:v>
                </c:pt>
              </c:strCache>
            </c:strRef>
          </c:tx>
          <c:spPr>
            <a:solidFill>
              <a:srgbClr val="A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210</c:v>
                </c:pt>
                <c:pt idx="1">
                  <c:v>260</c:v>
                </c:pt>
                <c:pt idx="2">
                  <c:v>310</c:v>
                </c:pt>
                <c:pt idx="3">
                  <c:v>384</c:v>
                </c:pt>
                <c:pt idx="4">
                  <c:v>576</c:v>
                </c:pt>
                <c:pt idx="5">
                  <c:v>720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ABA-EB42-80CC-7C42AC6AA4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SVG/无功补偿</c:v>
                </c:pt>
              </c:strCache>
            </c:strRef>
          </c:tx>
          <c:spPr>
            <a:solidFill>
              <a:srgbClr val="FFC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0206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200</c:v>
                </c:pt>
                <c:pt idx="1">
                  <c:v>220</c:v>
                </c:pt>
                <c:pt idx="2">
                  <c:v>235</c:v>
                </c:pt>
                <c:pt idx="3">
                  <c:v>259</c:v>
                </c:pt>
                <c:pt idx="4">
                  <c:v>246</c:v>
                </c:pt>
                <c:pt idx="5">
                  <c:v>369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AABA-EB42-80CC-7C42AC6AA40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其他(智能+EPC)</c:v>
                </c:pt>
              </c:strCache>
            </c:strRef>
          </c:tx>
          <c:spPr>
            <a:solidFill>
              <a:srgbClr val="E3D9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>
                    <a:latin typeface="Book Antiqua" panose="02040602050305030304" pitchFamily="18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90</c:v>
                </c:pt>
                <c:pt idx="1">
                  <c:v>119</c:v>
                </c:pt>
                <c:pt idx="2">
                  <c:v>170</c:v>
                </c:pt>
                <c:pt idx="3">
                  <c:v>319</c:v>
                </c:pt>
                <c:pt idx="4">
                  <c:v>385</c:v>
                </c:pt>
                <c:pt idx="5">
                  <c:v>460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9-AABA-EB42-80CC-7C42AC6AA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Book Antiqu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输变电</c:v>
                </c:pt>
              </c:strCache>
            </c:strRef>
          </c:tx>
          <c:spPr>
            <a:solidFill>
              <a:srgbClr val="00355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2867</c:v>
                </c:pt>
                <c:pt idx="1">
                  <c:v>3253</c:v>
                </c:pt>
                <c:pt idx="2">
                  <c:v>3906</c:v>
                </c:pt>
                <c:pt idx="3">
                  <c:v>5168</c:v>
                </c:pt>
                <c:pt idx="4">
                  <c:v>6012</c:v>
                </c:pt>
                <c:pt idx="5">
                  <c:v>6920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A19-B843-9B5E-B3BF2E98A8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新能源/多晶硅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1832</c:v>
                </c:pt>
                <c:pt idx="1">
                  <c:v>2098</c:v>
                </c:pt>
                <c:pt idx="2">
                  <c:v>4808</c:v>
                </c:pt>
                <c:pt idx="3">
                  <c:v>3924</c:v>
                </c:pt>
                <c:pt idx="4">
                  <c:v>2592</c:v>
                </c:pt>
                <c:pt idx="5">
                  <c:v>2199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A19-B843-9B5E-B3BF2E98A8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煤电+其他</c:v>
                </c:pt>
              </c:strCache>
            </c:strRef>
          </c:tx>
          <c:spPr>
            <a:solidFill>
              <a:srgbClr val="FFC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>
                    <a:latin typeface="Book Antiqua" panose="02040602050305030304" pitchFamily="18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1483</c:v>
                </c:pt>
                <c:pt idx="1">
                  <c:v>2276</c:v>
                </c:pt>
                <c:pt idx="2">
                  <c:v>6531</c:v>
                </c:pt>
                <c:pt idx="3">
                  <c:v>4628</c:v>
                </c:pt>
                <c:pt idx="4">
                  <c:v>5088</c:v>
                </c:pt>
                <c:pt idx="5">
                  <c:v>5525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7A19-B843-9B5E-B3BF2E98A8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Book Antiqu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Products (GIS/变压器)</c:v>
                </c:pt>
              </c:strCache>
            </c:strRef>
          </c:tx>
          <c:spPr>
            <a:solidFill>
              <a:srgbClr val="00355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2970</c:v>
                </c:pt>
                <c:pt idx="1">
                  <c:v>3190</c:v>
                </c:pt>
                <c:pt idx="2">
                  <c:v>3575</c:v>
                </c:pt>
                <c:pt idx="3">
                  <c:v>4180</c:v>
                </c:pt>
                <c:pt idx="4">
                  <c:v>5610</c:v>
                </c:pt>
                <c:pt idx="5">
                  <c:v>6930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F54-0B42-974C-2EA351B470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Solutions (HVDC/工程)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1620</c:v>
                </c:pt>
                <c:pt idx="1">
                  <c:v>1740</c:v>
                </c:pt>
                <c:pt idx="2">
                  <c:v>1950</c:v>
                </c:pt>
                <c:pt idx="3">
                  <c:v>2280</c:v>
                </c:pt>
                <c:pt idx="4">
                  <c:v>3060</c:v>
                </c:pt>
                <c:pt idx="5">
                  <c:v>3780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F54-0B42-974C-2EA351B470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FFC000"/>
            </a:solidFill>
          </c:spPr>
          <c:invertIfNegative val="1"/>
          <c:dLbls>
            <c:dLbl>
              <c:idx val="0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5,400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54-0B42-974C-2EA351B470B4}"/>
                </c:ext>
              </c:extLst>
            </c:dLbl>
            <c:dLbl>
              <c:idx val="1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5,800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54-0B42-974C-2EA351B470B4}"/>
                </c:ext>
              </c:extLst>
            </c:dLbl>
            <c:dLbl>
              <c:idx val="2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6,500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54-0B42-974C-2EA351B470B4}"/>
                </c:ext>
              </c:extLst>
            </c:dLbl>
            <c:dLbl>
              <c:idx val="3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7,600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54-0B42-974C-2EA351B470B4}"/>
                </c:ext>
              </c:extLst>
            </c:dLbl>
            <c:dLbl>
              <c:idx val="4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10,200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54-0B42-974C-2EA351B470B4}"/>
                </c:ext>
              </c:extLst>
            </c:dLbl>
            <c:dLbl>
              <c:idx val="5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12,600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54-0B42-974C-2EA351B470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810</c:v>
                </c:pt>
                <c:pt idx="1">
                  <c:v>870</c:v>
                </c:pt>
                <c:pt idx="2">
                  <c:v>975</c:v>
                </c:pt>
                <c:pt idx="3">
                  <c:v>1140</c:v>
                </c:pt>
                <c:pt idx="4">
                  <c:v>1530</c:v>
                </c:pt>
                <c:pt idx="5">
                  <c:v>1890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6F54-0B42-974C-2EA351B47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Book Antiqu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Grid Solutions</c:v>
                </c:pt>
              </c:strCache>
            </c:strRef>
          </c:tx>
          <c:spPr>
            <a:solidFill>
              <a:srgbClr val="00355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2475</c:v>
                </c:pt>
                <c:pt idx="1">
                  <c:v>2750</c:v>
                </c:pt>
                <c:pt idx="2">
                  <c:v>3025</c:v>
                </c:pt>
                <c:pt idx="3">
                  <c:v>3520</c:v>
                </c:pt>
                <c:pt idx="4">
                  <c:v>4125</c:v>
                </c:pt>
                <c:pt idx="5">
                  <c:v>7425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D68-804C-88C5-AA2944B068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Power Conversion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1350</c:v>
                </c:pt>
                <c:pt idx="1">
                  <c:v>1500</c:v>
                </c:pt>
                <c:pt idx="2">
                  <c:v>1650</c:v>
                </c:pt>
                <c:pt idx="3">
                  <c:v>1920</c:v>
                </c:pt>
                <c:pt idx="4">
                  <c:v>2250</c:v>
                </c:pt>
                <c:pt idx="5">
                  <c:v>4050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D68-804C-88C5-AA2944B068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Solar &amp; Storage</c:v>
                </c:pt>
              </c:strCache>
            </c:strRef>
          </c:tx>
          <c:spPr>
            <a:solidFill>
              <a:srgbClr val="FFC000"/>
            </a:solidFill>
          </c:spPr>
          <c:invertIfNegative val="1"/>
          <c:dLbls>
            <c:dLbl>
              <c:idx val="0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4,500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D68-804C-88C5-AA2944B06865}"/>
                </c:ext>
              </c:extLst>
            </c:dLbl>
            <c:dLbl>
              <c:idx val="1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5,000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D68-804C-88C5-AA2944B06865}"/>
                </c:ext>
              </c:extLst>
            </c:dLbl>
            <c:dLbl>
              <c:idx val="2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5,500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D68-804C-88C5-AA2944B06865}"/>
                </c:ext>
              </c:extLst>
            </c:dLbl>
            <c:dLbl>
              <c:idx val="3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6,400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D68-804C-88C5-AA2944B06865}"/>
                </c:ext>
              </c:extLst>
            </c:dLbl>
            <c:dLbl>
              <c:idx val="4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7,500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D68-804C-88C5-AA2944B06865}"/>
                </c:ext>
              </c:extLst>
            </c:dLbl>
            <c:dLbl>
              <c:idx val="5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13,500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D68-804C-88C5-AA2944B068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675</c:v>
                </c:pt>
                <c:pt idx="1">
                  <c:v>750</c:v>
                </c:pt>
                <c:pt idx="2">
                  <c:v>825</c:v>
                </c:pt>
                <c:pt idx="3">
                  <c:v>960</c:v>
                </c:pt>
                <c:pt idx="4">
                  <c:v>1125</c:v>
                </c:pt>
                <c:pt idx="5">
                  <c:v>2025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5D68-804C-88C5-AA2944B068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Book Antiqu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变压器/电力设备</c:v>
                </c:pt>
              </c:strCache>
            </c:strRef>
          </c:tx>
          <c:spPr>
            <a:solidFill>
              <a:srgbClr val="00355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556</c:v>
                </c:pt>
                <c:pt idx="1">
                  <c:v>654</c:v>
                </c:pt>
                <c:pt idx="2">
                  <c:v>778</c:v>
                </c:pt>
                <c:pt idx="3">
                  <c:v>1060</c:v>
                </c:pt>
                <c:pt idx="4">
                  <c:v>1303</c:v>
                </c:pt>
                <c:pt idx="5">
                  <c:v>1711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ABC-7E40-BE6E-D31E7D615A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配电设备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333</c:v>
                </c:pt>
                <c:pt idx="1">
                  <c:v>353</c:v>
                </c:pt>
                <c:pt idx="2">
                  <c:v>467</c:v>
                </c:pt>
                <c:pt idx="3">
                  <c:v>560</c:v>
                </c:pt>
                <c:pt idx="4">
                  <c:v>713</c:v>
                </c:pt>
                <c:pt idx="5">
                  <c:v>840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ABC-7E40-BE6E-D31E7D615A1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旋转机械</c:v>
                </c:pt>
              </c:strCache>
            </c:strRef>
          </c:tx>
          <c:spPr>
            <a:solidFill>
              <a:srgbClr val="FFC000"/>
            </a:solidFill>
          </c:spPr>
          <c:invertIfNegative val="1"/>
          <c:dLbls>
            <c:dLbl>
              <c:idx val="0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1,111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ABC-7E40-BE6E-D31E7D615A1D}"/>
                </c:ext>
              </c:extLst>
            </c:dLbl>
            <c:dLbl>
              <c:idx val="1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1,259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ABC-7E40-BE6E-D31E7D615A1D}"/>
                </c:ext>
              </c:extLst>
            </c:dLbl>
            <c:dLbl>
              <c:idx val="2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1,556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ABC-7E40-BE6E-D31E7D615A1D}"/>
                </c:ext>
              </c:extLst>
            </c:dLbl>
            <c:dLbl>
              <c:idx val="3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2,000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ABC-7E40-BE6E-D31E7D615A1D}"/>
                </c:ext>
              </c:extLst>
            </c:dLbl>
            <c:dLbl>
              <c:idx val="4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2,459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ABC-7E40-BE6E-D31E7D615A1D}"/>
                </c:ext>
              </c:extLst>
            </c:dLbl>
            <c:dLbl>
              <c:idx val="5"/>
              <c:layout>
                <c:manualLayout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z="800" b="1">
                        <a:solidFill>
                          <a:srgbClr val="303030"/>
                        </a:solidFill>
                        <a:latin typeface="Book Antiqua"/>
                      </a:rPr>
                      <a:t>3,111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ABC-7E40-BE6E-D31E7D615A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222</c:v>
                </c:pt>
                <c:pt idx="1">
                  <c:v>252</c:v>
                </c:pt>
                <c:pt idx="2">
                  <c:v>311</c:v>
                </c:pt>
                <c:pt idx="3">
                  <c:v>380</c:v>
                </c:pt>
                <c:pt idx="4">
                  <c:v>443</c:v>
                </c:pt>
                <c:pt idx="5">
                  <c:v>560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6ABC-7E40-BE6E-D31E7D615A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Book Antiqu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变压器/电力设备</c:v>
                </c:pt>
              </c:strCache>
            </c:strRef>
          </c:tx>
          <c:spPr>
            <a:solidFill>
              <a:srgbClr val="00355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1111</c:v>
                </c:pt>
                <c:pt idx="1">
                  <c:v>1259</c:v>
                </c:pt>
                <c:pt idx="2">
                  <c:v>1556</c:v>
                </c:pt>
                <c:pt idx="3">
                  <c:v>1908</c:v>
                </c:pt>
                <c:pt idx="4">
                  <c:v>2296</c:v>
                </c:pt>
                <c:pt idx="5">
                  <c:v>3073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9E1-404C-8545-DBD824149B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建设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>
                    <a:solidFill>
                      <a:schemeClr val="bg1"/>
                    </a:solidFill>
                    <a:latin typeface="Book Antiqua" panose="02040602050305030304" pitchFamily="18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741</c:v>
                </c:pt>
                <c:pt idx="1">
                  <c:v>963</c:v>
                </c:pt>
                <c:pt idx="2">
                  <c:v>1259</c:v>
                </c:pt>
                <c:pt idx="3">
                  <c:v>1256</c:v>
                </c:pt>
                <c:pt idx="4">
                  <c:v>1307</c:v>
                </c:pt>
                <c:pt idx="5">
                  <c:v>1345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7-19E1-404C-8545-DBD824149B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Book Antiqu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GIS/开关设备</c:v>
                </c:pt>
              </c:strCache>
            </c:strRef>
          </c:tx>
          <c:spPr>
            <a:solidFill>
              <a:srgbClr val="00355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1084</c:v>
                </c:pt>
                <c:pt idx="1">
                  <c:v>1224</c:v>
                </c:pt>
                <c:pt idx="2">
                  <c:v>1385</c:v>
                </c:pt>
                <c:pt idx="3">
                  <c:v>1483</c:v>
                </c:pt>
                <c:pt idx="4">
                  <c:v>1560</c:v>
                </c:pt>
                <c:pt idx="5">
                  <c:v>1679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862-9A41-8268-6FCE1B88EA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变压器</c:v>
                </c:pt>
              </c:strCache>
            </c:strRef>
          </c:tx>
          <c:spPr>
            <a:solidFill>
              <a:srgbClr val="C0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650</c:v>
                </c:pt>
                <c:pt idx="1">
                  <c:v>734</c:v>
                </c:pt>
                <c:pt idx="2">
                  <c:v>831</c:v>
                </c:pt>
                <c:pt idx="3">
                  <c:v>889</c:v>
                </c:pt>
                <c:pt idx="4">
                  <c:v>936</c:v>
                </c:pt>
                <c:pt idx="5">
                  <c:v>1007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862-9A41-8268-6FCE1B88EA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互感器/其他</c:v>
                </c:pt>
              </c:strCache>
            </c:strRef>
          </c:tx>
          <c:spPr>
            <a:solidFill>
              <a:srgbClr val="FFC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>
                    <a:latin typeface="Book Antiqua" panose="02040602050305030304" pitchFamily="18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434</c:v>
                </c:pt>
                <c:pt idx="1">
                  <c:v>490</c:v>
                </c:pt>
                <c:pt idx="2">
                  <c:v>554</c:v>
                </c:pt>
                <c:pt idx="3">
                  <c:v>593</c:v>
                </c:pt>
                <c:pt idx="4">
                  <c:v>624</c:v>
                </c:pt>
                <c:pt idx="5">
                  <c:v>671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2862-9A41-8268-6FCE1B88EA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solidFill>
                  <a:srgbClr val="707070"/>
                </a:solidFill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Book Antiqu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数据中心新增电力需求（GW）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latin typeface="Book Antiqua" panose="02040602050305030304" pitchFamily="18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2024A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28</c:v>
                </c:pt>
                <c:pt idx="2">
                  <c:v>42</c:v>
                </c:pt>
                <c:pt idx="3">
                  <c:v>58</c:v>
                </c:pt>
                <c:pt idx="4">
                  <c:v>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283-9044-8681-1E987B8473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变压器供给支撑能力（GW，中性估算）</c:v>
                </c:pt>
              </c:strCache>
            </c:strRef>
          </c:tx>
          <c:spPr>
            <a:solidFill>
              <a:srgbClr val="F48A2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latin typeface="Book Antiqua" panose="02040602050305030304" pitchFamily="18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2024A</c:v>
                </c:pt>
                <c:pt idx="1">
                  <c:v>2025E</c:v>
                </c:pt>
                <c:pt idx="2">
                  <c:v>2026E</c:v>
                </c:pt>
                <c:pt idx="3">
                  <c:v>2027E</c:v>
                </c:pt>
                <c:pt idx="4">
                  <c:v>2028E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</c:v>
                </c:pt>
                <c:pt idx="1">
                  <c:v>22</c:v>
                </c:pt>
                <c:pt idx="2">
                  <c:v>30</c:v>
                </c:pt>
                <c:pt idx="3">
                  <c:v>40</c:v>
                </c:pt>
                <c:pt idx="4">
                  <c:v>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283-9044-8681-1E987B8473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Book Antiqua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悲观情景（扩产提前，AI需求走软）</c:v>
                </c:pt>
              </c:strCache>
            </c:strRef>
          </c:tx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-30</c:v>
                </c:pt>
                <c:pt idx="1">
                  <c:v>-20</c:v>
                </c:pt>
                <c:pt idx="2">
                  <c:v>-10</c:v>
                </c:pt>
                <c:pt idx="3">
                  <c:v>-3</c:v>
                </c:pt>
                <c:pt idx="4">
                  <c:v>1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60-8C4E-AFA4-EAFFFF87A4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基准情景（Citi中性预测）</c:v>
                </c:pt>
              </c:strCache>
            </c:strRef>
          </c:tx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-30</c:v>
                </c:pt>
                <c:pt idx="1">
                  <c:v>-22</c:v>
                </c:pt>
                <c:pt idx="2">
                  <c:v>-16</c:v>
                </c:pt>
                <c:pt idx="3">
                  <c:v>-5</c:v>
                </c:pt>
                <c:pt idx="4">
                  <c:v>0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60-8C4E-AFA4-EAFFFF87A4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乐观情景（扩产延迟，AI持续超预期）</c:v>
                </c:pt>
              </c:strCache>
            </c:strRef>
          </c:tx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303030"/>
                    </a:solidFill>
                    <a:latin typeface="Book Antiqu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-30</c:v>
                </c:pt>
                <c:pt idx="1">
                  <c:v>-25</c:v>
                </c:pt>
                <c:pt idx="2">
                  <c:v>-22</c:v>
                </c:pt>
                <c:pt idx="3">
                  <c:v>-15</c:v>
                </c:pt>
                <c:pt idx="4">
                  <c:v>-8</c:v>
                </c:pt>
                <c:pt idx="5">
                  <c:v>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160-8C4E-AFA4-EAFFFF87A4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Book Antiqua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申万电网设备 TTM PE（周频）</c:v>
                </c:pt>
              </c:strCache>
            </c:strRef>
          </c:tx>
          <c:spPr>
            <a:ln w="22225">
              <a:solidFill>
                <a:srgbClr val="1F3864"/>
              </a:solidFill>
            </a:ln>
          </c:spPr>
          <c:marker>
            <c:symbol val="none"/>
          </c:marker>
          <c:dLbls>
            <c:dLbl>
              <c:idx val="2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474-4467-9924-0D1D13ADE9D1}"/>
                </c:ext>
              </c:extLst>
            </c:dLbl>
            <c:dLbl>
              <c:idx val="215"/>
              <c:layout>
                <c:manualLayout>
                  <c:x val="-1.7062517062518313E-3"/>
                  <c:y val="2.52525252525252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74-4467-9924-0D1D13ADE9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216"/>
                <c:pt idx="0">
                  <c:v>2022-01-07</c:v>
                </c:pt>
                <c:pt idx="1">
                  <c:v>2022-01-14</c:v>
                </c:pt>
                <c:pt idx="2">
                  <c:v>2022-01-21</c:v>
                </c:pt>
                <c:pt idx="3">
                  <c:v>2022-01-28</c:v>
                </c:pt>
                <c:pt idx="4">
                  <c:v>2022-02-11</c:v>
                </c:pt>
                <c:pt idx="5">
                  <c:v>2022-02-18</c:v>
                </c:pt>
                <c:pt idx="6">
                  <c:v>2022-02-25</c:v>
                </c:pt>
                <c:pt idx="7">
                  <c:v>2022-03-04</c:v>
                </c:pt>
                <c:pt idx="8">
                  <c:v>2022-03-11</c:v>
                </c:pt>
                <c:pt idx="9">
                  <c:v>2022-03-18</c:v>
                </c:pt>
                <c:pt idx="10">
                  <c:v>2022-03-25</c:v>
                </c:pt>
                <c:pt idx="11">
                  <c:v>2022-04-01</c:v>
                </c:pt>
                <c:pt idx="12">
                  <c:v>2022-04-08</c:v>
                </c:pt>
                <c:pt idx="13">
                  <c:v>2022-04-15</c:v>
                </c:pt>
                <c:pt idx="14">
                  <c:v>2022-04-22</c:v>
                </c:pt>
                <c:pt idx="15">
                  <c:v>2022-04-29</c:v>
                </c:pt>
                <c:pt idx="16">
                  <c:v>2022-05-06</c:v>
                </c:pt>
                <c:pt idx="17">
                  <c:v>2022-05-13</c:v>
                </c:pt>
                <c:pt idx="18">
                  <c:v>2022-05-20</c:v>
                </c:pt>
                <c:pt idx="19">
                  <c:v>2022-05-27</c:v>
                </c:pt>
                <c:pt idx="20">
                  <c:v>2022-06-02</c:v>
                </c:pt>
                <c:pt idx="21">
                  <c:v>2022-06-10</c:v>
                </c:pt>
                <c:pt idx="22">
                  <c:v>2022-06-17</c:v>
                </c:pt>
                <c:pt idx="23">
                  <c:v>2022-06-24</c:v>
                </c:pt>
                <c:pt idx="24">
                  <c:v>2022-07-01</c:v>
                </c:pt>
                <c:pt idx="25">
                  <c:v>2022-07-08</c:v>
                </c:pt>
                <c:pt idx="26">
                  <c:v>2022-07-15</c:v>
                </c:pt>
                <c:pt idx="27">
                  <c:v>2022-07-22</c:v>
                </c:pt>
                <c:pt idx="28">
                  <c:v>2022-07-29</c:v>
                </c:pt>
                <c:pt idx="29">
                  <c:v>2022-08-05</c:v>
                </c:pt>
                <c:pt idx="30">
                  <c:v>2022-08-12</c:v>
                </c:pt>
                <c:pt idx="31">
                  <c:v>2022-08-19</c:v>
                </c:pt>
                <c:pt idx="32">
                  <c:v>2022-08-26</c:v>
                </c:pt>
                <c:pt idx="33">
                  <c:v>2022-09-02</c:v>
                </c:pt>
                <c:pt idx="34">
                  <c:v>2022-09-09</c:v>
                </c:pt>
                <c:pt idx="35">
                  <c:v>2022-09-16</c:v>
                </c:pt>
                <c:pt idx="36">
                  <c:v>2022-09-23</c:v>
                </c:pt>
                <c:pt idx="37">
                  <c:v>2022-09-30</c:v>
                </c:pt>
                <c:pt idx="38">
                  <c:v>2022-10-14</c:v>
                </c:pt>
                <c:pt idx="39">
                  <c:v>2022-10-21</c:v>
                </c:pt>
                <c:pt idx="40">
                  <c:v>2022-10-28</c:v>
                </c:pt>
                <c:pt idx="41">
                  <c:v>2022-11-04</c:v>
                </c:pt>
                <c:pt idx="42">
                  <c:v>2022-11-11</c:v>
                </c:pt>
                <c:pt idx="43">
                  <c:v>2022-11-18</c:v>
                </c:pt>
                <c:pt idx="44">
                  <c:v>2022-11-25</c:v>
                </c:pt>
                <c:pt idx="45">
                  <c:v>2022-12-02</c:v>
                </c:pt>
                <c:pt idx="46">
                  <c:v>2022-12-09</c:v>
                </c:pt>
                <c:pt idx="47">
                  <c:v>2022-12-16</c:v>
                </c:pt>
                <c:pt idx="48">
                  <c:v>2022-12-23</c:v>
                </c:pt>
                <c:pt idx="49">
                  <c:v>2022-12-30</c:v>
                </c:pt>
                <c:pt idx="50">
                  <c:v>2023-01-06</c:v>
                </c:pt>
                <c:pt idx="51">
                  <c:v>2023-01-13</c:v>
                </c:pt>
                <c:pt idx="52">
                  <c:v>2023-01-20</c:v>
                </c:pt>
                <c:pt idx="53">
                  <c:v>2023-02-03</c:v>
                </c:pt>
                <c:pt idx="54">
                  <c:v>2023-02-10</c:v>
                </c:pt>
                <c:pt idx="55">
                  <c:v>2023-02-17</c:v>
                </c:pt>
                <c:pt idx="56">
                  <c:v>2023-02-24</c:v>
                </c:pt>
                <c:pt idx="57">
                  <c:v>2023-03-03</c:v>
                </c:pt>
                <c:pt idx="58">
                  <c:v>2023-03-10</c:v>
                </c:pt>
                <c:pt idx="59">
                  <c:v>2023-03-17</c:v>
                </c:pt>
                <c:pt idx="60">
                  <c:v>2023-03-24</c:v>
                </c:pt>
                <c:pt idx="61">
                  <c:v>2023-03-31</c:v>
                </c:pt>
                <c:pt idx="62">
                  <c:v>2023-04-07</c:v>
                </c:pt>
                <c:pt idx="63">
                  <c:v>2023-04-14</c:v>
                </c:pt>
                <c:pt idx="64">
                  <c:v>2023-04-21</c:v>
                </c:pt>
                <c:pt idx="65">
                  <c:v>2023-04-28</c:v>
                </c:pt>
                <c:pt idx="66">
                  <c:v>2023-05-05</c:v>
                </c:pt>
                <c:pt idx="67">
                  <c:v>2023-05-12</c:v>
                </c:pt>
                <c:pt idx="68">
                  <c:v>2023-05-19</c:v>
                </c:pt>
                <c:pt idx="69">
                  <c:v>2023-05-26</c:v>
                </c:pt>
                <c:pt idx="70">
                  <c:v>2023-06-02</c:v>
                </c:pt>
                <c:pt idx="71">
                  <c:v>2023-06-09</c:v>
                </c:pt>
                <c:pt idx="72">
                  <c:v>2023-06-16</c:v>
                </c:pt>
                <c:pt idx="73">
                  <c:v>2023-06-21</c:v>
                </c:pt>
                <c:pt idx="74">
                  <c:v>2023-06-30</c:v>
                </c:pt>
                <c:pt idx="75">
                  <c:v>2023-07-07</c:v>
                </c:pt>
                <c:pt idx="76">
                  <c:v>2023-07-14</c:v>
                </c:pt>
                <c:pt idx="77">
                  <c:v>2023-07-21</c:v>
                </c:pt>
                <c:pt idx="78">
                  <c:v>2023-07-28</c:v>
                </c:pt>
                <c:pt idx="79">
                  <c:v>2023-08-04</c:v>
                </c:pt>
                <c:pt idx="80">
                  <c:v>2023-08-11</c:v>
                </c:pt>
                <c:pt idx="81">
                  <c:v>2023-08-18</c:v>
                </c:pt>
                <c:pt idx="82">
                  <c:v>2023-08-25</c:v>
                </c:pt>
                <c:pt idx="83">
                  <c:v>2023-09-01</c:v>
                </c:pt>
                <c:pt idx="84">
                  <c:v>2023-09-07</c:v>
                </c:pt>
                <c:pt idx="85">
                  <c:v>2023-09-15</c:v>
                </c:pt>
                <c:pt idx="86">
                  <c:v>2023-09-22</c:v>
                </c:pt>
                <c:pt idx="87">
                  <c:v>2023-09-28</c:v>
                </c:pt>
                <c:pt idx="88">
                  <c:v>2023-10-13</c:v>
                </c:pt>
                <c:pt idx="89">
                  <c:v>2023-10-20</c:v>
                </c:pt>
                <c:pt idx="90">
                  <c:v>2023-10-27</c:v>
                </c:pt>
                <c:pt idx="91">
                  <c:v>2023-11-03</c:v>
                </c:pt>
                <c:pt idx="92">
                  <c:v>2023-11-10</c:v>
                </c:pt>
                <c:pt idx="93">
                  <c:v>2023-11-17</c:v>
                </c:pt>
                <c:pt idx="94">
                  <c:v>2023-11-24</c:v>
                </c:pt>
                <c:pt idx="95">
                  <c:v>2023-12-01</c:v>
                </c:pt>
                <c:pt idx="96">
                  <c:v>2023-12-08</c:v>
                </c:pt>
                <c:pt idx="97">
                  <c:v>2023-12-15</c:v>
                </c:pt>
                <c:pt idx="98">
                  <c:v>2023-12-22</c:v>
                </c:pt>
                <c:pt idx="99">
                  <c:v>2023-12-29</c:v>
                </c:pt>
                <c:pt idx="100">
                  <c:v>2024-01-05</c:v>
                </c:pt>
                <c:pt idx="101">
                  <c:v>2024-01-12</c:v>
                </c:pt>
                <c:pt idx="102">
                  <c:v>2024-01-19</c:v>
                </c:pt>
                <c:pt idx="103">
                  <c:v>2024-01-26</c:v>
                </c:pt>
                <c:pt idx="104">
                  <c:v>2024-02-02</c:v>
                </c:pt>
                <c:pt idx="105">
                  <c:v>2024-02-08</c:v>
                </c:pt>
                <c:pt idx="106">
                  <c:v>2024-02-23</c:v>
                </c:pt>
                <c:pt idx="107">
                  <c:v>2024-03-01</c:v>
                </c:pt>
                <c:pt idx="108">
                  <c:v>2024-03-08</c:v>
                </c:pt>
                <c:pt idx="109">
                  <c:v>2024-03-15</c:v>
                </c:pt>
                <c:pt idx="110">
                  <c:v>2024-03-22</c:v>
                </c:pt>
                <c:pt idx="111">
                  <c:v>2024-03-29</c:v>
                </c:pt>
                <c:pt idx="112">
                  <c:v>2024-04-03</c:v>
                </c:pt>
                <c:pt idx="113">
                  <c:v>2024-04-12</c:v>
                </c:pt>
                <c:pt idx="114">
                  <c:v>2024-04-19</c:v>
                </c:pt>
                <c:pt idx="115">
                  <c:v>2024-04-26</c:v>
                </c:pt>
                <c:pt idx="116">
                  <c:v>2024-04-30</c:v>
                </c:pt>
                <c:pt idx="117">
                  <c:v>2024-05-10</c:v>
                </c:pt>
                <c:pt idx="118">
                  <c:v>2024-05-17</c:v>
                </c:pt>
                <c:pt idx="119">
                  <c:v>2024-05-24</c:v>
                </c:pt>
                <c:pt idx="120">
                  <c:v>2024-05-31</c:v>
                </c:pt>
                <c:pt idx="121">
                  <c:v>2024-06-07</c:v>
                </c:pt>
                <c:pt idx="122">
                  <c:v>2024-06-14</c:v>
                </c:pt>
                <c:pt idx="123">
                  <c:v>2024-06-21</c:v>
                </c:pt>
                <c:pt idx="124">
                  <c:v>2024-06-28</c:v>
                </c:pt>
                <c:pt idx="125">
                  <c:v>2024-07-05</c:v>
                </c:pt>
                <c:pt idx="126">
                  <c:v>2024-07-12</c:v>
                </c:pt>
                <c:pt idx="127">
                  <c:v>2024-07-19</c:v>
                </c:pt>
                <c:pt idx="128">
                  <c:v>2024-07-26</c:v>
                </c:pt>
                <c:pt idx="129">
                  <c:v>2024-08-02</c:v>
                </c:pt>
                <c:pt idx="130">
                  <c:v>2024-08-09</c:v>
                </c:pt>
                <c:pt idx="131">
                  <c:v>2024-08-16</c:v>
                </c:pt>
                <c:pt idx="132">
                  <c:v>2024-08-23</c:v>
                </c:pt>
                <c:pt idx="133">
                  <c:v>2024-08-30</c:v>
                </c:pt>
                <c:pt idx="134">
                  <c:v>2024-09-06</c:v>
                </c:pt>
                <c:pt idx="135">
                  <c:v>2024-09-13</c:v>
                </c:pt>
                <c:pt idx="136">
                  <c:v>2024-09-20</c:v>
                </c:pt>
                <c:pt idx="137">
                  <c:v>2024-09-27</c:v>
                </c:pt>
                <c:pt idx="138">
                  <c:v>2024-09-30</c:v>
                </c:pt>
                <c:pt idx="139">
                  <c:v>2024-10-11</c:v>
                </c:pt>
                <c:pt idx="140">
                  <c:v>2024-10-18</c:v>
                </c:pt>
                <c:pt idx="141">
                  <c:v>2024-10-25</c:v>
                </c:pt>
                <c:pt idx="142">
                  <c:v>2024-11-01</c:v>
                </c:pt>
                <c:pt idx="143">
                  <c:v>2024-11-08</c:v>
                </c:pt>
                <c:pt idx="144">
                  <c:v>2024-11-15</c:v>
                </c:pt>
                <c:pt idx="145">
                  <c:v>2024-11-22</c:v>
                </c:pt>
                <c:pt idx="146">
                  <c:v>2024-11-29</c:v>
                </c:pt>
                <c:pt idx="147">
                  <c:v>2024-12-06</c:v>
                </c:pt>
                <c:pt idx="148">
                  <c:v>2024-12-13</c:v>
                </c:pt>
                <c:pt idx="149">
                  <c:v>2024-12-20</c:v>
                </c:pt>
                <c:pt idx="150">
                  <c:v>2024-12-27</c:v>
                </c:pt>
                <c:pt idx="151">
                  <c:v>2025-01-03</c:v>
                </c:pt>
                <c:pt idx="152">
                  <c:v>2025-01-10</c:v>
                </c:pt>
                <c:pt idx="153">
                  <c:v>2025-01-17</c:v>
                </c:pt>
                <c:pt idx="154">
                  <c:v>2025-01-24</c:v>
                </c:pt>
                <c:pt idx="155">
                  <c:v>2025-01-27</c:v>
                </c:pt>
                <c:pt idx="156">
                  <c:v>2025-02-07</c:v>
                </c:pt>
                <c:pt idx="157">
                  <c:v>2025-02-14</c:v>
                </c:pt>
                <c:pt idx="158">
                  <c:v>2025-02-21</c:v>
                </c:pt>
                <c:pt idx="159">
                  <c:v>2025-02-28</c:v>
                </c:pt>
                <c:pt idx="160">
                  <c:v>2025-03-07</c:v>
                </c:pt>
                <c:pt idx="161">
                  <c:v>2025-03-14</c:v>
                </c:pt>
                <c:pt idx="162">
                  <c:v>2025-03-21</c:v>
                </c:pt>
                <c:pt idx="163">
                  <c:v>2025-03-28</c:v>
                </c:pt>
                <c:pt idx="164">
                  <c:v>2025-04-03</c:v>
                </c:pt>
                <c:pt idx="165">
                  <c:v>2025-04-11</c:v>
                </c:pt>
                <c:pt idx="166">
                  <c:v>2025-04-18</c:v>
                </c:pt>
                <c:pt idx="167">
                  <c:v>2025-04-25</c:v>
                </c:pt>
                <c:pt idx="168">
                  <c:v>2025-04-30</c:v>
                </c:pt>
                <c:pt idx="169">
                  <c:v>2025-05-09</c:v>
                </c:pt>
                <c:pt idx="170">
                  <c:v>2025-05-16</c:v>
                </c:pt>
                <c:pt idx="171">
                  <c:v>2025-05-23</c:v>
                </c:pt>
                <c:pt idx="172">
                  <c:v>2025-05-30</c:v>
                </c:pt>
                <c:pt idx="173">
                  <c:v>2025-06-06</c:v>
                </c:pt>
                <c:pt idx="174">
                  <c:v>2025-06-13</c:v>
                </c:pt>
                <c:pt idx="175">
                  <c:v>2025-06-20</c:v>
                </c:pt>
                <c:pt idx="176">
                  <c:v>2025-06-27</c:v>
                </c:pt>
                <c:pt idx="177">
                  <c:v>2025-07-04</c:v>
                </c:pt>
                <c:pt idx="178">
                  <c:v>2025-07-11</c:v>
                </c:pt>
                <c:pt idx="179">
                  <c:v>2025-07-18</c:v>
                </c:pt>
                <c:pt idx="180">
                  <c:v>2025-07-25</c:v>
                </c:pt>
                <c:pt idx="181">
                  <c:v>2025-08-01</c:v>
                </c:pt>
                <c:pt idx="182">
                  <c:v>2025-08-08</c:v>
                </c:pt>
                <c:pt idx="183">
                  <c:v>2025-08-15</c:v>
                </c:pt>
                <c:pt idx="184">
                  <c:v>2025-08-22</c:v>
                </c:pt>
                <c:pt idx="185">
                  <c:v>2025-08-29</c:v>
                </c:pt>
                <c:pt idx="186">
                  <c:v>2025-09-05</c:v>
                </c:pt>
                <c:pt idx="187">
                  <c:v>2025-09-12</c:v>
                </c:pt>
                <c:pt idx="188">
                  <c:v>2025-09-19</c:v>
                </c:pt>
                <c:pt idx="189">
                  <c:v>2025-09-26</c:v>
                </c:pt>
                <c:pt idx="190">
                  <c:v>2025-09-30</c:v>
                </c:pt>
                <c:pt idx="191">
                  <c:v>2025-10-10</c:v>
                </c:pt>
                <c:pt idx="192">
                  <c:v>2025-10-17</c:v>
                </c:pt>
                <c:pt idx="193">
                  <c:v>2025-10-24</c:v>
                </c:pt>
                <c:pt idx="194">
                  <c:v>2025-10-31</c:v>
                </c:pt>
                <c:pt idx="195">
                  <c:v>2025-11-07</c:v>
                </c:pt>
                <c:pt idx="196">
                  <c:v>2025-11-14</c:v>
                </c:pt>
                <c:pt idx="197">
                  <c:v>2025-11-21</c:v>
                </c:pt>
                <c:pt idx="198">
                  <c:v>2025-11-28</c:v>
                </c:pt>
                <c:pt idx="199">
                  <c:v>2025-12-05</c:v>
                </c:pt>
                <c:pt idx="200">
                  <c:v>2025-12-12</c:v>
                </c:pt>
                <c:pt idx="201">
                  <c:v>2025-12-19</c:v>
                </c:pt>
                <c:pt idx="202">
                  <c:v>2025-12-26</c:v>
                </c:pt>
                <c:pt idx="203">
                  <c:v>2025-12-31</c:v>
                </c:pt>
                <c:pt idx="204">
                  <c:v>2026-01-09</c:v>
                </c:pt>
                <c:pt idx="205">
                  <c:v>2026-01-16</c:v>
                </c:pt>
                <c:pt idx="206">
                  <c:v>2026-01-23</c:v>
                </c:pt>
                <c:pt idx="207">
                  <c:v>2026-01-30</c:v>
                </c:pt>
                <c:pt idx="208">
                  <c:v>2026-02-06</c:v>
                </c:pt>
                <c:pt idx="209">
                  <c:v>2026-02-13</c:v>
                </c:pt>
                <c:pt idx="210">
                  <c:v>2026-02-27</c:v>
                </c:pt>
                <c:pt idx="211">
                  <c:v>2026-03-06</c:v>
                </c:pt>
                <c:pt idx="212">
                  <c:v>2026-03-13</c:v>
                </c:pt>
                <c:pt idx="213">
                  <c:v>2026-03-20</c:v>
                </c:pt>
                <c:pt idx="214">
                  <c:v>2026-03-27</c:v>
                </c:pt>
                <c:pt idx="215">
                  <c:v>2026-03-31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216"/>
                <c:pt idx="0">
                  <c:v>23.4</c:v>
                </c:pt>
                <c:pt idx="1">
                  <c:v>23.5</c:v>
                </c:pt>
                <c:pt idx="2">
                  <c:v>22.9</c:v>
                </c:pt>
                <c:pt idx="3">
                  <c:v>22</c:v>
                </c:pt>
                <c:pt idx="4">
                  <c:v>21.2</c:v>
                </c:pt>
                <c:pt idx="5">
                  <c:v>21.9</c:v>
                </c:pt>
                <c:pt idx="6">
                  <c:v>22.4</c:v>
                </c:pt>
                <c:pt idx="7">
                  <c:v>21.6</c:v>
                </c:pt>
                <c:pt idx="8">
                  <c:v>21.2</c:v>
                </c:pt>
                <c:pt idx="9">
                  <c:v>20.100000000000001</c:v>
                </c:pt>
                <c:pt idx="10">
                  <c:v>19.7</c:v>
                </c:pt>
                <c:pt idx="11">
                  <c:v>19.7</c:v>
                </c:pt>
                <c:pt idx="12">
                  <c:v>18.8</c:v>
                </c:pt>
                <c:pt idx="13">
                  <c:v>17.8</c:v>
                </c:pt>
                <c:pt idx="14">
                  <c:v>17</c:v>
                </c:pt>
                <c:pt idx="15">
                  <c:v>17.399999999999999</c:v>
                </c:pt>
                <c:pt idx="16">
                  <c:v>17.2</c:v>
                </c:pt>
                <c:pt idx="17">
                  <c:v>18.3</c:v>
                </c:pt>
                <c:pt idx="18">
                  <c:v>19.3</c:v>
                </c:pt>
                <c:pt idx="19">
                  <c:v>19</c:v>
                </c:pt>
                <c:pt idx="20">
                  <c:v>20.3</c:v>
                </c:pt>
                <c:pt idx="21">
                  <c:v>20.3</c:v>
                </c:pt>
                <c:pt idx="22">
                  <c:v>20.9</c:v>
                </c:pt>
                <c:pt idx="23">
                  <c:v>21.7</c:v>
                </c:pt>
                <c:pt idx="24">
                  <c:v>21.4</c:v>
                </c:pt>
                <c:pt idx="25">
                  <c:v>22.3</c:v>
                </c:pt>
                <c:pt idx="26">
                  <c:v>23.1</c:v>
                </c:pt>
                <c:pt idx="27">
                  <c:v>23.3</c:v>
                </c:pt>
                <c:pt idx="28">
                  <c:v>23.1</c:v>
                </c:pt>
                <c:pt idx="29">
                  <c:v>22.3</c:v>
                </c:pt>
                <c:pt idx="30">
                  <c:v>22.4</c:v>
                </c:pt>
                <c:pt idx="31">
                  <c:v>23.5</c:v>
                </c:pt>
                <c:pt idx="32">
                  <c:v>22.5</c:v>
                </c:pt>
                <c:pt idx="33">
                  <c:v>20.9</c:v>
                </c:pt>
                <c:pt idx="34">
                  <c:v>21.5</c:v>
                </c:pt>
                <c:pt idx="35">
                  <c:v>19.7</c:v>
                </c:pt>
                <c:pt idx="36">
                  <c:v>19.600000000000001</c:v>
                </c:pt>
                <c:pt idx="37">
                  <c:v>18.899999999999999</c:v>
                </c:pt>
                <c:pt idx="38">
                  <c:v>20.2</c:v>
                </c:pt>
                <c:pt idx="39">
                  <c:v>20.399999999999999</c:v>
                </c:pt>
                <c:pt idx="40">
                  <c:v>19.2</c:v>
                </c:pt>
                <c:pt idx="41">
                  <c:v>20.9</c:v>
                </c:pt>
                <c:pt idx="42">
                  <c:v>20.6</c:v>
                </c:pt>
                <c:pt idx="43">
                  <c:v>20.6</c:v>
                </c:pt>
                <c:pt idx="44">
                  <c:v>20.5</c:v>
                </c:pt>
                <c:pt idx="45">
                  <c:v>20.7</c:v>
                </c:pt>
                <c:pt idx="46">
                  <c:v>20.2</c:v>
                </c:pt>
                <c:pt idx="47">
                  <c:v>19.7</c:v>
                </c:pt>
                <c:pt idx="48">
                  <c:v>18.5</c:v>
                </c:pt>
                <c:pt idx="49">
                  <c:v>19.3</c:v>
                </c:pt>
                <c:pt idx="50">
                  <c:v>20.100000000000001</c:v>
                </c:pt>
                <c:pt idx="51">
                  <c:v>20.3</c:v>
                </c:pt>
                <c:pt idx="52">
                  <c:v>21</c:v>
                </c:pt>
                <c:pt idx="53">
                  <c:v>21</c:v>
                </c:pt>
                <c:pt idx="54">
                  <c:v>21.2</c:v>
                </c:pt>
                <c:pt idx="55">
                  <c:v>20.9</c:v>
                </c:pt>
                <c:pt idx="56">
                  <c:v>21.2</c:v>
                </c:pt>
                <c:pt idx="57">
                  <c:v>21.2</c:v>
                </c:pt>
                <c:pt idx="58">
                  <c:v>20.6</c:v>
                </c:pt>
                <c:pt idx="59">
                  <c:v>20.399999999999999</c:v>
                </c:pt>
                <c:pt idx="60">
                  <c:v>20.7</c:v>
                </c:pt>
                <c:pt idx="61">
                  <c:v>20.5</c:v>
                </c:pt>
                <c:pt idx="62">
                  <c:v>20.2</c:v>
                </c:pt>
                <c:pt idx="63">
                  <c:v>20.100000000000001</c:v>
                </c:pt>
                <c:pt idx="64">
                  <c:v>19.8</c:v>
                </c:pt>
                <c:pt idx="65">
                  <c:v>20.100000000000001</c:v>
                </c:pt>
                <c:pt idx="66">
                  <c:v>20.100000000000001</c:v>
                </c:pt>
                <c:pt idx="67">
                  <c:v>20.399999999999999</c:v>
                </c:pt>
                <c:pt idx="68">
                  <c:v>21.2</c:v>
                </c:pt>
                <c:pt idx="69">
                  <c:v>20.9</c:v>
                </c:pt>
                <c:pt idx="70">
                  <c:v>20.8</c:v>
                </c:pt>
                <c:pt idx="71">
                  <c:v>20.399999999999999</c:v>
                </c:pt>
                <c:pt idx="72">
                  <c:v>21</c:v>
                </c:pt>
                <c:pt idx="73">
                  <c:v>20.6</c:v>
                </c:pt>
                <c:pt idx="74">
                  <c:v>21.1</c:v>
                </c:pt>
                <c:pt idx="75">
                  <c:v>21</c:v>
                </c:pt>
                <c:pt idx="76">
                  <c:v>21.3</c:v>
                </c:pt>
                <c:pt idx="77">
                  <c:v>20.8</c:v>
                </c:pt>
                <c:pt idx="78">
                  <c:v>20.7</c:v>
                </c:pt>
                <c:pt idx="79">
                  <c:v>21</c:v>
                </c:pt>
                <c:pt idx="80">
                  <c:v>20.399999999999999</c:v>
                </c:pt>
                <c:pt idx="81">
                  <c:v>19.8</c:v>
                </c:pt>
                <c:pt idx="82">
                  <c:v>19</c:v>
                </c:pt>
                <c:pt idx="83">
                  <c:v>19.7</c:v>
                </c:pt>
                <c:pt idx="84">
                  <c:v>19.5</c:v>
                </c:pt>
                <c:pt idx="85">
                  <c:v>19.2</c:v>
                </c:pt>
                <c:pt idx="86">
                  <c:v>19.2</c:v>
                </c:pt>
                <c:pt idx="87">
                  <c:v>19.5</c:v>
                </c:pt>
                <c:pt idx="88">
                  <c:v>19.399999999999999</c:v>
                </c:pt>
                <c:pt idx="89">
                  <c:v>18.8</c:v>
                </c:pt>
                <c:pt idx="90">
                  <c:v>19</c:v>
                </c:pt>
                <c:pt idx="91">
                  <c:v>19</c:v>
                </c:pt>
                <c:pt idx="92">
                  <c:v>19.2</c:v>
                </c:pt>
                <c:pt idx="93">
                  <c:v>19.399999999999999</c:v>
                </c:pt>
                <c:pt idx="94">
                  <c:v>19</c:v>
                </c:pt>
                <c:pt idx="95">
                  <c:v>19.2</c:v>
                </c:pt>
                <c:pt idx="96">
                  <c:v>18.7</c:v>
                </c:pt>
                <c:pt idx="97">
                  <c:v>18.7</c:v>
                </c:pt>
                <c:pt idx="98">
                  <c:v>18.600000000000001</c:v>
                </c:pt>
                <c:pt idx="99">
                  <c:v>19.399999999999999</c:v>
                </c:pt>
                <c:pt idx="100">
                  <c:v>19.2</c:v>
                </c:pt>
                <c:pt idx="101">
                  <c:v>19.3</c:v>
                </c:pt>
                <c:pt idx="102">
                  <c:v>18.600000000000001</c:v>
                </c:pt>
                <c:pt idx="103">
                  <c:v>18.399999999999999</c:v>
                </c:pt>
                <c:pt idx="104">
                  <c:v>16.5</c:v>
                </c:pt>
                <c:pt idx="105">
                  <c:v>17.5</c:v>
                </c:pt>
                <c:pt idx="106">
                  <c:v>18.100000000000001</c:v>
                </c:pt>
                <c:pt idx="107">
                  <c:v>18.899999999999999</c:v>
                </c:pt>
                <c:pt idx="108">
                  <c:v>19.7</c:v>
                </c:pt>
                <c:pt idx="109">
                  <c:v>19.899999999999999</c:v>
                </c:pt>
                <c:pt idx="110">
                  <c:v>19.8</c:v>
                </c:pt>
                <c:pt idx="111">
                  <c:v>19.600000000000001</c:v>
                </c:pt>
                <c:pt idx="112">
                  <c:v>19.600000000000001</c:v>
                </c:pt>
                <c:pt idx="113">
                  <c:v>19.8</c:v>
                </c:pt>
                <c:pt idx="114">
                  <c:v>19.8</c:v>
                </c:pt>
                <c:pt idx="115">
                  <c:v>19.600000000000001</c:v>
                </c:pt>
                <c:pt idx="116">
                  <c:v>19.8</c:v>
                </c:pt>
                <c:pt idx="117">
                  <c:v>20.7</c:v>
                </c:pt>
                <c:pt idx="118">
                  <c:v>20.5</c:v>
                </c:pt>
                <c:pt idx="119">
                  <c:v>20.3</c:v>
                </c:pt>
                <c:pt idx="120">
                  <c:v>20.6</c:v>
                </c:pt>
                <c:pt idx="121">
                  <c:v>20.2</c:v>
                </c:pt>
                <c:pt idx="122">
                  <c:v>20.5</c:v>
                </c:pt>
                <c:pt idx="123">
                  <c:v>20.100000000000001</c:v>
                </c:pt>
                <c:pt idx="124">
                  <c:v>20.2</c:v>
                </c:pt>
                <c:pt idx="125">
                  <c:v>19.399999999999999</c:v>
                </c:pt>
                <c:pt idx="126">
                  <c:v>19.399999999999999</c:v>
                </c:pt>
                <c:pt idx="127">
                  <c:v>19</c:v>
                </c:pt>
                <c:pt idx="128">
                  <c:v>19.100000000000001</c:v>
                </c:pt>
                <c:pt idx="129">
                  <c:v>19</c:v>
                </c:pt>
                <c:pt idx="130">
                  <c:v>19</c:v>
                </c:pt>
                <c:pt idx="131">
                  <c:v>18.7</c:v>
                </c:pt>
                <c:pt idx="132">
                  <c:v>18.2</c:v>
                </c:pt>
                <c:pt idx="133">
                  <c:v>18.7</c:v>
                </c:pt>
                <c:pt idx="134">
                  <c:v>18.600000000000001</c:v>
                </c:pt>
                <c:pt idx="135">
                  <c:v>18.600000000000001</c:v>
                </c:pt>
                <c:pt idx="136">
                  <c:v>18.899999999999999</c:v>
                </c:pt>
                <c:pt idx="137">
                  <c:v>20.3</c:v>
                </c:pt>
                <c:pt idx="138">
                  <c:v>22</c:v>
                </c:pt>
                <c:pt idx="139">
                  <c:v>21</c:v>
                </c:pt>
                <c:pt idx="140">
                  <c:v>21.1</c:v>
                </c:pt>
                <c:pt idx="141">
                  <c:v>21.8</c:v>
                </c:pt>
                <c:pt idx="142">
                  <c:v>21.5</c:v>
                </c:pt>
                <c:pt idx="143">
                  <c:v>22.5</c:v>
                </c:pt>
                <c:pt idx="144">
                  <c:v>21.6</c:v>
                </c:pt>
                <c:pt idx="145">
                  <c:v>21.5</c:v>
                </c:pt>
                <c:pt idx="146">
                  <c:v>21.6</c:v>
                </c:pt>
                <c:pt idx="147">
                  <c:v>21.8</c:v>
                </c:pt>
                <c:pt idx="148">
                  <c:v>21.6</c:v>
                </c:pt>
                <c:pt idx="149">
                  <c:v>21.6</c:v>
                </c:pt>
                <c:pt idx="150">
                  <c:v>21.8</c:v>
                </c:pt>
                <c:pt idx="151">
                  <c:v>20.2</c:v>
                </c:pt>
                <c:pt idx="152">
                  <c:v>20.100000000000001</c:v>
                </c:pt>
                <c:pt idx="153">
                  <c:v>20.6</c:v>
                </c:pt>
                <c:pt idx="154">
                  <c:v>21.2</c:v>
                </c:pt>
                <c:pt idx="155">
                  <c:v>20.9</c:v>
                </c:pt>
                <c:pt idx="156">
                  <c:v>21.1</c:v>
                </c:pt>
                <c:pt idx="157">
                  <c:v>21.1</c:v>
                </c:pt>
                <c:pt idx="158">
                  <c:v>21.5</c:v>
                </c:pt>
                <c:pt idx="159">
                  <c:v>21.2</c:v>
                </c:pt>
                <c:pt idx="160">
                  <c:v>21.5</c:v>
                </c:pt>
                <c:pt idx="161">
                  <c:v>22</c:v>
                </c:pt>
                <c:pt idx="162">
                  <c:v>21.9</c:v>
                </c:pt>
                <c:pt idx="163">
                  <c:v>21.6</c:v>
                </c:pt>
                <c:pt idx="164">
                  <c:v>21.4</c:v>
                </c:pt>
                <c:pt idx="165">
                  <c:v>20.2</c:v>
                </c:pt>
                <c:pt idx="166">
                  <c:v>20.100000000000001</c:v>
                </c:pt>
                <c:pt idx="167">
                  <c:v>20.399999999999999</c:v>
                </c:pt>
                <c:pt idx="168">
                  <c:v>20.2</c:v>
                </c:pt>
                <c:pt idx="169">
                  <c:v>20.8</c:v>
                </c:pt>
                <c:pt idx="170">
                  <c:v>20.8</c:v>
                </c:pt>
                <c:pt idx="171">
                  <c:v>20.7</c:v>
                </c:pt>
                <c:pt idx="172">
                  <c:v>20.6</c:v>
                </c:pt>
                <c:pt idx="173">
                  <c:v>21</c:v>
                </c:pt>
                <c:pt idx="174">
                  <c:v>20.8</c:v>
                </c:pt>
                <c:pt idx="175">
                  <c:v>20.399999999999999</c:v>
                </c:pt>
                <c:pt idx="176">
                  <c:v>21.1</c:v>
                </c:pt>
                <c:pt idx="177">
                  <c:v>21.2</c:v>
                </c:pt>
                <c:pt idx="178">
                  <c:v>21.5</c:v>
                </c:pt>
                <c:pt idx="179">
                  <c:v>21.7</c:v>
                </c:pt>
                <c:pt idx="180">
                  <c:v>22.3</c:v>
                </c:pt>
                <c:pt idx="181">
                  <c:v>22</c:v>
                </c:pt>
                <c:pt idx="182">
                  <c:v>22.7</c:v>
                </c:pt>
                <c:pt idx="183">
                  <c:v>23.2</c:v>
                </c:pt>
                <c:pt idx="184">
                  <c:v>23.5</c:v>
                </c:pt>
                <c:pt idx="185">
                  <c:v>23.6</c:v>
                </c:pt>
                <c:pt idx="186">
                  <c:v>23.8</c:v>
                </c:pt>
                <c:pt idx="187">
                  <c:v>24.1</c:v>
                </c:pt>
                <c:pt idx="188">
                  <c:v>24.6</c:v>
                </c:pt>
                <c:pt idx="189">
                  <c:v>25</c:v>
                </c:pt>
                <c:pt idx="190">
                  <c:v>25.7</c:v>
                </c:pt>
                <c:pt idx="191">
                  <c:v>26.8</c:v>
                </c:pt>
                <c:pt idx="192">
                  <c:v>25.6</c:v>
                </c:pt>
                <c:pt idx="193">
                  <c:v>26.5</c:v>
                </c:pt>
                <c:pt idx="194">
                  <c:v>27.2</c:v>
                </c:pt>
                <c:pt idx="195">
                  <c:v>30.6</c:v>
                </c:pt>
                <c:pt idx="196">
                  <c:v>29.2</c:v>
                </c:pt>
                <c:pt idx="197">
                  <c:v>26.3</c:v>
                </c:pt>
                <c:pt idx="198">
                  <c:v>27.2</c:v>
                </c:pt>
                <c:pt idx="199">
                  <c:v>27.8</c:v>
                </c:pt>
                <c:pt idx="200">
                  <c:v>28.8</c:v>
                </c:pt>
                <c:pt idx="201">
                  <c:v>28</c:v>
                </c:pt>
                <c:pt idx="202">
                  <c:v>29.2</c:v>
                </c:pt>
                <c:pt idx="203">
                  <c:v>28.6</c:v>
                </c:pt>
                <c:pt idx="204">
                  <c:v>30.6</c:v>
                </c:pt>
                <c:pt idx="205">
                  <c:v>32.6</c:v>
                </c:pt>
                <c:pt idx="206">
                  <c:v>34.200000000000003</c:v>
                </c:pt>
                <c:pt idx="207">
                  <c:v>32.299999999999997</c:v>
                </c:pt>
                <c:pt idx="208">
                  <c:v>33</c:v>
                </c:pt>
                <c:pt idx="209">
                  <c:v>34.200000000000003</c:v>
                </c:pt>
                <c:pt idx="210">
                  <c:v>36.299999999999997</c:v>
                </c:pt>
                <c:pt idx="211">
                  <c:v>38.700000000000003</c:v>
                </c:pt>
                <c:pt idx="212">
                  <c:v>37.200000000000003</c:v>
                </c:pt>
                <c:pt idx="213">
                  <c:v>34.4</c:v>
                </c:pt>
                <c:pt idx="214">
                  <c:v>34.6</c:v>
                </c:pt>
                <c:pt idx="215">
                  <c:v>33.5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F6-FC42-821B-ED3921BAE5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+1σ (25.5x)</c:v>
                </c:pt>
              </c:strCache>
            </c:strRef>
          </c:tx>
          <c:spPr>
            <a:ln w="12700">
              <a:prstDash val="dash"/>
            </a:ln>
          </c:spPr>
          <c:marker>
            <c:symbol val="none"/>
          </c:marker>
          <c:dLbls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DFF-4F86-BDE1-C95FA5D343F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216"/>
                <c:pt idx="0">
                  <c:v>2022-01-07</c:v>
                </c:pt>
                <c:pt idx="1">
                  <c:v>2022-01-14</c:v>
                </c:pt>
                <c:pt idx="2">
                  <c:v>2022-01-21</c:v>
                </c:pt>
                <c:pt idx="3">
                  <c:v>2022-01-28</c:v>
                </c:pt>
                <c:pt idx="4">
                  <c:v>2022-02-11</c:v>
                </c:pt>
                <c:pt idx="5">
                  <c:v>2022-02-18</c:v>
                </c:pt>
                <c:pt idx="6">
                  <c:v>2022-02-25</c:v>
                </c:pt>
                <c:pt idx="7">
                  <c:v>2022-03-04</c:v>
                </c:pt>
                <c:pt idx="8">
                  <c:v>2022-03-11</c:v>
                </c:pt>
                <c:pt idx="9">
                  <c:v>2022-03-18</c:v>
                </c:pt>
                <c:pt idx="10">
                  <c:v>2022-03-25</c:v>
                </c:pt>
                <c:pt idx="11">
                  <c:v>2022-04-01</c:v>
                </c:pt>
                <c:pt idx="12">
                  <c:v>2022-04-08</c:v>
                </c:pt>
                <c:pt idx="13">
                  <c:v>2022-04-15</c:v>
                </c:pt>
                <c:pt idx="14">
                  <c:v>2022-04-22</c:v>
                </c:pt>
                <c:pt idx="15">
                  <c:v>2022-04-29</c:v>
                </c:pt>
                <c:pt idx="16">
                  <c:v>2022-05-06</c:v>
                </c:pt>
                <c:pt idx="17">
                  <c:v>2022-05-13</c:v>
                </c:pt>
                <c:pt idx="18">
                  <c:v>2022-05-20</c:v>
                </c:pt>
                <c:pt idx="19">
                  <c:v>2022-05-27</c:v>
                </c:pt>
                <c:pt idx="20">
                  <c:v>2022-06-02</c:v>
                </c:pt>
                <c:pt idx="21">
                  <c:v>2022-06-10</c:v>
                </c:pt>
                <c:pt idx="22">
                  <c:v>2022-06-17</c:v>
                </c:pt>
                <c:pt idx="23">
                  <c:v>2022-06-24</c:v>
                </c:pt>
                <c:pt idx="24">
                  <c:v>2022-07-01</c:v>
                </c:pt>
                <c:pt idx="25">
                  <c:v>2022-07-08</c:v>
                </c:pt>
                <c:pt idx="26">
                  <c:v>2022-07-15</c:v>
                </c:pt>
                <c:pt idx="27">
                  <c:v>2022-07-22</c:v>
                </c:pt>
                <c:pt idx="28">
                  <c:v>2022-07-29</c:v>
                </c:pt>
                <c:pt idx="29">
                  <c:v>2022-08-05</c:v>
                </c:pt>
                <c:pt idx="30">
                  <c:v>2022-08-12</c:v>
                </c:pt>
                <c:pt idx="31">
                  <c:v>2022-08-19</c:v>
                </c:pt>
                <c:pt idx="32">
                  <c:v>2022-08-26</c:v>
                </c:pt>
                <c:pt idx="33">
                  <c:v>2022-09-02</c:v>
                </c:pt>
                <c:pt idx="34">
                  <c:v>2022-09-09</c:v>
                </c:pt>
                <c:pt idx="35">
                  <c:v>2022-09-16</c:v>
                </c:pt>
                <c:pt idx="36">
                  <c:v>2022-09-23</c:v>
                </c:pt>
                <c:pt idx="37">
                  <c:v>2022-09-30</c:v>
                </c:pt>
                <c:pt idx="38">
                  <c:v>2022-10-14</c:v>
                </c:pt>
                <c:pt idx="39">
                  <c:v>2022-10-21</c:v>
                </c:pt>
                <c:pt idx="40">
                  <c:v>2022-10-28</c:v>
                </c:pt>
                <c:pt idx="41">
                  <c:v>2022-11-04</c:v>
                </c:pt>
                <c:pt idx="42">
                  <c:v>2022-11-11</c:v>
                </c:pt>
                <c:pt idx="43">
                  <c:v>2022-11-18</c:v>
                </c:pt>
                <c:pt idx="44">
                  <c:v>2022-11-25</c:v>
                </c:pt>
                <c:pt idx="45">
                  <c:v>2022-12-02</c:v>
                </c:pt>
                <c:pt idx="46">
                  <c:v>2022-12-09</c:v>
                </c:pt>
                <c:pt idx="47">
                  <c:v>2022-12-16</c:v>
                </c:pt>
                <c:pt idx="48">
                  <c:v>2022-12-23</c:v>
                </c:pt>
                <c:pt idx="49">
                  <c:v>2022-12-30</c:v>
                </c:pt>
                <c:pt idx="50">
                  <c:v>2023-01-06</c:v>
                </c:pt>
                <c:pt idx="51">
                  <c:v>2023-01-13</c:v>
                </c:pt>
                <c:pt idx="52">
                  <c:v>2023-01-20</c:v>
                </c:pt>
                <c:pt idx="53">
                  <c:v>2023-02-03</c:v>
                </c:pt>
                <c:pt idx="54">
                  <c:v>2023-02-10</c:v>
                </c:pt>
                <c:pt idx="55">
                  <c:v>2023-02-17</c:v>
                </c:pt>
                <c:pt idx="56">
                  <c:v>2023-02-24</c:v>
                </c:pt>
                <c:pt idx="57">
                  <c:v>2023-03-03</c:v>
                </c:pt>
                <c:pt idx="58">
                  <c:v>2023-03-10</c:v>
                </c:pt>
                <c:pt idx="59">
                  <c:v>2023-03-17</c:v>
                </c:pt>
                <c:pt idx="60">
                  <c:v>2023-03-24</c:v>
                </c:pt>
                <c:pt idx="61">
                  <c:v>2023-03-31</c:v>
                </c:pt>
                <c:pt idx="62">
                  <c:v>2023-04-07</c:v>
                </c:pt>
                <c:pt idx="63">
                  <c:v>2023-04-14</c:v>
                </c:pt>
                <c:pt idx="64">
                  <c:v>2023-04-21</c:v>
                </c:pt>
                <c:pt idx="65">
                  <c:v>2023-04-28</c:v>
                </c:pt>
                <c:pt idx="66">
                  <c:v>2023-05-05</c:v>
                </c:pt>
                <c:pt idx="67">
                  <c:v>2023-05-12</c:v>
                </c:pt>
                <c:pt idx="68">
                  <c:v>2023-05-19</c:v>
                </c:pt>
                <c:pt idx="69">
                  <c:v>2023-05-26</c:v>
                </c:pt>
                <c:pt idx="70">
                  <c:v>2023-06-02</c:v>
                </c:pt>
                <c:pt idx="71">
                  <c:v>2023-06-09</c:v>
                </c:pt>
                <c:pt idx="72">
                  <c:v>2023-06-16</c:v>
                </c:pt>
                <c:pt idx="73">
                  <c:v>2023-06-21</c:v>
                </c:pt>
                <c:pt idx="74">
                  <c:v>2023-06-30</c:v>
                </c:pt>
                <c:pt idx="75">
                  <c:v>2023-07-07</c:v>
                </c:pt>
                <c:pt idx="76">
                  <c:v>2023-07-14</c:v>
                </c:pt>
                <c:pt idx="77">
                  <c:v>2023-07-21</c:v>
                </c:pt>
                <c:pt idx="78">
                  <c:v>2023-07-28</c:v>
                </c:pt>
                <c:pt idx="79">
                  <c:v>2023-08-04</c:v>
                </c:pt>
                <c:pt idx="80">
                  <c:v>2023-08-11</c:v>
                </c:pt>
                <c:pt idx="81">
                  <c:v>2023-08-18</c:v>
                </c:pt>
                <c:pt idx="82">
                  <c:v>2023-08-25</c:v>
                </c:pt>
                <c:pt idx="83">
                  <c:v>2023-09-01</c:v>
                </c:pt>
                <c:pt idx="84">
                  <c:v>2023-09-07</c:v>
                </c:pt>
                <c:pt idx="85">
                  <c:v>2023-09-15</c:v>
                </c:pt>
                <c:pt idx="86">
                  <c:v>2023-09-22</c:v>
                </c:pt>
                <c:pt idx="87">
                  <c:v>2023-09-28</c:v>
                </c:pt>
                <c:pt idx="88">
                  <c:v>2023-10-13</c:v>
                </c:pt>
                <c:pt idx="89">
                  <c:v>2023-10-20</c:v>
                </c:pt>
                <c:pt idx="90">
                  <c:v>2023-10-27</c:v>
                </c:pt>
                <c:pt idx="91">
                  <c:v>2023-11-03</c:v>
                </c:pt>
                <c:pt idx="92">
                  <c:v>2023-11-10</c:v>
                </c:pt>
                <c:pt idx="93">
                  <c:v>2023-11-17</c:v>
                </c:pt>
                <c:pt idx="94">
                  <c:v>2023-11-24</c:v>
                </c:pt>
                <c:pt idx="95">
                  <c:v>2023-12-01</c:v>
                </c:pt>
                <c:pt idx="96">
                  <c:v>2023-12-08</c:v>
                </c:pt>
                <c:pt idx="97">
                  <c:v>2023-12-15</c:v>
                </c:pt>
                <c:pt idx="98">
                  <c:v>2023-12-22</c:v>
                </c:pt>
                <c:pt idx="99">
                  <c:v>2023-12-29</c:v>
                </c:pt>
                <c:pt idx="100">
                  <c:v>2024-01-05</c:v>
                </c:pt>
                <c:pt idx="101">
                  <c:v>2024-01-12</c:v>
                </c:pt>
                <c:pt idx="102">
                  <c:v>2024-01-19</c:v>
                </c:pt>
                <c:pt idx="103">
                  <c:v>2024-01-26</c:v>
                </c:pt>
                <c:pt idx="104">
                  <c:v>2024-02-02</c:v>
                </c:pt>
                <c:pt idx="105">
                  <c:v>2024-02-08</c:v>
                </c:pt>
                <c:pt idx="106">
                  <c:v>2024-02-23</c:v>
                </c:pt>
                <c:pt idx="107">
                  <c:v>2024-03-01</c:v>
                </c:pt>
                <c:pt idx="108">
                  <c:v>2024-03-08</c:v>
                </c:pt>
                <c:pt idx="109">
                  <c:v>2024-03-15</c:v>
                </c:pt>
                <c:pt idx="110">
                  <c:v>2024-03-22</c:v>
                </c:pt>
                <c:pt idx="111">
                  <c:v>2024-03-29</c:v>
                </c:pt>
                <c:pt idx="112">
                  <c:v>2024-04-03</c:v>
                </c:pt>
                <c:pt idx="113">
                  <c:v>2024-04-12</c:v>
                </c:pt>
                <c:pt idx="114">
                  <c:v>2024-04-19</c:v>
                </c:pt>
                <c:pt idx="115">
                  <c:v>2024-04-26</c:v>
                </c:pt>
                <c:pt idx="116">
                  <c:v>2024-04-30</c:v>
                </c:pt>
                <c:pt idx="117">
                  <c:v>2024-05-10</c:v>
                </c:pt>
                <c:pt idx="118">
                  <c:v>2024-05-17</c:v>
                </c:pt>
                <c:pt idx="119">
                  <c:v>2024-05-24</c:v>
                </c:pt>
                <c:pt idx="120">
                  <c:v>2024-05-31</c:v>
                </c:pt>
                <c:pt idx="121">
                  <c:v>2024-06-07</c:v>
                </c:pt>
                <c:pt idx="122">
                  <c:v>2024-06-14</c:v>
                </c:pt>
                <c:pt idx="123">
                  <c:v>2024-06-21</c:v>
                </c:pt>
                <c:pt idx="124">
                  <c:v>2024-06-28</c:v>
                </c:pt>
                <c:pt idx="125">
                  <c:v>2024-07-05</c:v>
                </c:pt>
                <c:pt idx="126">
                  <c:v>2024-07-12</c:v>
                </c:pt>
                <c:pt idx="127">
                  <c:v>2024-07-19</c:v>
                </c:pt>
                <c:pt idx="128">
                  <c:v>2024-07-26</c:v>
                </c:pt>
                <c:pt idx="129">
                  <c:v>2024-08-02</c:v>
                </c:pt>
                <c:pt idx="130">
                  <c:v>2024-08-09</c:v>
                </c:pt>
                <c:pt idx="131">
                  <c:v>2024-08-16</c:v>
                </c:pt>
                <c:pt idx="132">
                  <c:v>2024-08-23</c:v>
                </c:pt>
                <c:pt idx="133">
                  <c:v>2024-08-30</c:v>
                </c:pt>
                <c:pt idx="134">
                  <c:v>2024-09-06</c:v>
                </c:pt>
                <c:pt idx="135">
                  <c:v>2024-09-13</c:v>
                </c:pt>
                <c:pt idx="136">
                  <c:v>2024-09-20</c:v>
                </c:pt>
                <c:pt idx="137">
                  <c:v>2024-09-27</c:v>
                </c:pt>
                <c:pt idx="138">
                  <c:v>2024-09-30</c:v>
                </c:pt>
                <c:pt idx="139">
                  <c:v>2024-10-11</c:v>
                </c:pt>
                <c:pt idx="140">
                  <c:v>2024-10-18</c:v>
                </c:pt>
                <c:pt idx="141">
                  <c:v>2024-10-25</c:v>
                </c:pt>
                <c:pt idx="142">
                  <c:v>2024-11-01</c:v>
                </c:pt>
                <c:pt idx="143">
                  <c:v>2024-11-08</c:v>
                </c:pt>
                <c:pt idx="144">
                  <c:v>2024-11-15</c:v>
                </c:pt>
                <c:pt idx="145">
                  <c:v>2024-11-22</c:v>
                </c:pt>
                <c:pt idx="146">
                  <c:v>2024-11-29</c:v>
                </c:pt>
                <c:pt idx="147">
                  <c:v>2024-12-06</c:v>
                </c:pt>
                <c:pt idx="148">
                  <c:v>2024-12-13</c:v>
                </c:pt>
                <c:pt idx="149">
                  <c:v>2024-12-20</c:v>
                </c:pt>
                <c:pt idx="150">
                  <c:v>2024-12-27</c:v>
                </c:pt>
                <c:pt idx="151">
                  <c:v>2025-01-03</c:v>
                </c:pt>
                <c:pt idx="152">
                  <c:v>2025-01-10</c:v>
                </c:pt>
                <c:pt idx="153">
                  <c:v>2025-01-17</c:v>
                </c:pt>
                <c:pt idx="154">
                  <c:v>2025-01-24</c:v>
                </c:pt>
                <c:pt idx="155">
                  <c:v>2025-01-27</c:v>
                </c:pt>
                <c:pt idx="156">
                  <c:v>2025-02-07</c:v>
                </c:pt>
                <c:pt idx="157">
                  <c:v>2025-02-14</c:v>
                </c:pt>
                <c:pt idx="158">
                  <c:v>2025-02-21</c:v>
                </c:pt>
                <c:pt idx="159">
                  <c:v>2025-02-28</c:v>
                </c:pt>
                <c:pt idx="160">
                  <c:v>2025-03-07</c:v>
                </c:pt>
                <c:pt idx="161">
                  <c:v>2025-03-14</c:v>
                </c:pt>
                <c:pt idx="162">
                  <c:v>2025-03-21</c:v>
                </c:pt>
                <c:pt idx="163">
                  <c:v>2025-03-28</c:v>
                </c:pt>
                <c:pt idx="164">
                  <c:v>2025-04-03</c:v>
                </c:pt>
                <c:pt idx="165">
                  <c:v>2025-04-11</c:v>
                </c:pt>
                <c:pt idx="166">
                  <c:v>2025-04-18</c:v>
                </c:pt>
                <c:pt idx="167">
                  <c:v>2025-04-25</c:v>
                </c:pt>
                <c:pt idx="168">
                  <c:v>2025-04-30</c:v>
                </c:pt>
                <c:pt idx="169">
                  <c:v>2025-05-09</c:v>
                </c:pt>
                <c:pt idx="170">
                  <c:v>2025-05-16</c:v>
                </c:pt>
                <c:pt idx="171">
                  <c:v>2025-05-23</c:v>
                </c:pt>
                <c:pt idx="172">
                  <c:v>2025-05-30</c:v>
                </c:pt>
                <c:pt idx="173">
                  <c:v>2025-06-06</c:v>
                </c:pt>
                <c:pt idx="174">
                  <c:v>2025-06-13</c:v>
                </c:pt>
                <c:pt idx="175">
                  <c:v>2025-06-20</c:v>
                </c:pt>
                <c:pt idx="176">
                  <c:v>2025-06-27</c:v>
                </c:pt>
                <c:pt idx="177">
                  <c:v>2025-07-04</c:v>
                </c:pt>
                <c:pt idx="178">
                  <c:v>2025-07-11</c:v>
                </c:pt>
                <c:pt idx="179">
                  <c:v>2025-07-18</c:v>
                </c:pt>
                <c:pt idx="180">
                  <c:v>2025-07-25</c:v>
                </c:pt>
                <c:pt idx="181">
                  <c:v>2025-08-01</c:v>
                </c:pt>
                <c:pt idx="182">
                  <c:v>2025-08-08</c:v>
                </c:pt>
                <c:pt idx="183">
                  <c:v>2025-08-15</c:v>
                </c:pt>
                <c:pt idx="184">
                  <c:v>2025-08-22</c:v>
                </c:pt>
                <c:pt idx="185">
                  <c:v>2025-08-29</c:v>
                </c:pt>
                <c:pt idx="186">
                  <c:v>2025-09-05</c:v>
                </c:pt>
                <c:pt idx="187">
                  <c:v>2025-09-12</c:v>
                </c:pt>
                <c:pt idx="188">
                  <c:v>2025-09-19</c:v>
                </c:pt>
                <c:pt idx="189">
                  <c:v>2025-09-26</c:v>
                </c:pt>
                <c:pt idx="190">
                  <c:v>2025-09-30</c:v>
                </c:pt>
                <c:pt idx="191">
                  <c:v>2025-10-10</c:v>
                </c:pt>
                <c:pt idx="192">
                  <c:v>2025-10-17</c:v>
                </c:pt>
                <c:pt idx="193">
                  <c:v>2025-10-24</c:v>
                </c:pt>
                <c:pt idx="194">
                  <c:v>2025-10-31</c:v>
                </c:pt>
                <c:pt idx="195">
                  <c:v>2025-11-07</c:v>
                </c:pt>
                <c:pt idx="196">
                  <c:v>2025-11-14</c:v>
                </c:pt>
                <c:pt idx="197">
                  <c:v>2025-11-21</c:v>
                </c:pt>
                <c:pt idx="198">
                  <c:v>2025-11-28</c:v>
                </c:pt>
                <c:pt idx="199">
                  <c:v>2025-12-05</c:v>
                </c:pt>
                <c:pt idx="200">
                  <c:v>2025-12-12</c:v>
                </c:pt>
                <c:pt idx="201">
                  <c:v>2025-12-19</c:v>
                </c:pt>
                <c:pt idx="202">
                  <c:v>2025-12-26</c:v>
                </c:pt>
                <c:pt idx="203">
                  <c:v>2025-12-31</c:v>
                </c:pt>
                <c:pt idx="204">
                  <c:v>2026-01-09</c:v>
                </c:pt>
                <c:pt idx="205">
                  <c:v>2026-01-16</c:v>
                </c:pt>
                <c:pt idx="206">
                  <c:v>2026-01-23</c:v>
                </c:pt>
                <c:pt idx="207">
                  <c:v>2026-01-30</c:v>
                </c:pt>
                <c:pt idx="208">
                  <c:v>2026-02-06</c:v>
                </c:pt>
                <c:pt idx="209">
                  <c:v>2026-02-13</c:v>
                </c:pt>
                <c:pt idx="210">
                  <c:v>2026-02-27</c:v>
                </c:pt>
                <c:pt idx="211">
                  <c:v>2026-03-06</c:v>
                </c:pt>
                <c:pt idx="212">
                  <c:v>2026-03-13</c:v>
                </c:pt>
                <c:pt idx="213">
                  <c:v>2026-03-20</c:v>
                </c:pt>
                <c:pt idx="214">
                  <c:v>2026-03-27</c:v>
                </c:pt>
                <c:pt idx="215">
                  <c:v>2026-03-31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216"/>
                <c:pt idx="0">
                  <c:v>25.5</c:v>
                </c:pt>
                <c:pt idx="1">
                  <c:v>25.5</c:v>
                </c:pt>
                <c:pt idx="2">
                  <c:v>25.5</c:v>
                </c:pt>
                <c:pt idx="3">
                  <c:v>25.5</c:v>
                </c:pt>
                <c:pt idx="4">
                  <c:v>25.5</c:v>
                </c:pt>
                <c:pt idx="5">
                  <c:v>25.5</c:v>
                </c:pt>
                <c:pt idx="6">
                  <c:v>25.5</c:v>
                </c:pt>
                <c:pt idx="7">
                  <c:v>25.5</c:v>
                </c:pt>
                <c:pt idx="8">
                  <c:v>25.5</c:v>
                </c:pt>
                <c:pt idx="9">
                  <c:v>25.5</c:v>
                </c:pt>
                <c:pt idx="10">
                  <c:v>25.5</c:v>
                </c:pt>
                <c:pt idx="11">
                  <c:v>25.5</c:v>
                </c:pt>
                <c:pt idx="12">
                  <c:v>25.5</c:v>
                </c:pt>
                <c:pt idx="13">
                  <c:v>25.5</c:v>
                </c:pt>
                <c:pt idx="14">
                  <c:v>25.5</c:v>
                </c:pt>
                <c:pt idx="15">
                  <c:v>25.5</c:v>
                </c:pt>
                <c:pt idx="16">
                  <c:v>25.5</c:v>
                </c:pt>
                <c:pt idx="17">
                  <c:v>25.5</c:v>
                </c:pt>
                <c:pt idx="18">
                  <c:v>25.5</c:v>
                </c:pt>
                <c:pt idx="19">
                  <c:v>25.5</c:v>
                </c:pt>
                <c:pt idx="20">
                  <c:v>25.5</c:v>
                </c:pt>
                <c:pt idx="21">
                  <c:v>25.5</c:v>
                </c:pt>
                <c:pt idx="22">
                  <c:v>25.5</c:v>
                </c:pt>
                <c:pt idx="23">
                  <c:v>25.5</c:v>
                </c:pt>
                <c:pt idx="24">
                  <c:v>25.5</c:v>
                </c:pt>
                <c:pt idx="25">
                  <c:v>25.5</c:v>
                </c:pt>
                <c:pt idx="26">
                  <c:v>25.5</c:v>
                </c:pt>
                <c:pt idx="27">
                  <c:v>25.5</c:v>
                </c:pt>
                <c:pt idx="28">
                  <c:v>25.5</c:v>
                </c:pt>
                <c:pt idx="29">
                  <c:v>25.5</c:v>
                </c:pt>
                <c:pt idx="30">
                  <c:v>25.5</c:v>
                </c:pt>
                <c:pt idx="31">
                  <c:v>25.5</c:v>
                </c:pt>
                <c:pt idx="32">
                  <c:v>25.5</c:v>
                </c:pt>
                <c:pt idx="33">
                  <c:v>25.5</c:v>
                </c:pt>
                <c:pt idx="34">
                  <c:v>25.5</c:v>
                </c:pt>
                <c:pt idx="35">
                  <c:v>25.5</c:v>
                </c:pt>
                <c:pt idx="36">
                  <c:v>25.5</c:v>
                </c:pt>
                <c:pt idx="37">
                  <c:v>25.5</c:v>
                </c:pt>
                <c:pt idx="38">
                  <c:v>25.5</c:v>
                </c:pt>
                <c:pt idx="39">
                  <c:v>25.5</c:v>
                </c:pt>
                <c:pt idx="40">
                  <c:v>25.5</c:v>
                </c:pt>
                <c:pt idx="41">
                  <c:v>25.5</c:v>
                </c:pt>
                <c:pt idx="42">
                  <c:v>25.5</c:v>
                </c:pt>
                <c:pt idx="43">
                  <c:v>25.5</c:v>
                </c:pt>
                <c:pt idx="44">
                  <c:v>25.5</c:v>
                </c:pt>
                <c:pt idx="45">
                  <c:v>25.5</c:v>
                </c:pt>
                <c:pt idx="46">
                  <c:v>25.5</c:v>
                </c:pt>
                <c:pt idx="47">
                  <c:v>25.5</c:v>
                </c:pt>
                <c:pt idx="48">
                  <c:v>25.5</c:v>
                </c:pt>
                <c:pt idx="49">
                  <c:v>25.5</c:v>
                </c:pt>
                <c:pt idx="50">
                  <c:v>25.5</c:v>
                </c:pt>
                <c:pt idx="51">
                  <c:v>25.5</c:v>
                </c:pt>
                <c:pt idx="52">
                  <c:v>25.5</c:v>
                </c:pt>
                <c:pt idx="53">
                  <c:v>25.5</c:v>
                </c:pt>
                <c:pt idx="54">
                  <c:v>25.5</c:v>
                </c:pt>
                <c:pt idx="55">
                  <c:v>25.5</c:v>
                </c:pt>
                <c:pt idx="56">
                  <c:v>25.5</c:v>
                </c:pt>
                <c:pt idx="57">
                  <c:v>25.5</c:v>
                </c:pt>
                <c:pt idx="58">
                  <c:v>25.5</c:v>
                </c:pt>
                <c:pt idx="59">
                  <c:v>25.5</c:v>
                </c:pt>
                <c:pt idx="60">
                  <c:v>25.5</c:v>
                </c:pt>
                <c:pt idx="61">
                  <c:v>25.5</c:v>
                </c:pt>
                <c:pt idx="62">
                  <c:v>25.5</c:v>
                </c:pt>
                <c:pt idx="63">
                  <c:v>25.5</c:v>
                </c:pt>
                <c:pt idx="64">
                  <c:v>25.5</c:v>
                </c:pt>
                <c:pt idx="65">
                  <c:v>25.5</c:v>
                </c:pt>
                <c:pt idx="66">
                  <c:v>25.5</c:v>
                </c:pt>
                <c:pt idx="67">
                  <c:v>25.5</c:v>
                </c:pt>
                <c:pt idx="68">
                  <c:v>25.5</c:v>
                </c:pt>
                <c:pt idx="69">
                  <c:v>25.5</c:v>
                </c:pt>
                <c:pt idx="70">
                  <c:v>25.5</c:v>
                </c:pt>
                <c:pt idx="71">
                  <c:v>25.5</c:v>
                </c:pt>
                <c:pt idx="72">
                  <c:v>25.5</c:v>
                </c:pt>
                <c:pt idx="73">
                  <c:v>25.5</c:v>
                </c:pt>
                <c:pt idx="74">
                  <c:v>25.5</c:v>
                </c:pt>
                <c:pt idx="75">
                  <c:v>25.5</c:v>
                </c:pt>
                <c:pt idx="76">
                  <c:v>25.5</c:v>
                </c:pt>
                <c:pt idx="77">
                  <c:v>25.5</c:v>
                </c:pt>
                <c:pt idx="78">
                  <c:v>25.5</c:v>
                </c:pt>
                <c:pt idx="79">
                  <c:v>25.5</c:v>
                </c:pt>
                <c:pt idx="80">
                  <c:v>25.5</c:v>
                </c:pt>
                <c:pt idx="81">
                  <c:v>25.5</c:v>
                </c:pt>
                <c:pt idx="82">
                  <c:v>25.5</c:v>
                </c:pt>
                <c:pt idx="83">
                  <c:v>25.5</c:v>
                </c:pt>
                <c:pt idx="84">
                  <c:v>25.5</c:v>
                </c:pt>
                <c:pt idx="85">
                  <c:v>25.5</c:v>
                </c:pt>
                <c:pt idx="86">
                  <c:v>25.5</c:v>
                </c:pt>
                <c:pt idx="87">
                  <c:v>25.5</c:v>
                </c:pt>
                <c:pt idx="88">
                  <c:v>25.5</c:v>
                </c:pt>
                <c:pt idx="89">
                  <c:v>25.5</c:v>
                </c:pt>
                <c:pt idx="90">
                  <c:v>25.5</c:v>
                </c:pt>
                <c:pt idx="91">
                  <c:v>25.5</c:v>
                </c:pt>
                <c:pt idx="92">
                  <c:v>25.5</c:v>
                </c:pt>
                <c:pt idx="93">
                  <c:v>25.5</c:v>
                </c:pt>
                <c:pt idx="94">
                  <c:v>25.5</c:v>
                </c:pt>
                <c:pt idx="95">
                  <c:v>25.5</c:v>
                </c:pt>
                <c:pt idx="96">
                  <c:v>25.5</c:v>
                </c:pt>
                <c:pt idx="97">
                  <c:v>25.5</c:v>
                </c:pt>
                <c:pt idx="98">
                  <c:v>25.5</c:v>
                </c:pt>
                <c:pt idx="99">
                  <c:v>25.5</c:v>
                </c:pt>
                <c:pt idx="100">
                  <c:v>25.5</c:v>
                </c:pt>
                <c:pt idx="101">
                  <c:v>25.5</c:v>
                </c:pt>
                <c:pt idx="102">
                  <c:v>25.5</c:v>
                </c:pt>
                <c:pt idx="103">
                  <c:v>25.5</c:v>
                </c:pt>
                <c:pt idx="104">
                  <c:v>25.5</c:v>
                </c:pt>
                <c:pt idx="105">
                  <c:v>25.5</c:v>
                </c:pt>
                <c:pt idx="106">
                  <c:v>25.5</c:v>
                </c:pt>
                <c:pt idx="107">
                  <c:v>25.5</c:v>
                </c:pt>
                <c:pt idx="108">
                  <c:v>25.5</c:v>
                </c:pt>
                <c:pt idx="109">
                  <c:v>25.5</c:v>
                </c:pt>
                <c:pt idx="110">
                  <c:v>25.5</c:v>
                </c:pt>
                <c:pt idx="111">
                  <c:v>25.5</c:v>
                </c:pt>
                <c:pt idx="112">
                  <c:v>25.5</c:v>
                </c:pt>
                <c:pt idx="113">
                  <c:v>25.5</c:v>
                </c:pt>
                <c:pt idx="114">
                  <c:v>25.5</c:v>
                </c:pt>
                <c:pt idx="115">
                  <c:v>25.5</c:v>
                </c:pt>
                <c:pt idx="116">
                  <c:v>25.5</c:v>
                </c:pt>
                <c:pt idx="117">
                  <c:v>25.5</c:v>
                </c:pt>
                <c:pt idx="118">
                  <c:v>25.5</c:v>
                </c:pt>
                <c:pt idx="119">
                  <c:v>25.5</c:v>
                </c:pt>
                <c:pt idx="120">
                  <c:v>25.5</c:v>
                </c:pt>
                <c:pt idx="121">
                  <c:v>25.5</c:v>
                </c:pt>
                <c:pt idx="122">
                  <c:v>25.5</c:v>
                </c:pt>
                <c:pt idx="123">
                  <c:v>25.5</c:v>
                </c:pt>
                <c:pt idx="124">
                  <c:v>25.5</c:v>
                </c:pt>
                <c:pt idx="125">
                  <c:v>25.5</c:v>
                </c:pt>
                <c:pt idx="126">
                  <c:v>25.5</c:v>
                </c:pt>
                <c:pt idx="127">
                  <c:v>25.5</c:v>
                </c:pt>
                <c:pt idx="128">
                  <c:v>25.5</c:v>
                </c:pt>
                <c:pt idx="129">
                  <c:v>25.5</c:v>
                </c:pt>
                <c:pt idx="130">
                  <c:v>25.5</c:v>
                </c:pt>
                <c:pt idx="131">
                  <c:v>25.5</c:v>
                </c:pt>
                <c:pt idx="132">
                  <c:v>25.5</c:v>
                </c:pt>
                <c:pt idx="133">
                  <c:v>25.5</c:v>
                </c:pt>
                <c:pt idx="134">
                  <c:v>25.5</c:v>
                </c:pt>
                <c:pt idx="135">
                  <c:v>25.5</c:v>
                </c:pt>
                <c:pt idx="136">
                  <c:v>25.5</c:v>
                </c:pt>
                <c:pt idx="137">
                  <c:v>25.5</c:v>
                </c:pt>
                <c:pt idx="138">
                  <c:v>25.5</c:v>
                </c:pt>
                <c:pt idx="139">
                  <c:v>25.5</c:v>
                </c:pt>
                <c:pt idx="140">
                  <c:v>25.5</c:v>
                </c:pt>
                <c:pt idx="141">
                  <c:v>25.5</c:v>
                </c:pt>
                <c:pt idx="142">
                  <c:v>25.5</c:v>
                </c:pt>
                <c:pt idx="143">
                  <c:v>25.5</c:v>
                </c:pt>
                <c:pt idx="144">
                  <c:v>25.5</c:v>
                </c:pt>
                <c:pt idx="145">
                  <c:v>25.5</c:v>
                </c:pt>
                <c:pt idx="146">
                  <c:v>25.5</c:v>
                </c:pt>
                <c:pt idx="147">
                  <c:v>25.5</c:v>
                </c:pt>
                <c:pt idx="148">
                  <c:v>25.5</c:v>
                </c:pt>
                <c:pt idx="149">
                  <c:v>25.5</c:v>
                </c:pt>
                <c:pt idx="150">
                  <c:v>25.5</c:v>
                </c:pt>
                <c:pt idx="151">
                  <c:v>25.5</c:v>
                </c:pt>
                <c:pt idx="152">
                  <c:v>25.5</c:v>
                </c:pt>
                <c:pt idx="153">
                  <c:v>25.5</c:v>
                </c:pt>
                <c:pt idx="154">
                  <c:v>25.5</c:v>
                </c:pt>
                <c:pt idx="155">
                  <c:v>25.5</c:v>
                </c:pt>
                <c:pt idx="156">
                  <c:v>25.5</c:v>
                </c:pt>
                <c:pt idx="157">
                  <c:v>25.5</c:v>
                </c:pt>
                <c:pt idx="158">
                  <c:v>25.5</c:v>
                </c:pt>
                <c:pt idx="159">
                  <c:v>25.5</c:v>
                </c:pt>
                <c:pt idx="160">
                  <c:v>25.5</c:v>
                </c:pt>
                <c:pt idx="161">
                  <c:v>25.5</c:v>
                </c:pt>
                <c:pt idx="162">
                  <c:v>25.5</c:v>
                </c:pt>
                <c:pt idx="163">
                  <c:v>25.5</c:v>
                </c:pt>
                <c:pt idx="164">
                  <c:v>25.5</c:v>
                </c:pt>
                <c:pt idx="165">
                  <c:v>25.5</c:v>
                </c:pt>
                <c:pt idx="166">
                  <c:v>25.5</c:v>
                </c:pt>
                <c:pt idx="167">
                  <c:v>25.5</c:v>
                </c:pt>
                <c:pt idx="168">
                  <c:v>25.5</c:v>
                </c:pt>
                <c:pt idx="169">
                  <c:v>25.5</c:v>
                </c:pt>
                <c:pt idx="170">
                  <c:v>25.5</c:v>
                </c:pt>
                <c:pt idx="171">
                  <c:v>25.5</c:v>
                </c:pt>
                <c:pt idx="172">
                  <c:v>25.5</c:v>
                </c:pt>
                <c:pt idx="173">
                  <c:v>25.5</c:v>
                </c:pt>
                <c:pt idx="174">
                  <c:v>25.5</c:v>
                </c:pt>
                <c:pt idx="175">
                  <c:v>25.5</c:v>
                </c:pt>
                <c:pt idx="176">
                  <c:v>25.5</c:v>
                </c:pt>
                <c:pt idx="177">
                  <c:v>25.5</c:v>
                </c:pt>
                <c:pt idx="178">
                  <c:v>25.5</c:v>
                </c:pt>
                <c:pt idx="179">
                  <c:v>25.5</c:v>
                </c:pt>
                <c:pt idx="180">
                  <c:v>25.5</c:v>
                </c:pt>
                <c:pt idx="181">
                  <c:v>25.5</c:v>
                </c:pt>
                <c:pt idx="182">
                  <c:v>25.5</c:v>
                </c:pt>
                <c:pt idx="183">
                  <c:v>25.5</c:v>
                </c:pt>
                <c:pt idx="184">
                  <c:v>25.5</c:v>
                </c:pt>
                <c:pt idx="185">
                  <c:v>25.5</c:v>
                </c:pt>
                <c:pt idx="186">
                  <c:v>25.5</c:v>
                </c:pt>
                <c:pt idx="187">
                  <c:v>25.5</c:v>
                </c:pt>
                <c:pt idx="188">
                  <c:v>25.5</c:v>
                </c:pt>
                <c:pt idx="189">
                  <c:v>25.5</c:v>
                </c:pt>
                <c:pt idx="190">
                  <c:v>25.5</c:v>
                </c:pt>
                <c:pt idx="191">
                  <c:v>25.5</c:v>
                </c:pt>
                <c:pt idx="192">
                  <c:v>25.5</c:v>
                </c:pt>
                <c:pt idx="193">
                  <c:v>25.5</c:v>
                </c:pt>
                <c:pt idx="194">
                  <c:v>25.5</c:v>
                </c:pt>
                <c:pt idx="195">
                  <c:v>25.5</c:v>
                </c:pt>
                <c:pt idx="196">
                  <c:v>25.5</c:v>
                </c:pt>
                <c:pt idx="197">
                  <c:v>25.5</c:v>
                </c:pt>
                <c:pt idx="198">
                  <c:v>25.5</c:v>
                </c:pt>
                <c:pt idx="199">
                  <c:v>25.5</c:v>
                </c:pt>
                <c:pt idx="200">
                  <c:v>25.5</c:v>
                </c:pt>
                <c:pt idx="201">
                  <c:v>25.5</c:v>
                </c:pt>
                <c:pt idx="202">
                  <c:v>25.5</c:v>
                </c:pt>
                <c:pt idx="203">
                  <c:v>25.5</c:v>
                </c:pt>
                <c:pt idx="204">
                  <c:v>25.5</c:v>
                </c:pt>
                <c:pt idx="205">
                  <c:v>25.5</c:v>
                </c:pt>
                <c:pt idx="206">
                  <c:v>25.5</c:v>
                </c:pt>
                <c:pt idx="207">
                  <c:v>25.5</c:v>
                </c:pt>
                <c:pt idx="208">
                  <c:v>25.5</c:v>
                </c:pt>
                <c:pt idx="209">
                  <c:v>25.5</c:v>
                </c:pt>
                <c:pt idx="210">
                  <c:v>25.5</c:v>
                </c:pt>
                <c:pt idx="211">
                  <c:v>25.5</c:v>
                </c:pt>
                <c:pt idx="212">
                  <c:v>25.5</c:v>
                </c:pt>
                <c:pt idx="213">
                  <c:v>25.5</c:v>
                </c:pt>
                <c:pt idx="214">
                  <c:v>25.5</c:v>
                </c:pt>
                <c:pt idx="215">
                  <c:v>25.5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F6-FC42-821B-ED3921BAE55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均值 (21.7x)</c:v>
                </c:pt>
              </c:strCache>
            </c:strRef>
          </c:tx>
          <c:spPr>
            <a:ln w="12700">
              <a:prstDash val="dot"/>
            </a:ln>
          </c:spPr>
          <c:marker>
            <c:symbol val="none"/>
          </c:marker>
          <c:dLbls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DFF-4F86-BDE1-C95FA5D343F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216"/>
                <c:pt idx="0">
                  <c:v>2022-01-07</c:v>
                </c:pt>
                <c:pt idx="1">
                  <c:v>2022-01-14</c:v>
                </c:pt>
                <c:pt idx="2">
                  <c:v>2022-01-21</c:v>
                </c:pt>
                <c:pt idx="3">
                  <c:v>2022-01-28</c:v>
                </c:pt>
                <c:pt idx="4">
                  <c:v>2022-02-11</c:v>
                </c:pt>
                <c:pt idx="5">
                  <c:v>2022-02-18</c:v>
                </c:pt>
                <c:pt idx="6">
                  <c:v>2022-02-25</c:v>
                </c:pt>
                <c:pt idx="7">
                  <c:v>2022-03-04</c:v>
                </c:pt>
                <c:pt idx="8">
                  <c:v>2022-03-11</c:v>
                </c:pt>
                <c:pt idx="9">
                  <c:v>2022-03-18</c:v>
                </c:pt>
                <c:pt idx="10">
                  <c:v>2022-03-25</c:v>
                </c:pt>
                <c:pt idx="11">
                  <c:v>2022-04-01</c:v>
                </c:pt>
                <c:pt idx="12">
                  <c:v>2022-04-08</c:v>
                </c:pt>
                <c:pt idx="13">
                  <c:v>2022-04-15</c:v>
                </c:pt>
                <c:pt idx="14">
                  <c:v>2022-04-22</c:v>
                </c:pt>
                <c:pt idx="15">
                  <c:v>2022-04-29</c:v>
                </c:pt>
                <c:pt idx="16">
                  <c:v>2022-05-06</c:v>
                </c:pt>
                <c:pt idx="17">
                  <c:v>2022-05-13</c:v>
                </c:pt>
                <c:pt idx="18">
                  <c:v>2022-05-20</c:v>
                </c:pt>
                <c:pt idx="19">
                  <c:v>2022-05-27</c:v>
                </c:pt>
                <c:pt idx="20">
                  <c:v>2022-06-02</c:v>
                </c:pt>
                <c:pt idx="21">
                  <c:v>2022-06-10</c:v>
                </c:pt>
                <c:pt idx="22">
                  <c:v>2022-06-17</c:v>
                </c:pt>
                <c:pt idx="23">
                  <c:v>2022-06-24</c:v>
                </c:pt>
                <c:pt idx="24">
                  <c:v>2022-07-01</c:v>
                </c:pt>
                <c:pt idx="25">
                  <c:v>2022-07-08</c:v>
                </c:pt>
                <c:pt idx="26">
                  <c:v>2022-07-15</c:v>
                </c:pt>
                <c:pt idx="27">
                  <c:v>2022-07-22</c:v>
                </c:pt>
                <c:pt idx="28">
                  <c:v>2022-07-29</c:v>
                </c:pt>
                <c:pt idx="29">
                  <c:v>2022-08-05</c:v>
                </c:pt>
                <c:pt idx="30">
                  <c:v>2022-08-12</c:v>
                </c:pt>
                <c:pt idx="31">
                  <c:v>2022-08-19</c:v>
                </c:pt>
                <c:pt idx="32">
                  <c:v>2022-08-26</c:v>
                </c:pt>
                <c:pt idx="33">
                  <c:v>2022-09-02</c:v>
                </c:pt>
                <c:pt idx="34">
                  <c:v>2022-09-09</c:v>
                </c:pt>
                <c:pt idx="35">
                  <c:v>2022-09-16</c:v>
                </c:pt>
                <c:pt idx="36">
                  <c:v>2022-09-23</c:v>
                </c:pt>
                <c:pt idx="37">
                  <c:v>2022-09-30</c:v>
                </c:pt>
                <c:pt idx="38">
                  <c:v>2022-10-14</c:v>
                </c:pt>
                <c:pt idx="39">
                  <c:v>2022-10-21</c:v>
                </c:pt>
                <c:pt idx="40">
                  <c:v>2022-10-28</c:v>
                </c:pt>
                <c:pt idx="41">
                  <c:v>2022-11-04</c:v>
                </c:pt>
                <c:pt idx="42">
                  <c:v>2022-11-11</c:v>
                </c:pt>
                <c:pt idx="43">
                  <c:v>2022-11-18</c:v>
                </c:pt>
                <c:pt idx="44">
                  <c:v>2022-11-25</c:v>
                </c:pt>
                <c:pt idx="45">
                  <c:v>2022-12-02</c:v>
                </c:pt>
                <c:pt idx="46">
                  <c:v>2022-12-09</c:v>
                </c:pt>
                <c:pt idx="47">
                  <c:v>2022-12-16</c:v>
                </c:pt>
                <c:pt idx="48">
                  <c:v>2022-12-23</c:v>
                </c:pt>
                <c:pt idx="49">
                  <c:v>2022-12-30</c:v>
                </c:pt>
                <c:pt idx="50">
                  <c:v>2023-01-06</c:v>
                </c:pt>
                <c:pt idx="51">
                  <c:v>2023-01-13</c:v>
                </c:pt>
                <c:pt idx="52">
                  <c:v>2023-01-20</c:v>
                </c:pt>
                <c:pt idx="53">
                  <c:v>2023-02-03</c:v>
                </c:pt>
                <c:pt idx="54">
                  <c:v>2023-02-10</c:v>
                </c:pt>
                <c:pt idx="55">
                  <c:v>2023-02-17</c:v>
                </c:pt>
                <c:pt idx="56">
                  <c:v>2023-02-24</c:v>
                </c:pt>
                <c:pt idx="57">
                  <c:v>2023-03-03</c:v>
                </c:pt>
                <c:pt idx="58">
                  <c:v>2023-03-10</c:v>
                </c:pt>
                <c:pt idx="59">
                  <c:v>2023-03-17</c:v>
                </c:pt>
                <c:pt idx="60">
                  <c:v>2023-03-24</c:v>
                </c:pt>
                <c:pt idx="61">
                  <c:v>2023-03-31</c:v>
                </c:pt>
                <c:pt idx="62">
                  <c:v>2023-04-07</c:v>
                </c:pt>
                <c:pt idx="63">
                  <c:v>2023-04-14</c:v>
                </c:pt>
                <c:pt idx="64">
                  <c:v>2023-04-21</c:v>
                </c:pt>
                <c:pt idx="65">
                  <c:v>2023-04-28</c:v>
                </c:pt>
                <c:pt idx="66">
                  <c:v>2023-05-05</c:v>
                </c:pt>
                <c:pt idx="67">
                  <c:v>2023-05-12</c:v>
                </c:pt>
                <c:pt idx="68">
                  <c:v>2023-05-19</c:v>
                </c:pt>
                <c:pt idx="69">
                  <c:v>2023-05-26</c:v>
                </c:pt>
                <c:pt idx="70">
                  <c:v>2023-06-02</c:v>
                </c:pt>
                <c:pt idx="71">
                  <c:v>2023-06-09</c:v>
                </c:pt>
                <c:pt idx="72">
                  <c:v>2023-06-16</c:v>
                </c:pt>
                <c:pt idx="73">
                  <c:v>2023-06-21</c:v>
                </c:pt>
                <c:pt idx="74">
                  <c:v>2023-06-30</c:v>
                </c:pt>
                <c:pt idx="75">
                  <c:v>2023-07-07</c:v>
                </c:pt>
                <c:pt idx="76">
                  <c:v>2023-07-14</c:v>
                </c:pt>
                <c:pt idx="77">
                  <c:v>2023-07-21</c:v>
                </c:pt>
                <c:pt idx="78">
                  <c:v>2023-07-28</c:v>
                </c:pt>
                <c:pt idx="79">
                  <c:v>2023-08-04</c:v>
                </c:pt>
                <c:pt idx="80">
                  <c:v>2023-08-11</c:v>
                </c:pt>
                <c:pt idx="81">
                  <c:v>2023-08-18</c:v>
                </c:pt>
                <c:pt idx="82">
                  <c:v>2023-08-25</c:v>
                </c:pt>
                <c:pt idx="83">
                  <c:v>2023-09-01</c:v>
                </c:pt>
                <c:pt idx="84">
                  <c:v>2023-09-07</c:v>
                </c:pt>
                <c:pt idx="85">
                  <c:v>2023-09-15</c:v>
                </c:pt>
                <c:pt idx="86">
                  <c:v>2023-09-22</c:v>
                </c:pt>
                <c:pt idx="87">
                  <c:v>2023-09-28</c:v>
                </c:pt>
                <c:pt idx="88">
                  <c:v>2023-10-13</c:v>
                </c:pt>
                <c:pt idx="89">
                  <c:v>2023-10-20</c:v>
                </c:pt>
                <c:pt idx="90">
                  <c:v>2023-10-27</c:v>
                </c:pt>
                <c:pt idx="91">
                  <c:v>2023-11-03</c:v>
                </c:pt>
                <c:pt idx="92">
                  <c:v>2023-11-10</c:v>
                </c:pt>
                <c:pt idx="93">
                  <c:v>2023-11-17</c:v>
                </c:pt>
                <c:pt idx="94">
                  <c:v>2023-11-24</c:v>
                </c:pt>
                <c:pt idx="95">
                  <c:v>2023-12-01</c:v>
                </c:pt>
                <c:pt idx="96">
                  <c:v>2023-12-08</c:v>
                </c:pt>
                <c:pt idx="97">
                  <c:v>2023-12-15</c:v>
                </c:pt>
                <c:pt idx="98">
                  <c:v>2023-12-22</c:v>
                </c:pt>
                <c:pt idx="99">
                  <c:v>2023-12-29</c:v>
                </c:pt>
                <c:pt idx="100">
                  <c:v>2024-01-05</c:v>
                </c:pt>
                <c:pt idx="101">
                  <c:v>2024-01-12</c:v>
                </c:pt>
                <c:pt idx="102">
                  <c:v>2024-01-19</c:v>
                </c:pt>
                <c:pt idx="103">
                  <c:v>2024-01-26</c:v>
                </c:pt>
                <c:pt idx="104">
                  <c:v>2024-02-02</c:v>
                </c:pt>
                <c:pt idx="105">
                  <c:v>2024-02-08</c:v>
                </c:pt>
                <c:pt idx="106">
                  <c:v>2024-02-23</c:v>
                </c:pt>
                <c:pt idx="107">
                  <c:v>2024-03-01</c:v>
                </c:pt>
                <c:pt idx="108">
                  <c:v>2024-03-08</c:v>
                </c:pt>
                <c:pt idx="109">
                  <c:v>2024-03-15</c:v>
                </c:pt>
                <c:pt idx="110">
                  <c:v>2024-03-22</c:v>
                </c:pt>
                <c:pt idx="111">
                  <c:v>2024-03-29</c:v>
                </c:pt>
                <c:pt idx="112">
                  <c:v>2024-04-03</c:v>
                </c:pt>
                <c:pt idx="113">
                  <c:v>2024-04-12</c:v>
                </c:pt>
                <c:pt idx="114">
                  <c:v>2024-04-19</c:v>
                </c:pt>
                <c:pt idx="115">
                  <c:v>2024-04-26</c:v>
                </c:pt>
                <c:pt idx="116">
                  <c:v>2024-04-30</c:v>
                </c:pt>
                <c:pt idx="117">
                  <c:v>2024-05-10</c:v>
                </c:pt>
                <c:pt idx="118">
                  <c:v>2024-05-17</c:v>
                </c:pt>
                <c:pt idx="119">
                  <c:v>2024-05-24</c:v>
                </c:pt>
                <c:pt idx="120">
                  <c:v>2024-05-31</c:v>
                </c:pt>
                <c:pt idx="121">
                  <c:v>2024-06-07</c:v>
                </c:pt>
                <c:pt idx="122">
                  <c:v>2024-06-14</c:v>
                </c:pt>
                <c:pt idx="123">
                  <c:v>2024-06-21</c:v>
                </c:pt>
                <c:pt idx="124">
                  <c:v>2024-06-28</c:v>
                </c:pt>
                <c:pt idx="125">
                  <c:v>2024-07-05</c:v>
                </c:pt>
                <c:pt idx="126">
                  <c:v>2024-07-12</c:v>
                </c:pt>
                <c:pt idx="127">
                  <c:v>2024-07-19</c:v>
                </c:pt>
                <c:pt idx="128">
                  <c:v>2024-07-26</c:v>
                </c:pt>
                <c:pt idx="129">
                  <c:v>2024-08-02</c:v>
                </c:pt>
                <c:pt idx="130">
                  <c:v>2024-08-09</c:v>
                </c:pt>
                <c:pt idx="131">
                  <c:v>2024-08-16</c:v>
                </c:pt>
                <c:pt idx="132">
                  <c:v>2024-08-23</c:v>
                </c:pt>
                <c:pt idx="133">
                  <c:v>2024-08-30</c:v>
                </c:pt>
                <c:pt idx="134">
                  <c:v>2024-09-06</c:v>
                </c:pt>
                <c:pt idx="135">
                  <c:v>2024-09-13</c:v>
                </c:pt>
                <c:pt idx="136">
                  <c:v>2024-09-20</c:v>
                </c:pt>
                <c:pt idx="137">
                  <c:v>2024-09-27</c:v>
                </c:pt>
                <c:pt idx="138">
                  <c:v>2024-09-30</c:v>
                </c:pt>
                <c:pt idx="139">
                  <c:v>2024-10-11</c:v>
                </c:pt>
                <c:pt idx="140">
                  <c:v>2024-10-18</c:v>
                </c:pt>
                <c:pt idx="141">
                  <c:v>2024-10-25</c:v>
                </c:pt>
                <c:pt idx="142">
                  <c:v>2024-11-01</c:v>
                </c:pt>
                <c:pt idx="143">
                  <c:v>2024-11-08</c:v>
                </c:pt>
                <c:pt idx="144">
                  <c:v>2024-11-15</c:v>
                </c:pt>
                <c:pt idx="145">
                  <c:v>2024-11-22</c:v>
                </c:pt>
                <c:pt idx="146">
                  <c:v>2024-11-29</c:v>
                </c:pt>
                <c:pt idx="147">
                  <c:v>2024-12-06</c:v>
                </c:pt>
                <c:pt idx="148">
                  <c:v>2024-12-13</c:v>
                </c:pt>
                <c:pt idx="149">
                  <c:v>2024-12-20</c:v>
                </c:pt>
                <c:pt idx="150">
                  <c:v>2024-12-27</c:v>
                </c:pt>
                <c:pt idx="151">
                  <c:v>2025-01-03</c:v>
                </c:pt>
                <c:pt idx="152">
                  <c:v>2025-01-10</c:v>
                </c:pt>
                <c:pt idx="153">
                  <c:v>2025-01-17</c:v>
                </c:pt>
                <c:pt idx="154">
                  <c:v>2025-01-24</c:v>
                </c:pt>
                <c:pt idx="155">
                  <c:v>2025-01-27</c:v>
                </c:pt>
                <c:pt idx="156">
                  <c:v>2025-02-07</c:v>
                </c:pt>
                <c:pt idx="157">
                  <c:v>2025-02-14</c:v>
                </c:pt>
                <c:pt idx="158">
                  <c:v>2025-02-21</c:v>
                </c:pt>
                <c:pt idx="159">
                  <c:v>2025-02-28</c:v>
                </c:pt>
                <c:pt idx="160">
                  <c:v>2025-03-07</c:v>
                </c:pt>
                <c:pt idx="161">
                  <c:v>2025-03-14</c:v>
                </c:pt>
                <c:pt idx="162">
                  <c:v>2025-03-21</c:v>
                </c:pt>
                <c:pt idx="163">
                  <c:v>2025-03-28</c:v>
                </c:pt>
                <c:pt idx="164">
                  <c:v>2025-04-03</c:v>
                </c:pt>
                <c:pt idx="165">
                  <c:v>2025-04-11</c:v>
                </c:pt>
                <c:pt idx="166">
                  <c:v>2025-04-18</c:v>
                </c:pt>
                <c:pt idx="167">
                  <c:v>2025-04-25</c:v>
                </c:pt>
                <c:pt idx="168">
                  <c:v>2025-04-30</c:v>
                </c:pt>
                <c:pt idx="169">
                  <c:v>2025-05-09</c:v>
                </c:pt>
                <c:pt idx="170">
                  <c:v>2025-05-16</c:v>
                </c:pt>
                <c:pt idx="171">
                  <c:v>2025-05-23</c:v>
                </c:pt>
                <c:pt idx="172">
                  <c:v>2025-05-30</c:v>
                </c:pt>
                <c:pt idx="173">
                  <c:v>2025-06-06</c:v>
                </c:pt>
                <c:pt idx="174">
                  <c:v>2025-06-13</c:v>
                </c:pt>
                <c:pt idx="175">
                  <c:v>2025-06-20</c:v>
                </c:pt>
                <c:pt idx="176">
                  <c:v>2025-06-27</c:v>
                </c:pt>
                <c:pt idx="177">
                  <c:v>2025-07-04</c:v>
                </c:pt>
                <c:pt idx="178">
                  <c:v>2025-07-11</c:v>
                </c:pt>
                <c:pt idx="179">
                  <c:v>2025-07-18</c:v>
                </c:pt>
                <c:pt idx="180">
                  <c:v>2025-07-25</c:v>
                </c:pt>
                <c:pt idx="181">
                  <c:v>2025-08-01</c:v>
                </c:pt>
                <c:pt idx="182">
                  <c:v>2025-08-08</c:v>
                </c:pt>
                <c:pt idx="183">
                  <c:v>2025-08-15</c:v>
                </c:pt>
                <c:pt idx="184">
                  <c:v>2025-08-22</c:v>
                </c:pt>
                <c:pt idx="185">
                  <c:v>2025-08-29</c:v>
                </c:pt>
                <c:pt idx="186">
                  <c:v>2025-09-05</c:v>
                </c:pt>
                <c:pt idx="187">
                  <c:v>2025-09-12</c:v>
                </c:pt>
                <c:pt idx="188">
                  <c:v>2025-09-19</c:v>
                </c:pt>
                <c:pt idx="189">
                  <c:v>2025-09-26</c:v>
                </c:pt>
                <c:pt idx="190">
                  <c:v>2025-09-30</c:v>
                </c:pt>
                <c:pt idx="191">
                  <c:v>2025-10-10</c:v>
                </c:pt>
                <c:pt idx="192">
                  <c:v>2025-10-17</c:v>
                </c:pt>
                <c:pt idx="193">
                  <c:v>2025-10-24</c:v>
                </c:pt>
                <c:pt idx="194">
                  <c:v>2025-10-31</c:v>
                </c:pt>
                <c:pt idx="195">
                  <c:v>2025-11-07</c:v>
                </c:pt>
                <c:pt idx="196">
                  <c:v>2025-11-14</c:v>
                </c:pt>
                <c:pt idx="197">
                  <c:v>2025-11-21</c:v>
                </c:pt>
                <c:pt idx="198">
                  <c:v>2025-11-28</c:v>
                </c:pt>
                <c:pt idx="199">
                  <c:v>2025-12-05</c:v>
                </c:pt>
                <c:pt idx="200">
                  <c:v>2025-12-12</c:v>
                </c:pt>
                <c:pt idx="201">
                  <c:v>2025-12-19</c:v>
                </c:pt>
                <c:pt idx="202">
                  <c:v>2025-12-26</c:v>
                </c:pt>
                <c:pt idx="203">
                  <c:v>2025-12-31</c:v>
                </c:pt>
                <c:pt idx="204">
                  <c:v>2026-01-09</c:v>
                </c:pt>
                <c:pt idx="205">
                  <c:v>2026-01-16</c:v>
                </c:pt>
                <c:pt idx="206">
                  <c:v>2026-01-23</c:v>
                </c:pt>
                <c:pt idx="207">
                  <c:v>2026-01-30</c:v>
                </c:pt>
                <c:pt idx="208">
                  <c:v>2026-02-06</c:v>
                </c:pt>
                <c:pt idx="209">
                  <c:v>2026-02-13</c:v>
                </c:pt>
                <c:pt idx="210">
                  <c:v>2026-02-27</c:v>
                </c:pt>
                <c:pt idx="211">
                  <c:v>2026-03-06</c:v>
                </c:pt>
                <c:pt idx="212">
                  <c:v>2026-03-13</c:v>
                </c:pt>
                <c:pt idx="213">
                  <c:v>2026-03-20</c:v>
                </c:pt>
                <c:pt idx="214">
                  <c:v>2026-03-27</c:v>
                </c:pt>
                <c:pt idx="215">
                  <c:v>2026-03-31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216"/>
                <c:pt idx="0">
                  <c:v>21.7</c:v>
                </c:pt>
                <c:pt idx="1">
                  <c:v>21.7</c:v>
                </c:pt>
                <c:pt idx="2">
                  <c:v>21.7</c:v>
                </c:pt>
                <c:pt idx="3">
                  <c:v>21.7</c:v>
                </c:pt>
                <c:pt idx="4">
                  <c:v>21.7</c:v>
                </c:pt>
                <c:pt idx="5">
                  <c:v>21.7</c:v>
                </c:pt>
                <c:pt idx="6">
                  <c:v>21.7</c:v>
                </c:pt>
                <c:pt idx="7">
                  <c:v>21.7</c:v>
                </c:pt>
                <c:pt idx="8">
                  <c:v>21.7</c:v>
                </c:pt>
                <c:pt idx="9">
                  <c:v>21.7</c:v>
                </c:pt>
                <c:pt idx="10">
                  <c:v>21.7</c:v>
                </c:pt>
                <c:pt idx="11">
                  <c:v>21.7</c:v>
                </c:pt>
                <c:pt idx="12">
                  <c:v>21.7</c:v>
                </c:pt>
                <c:pt idx="13">
                  <c:v>21.7</c:v>
                </c:pt>
                <c:pt idx="14">
                  <c:v>21.7</c:v>
                </c:pt>
                <c:pt idx="15">
                  <c:v>21.7</c:v>
                </c:pt>
                <c:pt idx="16">
                  <c:v>21.7</c:v>
                </c:pt>
                <c:pt idx="17">
                  <c:v>21.7</c:v>
                </c:pt>
                <c:pt idx="18">
                  <c:v>21.7</c:v>
                </c:pt>
                <c:pt idx="19">
                  <c:v>21.7</c:v>
                </c:pt>
                <c:pt idx="20">
                  <c:v>21.7</c:v>
                </c:pt>
                <c:pt idx="21">
                  <c:v>21.7</c:v>
                </c:pt>
                <c:pt idx="22">
                  <c:v>21.7</c:v>
                </c:pt>
                <c:pt idx="23">
                  <c:v>21.7</c:v>
                </c:pt>
                <c:pt idx="24">
                  <c:v>21.7</c:v>
                </c:pt>
                <c:pt idx="25">
                  <c:v>21.7</c:v>
                </c:pt>
                <c:pt idx="26">
                  <c:v>21.7</c:v>
                </c:pt>
                <c:pt idx="27">
                  <c:v>21.7</c:v>
                </c:pt>
                <c:pt idx="28">
                  <c:v>21.7</c:v>
                </c:pt>
                <c:pt idx="29">
                  <c:v>21.7</c:v>
                </c:pt>
                <c:pt idx="30">
                  <c:v>21.7</c:v>
                </c:pt>
                <c:pt idx="31">
                  <c:v>21.7</c:v>
                </c:pt>
                <c:pt idx="32">
                  <c:v>21.7</c:v>
                </c:pt>
                <c:pt idx="33">
                  <c:v>21.7</c:v>
                </c:pt>
                <c:pt idx="34">
                  <c:v>21.7</c:v>
                </c:pt>
                <c:pt idx="35">
                  <c:v>21.7</c:v>
                </c:pt>
                <c:pt idx="36">
                  <c:v>21.7</c:v>
                </c:pt>
                <c:pt idx="37">
                  <c:v>21.7</c:v>
                </c:pt>
                <c:pt idx="38">
                  <c:v>21.7</c:v>
                </c:pt>
                <c:pt idx="39">
                  <c:v>21.7</c:v>
                </c:pt>
                <c:pt idx="40">
                  <c:v>21.7</c:v>
                </c:pt>
                <c:pt idx="41">
                  <c:v>21.7</c:v>
                </c:pt>
                <c:pt idx="42">
                  <c:v>21.7</c:v>
                </c:pt>
                <c:pt idx="43">
                  <c:v>21.7</c:v>
                </c:pt>
                <c:pt idx="44">
                  <c:v>21.7</c:v>
                </c:pt>
                <c:pt idx="45">
                  <c:v>21.7</c:v>
                </c:pt>
                <c:pt idx="46">
                  <c:v>21.7</c:v>
                </c:pt>
                <c:pt idx="47">
                  <c:v>21.7</c:v>
                </c:pt>
                <c:pt idx="48">
                  <c:v>21.7</c:v>
                </c:pt>
                <c:pt idx="49">
                  <c:v>21.7</c:v>
                </c:pt>
                <c:pt idx="50">
                  <c:v>21.7</c:v>
                </c:pt>
                <c:pt idx="51">
                  <c:v>21.7</c:v>
                </c:pt>
                <c:pt idx="52">
                  <c:v>21.7</c:v>
                </c:pt>
                <c:pt idx="53">
                  <c:v>21.7</c:v>
                </c:pt>
                <c:pt idx="54">
                  <c:v>21.7</c:v>
                </c:pt>
                <c:pt idx="55">
                  <c:v>21.7</c:v>
                </c:pt>
                <c:pt idx="56">
                  <c:v>21.7</c:v>
                </c:pt>
                <c:pt idx="57">
                  <c:v>21.7</c:v>
                </c:pt>
                <c:pt idx="58">
                  <c:v>21.7</c:v>
                </c:pt>
                <c:pt idx="59">
                  <c:v>21.7</c:v>
                </c:pt>
                <c:pt idx="60">
                  <c:v>21.7</c:v>
                </c:pt>
                <c:pt idx="61">
                  <c:v>21.7</c:v>
                </c:pt>
                <c:pt idx="62">
                  <c:v>21.7</c:v>
                </c:pt>
                <c:pt idx="63">
                  <c:v>21.7</c:v>
                </c:pt>
                <c:pt idx="64">
                  <c:v>21.7</c:v>
                </c:pt>
                <c:pt idx="65">
                  <c:v>21.7</c:v>
                </c:pt>
                <c:pt idx="66">
                  <c:v>21.7</c:v>
                </c:pt>
                <c:pt idx="67">
                  <c:v>21.7</c:v>
                </c:pt>
                <c:pt idx="68">
                  <c:v>21.7</c:v>
                </c:pt>
                <c:pt idx="69">
                  <c:v>21.7</c:v>
                </c:pt>
                <c:pt idx="70">
                  <c:v>21.7</c:v>
                </c:pt>
                <c:pt idx="71">
                  <c:v>21.7</c:v>
                </c:pt>
                <c:pt idx="72">
                  <c:v>21.7</c:v>
                </c:pt>
                <c:pt idx="73">
                  <c:v>21.7</c:v>
                </c:pt>
                <c:pt idx="74">
                  <c:v>21.7</c:v>
                </c:pt>
                <c:pt idx="75">
                  <c:v>21.7</c:v>
                </c:pt>
                <c:pt idx="76">
                  <c:v>21.7</c:v>
                </c:pt>
                <c:pt idx="77">
                  <c:v>21.7</c:v>
                </c:pt>
                <c:pt idx="78">
                  <c:v>21.7</c:v>
                </c:pt>
                <c:pt idx="79">
                  <c:v>21.7</c:v>
                </c:pt>
                <c:pt idx="80">
                  <c:v>21.7</c:v>
                </c:pt>
                <c:pt idx="81">
                  <c:v>21.7</c:v>
                </c:pt>
                <c:pt idx="82">
                  <c:v>21.7</c:v>
                </c:pt>
                <c:pt idx="83">
                  <c:v>21.7</c:v>
                </c:pt>
                <c:pt idx="84">
                  <c:v>21.7</c:v>
                </c:pt>
                <c:pt idx="85">
                  <c:v>21.7</c:v>
                </c:pt>
                <c:pt idx="86">
                  <c:v>21.7</c:v>
                </c:pt>
                <c:pt idx="87">
                  <c:v>21.7</c:v>
                </c:pt>
                <c:pt idx="88">
                  <c:v>21.7</c:v>
                </c:pt>
                <c:pt idx="89">
                  <c:v>21.7</c:v>
                </c:pt>
                <c:pt idx="90">
                  <c:v>21.7</c:v>
                </c:pt>
                <c:pt idx="91">
                  <c:v>21.7</c:v>
                </c:pt>
                <c:pt idx="92">
                  <c:v>21.7</c:v>
                </c:pt>
                <c:pt idx="93">
                  <c:v>21.7</c:v>
                </c:pt>
                <c:pt idx="94">
                  <c:v>21.7</c:v>
                </c:pt>
                <c:pt idx="95">
                  <c:v>21.7</c:v>
                </c:pt>
                <c:pt idx="96">
                  <c:v>21.7</c:v>
                </c:pt>
                <c:pt idx="97">
                  <c:v>21.7</c:v>
                </c:pt>
                <c:pt idx="98">
                  <c:v>21.7</c:v>
                </c:pt>
                <c:pt idx="99">
                  <c:v>21.7</c:v>
                </c:pt>
                <c:pt idx="100">
                  <c:v>21.7</c:v>
                </c:pt>
                <c:pt idx="101">
                  <c:v>21.7</c:v>
                </c:pt>
                <c:pt idx="102">
                  <c:v>21.7</c:v>
                </c:pt>
                <c:pt idx="103">
                  <c:v>21.7</c:v>
                </c:pt>
                <c:pt idx="104">
                  <c:v>21.7</c:v>
                </c:pt>
                <c:pt idx="105">
                  <c:v>21.7</c:v>
                </c:pt>
                <c:pt idx="106">
                  <c:v>21.7</c:v>
                </c:pt>
                <c:pt idx="107">
                  <c:v>21.7</c:v>
                </c:pt>
                <c:pt idx="108">
                  <c:v>21.7</c:v>
                </c:pt>
                <c:pt idx="109">
                  <c:v>21.7</c:v>
                </c:pt>
                <c:pt idx="110">
                  <c:v>21.7</c:v>
                </c:pt>
                <c:pt idx="111">
                  <c:v>21.7</c:v>
                </c:pt>
                <c:pt idx="112">
                  <c:v>21.7</c:v>
                </c:pt>
                <c:pt idx="113">
                  <c:v>21.7</c:v>
                </c:pt>
                <c:pt idx="114">
                  <c:v>21.7</c:v>
                </c:pt>
                <c:pt idx="115">
                  <c:v>21.7</c:v>
                </c:pt>
                <c:pt idx="116">
                  <c:v>21.7</c:v>
                </c:pt>
                <c:pt idx="117">
                  <c:v>21.7</c:v>
                </c:pt>
                <c:pt idx="118">
                  <c:v>21.7</c:v>
                </c:pt>
                <c:pt idx="119">
                  <c:v>21.7</c:v>
                </c:pt>
                <c:pt idx="120">
                  <c:v>21.7</c:v>
                </c:pt>
                <c:pt idx="121">
                  <c:v>21.7</c:v>
                </c:pt>
                <c:pt idx="122">
                  <c:v>21.7</c:v>
                </c:pt>
                <c:pt idx="123">
                  <c:v>21.7</c:v>
                </c:pt>
                <c:pt idx="124">
                  <c:v>21.7</c:v>
                </c:pt>
                <c:pt idx="125">
                  <c:v>21.7</c:v>
                </c:pt>
                <c:pt idx="126">
                  <c:v>21.7</c:v>
                </c:pt>
                <c:pt idx="127">
                  <c:v>21.7</c:v>
                </c:pt>
                <c:pt idx="128">
                  <c:v>21.7</c:v>
                </c:pt>
                <c:pt idx="129">
                  <c:v>21.7</c:v>
                </c:pt>
                <c:pt idx="130">
                  <c:v>21.7</c:v>
                </c:pt>
                <c:pt idx="131">
                  <c:v>21.7</c:v>
                </c:pt>
                <c:pt idx="132">
                  <c:v>21.7</c:v>
                </c:pt>
                <c:pt idx="133">
                  <c:v>21.7</c:v>
                </c:pt>
                <c:pt idx="134">
                  <c:v>21.7</c:v>
                </c:pt>
                <c:pt idx="135">
                  <c:v>21.7</c:v>
                </c:pt>
                <c:pt idx="136">
                  <c:v>21.7</c:v>
                </c:pt>
                <c:pt idx="137">
                  <c:v>21.7</c:v>
                </c:pt>
                <c:pt idx="138">
                  <c:v>21.7</c:v>
                </c:pt>
                <c:pt idx="139">
                  <c:v>21.7</c:v>
                </c:pt>
                <c:pt idx="140">
                  <c:v>21.7</c:v>
                </c:pt>
                <c:pt idx="141">
                  <c:v>21.7</c:v>
                </c:pt>
                <c:pt idx="142">
                  <c:v>21.7</c:v>
                </c:pt>
                <c:pt idx="143">
                  <c:v>21.7</c:v>
                </c:pt>
                <c:pt idx="144">
                  <c:v>21.7</c:v>
                </c:pt>
                <c:pt idx="145">
                  <c:v>21.7</c:v>
                </c:pt>
                <c:pt idx="146">
                  <c:v>21.7</c:v>
                </c:pt>
                <c:pt idx="147">
                  <c:v>21.7</c:v>
                </c:pt>
                <c:pt idx="148">
                  <c:v>21.7</c:v>
                </c:pt>
                <c:pt idx="149">
                  <c:v>21.7</c:v>
                </c:pt>
                <c:pt idx="150">
                  <c:v>21.7</c:v>
                </c:pt>
                <c:pt idx="151">
                  <c:v>21.7</c:v>
                </c:pt>
                <c:pt idx="152">
                  <c:v>21.7</c:v>
                </c:pt>
                <c:pt idx="153">
                  <c:v>21.7</c:v>
                </c:pt>
                <c:pt idx="154">
                  <c:v>21.7</c:v>
                </c:pt>
                <c:pt idx="155">
                  <c:v>21.7</c:v>
                </c:pt>
                <c:pt idx="156">
                  <c:v>21.7</c:v>
                </c:pt>
                <c:pt idx="157">
                  <c:v>21.7</c:v>
                </c:pt>
                <c:pt idx="158">
                  <c:v>21.7</c:v>
                </c:pt>
                <c:pt idx="159">
                  <c:v>21.7</c:v>
                </c:pt>
                <c:pt idx="160">
                  <c:v>21.7</c:v>
                </c:pt>
                <c:pt idx="161">
                  <c:v>21.7</c:v>
                </c:pt>
                <c:pt idx="162">
                  <c:v>21.7</c:v>
                </c:pt>
                <c:pt idx="163">
                  <c:v>21.7</c:v>
                </c:pt>
                <c:pt idx="164">
                  <c:v>21.7</c:v>
                </c:pt>
                <c:pt idx="165">
                  <c:v>21.7</c:v>
                </c:pt>
                <c:pt idx="166">
                  <c:v>21.7</c:v>
                </c:pt>
                <c:pt idx="167">
                  <c:v>21.7</c:v>
                </c:pt>
                <c:pt idx="168">
                  <c:v>21.7</c:v>
                </c:pt>
                <c:pt idx="169">
                  <c:v>21.7</c:v>
                </c:pt>
                <c:pt idx="170">
                  <c:v>21.7</c:v>
                </c:pt>
                <c:pt idx="171">
                  <c:v>21.7</c:v>
                </c:pt>
                <c:pt idx="172">
                  <c:v>21.7</c:v>
                </c:pt>
                <c:pt idx="173">
                  <c:v>21.7</c:v>
                </c:pt>
                <c:pt idx="174">
                  <c:v>21.7</c:v>
                </c:pt>
                <c:pt idx="175">
                  <c:v>21.7</c:v>
                </c:pt>
                <c:pt idx="176">
                  <c:v>21.7</c:v>
                </c:pt>
                <c:pt idx="177">
                  <c:v>21.7</c:v>
                </c:pt>
                <c:pt idx="178">
                  <c:v>21.7</c:v>
                </c:pt>
                <c:pt idx="179">
                  <c:v>21.7</c:v>
                </c:pt>
                <c:pt idx="180">
                  <c:v>21.7</c:v>
                </c:pt>
                <c:pt idx="181">
                  <c:v>21.7</c:v>
                </c:pt>
                <c:pt idx="182">
                  <c:v>21.7</c:v>
                </c:pt>
                <c:pt idx="183">
                  <c:v>21.7</c:v>
                </c:pt>
                <c:pt idx="184">
                  <c:v>21.7</c:v>
                </c:pt>
                <c:pt idx="185">
                  <c:v>21.7</c:v>
                </c:pt>
                <c:pt idx="186">
                  <c:v>21.7</c:v>
                </c:pt>
                <c:pt idx="187">
                  <c:v>21.7</c:v>
                </c:pt>
                <c:pt idx="188">
                  <c:v>21.7</c:v>
                </c:pt>
                <c:pt idx="189">
                  <c:v>21.7</c:v>
                </c:pt>
                <c:pt idx="190">
                  <c:v>21.7</c:v>
                </c:pt>
                <c:pt idx="191">
                  <c:v>21.7</c:v>
                </c:pt>
                <c:pt idx="192">
                  <c:v>21.7</c:v>
                </c:pt>
                <c:pt idx="193">
                  <c:v>21.7</c:v>
                </c:pt>
                <c:pt idx="194">
                  <c:v>21.7</c:v>
                </c:pt>
                <c:pt idx="195">
                  <c:v>21.7</c:v>
                </c:pt>
                <c:pt idx="196">
                  <c:v>21.7</c:v>
                </c:pt>
                <c:pt idx="197">
                  <c:v>21.7</c:v>
                </c:pt>
                <c:pt idx="198">
                  <c:v>21.7</c:v>
                </c:pt>
                <c:pt idx="199">
                  <c:v>21.7</c:v>
                </c:pt>
                <c:pt idx="200">
                  <c:v>21.7</c:v>
                </c:pt>
                <c:pt idx="201">
                  <c:v>21.7</c:v>
                </c:pt>
                <c:pt idx="202">
                  <c:v>21.7</c:v>
                </c:pt>
                <c:pt idx="203">
                  <c:v>21.7</c:v>
                </c:pt>
                <c:pt idx="204">
                  <c:v>21.7</c:v>
                </c:pt>
                <c:pt idx="205">
                  <c:v>21.7</c:v>
                </c:pt>
                <c:pt idx="206">
                  <c:v>21.7</c:v>
                </c:pt>
                <c:pt idx="207">
                  <c:v>21.7</c:v>
                </c:pt>
                <c:pt idx="208">
                  <c:v>21.7</c:v>
                </c:pt>
                <c:pt idx="209">
                  <c:v>21.7</c:v>
                </c:pt>
                <c:pt idx="210">
                  <c:v>21.7</c:v>
                </c:pt>
                <c:pt idx="211">
                  <c:v>21.7</c:v>
                </c:pt>
                <c:pt idx="212">
                  <c:v>21.7</c:v>
                </c:pt>
                <c:pt idx="213">
                  <c:v>21.7</c:v>
                </c:pt>
                <c:pt idx="214">
                  <c:v>21.7</c:v>
                </c:pt>
                <c:pt idx="215">
                  <c:v>21.7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F6-FC42-821B-ED3921BAE55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-1σ (17.9x)</c:v>
                </c:pt>
              </c:strCache>
            </c:strRef>
          </c:tx>
          <c:spPr>
            <a:ln w="12700">
              <a:prstDash val="dash"/>
            </a:ln>
          </c:spPr>
          <c:marker>
            <c:symbol val="none"/>
          </c:marker>
          <c:dLbls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DFF-4F86-BDE1-C95FA5D343F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216"/>
                <c:pt idx="0">
                  <c:v>2022-01-07</c:v>
                </c:pt>
                <c:pt idx="1">
                  <c:v>2022-01-14</c:v>
                </c:pt>
                <c:pt idx="2">
                  <c:v>2022-01-21</c:v>
                </c:pt>
                <c:pt idx="3">
                  <c:v>2022-01-28</c:v>
                </c:pt>
                <c:pt idx="4">
                  <c:v>2022-02-11</c:v>
                </c:pt>
                <c:pt idx="5">
                  <c:v>2022-02-18</c:v>
                </c:pt>
                <c:pt idx="6">
                  <c:v>2022-02-25</c:v>
                </c:pt>
                <c:pt idx="7">
                  <c:v>2022-03-04</c:v>
                </c:pt>
                <c:pt idx="8">
                  <c:v>2022-03-11</c:v>
                </c:pt>
                <c:pt idx="9">
                  <c:v>2022-03-18</c:v>
                </c:pt>
                <c:pt idx="10">
                  <c:v>2022-03-25</c:v>
                </c:pt>
                <c:pt idx="11">
                  <c:v>2022-04-01</c:v>
                </c:pt>
                <c:pt idx="12">
                  <c:v>2022-04-08</c:v>
                </c:pt>
                <c:pt idx="13">
                  <c:v>2022-04-15</c:v>
                </c:pt>
                <c:pt idx="14">
                  <c:v>2022-04-22</c:v>
                </c:pt>
                <c:pt idx="15">
                  <c:v>2022-04-29</c:v>
                </c:pt>
                <c:pt idx="16">
                  <c:v>2022-05-06</c:v>
                </c:pt>
                <c:pt idx="17">
                  <c:v>2022-05-13</c:v>
                </c:pt>
                <c:pt idx="18">
                  <c:v>2022-05-20</c:v>
                </c:pt>
                <c:pt idx="19">
                  <c:v>2022-05-27</c:v>
                </c:pt>
                <c:pt idx="20">
                  <c:v>2022-06-02</c:v>
                </c:pt>
                <c:pt idx="21">
                  <c:v>2022-06-10</c:v>
                </c:pt>
                <c:pt idx="22">
                  <c:v>2022-06-17</c:v>
                </c:pt>
                <c:pt idx="23">
                  <c:v>2022-06-24</c:v>
                </c:pt>
                <c:pt idx="24">
                  <c:v>2022-07-01</c:v>
                </c:pt>
                <c:pt idx="25">
                  <c:v>2022-07-08</c:v>
                </c:pt>
                <c:pt idx="26">
                  <c:v>2022-07-15</c:v>
                </c:pt>
                <c:pt idx="27">
                  <c:v>2022-07-22</c:v>
                </c:pt>
                <c:pt idx="28">
                  <c:v>2022-07-29</c:v>
                </c:pt>
                <c:pt idx="29">
                  <c:v>2022-08-05</c:v>
                </c:pt>
                <c:pt idx="30">
                  <c:v>2022-08-12</c:v>
                </c:pt>
                <c:pt idx="31">
                  <c:v>2022-08-19</c:v>
                </c:pt>
                <c:pt idx="32">
                  <c:v>2022-08-26</c:v>
                </c:pt>
                <c:pt idx="33">
                  <c:v>2022-09-02</c:v>
                </c:pt>
                <c:pt idx="34">
                  <c:v>2022-09-09</c:v>
                </c:pt>
                <c:pt idx="35">
                  <c:v>2022-09-16</c:v>
                </c:pt>
                <c:pt idx="36">
                  <c:v>2022-09-23</c:v>
                </c:pt>
                <c:pt idx="37">
                  <c:v>2022-09-30</c:v>
                </c:pt>
                <c:pt idx="38">
                  <c:v>2022-10-14</c:v>
                </c:pt>
                <c:pt idx="39">
                  <c:v>2022-10-21</c:v>
                </c:pt>
                <c:pt idx="40">
                  <c:v>2022-10-28</c:v>
                </c:pt>
                <c:pt idx="41">
                  <c:v>2022-11-04</c:v>
                </c:pt>
                <c:pt idx="42">
                  <c:v>2022-11-11</c:v>
                </c:pt>
                <c:pt idx="43">
                  <c:v>2022-11-18</c:v>
                </c:pt>
                <c:pt idx="44">
                  <c:v>2022-11-25</c:v>
                </c:pt>
                <c:pt idx="45">
                  <c:v>2022-12-02</c:v>
                </c:pt>
                <c:pt idx="46">
                  <c:v>2022-12-09</c:v>
                </c:pt>
                <c:pt idx="47">
                  <c:v>2022-12-16</c:v>
                </c:pt>
                <c:pt idx="48">
                  <c:v>2022-12-23</c:v>
                </c:pt>
                <c:pt idx="49">
                  <c:v>2022-12-30</c:v>
                </c:pt>
                <c:pt idx="50">
                  <c:v>2023-01-06</c:v>
                </c:pt>
                <c:pt idx="51">
                  <c:v>2023-01-13</c:v>
                </c:pt>
                <c:pt idx="52">
                  <c:v>2023-01-20</c:v>
                </c:pt>
                <c:pt idx="53">
                  <c:v>2023-02-03</c:v>
                </c:pt>
                <c:pt idx="54">
                  <c:v>2023-02-10</c:v>
                </c:pt>
                <c:pt idx="55">
                  <c:v>2023-02-17</c:v>
                </c:pt>
                <c:pt idx="56">
                  <c:v>2023-02-24</c:v>
                </c:pt>
                <c:pt idx="57">
                  <c:v>2023-03-03</c:v>
                </c:pt>
                <c:pt idx="58">
                  <c:v>2023-03-10</c:v>
                </c:pt>
                <c:pt idx="59">
                  <c:v>2023-03-17</c:v>
                </c:pt>
                <c:pt idx="60">
                  <c:v>2023-03-24</c:v>
                </c:pt>
                <c:pt idx="61">
                  <c:v>2023-03-31</c:v>
                </c:pt>
                <c:pt idx="62">
                  <c:v>2023-04-07</c:v>
                </c:pt>
                <c:pt idx="63">
                  <c:v>2023-04-14</c:v>
                </c:pt>
                <c:pt idx="64">
                  <c:v>2023-04-21</c:v>
                </c:pt>
                <c:pt idx="65">
                  <c:v>2023-04-28</c:v>
                </c:pt>
                <c:pt idx="66">
                  <c:v>2023-05-05</c:v>
                </c:pt>
                <c:pt idx="67">
                  <c:v>2023-05-12</c:v>
                </c:pt>
                <c:pt idx="68">
                  <c:v>2023-05-19</c:v>
                </c:pt>
                <c:pt idx="69">
                  <c:v>2023-05-26</c:v>
                </c:pt>
                <c:pt idx="70">
                  <c:v>2023-06-02</c:v>
                </c:pt>
                <c:pt idx="71">
                  <c:v>2023-06-09</c:v>
                </c:pt>
                <c:pt idx="72">
                  <c:v>2023-06-16</c:v>
                </c:pt>
                <c:pt idx="73">
                  <c:v>2023-06-21</c:v>
                </c:pt>
                <c:pt idx="74">
                  <c:v>2023-06-30</c:v>
                </c:pt>
                <c:pt idx="75">
                  <c:v>2023-07-07</c:v>
                </c:pt>
                <c:pt idx="76">
                  <c:v>2023-07-14</c:v>
                </c:pt>
                <c:pt idx="77">
                  <c:v>2023-07-21</c:v>
                </c:pt>
                <c:pt idx="78">
                  <c:v>2023-07-28</c:v>
                </c:pt>
                <c:pt idx="79">
                  <c:v>2023-08-04</c:v>
                </c:pt>
                <c:pt idx="80">
                  <c:v>2023-08-11</c:v>
                </c:pt>
                <c:pt idx="81">
                  <c:v>2023-08-18</c:v>
                </c:pt>
                <c:pt idx="82">
                  <c:v>2023-08-25</c:v>
                </c:pt>
                <c:pt idx="83">
                  <c:v>2023-09-01</c:v>
                </c:pt>
                <c:pt idx="84">
                  <c:v>2023-09-07</c:v>
                </c:pt>
                <c:pt idx="85">
                  <c:v>2023-09-15</c:v>
                </c:pt>
                <c:pt idx="86">
                  <c:v>2023-09-22</c:v>
                </c:pt>
                <c:pt idx="87">
                  <c:v>2023-09-28</c:v>
                </c:pt>
                <c:pt idx="88">
                  <c:v>2023-10-13</c:v>
                </c:pt>
                <c:pt idx="89">
                  <c:v>2023-10-20</c:v>
                </c:pt>
                <c:pt idx="90">
                  <c:v>2023-10-27</c:v>
                </c:pt>
                <c:pt idx="91">
                  <c:v>2023-11-03</c:v>
                </c:pt>
                <c:pt idx="92">
                  <c:v>2023-11-10</c:v>
                </c:pt>
                <c:pt idx="93">
                  <c:v>2023-11-17</c:v>
                </c:pt>
                <c:pt idx="94">
                  <c:v>2023-11-24</c:v>
                </c:pt>
                <c:pt idx="95">
                  <c:v>2023-12-01</c:v>
                </c:pt>
                <c:pt idx="96">
                  <c:v>2023-12-08</c:v>
                </c:pt>
                <c:pt idx="97">
                  <c:v>2023-12-15</c:v>
                </c:pt>
                <c:pt idx="98">
                  <c:v>2023-12-22</c:v>
                </c:pt>
                <c:pt idx="99">
                  <c:v>2023-12-29</c:v>
                </c:pt>
                <c:pt idx="100">
                  <c:v>2024-01-05</c:v>
                </c:pt>
                <c:pt idx="101">
                  <c:v>2024-01-12</c:v>
                </c:pt>
                <c:pt idx="102">
                  <c:v>2024-01-19</c:v>
                </c:pt>
                <c:pt idx="103">
                  <c:v>2024-01-26</c:v>
                </c:pt>
                <c:pt idx="104">
                  <c:v>2024-02-02</c:v>
                </c:pt>
                <c:pt idx="105">
                  <c:v>2024-02-08</c:v>
                </c:pt>
                <c:pt idx="106">
                  <c:v>2024-02-23</c:v>
                </c:pt>
                <c:pt idx="107">
                  <c:v>2024-03-01</c:v>
                </c:pt>
                <c:pt idx="108">
                  <c:v>2024-03-08</c:v>
                </c:pt>
                <c:pt idx="109">
                  <c:v>2024-03-15</c:v>
                </c:pt>
                <c:pt idx="110">
                  <c:v>2024-03-22</c:v>
                </c:pt>
                <c:pt idx="111">
                  <c:v>2024-03-29</c:v>
                </c:pt>
                <c:pt idx="112">
                  <c:v>2024-04-03</c:v>
                </c:pt>
                <c:pt idx="113">
                  <c:v>2024-04-12</c:v>
                </c:pt>
                <c:pt idx="114">
                  <c:v>2024-04-19</c:v>
                </c:pt>
                <c:pt idx="115">
                  <c:v>2024-04-26</c:v>
                </c:pt>
                <c:pt idx="116">
                  <c:v>2024-04-30</c:v>
                </c:pt>
                <c:pt idx="117">
                  <c:v>2024-05-10</c:v>
                </c:pt>
                <c:pt idx="118">
                  <c:v>2024-05-17</c:v>
                </c:pt>
                <c:pt idx="119">
                  <c:v>2024-05-24</c:v>
                </c:pt>
                <c:pt idx="120">
                  <c:v>2024-05-31</c:v>
                </c:pt>
                <c:pt idx="121">
                  <c:v>2024-06-07</c:v>
                </c:pt>
                <c:pt idx="122">
                  <c:v>2024-06-14</c:v>
                </c:pt>
                <c:pt idx="123">
                  <c:v>2024-06-21</c:v>
                </c:pt>
                <c:pt idx="124">
                  <c:v>2024-06-28</c:v>
                </c:pt>
                <c:pt idx="125">
                  <c:v>2024-07-05</c:v>
                </c:pt>
                <c:pt idx="126">
                  <c:v>2024-07-12</c:v>
                </c:pt>
                <c:pt idx="127">
                  <c:v>2024-07-19</c:v>
                </c:pt>
                <c:pt idx="128">
                  <c:v>2024-07-26</c:v>
                </c:pt>
                <c:pt idx="129">
                  <c:v>2024-08-02</c:v>
                </c:pt>
                <c:pt idx="130">
                  <c:v>2024-08-09</c:v>
                </c:pt>
                <c:pt idx="131">
                  <c:v>2024-08-16</c:v>
                </c:pt>
                <c:pt idx="132">
                  <c:v>2024-08-23</c:v>
                </c:pt>
                <c:pt idx="133">
                  <c:v>2024-08-30</c:v>
                </c:pt>
                <c:pt idx="134">
                  <c:v>2024-09-06</c:v>
                </c:pt>
                <c:pt idx="135">
                  <c:v>2024-09-13</c:v>
                </c:pt>
                <c:pt idx="136">
                  <c:v>2024-09-20</c:v>
                </c:pt>
                <c:pt idx="137">
                  <c:v>2024-09-27</c:v>
                </c:pt>
                <c:pt idx="138">
                  <c:v>2024-09-30</c:v>
                </c:pt>
                <c:pt idx="139">
                  <c:v>2024-10-11</c:v>
                </c:pt>
                <c:pt idx="140">
                  <c:v>2024-10-18</c:v>
                </c:pt>
                <c:pt idx="141">
                  <c:v>2024-10-25</c:v>
                </c:pt>
                <c:pt idx="142">
                  <c:v>2024-11-01</c:v>
                </c:pt>
                <c:pt idx="143">
                  <c:v>2024-11-08</c:v>
                </c:pt>
                <c:pt idx="144">
                  <c:v>2024-11-15</c:v>
                </c:pt>
                <c:pt idx="145">
                  <c:v>2024-11-22</c:v>
                </c:pt>
                <c:pt idx="146">
                  <c:v>2024-11-29</c:v>
                </c:pt>
                <c:pt idx="147">
                  <c:v>2024-12-06</c:v>
                </c:pt>
                <c:pt idx="148">
                  <c:v>2024-12-13</c:v>
                </c:pt>
                <c:pt idx="149">
                  <c:v>2024-12-20</c:v>
                </c:pt>
                <c:pt idx="150">
                  <c:v>2024-12-27</c:v>
                </c:pt>
                <c:pt idx="151">
                  <c:v>2025-01-03</c:v>
                </c:pt>
                <c:pt idx="152">
                  <c:v>2025-01-10</c:v>
                </c:pt>
                <c:pt idx="153">
                  <c:v>2025-01-17</c:v>
                </c:pt>
                <c:pt idx="154">
                  <c:v>2025-01-24</c:v>
                </c:pt>
                <c:pt idx="155">
                  <c:v>2025-01-27</c:v>
                </c:pt>
                <c:pt idx="156">
                  <c:v>2025-02-07</c:v>
                </c:pt>
                <c:pt idx="157">
                  <c:v>2025-02-14</c:v>
                </c:pt>
                <c:pt idx="158">
                  <c:v>2025-02-21</c:v>
                </c:pt>
                <c:pt idx="159">
                  <c:v>2025-02-28</c:v>
                </c:pt>
                <c:pt idx="160">
                  <c:v>2025-03-07</c:v>
                </c:pt>
                <c:pt idx="161">
                  <c:v>2025-03-14</c:v>
                </c:pt>
                <c:pt idx="162">
                  <c:v>2025-03-21</c:v>
                </c:pt>
                <c:pt idx="163">
                  <c:v>2025-03-28</c:v>
                </c:pt>
                <c:pt idx="164">
                  <c:v>2025-04-03</c:v>
                </c:pt>
                <c:pt idx="165">
                  <c:v>2025-04-11</c:v>
                </c:pt>
                <c:pt idx="166">
                  <c:v>2025-04-18</c:v>
                </c:pt>
                <c:pt idx="167">
                  <c:v>2025-04-25</c:v>
                </c:pt>
                <c:pt idx="168">
                  <c:v>2025-04-30</c:v>
                </c:pt>
                <c:pt idx="169">
                  <c:v>2025-05-09</c:v>
                </c:pt>
                <c:pt idx="170">
                  <c:v>2025-05-16</c:v>
                </c:pt>
                <c:pt idx="171">
                  <c:v>2025-05-23</c:v>
                </c:pt>
                <c:pt idx="172">
                  <c:v>2025-05-30</c:v>
                </c:pt>
                <c:pt idx="173">
                  <c:v>2025-06-06</c:v>
                </c:pt>
                <c:pt idx="174">
                  <c:v>2025-06-13</c:v>
                </c:pt>
                <c:pt idx="175">
                  <c:v>2025-06-20</c:v>
                </c:pt>
                <c:pt idx="176">
                  <c:v>2025-06-27</c:v>
                </c:pt>
                <c:pt idx="177">
                  <c:v>2025-07-04</c:v>
                </c:pt>
                <c:pt idx="178">
                  <c:v>2025-07-11</c:v>
                </c:pt>
                <c:pt idx="179">
                  <c:v>2025-07-18</c:v>
                </c:pt>
                <c:pt idx="180">
                  <c:v>2025-07-25</c:v>
                </c:pt>
                <c:pt idx="181">
                  <c:v>2025-08-01</c:v>
                </c:pt>
                <c:pt idx="182">
                  <c:v>2025-08-08</c:v>
                </c:pt>
                <c:pt idx="183">
                  <c:v>2025-08-15</c:v>
                </c:pt>
                <c:pt idx="184">
                  <c:v>2025-08-22</c:v>
                </c:pt>
                <c:pt idx="185">
                  <c:v>2025-08-29</c:v>
                </c:pt>
                <c:pt idx="186">
                  <c:v>2025-09-05</c:v>
                </c:pt>
                <c:pt idx="187">
                  <c:v>2025-09-12</c:v>
                </c:pt>
                <c:pt idx="188">
                  <c:v>2025-09-19</c:v>
                </c:pt>
                <c:pt idx="189">
                  <c:v>2025-09-26</c:v>
                </c:pt>
                <c:pt idx="190">
                  <c:v>2025-09-30</c:v>
                </c:pt>
                <c:pt idx="191">
                  <c:v>2025-10-10</c:v>
                </c:pt>
                <c:pt idx="192">
                  <c:v>2025-10-17</c:v>
                </c:pt>
                <c:pt idx="193">
                  <c:v>2025-10-24</c:v>
                </c:pt>
                <c:pt idx="194">
                  <c:v>2025-10-31</c:v>
                </c:pt>
                <c:pt idx="195">
                  <c:v>2025-11-07</c:v>
                </c:pt>
                <c:pt idx="196">
                  <c:v>2025-11-14</c:v>
                </c:pt>
                <c:pt idx="197">
                  <c:v>2025-11-21</c:v>
                </c:pt>
                <c:pt idx="198">
                  <c:v>2025-11-28</c:v>
                </c:pt>
                <c:pt idx="199">
                  <c:v>2025-12-05</c:v>
                </c:pt>
                <c:pt idx="200">
                  <c:v>2025-12-12</c:v>
                </c:pt>
                <c:pt idx="201">
                  <c:v>2025-12-19</c:v>
                </c:pt>
                <c:pt idx="202">
                  <c:v>2025-12-26</c:v>
                </c:pt>
                <c:pt idx="203">
                  <c:v>2025-12-31</c:v>
                </c:pt>
                <c:pt idx="204">
                  <c:v>2026-01-09</c:v>
                </c:pt>
                <c:pt idx="205">
                  <c:v>2026-01-16</c:v>
                </c:pt>
                <c:pt idx="206">
                  <c:v>2026-01-23</c:v>
                </c:pt>
                <c:pt idx="207">
                  <c:v>2026-01-30</c:v>
                </c:pt>
                <c:pt idx="208">
                  <c:v>2026-02-06</c:v>
                </c:pt>
                <c:pt idx="209">
                  <c:v>2026-02-13</c:v>
                </c:pt>
                <c:pt idx="210">
                  <c:v>2026-02-27</c:v>
                </c:pt>
                <c:pt idx="211">
                  <c:v>2026-03-06</c:v>
                </c:pt>
                <c:pt idx="212">
                  <c:v>2026-03-13</c:v>
                </c:pt>
                <c:pt idx="213">
                  <c:v>2026-03-20</c:v>
                </c:pt>
                <c:pt idx="214">
                  <c:v>2026-03-27</c:v>
                </c:pt>
                <c:pt idx="215">
                  <c:v>2026-03-31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216"/>
                <c:pt idx="0">
                  <c:v>17.899999999999999</c:v>
                </c:pt>
                <c:pt idx="1">
                  <c:v>17.899999999999999</c:v>
                </c:pt>
                <c:pt idx="2">
                  <c:v>17.899999999999999</c:v>
                </c:pt>
                <c:pt idx="3">
                  <c:v>17.899999999999999</c:v>
                </c:pt>
                <c:pt idx="4">
                  <c:v>17.899999999999999</c:v>
                </c:pt>
                <c:pt idx="5">
                  <c:v>17.899999999999999</c:v>
                </c:pt>
                <c:pt idx="6">
                  <c:v>17.899999999999999</c:v>
                </c:pt>
                <c:pt idx="7">
                  <c:v>17.899999999999999</c:v>
                </c:pt>
                <c:pt idx="8">
                  <c:v>17.899999999999999</c:v>
                </c:pt>
                <c:pt idx="9">
                  <c:v>17.899999999999999</c:v>
                </c:pt>
                <c:pt idx="10">
                  <c:v>17.899999999999999</c:v>
                </c:pt>
                <c:pt idx="11">
                  <c:v>17.899999999999999</c:v>
                </c:pt>
                <c:pt idx="12">
                  <c:v>17.899999999999999</c:v>
                </c:pt>
                <c:pt idx="13">
                  <c:v>17.899999999999999</c:v>
                </c:pt>
                <c:pt idx="14">
                  <c:v>17.899999999999999</c:v>
                </c:pt>
                <c:pt idx="15">
                  <c:v>17.899999999999999</c:v>
                </c:pt>
                <c:pt idx="16">
                  <c:v>17.899999999999999</c:v>
                </c:pt>
                <c:pt idx="17">
                  <c:v>17.899999999999999</c:v>
                </c:pt>
                <c:pt idx="18">
                  <c:v>17.899999999999999</c:v>
                </c:pt>
                <c:pt idx="19">
                  <c:v>17.899999999999999</c:v>
                </c:pt>
                <c:pt idx="20">
                  <c:v>17.899999999999999</c:v>
                </c:pt>
                <c:pt idx="21">
                  <c:v>17.899999999999999</c:v>
                </c:pt>
                <c:pt idx="22">
                  <c:v>17.899999999999999</c:v>
                </c:pt>
                <c:pt idx="23">
                  <c:v>17.899999999999999</c:v>
                </c:pt>
                <c:pt idx="24">
                  <c:v>17.899999999999999</c:v>
                </c:pt>
                <c:pt idx="25">
                  <c:v>17.899999999999999</c:v>
                </c:pt>
                <c:pt idx="26">
                  <c:v>17.899999999999999</c:v>
                </c:pt>
                <c:pt idx="27">
                  <c:v>17.899999999999999</c:v>
                </c:pt>
                <c:pt idx="28">
                  <c:v>17.899999999999999</c:v>
                </c:pt>
                <c:pt idx="29">
                  <c:v>17.899999999999999</c:v>
                </c:pt>
                <c:pt idx="30">
                  <c:v>17.899999999999999</c:v>
                </c:pt>
                <c:pt idx="31">
                  <c:v>17.899999999999999</c:v>
                </c:pt>
                <c:pt idx="32">
                  <c:v>17.899999999999999</c:v>
                </c:pt>
                <c:pt idx="33">
                  <c:v>17.899999999999999</c:v>
                </c:pt>
                <c:pt idx="34">
                  <c:v>17.899999999999999</c:v>
                </c:pt>
                <c:pt idx="35">
                  <c:v>17.899999999999999</c:v>
                </c:pt>
                <c:pt idx="36">
                  <c:v>17.899999999999999</c:v>
                </c:pt>
                <c:pt idx="37">
                  <c:v>17.899999999999999</c:v>
                </c:pt>
                <c:pt idx="38">
                  <c:v>17.899999999999999</c:v>
                </c:pt>
                <c:pt idx="39">
                  <c:v>17.899999999999999</c:v>
                </c:pt>
                <c:pt idx="40">
                  <c:v>17.899999999999999</c:v>
                </c:pt>
                <c:pt idx="41">
                  <c:v>17.899999999999999</c:v>
                </c:pt>
                <c:pt idx="42">
                  <c:v>17.899999999999999</c:v>
                </c:pt>
                <c:pt idx="43">
                  <c:v>17.899999999999999</c:v>
                </c:pt>
                <c:pt idx="44">
                  <c:v>17.899999999999999</c:v>
                </c:pt>
                <c:pt idx="45">
                  <c:v>17.899999999999999</c:v>
                </c:pt>
                <c:pt idx="46">
                  <c:v>17.899999999999999</c:v>
                </c:pt>
                <c:pt idx="47">
                  <c:v>17.899999999999999</c:v>
                </c:pt>
                <c:pt idx="48">
                  <c:v>17.899999999999999</c:v>
                </c:pt>
                <c:pt idx="49">
                  <c:v>17.899999999999999</c:v>
                </c:pt>
                <c:pt idx="50">
                  <c:v>17.899999999999999</c:v>
                </c:pt>
                <c:pt idx="51">
                  <c:v>17.899999999999999</c:v>
                </c:pt>
                <c:pt idx="52">
                  <c:v>17.899999999999999</c:v>
                </c:pt>
                <c:pt idx="53">
                  <c:v>17.899999999999999</c:v>
                </c:pt>
                <c:pt idx="54">
                  <c:v>17.899999999999999</c:v>
                </c:pt>
                <c:pt idx="55">
                  <c:v>17.899999999999999</c:v>
                </c:pt>
                <c:pt idx="56">
                  <c:v>17.899999999999999</c:v>
                </c:pt>
                <c:pt idx="57">
                  <c:v>17.899999999999999</c:v>
                </c:pt>
                <c:pt idx="58">
                  <c:v>17.899999999999999</c:v>
                </c:pt>
                <c:pt idx="59">
                  <c:v>17.899999999999999</c:v>
                </c:pt>
                <c:pt idx="60">
                  <c:v>17.899999999999999</c:v>
                </c:pt>
                <c:pt idx="61">
                  <c:v>17.899999999999999</c:v>
                </c:pt>
                <c:pt idx="62">
                  <c:v>17.899999999999999</c:v>
                </c:pt>
                <c:pt idx="63">
                  <c:v>17.899999999999999</c:v>
                </c:pt>
                <c:pt idx="64">
                  <c:v>17.899999999999999</c:v>
                </c:pt>
                <c:pt idx="65">
                  <c:v>17.899999999999999</c:v>
                </c:pt>
                <c:pt idx="66">
                  <c:v>17.899999999999999</c:v>
                </c:pt>
                <c:pt idx="67">
                  <c:v>17.899999999999999</c:v>
                </c:pt>
                <c:pt idx="68">
                  <c:v>17.899999999999999</c:v>
                </c:pt>
                <c:pt idx="69">
                  <c:v>17.899999999999999</c:v>
                </c:pt>
                <c:pt idx="70">
                  <c:v>17.899999999999999</c:v>
                </c:pt>
                <c:pt idx="71">
                  <c:v>17.899999999999999</c:v>
                </c:pt>
                <c:pt idx="72">
                  <c:v>17.899999999999999</c:v>
                </c:pt>
                <c:pt idx="73">
                  <c:v>17.899999999999999</c:v>
                </c:pt>
                <c:pt idx="74">
                  <c:v>17.899999999999999</c:v>
                </c:pt>
                <c:pt idx="75">
                  <c:v>17.899999999999999</c:v>
                </c:pt>
                <c:pt idx="76">
                  <c:v>17.899999999999999</c:v>
                </c:pt>
                <c:pt idx="77">
                  <c:v>17.899999999999999</c:v>
                </c:pt>
                <c:pt idx="78">
                  <c:v>17.899999999999999</c:v>
                </c:pt>
                <c:pt idx="79">
                  <c:v>17.899999999999999</c:v>
                </c:pt>
                <c:pt idx="80">
                  <c:v>17.899999999999999</c:v>
                </c:pt>
                <c:pt idx="81">
                  <c:v>17.899999999999999</c:v>
                </c:pt>
                <c:pt idx="82">
                  <c:v>17.899999999999999</c:v>
                </c:pt>
                <c:pt idx="83">
                  <c:v>17.899999999999999</c:v>
                </c:pt>
                <c:pt idx="84">
                  <c:v>17.899999999999999</c:v>
                </c:pt>
                <c:pt idx="85">
                  <c:v>17.899999999999999</c:v>
                </c:pt>
                <c:pt idx="86">
                  <c:v>17.899999999999999</c:v>
                </c:pt>
                <c:pt idx="87">
                  <c:v>17.899999999999999</c:v>
                </c:pt>
                <c:pt idx="88">
                  <c:v>17.899999999999999</c:v>
                </c:pt>
                <c:pt idx="89">
                  <c:v>17.899999999999999</c:v>
                </c:pt>
                <c:pt idx="90">
                  <c:v>17.899999999999999</c:v>
                </c:pt>
                <c:pt idx="91">
                  <c:v>17.899999999999999</c:v>
                </c:pt>
                <c:pt idx="92">
                  <c:v>17.899999999999999</c:v>
                </c:pt>
                <c:pt idx="93">
                  <c:v>17.899999999999999</c:v>
                </c:pt>
                <c:pt idx="94">
                  <c:v>17.899999999999999</c:v>
                </c:pt>
                <c:pt idx="95">
                  <c:v>17.899999999999999</c:v>
                </c:pt>
                <c:pt idx="96">
                  <c:v>17.899999999999999</c:v>
                </c:pt>
                <c:pt idx="97">
                  <c:v>17.899999999999999</c:v>
                </c:pt>
                <c:pt idx="98">
                  <c:v>17.899999999999999</c:v>
                </c:pt>
                <c:pt idx="99">
                  <c:v>17.899999999999999</c:v>
                </c:pt>
                <c:pt idx="100">
                  <c:v>17.899999999999999</c:v>
                </c:pt>
                <c:pt idx="101">
                  <c:v>17.899999999999999</c:v>
                </c:pt>
                <c:pt idx="102">
                  <c:v>17.899999999999999</c:v>
                </c:pt>
                <c:pt idx="103">
                  <c:v>17.899999999999999</c:v>
                </c:pt>
                <c:pt idx="104">
                  <c:v>17.899999999999999</c:v>
                </c:pt>
                <c:pt idx="105">
                  <c:v>17.899999999999999</c:v>
                </c:pt>
                <c:pt idx="106">
                  <c:v>17.899999999999999</c:v>
                </c:pt>
                <c:pt idx="107">
                  <c:v>17.899999999999999</c:v>
                </c:pt>
                <c:pt idx="108">
                  <c:v>17.899999999999999</c:v>
                </c:pt>
                <c:pt idx="109">
                  <c:v>17.899999999999999</c:v>
                </c:pt>
                <c:pt idx="110">
                  <c:v>17.899999999999999</c:v>
                </c:pt>
                <c:pt idx="111">
                  <c:v>17.899999999999999</c:v>
                </c:pt>
                <c:pt idx="112">
                  <c:v>17.899999999999999</c:v>
                </c:pt>
                <c:pt idx="113">
                  <c:v>17.899999999999999</c:v>
                </c:pt>
                <c:pt idx="114">
                  <c:v>17.899999999999999</c:v>
                </c:pt>
                <c:pt idx="115">
                  <c:v>17.899999999999999</c:v>
                </c:pt>
                <c:pt idx="116">
                  <c:v>17.899999999999999</c:v>
                </c:pt>
                <c:pt idx="117">
                  <c:v>17.899999999999999</c:v>
                </c:pt>
                <c:pt idx="118">
                  <c:v>17.899999999999999</c:v>
                </c:pt>
                <c:pt idx="119">
                  <c:v>17.899999999999999</c:v>
                </c:pt>
                <c:pt idx="120">
                  <c:v>17.899999999999999</c:v>
                </c:pt>
                <c:pt idx="121">
                  <c:v>17.899999999999999</c:v>
                </c:pt>
                <c:pt idx="122">
                  <c:v>17.899999999999999</c:v>
                </c:pt>
                <c:pt idx="123">
                  <c:v>17.899999999999999</c:v>
                </c:pt>
                <c:pt idx="124">
                  <c:v>17.899999999999999</c:v>
                </c:pt>
                <c:pt idx="125">
                  <c:v>17.899999999999999</c:v>
                </c:pt>
                <c:pt idx="126">
                  <c:v>17.899999999999999</c:v>
                </c:pt>
                <c:pt idx="127">
                  <c:v>17.899999999999999</c:v>
                </c:pt>
                <c:pt idx="128">
                  <c:v>17.899999999999999</c:v>
                </c:pt>
                <c:pt idx="129">
                  <c:v>17.899999999999999</c:v>
                </c:pt>
                <c:pt idx="130">
                  <c:v>17.899999999999999</c:v>
                </c:pt>
                <c:pt idx="131">
                  <c:v>17.899999999999999</c:v>
                </c:pt>
                <c:pt idx="132">
                  <c:v>17.899999999999999</c:v>
                </c:pt>
                <c:pt idx="133">
                  <c:v>17.899999999999999</c:v>
                </c:pt>
                <c:pt idx="134">
                  <c:v>17.899999999999999</c:v>
                </c:pt>
                <c:pt idx="135">
                  <c:v>17.899999999999999</c:v>
                </c:pt>
                <c:pt idx="136">
                  <c:v>17.899999999999999</c:v>
                </c:pt>
                <c:pt idx="137">
                  <c:v>17.899999999999999</c:v>
                </c:pt>
                <c:pt idx="138">
                  <c:v>17.899999999999999</c:v>
                </c:pt>
                <c:pt idx="139">
                  <c:v>17.899999999999999</c:v>
                </c:pt>
                <c:pt idx="140">
                  <c:v>17.899999999999999</c:v>
                </c:pt>
                <c:pt idx="141">
                  <c:v>17.899999999999999</c:v>
                </c:pt>
                <c:pt idx="142">
                  <c:v>17.899999999999999</c:v>
                </c:pt>
                <c:pt idx="143">
                  <c:v>17.899999999999999</c:v>
                </c:pt>
                <c:pt idx="144">
                  <c:v>17.899999999999999</c:v>
                </c:pt>
                <c:pt idx="145">
                  <c:v>17.899999999999999</c:v>
                </c:pt>
                <c:pt idx="146">
                  <c:v>17.899999999999999</c:v>
                </c:pt>
                <c:pt idx="147">
                  <c:v>17.899999999999999</c:v>
                </c:pt>
                <c:pt idx="148">
                  <c:v>17.899999999999999</c:v>
                </c:pt>
                <c:pt idx="149">
                  <c:v>17.899999999999999</c:v>
                </c:pt>
                <c:pt idx="150">
                  <c:v>17.899999999999999</c:v>
                </c:pt>
                <c:pt idx="151">
                  <c:v>17.899999999999999</c:v>
                </c:pt>
                <c:pt idx="152">
                  <c:v>17.899999999999999</c:v>
                </c:pt>
                <c:pt idx="153">
                  <c:v>17.899999999999999</c:v>
                </c:pt>
                <c:pt idx="154">
                  <c:v>17.899999999999999</c:v>
                </c:pt>
                <c:pt idx="155">
                  <c:v>17.899999999999999</c:v>
                </c:pt>
                <c:pt idx="156">
                  <c:v>17.899999999999999</c:v>
                </c:pt>
                <c:pt idx="157">
                  <c:v>17.899999999999999</c:v>
                </c:pt>
                <c:pt idx="158">
                  <c:v>17.899999999999999</c:v>
                </c:pt>
                <c:pt idx="159">
                  <c:v>17.899999999999999</c:v>
                </c:pt>
                <c:pt idx="160">
                  <c:v>17.899999999999999</c:v>
                </c:pt>
                <c:pt idx="161">
                  <c:v>17.899999999999999</c:v>
                </c:pt>
                <c:pt idx="162">
                  <c:v>17.899999999999999</c:v>
                </c:pt>
                <c:pt idx="163">
                  <c:v>17.899999999999999</c:v>
                </c:pt>
                <c:pt idx="164">
                  <c:v>17.899999999999999</c:v>
                </c:pt>
                <c:pt idx="165">
                  <c:v>17.899999999999999</c:v>
                </c:pt>
                <c:pt idx="166">
                  <c:v>17.899999999999999</c:v>
                </c:pt>
                <c:pt idx="167">
                  <c:v>17.899999999999999</c:v>
                </c:pt>
                <c:pt idx="168">
                  <c:v>17.899999999999999</c:v>
                </c:pt>
                <c:pt idx="169">
                  <c:v>17.899999999999999</c:v>
                </c:pt>
                <c:pt idx="170">
                  <c:v>17.899999999999999</c:v>
                </c:pt>
                <c:pt idx="171">
                  <c:v>17.899999999999999</c:v>
                </c:pt>
                <c:pt idx="172">
                  <c:v>17.899999999999999</c:v>
                </c:pt>
                <c:pt idx="173">
                  <c:v>17.899999999999999</c:v>
                </c:pt>
                <c:pt idx="174">
                  <c:v>17.899999999999999</c:v>
                </c:pt>
                <c:pt idx="175">
                  <c:v>17.899999999999999</c:v>
                </c:pt>
                <c:pt idx="176">
                  <c:v>17.899999999999999</c:v>
                </c:pt>
                <c:pt idx="177">
                  <c:v>17.899999999999999</c:v>
                </c:pt>
                <c:pt idx="178">
                  <c:v>17.899999999999999</c:v>
                </c:pt>
                <c:pt idx="179">
                  <c:v>17.899999999999999</c:v>
                </c:pt>
                <c:pt idx="180">
                  <c:v>17.899999999999999</c:v>
                </c:pt>
                <c:pt idx="181">
                  <c:v>17.899999999999999</c:v>
                </c:pt>
                <c:pt idx="182">
                  <c:v>17.899999999999999</c:v>
                </c:pt>
                <c:pt idx="183">
                  <c:v>17.899999999999999</c:v>
                </c:pt>
                <c:pt idx="184">
                  <c:v>17.899999999999999</c:v>
                </c:pt>
                <c:pt idx="185">
                  <c:v>17.899999999999999</c:v>
                </c:pt>
                <c:pt idx="186">
                  <c:v>17.899999999999999</c:v>
                </c:pt>
                <c:pt idx="187">
                  <c:v>17.899999999999999</c:v>
                </c:pt>
                <c:pt idx="188">
                  <c:v>17.899999999999999</c:v>
                </c:pt>
                <c:pt idx="189">
                  <c:v>17.899999999999999</c:v>
                </c:pt>
                <c:pt idx="190">
                  <c:v>17.899999999999999</c:v>
                </c:pt>
                <c:pt idx="191">
                  <c:v>17.899999999999999</c:v>
                </c:pt>
                <c:pt idx="192">
                  <c:v>17.899999999999999</c:v>
                </c:pt>
                <c:pt idx="193">
                  <c:v>17.899999999999999</c:v>
                </c:pt>
                <c:pt idx="194">
                  <c:v>17.899999999999999</c:v>
                </c:pt>
                <c:pt idx="195">
                  <c:v>17.899999999999999</c:v>
                </c:pt>
                <c:pt idx="196">
                  <c:v>17.899999999999999</c:v>
                </c:pt>
                <c:pt idx="197">
                  <c:v>17.899999999999999</c:v>
                </c:pt>
                <c:pt idx="198">
                  <c:v>17.899999999999999</c:v>
                </c:pt>
                <c:pt idx="199">
                  <c:v>17.899999999999999</c:v>
                </c:pt>
                <c:pt idx="200">
                  <c:v>17.899999999999999</c:v>
                </c:pt>
                <c:pt idx="201">
                  <c:v>17.899999999999999</c:v>
                </c:pt>
                <c:pt idx="202">
                  <c:v>17.899999999999999</c:v>
                </c:pt>
                <c:pt idx="203">
                  <c:v>17.899999999999999</c:v>
                </c:pt>
                <c:pt idx="204">
                  <c:v>17.899999999999999</c:v>
                </c:pt>
                <c:pt idx="205">
                  <c:v>17.899999999999999</c:v>
                </c:pt>
                <c:pt idx="206">
                  <c:v>17.899999999999999</c:v>
                </c:pt>
                <c:pt idx="207">
                  <c:v>17.899999999999999</c:v>
                </c:pt>
                <c:pt idx="208">
                  <c:v>17.899999999999999</c:v>
                </c:pt>
                <c:pt idx="209">
                  <c:v>17.899999999999999</c:v>
                </c:pt>
                <c:pt idx="210">
                  <c:v>17.899999999999999</c:v>
                </c:pt>
                <c:pt idx="211">
                  <c:v>17.899999999999999</c:v>
                </c:pt>
                <c:pt idx="212">
                  <c:v>17.899999999999999</c:v>
                </c:pt>
                <c:pt idx="213">
                  <c:v>17.899999999999999</c:v>
                </c:pt>
                <c:pt idx="214">
                  <c:v>17.899999999999999</c:v>
                </c:pt>
                <c:pt idx="215">
                  <c:v>17.899999999999999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F6-FC42-821B-ED3921BAE5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0"/>
          <c:min val="10"/>
        </c:scaling>
        <c:delete val="0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800">
          <a:latin typeface="Book Antiqua" panose="02040602050305030304" pitchFamily="18" charset="0"/>
        </a:defRPr>
      </a:pPr>
      <a:endParaRPr lang="zh-CN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思源电气</c:v>
                </c:pt>
              </c:strCache>
            </c:strRef>
          </c:tx>
          <c:spPr>
            <a:ln w="19050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222"/>
                <c:pt idx="0">
                  <c:v>6.8</c:v>
                </c:pt>
                <c:pt idx="1">
                  <c:v>7</c:v>
                </c:pt>
                <c:pt idx="2">
                  <c:v>7</c:v>
                </c:pt>
                <c:pt idx="3">
                  <c:v>6.9</c:v>
                </c:pt>
                <c:pt idx="4">
                  <c:v>6.9</c:v>
                </c:pt>
                <c:pt idx="5">
                  <c:v>6.4</c:v>
                </c:pt>
                <c:pt idx="6">
                  <c:v>6.9</c:v>
                </c:pt>
                <c:pt idx="7">
                  <c:v>7</c:v>
                </c:pt>
                <c:pt idx="8">
                  <c:v>6.4</c:v>
                </c:pt>
                <c:pt idx="9">
                  <c:v>6</c:v>
                </c:pt>
                <c:pt idx="10">
                  <c:v>5.6</c:v>
                </c:pt>
                <c:pt idx="11">
                  <c:v>5.5</c:v>
                </c:pt>
                <c:pt idx="12">
                  <c:v>5</c:v>
                </c:pt>
                <c:pt idx="13">
                  <c:v>4.5999999999999996</c:v>
                </c:pt>
                <c:pt idx="14">
                  <c:v>4.5999999999999996</c:v>
                </c:pt>
                <c:pt idx="15">
                  <c:v>4.4000000000000004</c:v>
                </c:pt>
                <c:pt idx="16">
                  <c:v>4.5</c:v>
                </c:pt>
                <c:pt idx="17">
                  <c:v>4.5999999999999996</c:v>
                </c:pt>
                <c:pt idx="18">
                  <c:v>4.8</c:v>
                </c:pt>
                <c:pt idx="19">
                  <c:v>5.0999999999999996</c:v>
                </c:pt>
                <c:pt idx="20">
                  <c:v>5.0999999999999996</c:v>
                </c:pt>
                <c:pt idx="21">
                  <c:v>5.9</c:v>
                </c:pt>
                <c:pt idx="22">
                  <c:v>5.5</c:v>
                </c:pt>
                <c:pt idx="23">
                  <c:v>5.6</c:v>
                </c:pt>
                <c:pt idx="24">
                  <c:v>5.4</c:v>
                </c:pt>
                <c:pt idx="25">
                  <c:v>5.0999999999999996</c:v>
                </c:pt>
                <c:pt idx="26">
                  <c:v>5.9</c:v>
                </c:pt>
                <c:pt idx="27">
                  <c:v>6.5</c:v>
                </c:pt>
                <c:pt idx="28">
                  <c:v>6.8</c:v>
                </c:pt>
                <c:pt idx="29">
                  <c:v>6.7</c:v>
                </c:pt>
                <c:pt idx="30">
                  <c:v>6.7</c:v>
                </c:pt>
                <c:pt idx="31">
                  <c:v>7.1</c:v>
                </c:pt>
                <c:pt idx="32">
                  <c:v>6.9</c:v>
                </c:pt>
                <c:pt idx="33">
                  <c:v>6.4</c:v>
                </c:pt>
                <c:pt idx="34">
                  <c:v>6.1</c:v>
                </c:pt>
                <c:pt idx="35">
                  <c:v>6.5</c:v>
                </c:pt>
                <c:pt idx="36">
                  <c:v>6</c:v>
                </c:pt>
                <c:pt idx="37">
                  <c:v>5.9</c:v>
                </c:pt>
                <c:pt idx="38">
                  <c:v>5.8</c:v>
                </c:pt>
                <c:pt idx="39">
                  <c:v>5.8</c:v>
                </c:pt>
                <c:pt idx="40">
                  <c:v>6.1</c:v>
                </c:pt>
                <c:pt idx="41">
                  <c:v>6</c:v>
                </c:pt>
                <c:pt idx="42">
                  <c:v>5.2</c:v>
                </c:pt>
                <c:pt idx="43">
                  <c:v>5.8</c:v>
                </c:pt>
                <c:pt idx="44">
                  <c:v>5.7</c:v>
                </c:pt>
                <c:pt idx="45">
                  <c:v>5.9</c:v>
                </c:pt>
                <c:pt idx="46">
                  <c:v>5.9</c:v>
                </c:pt>
                <c:pt idx="47">
                  <c:v>5.9</c:v>
                </c:pt>
                <c:pt idx="48">
                  <c:v>5.7</c:v>
                </c:pt>
                <c:pt idx="49">
                  <c:v>5.9</c:v>
                </c:pt>
                <c:pt idx="50">
                  <c:v>5.6</c:v>
                </c:pt>
                <c:pt idx="51">
                  <c:v>5.8</c:v>
                </c:pt>
                <c:pt idx="52">
                  <c:v>6.1</c:v>
                </c:pt>
                <c:pt idx="53">
                  <c:v>6.1</c:v>
                </c:pt>
                <c:pt idx="54">
                  <c:v>6.7</c:v>
                </c:pt>
                <c:pt idx="55">
                  <c:v>6.7</c:v>
                </c:pt>
                <c:pt idx="56">
                  <c:v>6.6</c:v>
                </c:pt>
                <c:pt idx="57">
                  <c:v>6.6</c:v>
                </c:pt>
                <c:pt idx="58">
                  <c:v>6.7</c:v>
                </c:pt>
                <c:pt idx="59">
                  <c:v>7</c:v>
                </c:pt>
                <c:pt idx="60">
                  <c:v>6.9</c:v>
                </c:pt>
                <c:pt idx="61">
                  <c:v>6.8</c:v>
                </c:pt>
                <c:pt idx="62">
                  <c:v>6.6</c:v>
                </c:pt>
                <c:pt idx="63">
                  <c:v>7</c:v>
                </c:pt>
                <c:pt idx="64">
                  <c:v>6.9</c:v>
                </c:pt>
                <c:pt idx="65">
                  <c:v>6.6</c:v>
                </c:pt>
                <c:pt idx="66">
                  <c:v>6.5</c:v>
                </c:pt>
                <c:pt idx="67">
                  <c:v>6.9</c:v>
                </c:pt>
                <c:pt idx="68">
                  <c:v>7</c:v>
                </c:pt>
                <c:pt idx="69">
                  <c:v>6.7</c:v>
                </c:pt>
                <c:pt idx="70">
                  <c:v>6.9</c:v>
                </c:pt>
                <c:pt idx="71">
                  <c:v>7.1</c:v>
                </c:pt>
                <c:pt idx="72">
                  <c:v>7</c:v>
                </c:pt>
                <c:pt idx="73">
                  <c:v>7.2</c:v>
                </c:pt>
                <c:pt idx="74">
                  <c:v>7.1</c:v>
                </c:pt>
                <c:pt idx="75">
                  <c:v>7.1</c:v>
                </c:pt>
                <c:pt idx="76">
                  <c:v>6.9</c:v>
                </c:pt>
                <c:pt idx="77">
                  <c:v>7.1</c:v>
                </c:pt>
                <c:pt idx="78">
                  <c:v>7.2</c:v>
                </c:pt>
                <c:pt idx="79">
                  <c:v>7.7</c:v>
                </c:pt>
                <c:pt idx="80">
                  <c:v>7.8</c:v>
                </c:pt>
                <c:pt idx="81">
                  <c:v>7.6</c:v>
                </c:pt>
                <c:pt idx="82">
                  <c:v>7.7</c:v>
                </c:pt>
                <c:pt idx="83">
                  <c:v>7.8</c:v>
                </c:pt>
                <c:pt idx="84">
                  <c:v>7.6</c:v>
                </c:pt>
                <c:pt idx="85">
                  <c:v>7.5</c:v>
                </c:pt>
                <c:pt idx="86">
                  <c:v>7.9</c:v>
                </c:pt>
                <c:pt idx="87">
                  <c:v>7.7</c:v>
                </c:pt>
                <c:pt idx="88">
                  <c:v>7.5</c:v>
                </c:pt>
                <c:pt idx="89">
                  <c:v>7.6</c:v>
                </c:pt>
                <c:pt idx="90">
                  <c:v>7.9</c:v>
                </c:pt>
                <c:pt idx="91">
                  <c:v>7.9</c:v>
                </c:pt>
                <c:pt idx="92">
                  <c:v>7.3</c:v>
                </c:pt>
                <c:pt idx="93">
                  <c:v>7.3</c:v>
                </c:pt>
                <c:pt idx="94">
                  <c:v>7.5</c:v>
                </c:pt>
                <c:pt idx="95">
                  <c:v>7.6</c:v>
                </c:pt>
                <c:pt idx="96">
                  <c:v>7.4</c:v>
                </c:pt>
                <c:pt idx="97">
                  <c:v>7.4</c:v>
                </c:pt>
                <c:pt idx="98">
                  <c:v>7.4</c:v>
                </c:pt>
                <c:pt idx="99">
                  <c:v>7.6</c:v>
                </c:pt>
                <c:pt idx="100">
                  <c:v>7.4</c:v>
                </c:pt>
                <c:pt idx="101">
                  <c:v>7.7</c:v>
                </c:pt>
                <c:pt idx="102">
                  <c:v>7.6</c:v>
                </c:pt>
                <c:pt idx="103">
                  <c:v>8</c:v>
                </c:pt>
                <c:pt idx="104">
                  <c:v>8.1</c:v>
                </c:pt>
                <c:pt idx="105">
                  <c:v>8.1999999999999993</c:v>
                </c:pt>
                <c:pt idx="106">
                  <c:v>7.7</c:v>
                </c:pt>
                <c:pt idx="107">
                  <c:v>7.8</c:v>
                </c:pt>
                <c:pt idx="108">
                  <c:v>7.9</c:v>
                </c:pt>
                <c:pt idx="109">
                  <c:v>8.8000000000000007</c:v>
                </c:pt>
                <c:pt idx="110">
                  <c:v>0</c:v>
                </c:pt>
                <c:pt idx="111">
                  <c:v>8.3000000000000007</c:v>
                </c:pt>
                <c:pt idx="112">
                  <c:v>8.9</c:v>
                </c:pt>
                <c:pt idx="113">
                  <c:v>9.4</c:v>
                </c:pt>
                <c:pt idx="114">
                  <c:v>9.1999999999999993</c:v>
                </c:pt>
                <c:pt idx="115">
                  <c:v>8.9</c:v>
                </c:pt>
                <c:pt idx="116">
                  <c:v>9.1</c:v>
                </c:pt>
                <c:pt idx="117">
                  <c:v>9</c:v>
                </c:pt>
                <c:pt idx="118">
                  <c:v>10</c:v>
                </c:pt>
                <c:pt idx="119">
                  <c:v>10.1</c:v>
                </c:pt>
                <c:pt idx="120">
                  <c:v>10.1</c:v>
                </c:pt>
                <c:pt idx="121">
                  <c:v>10</c:v>
                </c:pt>
                <c:pt idx="122">
                  <c:v>11</c:v>
                </c:pt>
                <c:pt idx="123">
                  <c:v>11</c:v>
                </c:pt>
                <c:pt idx="124">
                  <c:v>10.8</c:v>
                </c:pt>
                <c:pt idx="125">
                  <c:v>10.8</c:v>
                </c:pt>
                <c:pt idx="126">
                  <c:v>11.2</c:v>
                </c:pt>
                <c:pt idx="127">
                  <c:v>10.9</c:v>
                </c:pt>
                <c:pt idx="128">
                  <c:v>10.7</c:v>
                </c:pt>
                <c:pt idx="129">
                  <c:v>10.199999999999999</c:v>
                </c:pt>
                <c:pt idx="130">
                  <c:v>9.8000000000000007</c:v>
                </c:pt>
                <c:pt idx="131">
                  <c:v>9.8000000000000007</c:v>
                </c:pt>
                <c:pt idx="132">
                  <c:v>9.6</c:v>
                </c:pt>
                <c:pt idx="133">
                  <c:v>10</c:v>
                </c:pt>
                <c:pt idx="134">
                  <c:v>10</c:v>
                </c:pt>
                <c:pt idx="135">
                  <c:v>10.199999999999999</c:v>
                </c:pt>
                <c:pt idx="136">
                  <c:v>10.199999999999999</c:v>
                </c:pt>
                <c:pt idx="137">
                  <c:v>10.199999999999999</c:v>
                </c:pt>
                <c:pt idx="138">
                  <c:v>10.1</c:v>
                </c:pt>
                <c:pt idx="139">
                  <c:v>10.3</c:v>
                </c:pt>
                <c:pt idx="140">
                  <c:v>10.199999999999999</c:v>
                </c:pt>
                <c:pt idx="141">
                  <c:v>10.4</c:v>
                </c:pt>
                <c:pt idx="142">
                  <c:v>10.7</c:v>
                </c:pt>
                <c:pt idx="143">
                  <c:v>11.4</c:v>
                </c:pt>
                <c:pt idx="144">
                  <c:v>11</c:v>
                </c:pt>
                <c:pt idx="145">
                  <c:v>11.5</c:v>
                </c:pt>
                <c:pt idx="146">
                  <c:v>11.4</c:v>
                </c:pt>
                <c:pt idx="147">
                  <c:v>11.8</c:v>
                </c:pt>
                <c:pt idx="148">
                  <c:v>12.1</c:v>
                </c:pt>
                <c:pt idx="149">
                  <c:v>11.8</c:v>
                </c:pt>
                <c:pt idx="150">
                  <c:v>11.8</c:v>
                </c:pt>
                <c:pt idx="151">
                  <c:v>12</c:v>
                </c:pt>
                <c:pt idx="152">
                  <c:v>11.6</c:v>
                </c:pt>
                <c:pt idx="153">
                  <c:v>11.2</c:v>
                </c:pt>
                <c:pt idx="154">
                  <c:v>10.9</c:v>
                </c:pt>
                <c:pt idx="155">
                  <c:v>11.2</c:v>
                </c:pt>
                <c:pt idx="156">
                  <c:v>10.9</c:v>
                </c:pt>
                <c:pt idx="157">
                  <c:v>11.1</c:v>
                </c:pt>
                <c:pt idx="158">
                  <c:v>11.4</c:v>
                </c:pt>
                <c:pt idx="159">
                  <c:v>12.4</c:v>
                </c:pt>
                <c:pt idx="160">
                  <c:v>12.4</c:v>
                </c:pt>
                <c:pt idx="161">
                  <c:v>12</c:v>
                </c:pt>
                <c:pt idx="162">
                  <c:v>11.9</c:v>
                </c:pt>
                <c:pt idx="163">
                  <c:v>11.3</c:v>
                </c:pt>
                <c:pt idx="164">
                  <c:v>11.2</c:v>
                </c:pt>
                <c:pt idx="165">
                  <c:v>11.4</c:v>
                </c:pt>
                <c:pt idx="166">
                  <c:v>11.4</c:v>
                </c:pt>
                <c:pt idx="167">
                  <c:v>11</c:v>
                </c:pt>
                <c:pt idx="168">
                  <c:v>11.8</c:v>
                </c:pt>
                <c:pt idx="169">
                  <c:v>11.7</c:v>
                </c:pt>
                <c:pt idx="170">
                  <c:v>11.5</c:v>
                </c:pt>
                <c:pt idx="171">
                  <c:v>10.8</c:v>
                </c:pt>
                <c:pt idx="172">
                  <c:v>11.2</c:v>
                </c:pt>
                <c:pt idx="173">
                  <c:v>11.1</c:v>
                </c:pt>
                <c:pt idx="174">
                  <c:v>10.9</c:v>
                </c:pt>
                <c:pt idx="175">
                  <c:v>11.4</c:v>
                </c:pt>
                <c:pt idx="176">
                  <c:v>11.9</c:v>
                </c:pt>
                <c:pt idx="177">
                  <c:v>11.1</c:v>
                </c:pt>
                <c:pt idx="178">
                  <c:v>11.3</c:v>
                </c:pt>
                <c:pt idx="179">
                  <c:v>11.1</c:v>
                </c:pt>
                <c:pt idx="180">
                  <c:v>11.3</c:v>
                </c:pt>
                <c:pt idx="181">
                  <c:v>11.2</c:v>
                </c:pt>
                <c:pt idx="182">
                  <c:v>11.3</c:v>
                </c:pt>
                <c:pt idx="183">
                  <c:v>10.8</c:v>
                </c:pt>
                <c:pt idx="184">
                  <c:v>11.8</c:v>
                </c:pt>
                <c:pt idx="185">
                  <c:v>12.4</c:v>
                </c:pt>
                <c:pt idx="186">
                  <c:v>12.2</c:v>
                </c:pt>
                <c:pt idx="187">
                  <c:v>12.4</c:v>
                </c:pt>
                <c:pt idx="188">
                  <c:v>13.5</c:v>
                </c:pt>
                <c:pt idx="189">
                  <c:v>13.1</c:v>
                </c:pt>
                <c:pt idx="190">
                  <c:v>13.6</c:v>
                </c:pt>
                <c:pt idx="191">
                  <c:v>14.5</c:v>
                </c:pt>
                <c:pt idx="192">
                  <c:v>14.5</c:v>
                </c:pt>
                <c:pt idx="193">
                  <c:v>15.4</c:v>
                </c:pt>
                <c:pt idx="194">
                  <c:v>16</c:v>
                </c:pt>
                <c:pt idx="195">
                  <c:v>16.899999999999999</c:v>
                </c:pt>
                <c:pt idx="196">
                  <c:v>17.100000000000001</c:v>
                </c:pt>
                <c:pt idx="197">
                  <c:v>16.5</c:v>
                </c:pt>
                <c:pt idx="198">
                  <c:v>19</c:v>
                </c:pt>
                <c:pt idx="199">
                  <c:v>20.399999999999999</c:v>
                </c:pt>
                <c:pt idx="200">
                  <c:v>22.7</c:v>
                </c:pt>
                <c:pt idx="201">
                  <c:v>23.1</c:v>
                </c:pt>
                <c:pt idx="202">
                  <c:v>21</c:v>
                </c:pt>
                <c:pt idx="203">
                  <c:v>22.2</c:v>
                </c:pt>
                <c:pt idx="204">
                  <c:v>24.6</c:v>
                </c:pt>
                <c:pt idx="205">
                  <c:v>23.6</c:v>
                </c:pt>
                <c:pt idx="206">
                  <c:v>22.6</c:v>
                </c:pt>
                <c:pt idx="207">
                  <c:v>24.9</c:v>
                </c:pt>
                <c:pt idx="208">
                  <c:v>24</c:v>
                </c:pt>
                <c:pt idx="209">
                  <c:v>24.7</c:v>
                </c:pt>
                <c:pt idx="210">
                  <c:v>28.8</c:v>
                </c:pt>
                <c:pt idx="211">
                  <c:v>29.2</c:v>
                </c:pt>
                <c:pt idx="212">
                  <c:v>28.6</c:v>
                </c:pt>
                <c:pt idx="213">
                  <c:v>29.1</c:v>
                </c:pt>
                <c:pt idx="214">
                  <c:v>32.9</c:v>
                </c:pt>
                <c:pt idx="215">
                  <c:v>32.9</c:v>
                </c:pt>
                <c:pt idx="216">
                  <c:v>33.200000000000003</c:v>
                </c:pt>
                <c:pt idx="217">
                  <c:v>36.200000000000003</c:v>
                </c:pt>
                <c:pt idx="218">
                  <c:v>32.799999999999997</c:v>
                </c:pt>
                <c:pt idx="219">
                  <c:v>31.6</c:v>
                </c:pt>
                <c:pt idx="220">
                  <c:v>32.299999999999997</c:v>
                </c:pt>
                <c:pt idx="221">
                  <c:v>31.3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74-4DB7-8D23-0EC982DF5C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HD Hyundai</c:v>
                </c:pt>
              </c:strCache>
            </c:strRef>
          </c:tx>
          <c:spPr>
            <a:ln w="19050">
              <a:solidFill>
                <a:srgbClr val="00B050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222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0.7</c:v>
                </c:pt>
                <c:pt idx="18">
                  <c:v>0.7</c:v>
                </c:pt>
                <c:pt idx="19">
                  <c:v>0.6</c:v>
                </c:pt>
                <c:pt idx="20">
                  <c:v>0.6</c:v>
                </c:pt>
                <c:pt idx="21">
                  <c:v>0.7</c:v>
                </c:pt>
                <c:pt idx="22">
                  <c:v>0.7</c:v>
                </c:pt>
                <c:pt idx="23">
                  <c:v>0.6</c:v>
                </c:pt>
                <c:pt idx="24">
                  <c:v>0.7</c:v>
                </c:pt>
                <c:pt idx="25">
                  <c:v>0.7</c:v>
                </c:pt>
                <c:pt idx="26">
                  <c:v>0.7</c:v>
                </c:pt>
                <c:pt idx="27">
                  <c:v>0.7</c:v>
                </c:pt>
                <c:pt idx="28">
                  <c:v>0.7</c:v>
                </c:pt>
                <c:pt idx="29">
                  <c:v>0.8</c:v>
                </c:pt>
                <c:pt idx="30">
                  <c:v>0.8</c:v>
                </c:pt>
                <c:pt idx="31">
                  <c:v>0.9</c:v>
                </c:pt>
                <c:pt idx="32">
                  <c:v>0.9</c:v>
                </c:pt>
                <c:pt idx="33">
                  <c:v>0.9</c:v>
                </c:pt>
                <c:pt idx="34">
                  <c:v>0.9</c:v>
                </c:pt>
                <c:pt idx="35">
                  <c:v>1</c:v>
                </c:pt>
                <c:pt idx="36">
                  <c:v>0.9</c:v>
                </c:pt>
                <c:pt idx="37">
                  <c:v>0.9</c:v>
                </c:pt>
                <c:pt idx="38">
                  <c:v>0.9</c:v>
                </c:pt>
                <c:pt idx="39">
                  <c:v>0.9</c:v>
                </c:pt>
                <c:pt idx="40">
                  <c:v>1</c:v>
                </c:pt>
                <c:pt idx="41">
                  <c:v>0.9</c:v>
                </c:pt>
                <c:pt idx="42">
                  <c:v>1</c:v>
                </c:pt>
                <c:pt idx="43">
                  <c:v>1.1000000000000001</c:v>
                </c:pt>
                <c:pt idx="44">
                  <c:v>1.1000000000000001</c:v>
                </c:pt>
                <c:pt idx="45">
                  <c:v>1.2</c:v>
                </c:pt>
                <c:pt idx="46">
                  <c:v>1.2</c:v>
                </c:pt>
                <c:pt idx="47">
                  <c:v>1.1000000000000001</c:v>
                </c:pt>
                <c:pt idx="48">
                  <c:v>1.1000000000000001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1.1000000000000001</c:v>
                </c:pt>
                <c:pt idx="53">
                  <c:v>1.2</c:v>
                </c:pt>
                <c:pt idx="54">
                  <c:v>1.1000000000000001</c:v>
                </c:pt>
                <c:pt idx="55">
                  <c:v>1.1000000000000001</c:v>
                </c:pt>
                <c:pt idx="56">
                  <c:v>1.1000000000000001</c:v>
                </c:pt>
                <c:pt idx="57">
                  <c:v>1.1000000000000001</c:v>
                </c:pt>
                <c:pt idx="58">
                  <c:v>1.1000000000000001</c:v>
                </c:pt>
                <c:pt idx="59">
                  <c:v>1.2</c:v>
                </c:pt>
                <c:pt idx="60">
                  <c:v>1.3</c:v>
                </c:pt>
                <c:pt idx="61">
                  <c:v>1.2</c:v>
                </c:pt>
                <c:pt idx="62">
                  <c:v>1.1000000000000001</c:v>
                </c:pt>
                <c:pt idx="63">
                  <c:v>1.1000000000000001</c:v>
                </c:pt>
                <c:pt idx="64">
                  <c:v>1.1000000000000001</c:v>
                </c:pt>
                <c:pt idx="65">
                  <c:v>1.1000000000000001</c:v>
                </c:pt>
                <c:pt idx="66">
                  <c:v>1.4</c:v>
                </c:pt>
                <c:pt idx="67">
                  <c:v>1.5</c:v>
                </c:pt>
                <c:pt idx="68">
                  <c:v>1.5</c:v>
                </c:pt>
                <c:pt idx="69">
                  <c:v>1.5</c:v>
                </c:pt>
                <c:pt idx="70">
                  <c:v>1.4</c:v>
                </c:pt>
                <c:pt idx="71">
                  <c:v>1.3</c:v>
                </c:pt>
                <c:pt idx="72">
                  <c:v>1.4</c:v>
                </c:pt>
                <c:pt idx="73">
                  <c:v>1.5</c:v>
                </c:pt>
                <c:pt idx="74">
                  <c:v>1.6</c:v>
                </c:pt>
                <c:pt idx="75">
                  <c:v>1.6</c:v>
                </c:pt>
                <c:pt idx="76">
                  <c:v>1.6</c:v>
                </c:pt>
                <c:pt idx="77">
                  <c:v>1.9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2.1</c:v>
                </c:pt>
                <c:pt idx="82">
                  <c:v>2.1</c:v>
                </c:pt>
                <c:pt idx="83">
                  <c:v>2.1</c:v>
                </c:pt>
                <c:pt idx="84">
                  <c:v>2</c:v>
                </c:pt>
                <c:pt idx="85">
                  <c:v>2</c:v>
                </c:pt>
                <c:pt idx="86">
                  <c:v>1.8</c:v>
                </c:pt>
                <c:pt idx="87">
                  <c:v>1.8</c:v>
                </c:pt>
                <c:pt idx="88">
                  <c:v>2</c:v>
                </c:pt>
                <c:pt idx="89">
                  <c:v>2</c:v>
                </c:pt>
                <c:pt idx="90">
                  <c:v>1.9</c:v>
                </c:pt>
                <c:pt idx="91">
                  <c:v>1.9</c:v>
                </c:pt>
                <c:pt idx="92">
                  <c:v>2.1</c:v>
                </c:pt>
                <c:pt idx="93">
                  <c:v>2.1</c:v>
                </c:pt>
                <c:pt idx="94">
                  <c:v>2.2000000000000002</c:v>
                </c:pt>
                <c:pt idx="95">
                  <c:v>2.2000000000000002</c:v>
                </c:pt>
                <c:pt idx="96">
                  <c:v>2.4</c:v>
                </c:pt>
                <c:pt idx="97">
                  <c:v>2.6</c:v>
                </c:pt>
                <c:pt idx="98">
                  <c:v>2.5</c:v>
                </c:pt>
                <c:pt idx="99">
                  <c:v>2.5</c:v>
                </c:pt>
                <c:pt idx="100">
                  <c:v>2.2999999999999998</c:v>
                </c:pt>
                <c:pt idx="101">
                  <c:v>2.4</c:v>
                </c:pt>
                <c:pt idx="102">
                  <c:v>2.4</c:v>
                </c:pt>
                <c:pt idx="103">
                  <c:v>2.4</c:v>
                </c:pt>
                <c:pt idx="104">
                  <c:v>2.7</c:v>
                </c:pt>
                <c:pt idx="105">
                  <c:v>2.7</c:v>
                </c:pt>
                <c:pt idx="106">
                  <c:v>2.9</c:v>
                </c:pt>
                <c:pt idx="107">
                  <c:v>3.1</c:v>
                </c:pt>
                <c:pt idx="108">
                  <c:v>2.9</c:v>
                </c:pt>
                <c:pt idx="109">
                  <c:v>3.2</c:v>
                </c:pt>
                <c:pt idx="110">
                  <c:v>3.4</c:v>
                </c:pt>
                <c:pt idx="111">
                  <c:v>3.9</c:v>
                </c:pt>
                <c:pt idx="112">
                  <c:v>3.7</c:v>
                </c:pt>
                <c:pt idx="113">
                  <c:v>3.8</c:v>
                </c:pt>
                <c:pt idx="114">
                  <c:v>4.3</c:v>
                </c:pt>
                <c:pt idx="115">
                  <c:v>4.9000000000000004</c:v>
                </c:pt>
                <c:pt idx="116">
                  <c:v>5.3</c:v>
                </c:pt>
                <c:pt idx="117">
                  <c:v>5.7</c:v>
                </c:pt>
                <c:pt idx="118">
                  <c:v>6.9</c:v>
                </c:pt>
                <c:pt idx="119">
                  <c:v>7.2</c:v>
                </c:pt>
                <c:pt idx="120">
                  <c:v>7.3</c:v>
                </c:pt>
                <c:pt idx="121">
                  <c:v>6.7</c:v>
                </c:pt>
                <c:pt idx="122">
                  <c:v>7.7</c:v>
                </c:pt>
                <c:pt idx="123">
                  <c:v>7.3</c:v>
                </c:pt>
                <c:pt idx="124">
                  <c:v>8.3000000000000007</c:v>
                </c:pt>
                <c:pt idx="125">
                  <c:v>8.8000000000000007</c:v>
                </c:pt>
                <c:pt idx="126">
                  <c:v>7.6</c:v>
                </c:pt>
                <c:pt idx="127">
                  <c:v>8.5</c:v>
                </c:pt>
                <c:pt idx="128">
                  <c:v>9.3000000000000007</c:v>
                </c:pt>
                <c:pt idx="129">
                  <c:v>9.1</c:v>
                </c:pt>
                <c:pt idx="130">
                  <c:v>9.1999999999999993</c:v>
                </c:pt>
                <c:pt idx="131">
                  <c:v>9.8000000000000007</c:v>
                </c:pt>
                <c:pt idx="132">
                  <c:v>9</c:v>
                </c:pt>
                <c:pt idx="133">
                  <c:v>9.4</c:v>
                </c:pt>
                <c:pt idx="134">
                  <c:v>8.1</c:v>
                </c:pt>
                <c:pt idx="135">
                  <c:v>8.5</c:v>
                </c:pt>
                <c:pt idx="136">
                  <c:v>8.6999999999999993</c:v>
                </c:pt>
                <c:pt idx="137">
                  <c:v>9.1999999999999993</c:v>
                </c:pt>
                <c:pt idx="138">
                  <c:v>9</c:v>
                </c:pt>
                <c:pt idx="139">
                  <c:v>7</c:v>
                </c:pt>
                <c:pt idx="140">
                  <c:v>8.3000000000000007</c:v>
                </c:pt>
                <c:pt idx="141">
                  <c:v>9.8000000000000007</c:v>
                </c:pt>
                <c:pt idx="142">
                  <c:v>9.4</c:v>
                </c:pt>
                <c:pt idx="143">
                  <c:v>9.5</c:v>
                </c:pt>
                <c:pt idx="144">
                  <c:v>9.1</c:v>
                </c:pt>
                <c:pt idx="145">
                  <c:v>9.1</c:v>
                </c:pt>
                <c:pt idx="146">
                  <c:v>10.199999999999999</c:v>
                </c:pt>
                <c:pt idx="147">
                  <c:v>9.5</c:v>
                </c:pt>
                <c:pt idx="148">
                  <c:v>10.7</c:v>
                </c:pt>
                <c:pt idx="149">
                  <c:v>10.7</c:v>
                </c:pt>
                <c:pt idx="150">
                  <c:v>10.7</c:v>
                </c:pt>
                <c:pt idx="151">
                  <c:v>10.3</c:v>
                </c:pt>
                <c:pt idx="152">
                  <c:v>10.5</c:v>
                </c:pt>
                <c:pt idx="153">
                  <c:v>11</c:v>
                </c:pt>
                <c:pt idx="154">
                  <c:v>10.8</c:v>
                </c:pt>
                <c:pt idx="155">
                  <c:v>11.5</c:v>
                </c:pt>
                <c:pt idx="156">
                  <c:v>11.8</c:v>
                </c:pt>
                <c:pt idx="157">
                  <c:v>11.7</c:v>
                </c:pt>
                <c:pt idx="158">
                  <c:v>12.3</c:v>
                </c:pt>
                <c:pt idx="159">
                  <c:v>13.1</c:v>
                </c:pt>
                <c:pt idx="160">
                  <c:v>12.1</c:v>
                </c:pt>
                <c:pt idx="161">
                  <c:v>11.5</c:v>
                </c:pt>
                <c:pt idx="162">
                  <c:v>11.4</c:v>
                </c:pt>
                <c:pt idx="163">
                  <c:v>11</c:v>
                </c:pt>
                <c:pt idx="164">
                  <c:v>9.6999999999999993</c:v>
                </c:pt>
                <c:pt idx="165">
                  <c:v>10.1</c:v>
                </c:pt>
                <c:pt idx="166">
                  <c:v>10.1</c:v>
                </c:pt>
                <c:pt idx="167">
                  <c:v>9.8000000000000007</c:v>
                </c:pt>
                <c:pt idx="168">
                  <c:v>9.1</c:v>
                </c:pt>
                <c:pt idx="169">
                  <c:v>9</c:v>
                </c:pt>
                <c:pt idx="170">
                  <c:v>9.1999999999999993</c:v>
                </c:pt>
                <c:pt idx="171">
                  <c:v>9.8000000000000007</c:v>
                </c:pt>
                <c:pt idx="172">
                  <c:v>8.9</c:v>
                </c:pt>
                <c:pt idx="173">
                  <c:v>9.6</c:v>
                </c:pt>
                <c:pt idx="174">
                  <c:v>10</c:v>
                </c:pt>
                <c:pt idx="175">
                  <c:v>10.9</c:v>
                </c:pt>
                <c:pt idx="176">
                  <c:v>11.5</c:v>
                </c:pt>
                <c:pt idx="177">
                  <c:v>11.3</c:v>
                </c:pt>
                <c:pt idx="178">
                  <c:v>11.6</c:v>
                </c:pt>
                <c:pt idx="179">
                  <c:v>12.8</c:v>
                </c:pt>
                <c:pt idx="180">
                  <c:v>14</c:v>
                </c:pt>
                <c:pt idx="181">
                  <c:v>14.5</c:v>
                </c:pt>
                <c:pt idx="182">
                  <c:v>12.9</c:v>
                </c:pt>
                <c:pt idx="183">
                  <c:v>13.2</c:v>
                </c:pt>
                <c:pt idx="184">
                  <c:v>14.4</c:v>
                </c:pt>
                <c:pt idx="185">
                  <c:v>14.6</c:v>
                </c:pt>
                <c:pt idx="186">
                  <c:v>14.5</c:v>
                </c:pt>
                <c:pt idx="187">
                  <c:v>14.6</c:v>
                </c:pt>
                <c:pt idx="188">
                  <c:v>14.6</c:v>
                </c:pt>
                <c:pt idx="189">
                  <c:v>14.7</c:v>
                </c:pt>
                <c:pt idx="190">
                  <c:v>14.7</c:v>
                </c:pt>
                <c:pt idx="191">
                  <c:v>15.5</c:v>
                </c:pt>
                <c:pt idx="192">
                  <c:v>17.8</c:v>
                </c:pt>
                <c:pt idx="193">
                  <c:v>17.8</c:v>
                </c:pt>
                <c:pt idx="194">
                  <c:v>17</c:v>
                </c:pt>
                <c:pt idx="195">
                  <c:v>18.600000000000001</c:v>
                </c:pt>
                <c:pt idx="196">
                  <c:v>19.7</c:v>
                </c:pt>
                <c:pt idx="197">
                  <c:v>19.899999999999999</c:v>
                </c:pt>
                <c:pt idx="198">
                  <c:v>23.3</c:v>
                </c:pt>
                <c:pt idx="199">
                  <c:v>26</c:v>
                </c:pt>
                <c:pt idx="200">
                  <c:v>24.5</c:v>
                </c:pt>
                <c:pt idx="201">
                  <c:v>24.6</c:v>
                </c:pt>
                <c:pt idx="202">
                  <c:v>22.5</c:v>
                </c:pt>
                <c:pt idx="203">
                  <c:v>23.2</c:v>
                </c:pt>
                <c:pt idx="204">
                  <c:v>24.9</c:v>
                </c:pt>
                <c:pt idx="205">
                  <c:v>25.9</c:v>
                </c:pt>
                <c:pt idx="206">
                  <c:v>24.1</c:v>
                </c:pt>
                <c:pt idx="207">
                  <c:v>22.8</c:v>
                </c:pt>
                <c:pt idx="208">
                  <c:v>24.5</c:v>
                </c:pt>
                <c:pt idx="209">
                  <c:v>25.4</c:v>
                </c:pt>
                <c:pt idx="210">
                  <c:v>27.1</c:v>
                </c:pt>
                <c:pt idx="211">
                  <c:v>26.4</c:v>
                </c:pt>
                <c:pt idx="212">
                  <c:v>26.6</c:v>
                </c:pt>
                <c:pt idx="213">
                  <c:v>25.1</c:v>
                </c:pt>
                <c:pt idx="214">
                  <c:v>28.4</c:v>
                </c:pt>
                <c:pt idx="215">
                  <c:v>30.2</c:v>
                </c:pt>
                <c:pt idx="216">
                  <c:v>31.4</c:v>
                </c:pt>
                <c:pt idx="217">
                  <c:v>29.1</c:v>
                </c:pt>
                <c:pt idx="218">
                  <c:v>27.9</c:v>
                </c:pt>
                <c:pt idx="219">
                  <c:v>28.8</c:v>
                </c:pt>
                <c:pt idx="220">
                  <c:v>27.5</c:v>
                </c:pt>
                <c:pt idx="221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74-4DB7-8D23-0EC982DF5C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Hyosung</c:v>
                </c:pt>
              </c:strCache>
            </c:strRef>
          </c:tx>
          <c:spPr>
            <a:ln w="19050">
              <a:solidFill>
                <a:srgbClr val="E67E2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222"/>
                <c:pt idx="0">
                  <c:v>0.5</c:v>
                </c:pt>
                <c:pt idx="1">
                  <c:v>0.5</c:v>
                </c:pt>
                <c:pt idx="2">
                  <c:v>0.4</c:v>
                </c:pt>
                <c:pt idx="3">
                  <c:v>0.4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0.4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0.4</c:v>
                </c:pt>
                <c:pt idx="42">
                  <c:v>0.4</c:v>
                </c:pt>
                <c:pt idx="43">
                  <c:v>0.5</c:v>
                </c:pt>
                <c:pt idx="44">
                  <c:v>0.6</c:v>
                </c:pt>
                <c:pt idx="45">
                  <c:v>0.6</c:v>
                </c:pt>
                <c:pt idx="46">
                  <c:v>0.7</c:v>
                </c:pt>
                <c:pt idx="47">
                  <c:v>0.7</c:v>
                </c:pt>
                <c:pt idx="48">
                  <c:v>0.7</c:v>
                </c:pt>
                <c:pt idx="49">
                  <c:v>0.7</c:v>
                </c:pt>
                <c:pt idx="50">
                  <c:v>0.7</c:v>
                </c:pt>
                <c:pt idx="51">
                  <c:v>0.7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0.7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0.6</c:v>
                </c:pt>
                <c:pt idx="66">
                  <c:v>0.6</c:v>
                </c:pt>
                <c:pt idx="67">
                  <c:v>0.7</c:v>
                </c:pt>
                <c:pt idx="68">
                  <c:v>0.7</c:v>
                </c:pt>
                <c:pt idx="69">
                  <c:v>0.7</c:v>
                </c:pt>
                <c:pt idx="70">
                  <c:v>0.7</c:v>
                </c:pt>
                <c:pt idx="71">
                  <c:v>0.6</c:v>
                </c:pt>
                <c:pt idx="72">
                  <c:v>0.7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0.9</c:v>
                </c:pt>
                <c:pt idx="77">
                  <c:v>1</c:v>
                </c:pt>
                <c:pt idx="78">
                  <c:v>1</c:v>
                </c:pt>
                <c:pt idx="79">
                  <c:v>1.1000000000000001</c:v>
                </c:pt>
                <c:pt idx="80">
                  <c:v>1.1000000000000001</c:v>
                </c:pt>
                <c:pt idx="81">
                  <c:v>1.1000000000000001</c:v>
                </c:pt>
                <c:pt idx="82">
                  <c:v>1.5</c:v>
                </c:pt>
                <c:pt idx="83">
                  <c:v>1.6</c:v>
                </c:pt>
                <c:pt idx="84">
                  <c:v>1.6</c:v>
                </c:pt>
                <c:pt idx="85">
                  <c:v>1.6</c:v>
                </c:pt>
                <c:pt idx="86">
                  <c:v>1.6</c:v>
                </c:pt>
                <c:pt idx="87">
                  <c:v>1.5</c:v>
                </c:pt>
                <c:pt idx="88">
                  <c:v>1.6</c:v>
                </c:pt>
                <c:pt idx="89">
                  <c:v>1.6</c:v>
                </c:pt>
                <c:pt idx="90">
                  <c:v>1.4</c:v>
                </c:pt>
                <c:pt idx="91">
                  <c:v>1.4</c:v>
                </c:pt>
                <c:pt idx="92">
                  <c:v>1.5</c:v>
                </c:pt>
                <c:pt idx="93">
                  <c:v>1.5</c:v>
                </c:pt>
                <c:pt idx="94">
                  <c:v>1.5</c:v>
                </c:pt>
                <c:pt idx="95">
                  <c:v>1.5</c:v>
                </c:pt>
                <c:pt idx="96">
                  <c:v>1.6</c:v>
                </c:pt>
                <c:pt idx="97">
                  <c:v>1.7</c:v>
                </c:pt>
                <c:pt idx="98">
                  <c:v>1.7</c:v>
                </c:pt>
                <c:pt idx="99">
                  <c:v>1.8</c:v>
                </c:pt>
                <c:pt idx="100">
                  <c:v>1.5</c:v>
                </c:pt>
                <c:pt idx="101">
                  <c:v>1.4</c:v>
                </c:pt>
                <c:pt idx="102">
                  <c:v>1.4</c:v>
                </c:pt>
                <c:pt idx="103">
                  <c:v>1.4</c:v>
                </c:pt>
                <c:pt idx="104">
                  <c:v>1.5</c:v>
                </c:pt>
                <c:pt idx="105">
                  <c:v>1.6</c:v>
                </c:pt>
                <c:pt idx="106">
                  <c:v>1.5</c:v>
                </c:pt>
                <c:pt idx="107">
                  <c:v>1.6</c:v>
                </c:pt>
                <c:pt idx="108">
                  <c:v>1.4</c:v>
                </c:pt>
                <c:pt idx="109">
                  <c:v>1.4</c:v>
                </c:pt>
                <c:pt idx="110">
                  <c:v>1.5</c:v>
                </c:pt>
                <c:pt idx="111">
                  <c:v>1.6</c:v>
                </c:pt>
                <c:pt idx="112">
                  <c:v>1.7</c:v>
                </c:pt>
                <c:pt idx="113">
                  <c:v>2</c:v>
                </c:pt>
                <c:pt idx="114">
                  <c:v>2</c:v>
                </c:pt>
                <c:pt idx="115">
                  <c:v>2.1</c:v>
                </c:pt>
                <c:pt idx="116">
                  <c:v>2.5</c:v>
                </c:pt>
                <c:pt idx="117">
                  <c:v>2.6</c:v>
                </c:pt>
                <c:pt idx="118">
                  <c:v>2.9</c:v>
                </c:pt>
                <c:pt idx="119">
                  <c:v>2.7</c:v>
                </c:pt>
                <c:pt idx="120">
                  <c:v>2.5</c:v>
                </c:pt>
                <c:pt idx="121">
                  <c:v>2.5</c:v>
                </c:pt>
                <c:pt idx="122">
                  <c:v>2.8</c:v>
                </c:pt>
                <c:pt idx="123">
                  <c:v>3.2</c:v>
                </c:pt>
                <c:pt idx="124">
                  <c:v>3.6</c:v>
                </c:pt>
                <c:pt idx="125">
                  <c:v>3.8</c:v>
                </c:pt>
                <c:pt idx="126">
                  <c:v>3.2</c:v>
                </c:pt>
                <c:pt idx="127">
                  <c:v>3.2</c:v>
                </c:pt>
                <c:pt idx="128">
                  <c:v>3.3</c:v>
                </c:pt>
                <c:pt idx="129">
                  <c:v>3</c:v>
                </c:pt>
                <c:pt idx="130">
                  <c:v>2.7</c:v>
                </c:pt>
                <c:pt idx="131">
                  <c:v>3.3</c:v>
                </c:pt>
                <c:pt idx="132">
                  <c:v>3</c:v>
                </c:pt>
                <c:pt idx="133">
                  <c:v>2.9</c:v>
                </c:pt>
                <c:pt idx="134">
                  <c:v>2.4</c:v>
                </c:pt>
                <c:pt idx="135">
                  <c:v>2.5</c:v>
                </c:pt>
                <c:pt idx="136">
                  <c:v>2.7</c:v>
                </c:pt>
                <c:pt idx="137">
                  <c:v>2.9</c:v>
                </c:pt>
                <c:pt idx="138">
                  <c:v>2.5</c:v>
                </c:pt>
                <c:pt idx="139">
                  <c:v>2.1</c:v>
                </c:pt>
                <c:pt idx="140">
                  <c:v>2.5</c:v>
                </c:pt>
                <c:pt idx="141">
                  <c:v>2.7</c:v>
                </c:pt>
                <c:pt idx="142">
                  <c:v>3.1</c:v>
                </c:pt>
                <c:pt idx="143">
                  <c:v>3</c:v>
                </c:pt>
                <c:pt idx="144">
                  <c:v>3.2</c:v>
                </c:pt>
                <c:pt idx="145">
                  <c:v>3.5</c:v>
                </c:pt>
                <c:pt idx="146">
                  <c:v>3.4</c:v>
                </c:pt>
                <c:pt idx="147">
                  <c:v>3.6</c:v>
                </c:pt>
                <c:pt idx="148">
                  <c:v>4</c:v>
                </c:pt>
                <c:pt idx="149">
                  <c:v>4</c:v>
                </c:pt>
                <c:pt idx="150">
                  <c:v>3.5</c:v>
                </c:pt>
                <c:pt idx="151">
                  <c:v>3.5</c:v>
                </c:pt>
                <c:pt idx="152">
                  <c:v>3.7</c:v>
                </c:pt>
                <c:pt idx="153">
                  <c:v>3.7</c:v>
                </c:pt>
                <c:pt idx="154">
                  <c:v>3.5</c:v>
                </c:pt>
                <c:pt idx="155">
                  <c:v>3.3</c:v>
                </c:pt>
                <c:pt idx="156">
                  <c:v>3.7</c:v>
                </c:pt>
                <c:pt idx="157">
                  <c:v>3.7</c:v>
                </c:pt>
                <c:pt idx="158">
                  <c:v>4.2</c:v>
                </c:pt>
                <c:pt idx="159">
                  <c:v>4.4000000000000004</c:v>
                </c:pt>
                <c:pt idx="160">
                  <c:v>3.9</c:v>
                </c:pt>
                <c:pt idx="161">
                  <c:v>4.4000000000000004</c:v>
                </c:pt>
                <c:pt idx="162">
                  <c:v>4.3</c:v>
                </c:pt>
                <c:pt idx="163">
                  <c:v>4.2</c:v>
                </c:pt>
                <c:pt idx="164">
                  <c:v>3.8</c:v>
                </c:pt>
                <c:pt idx="165">
                  <c:v>3.7</c:v>
                </c:pt>
                <c:pt idx="166">
                  <c:v>4</c:v>
                </c:pt>
                <c:pt idx="167">
                  <c:v>3.9</c:v>
                </c:pt>
                <c:pt idx="168">
                  <c:v>3.8</c:v>
                </c:pt>
                <c:pt idx="169">
                  <c:v>3.8</c:v>
                </c:pt>
                <c:pt idx="170">
                  <c:v>3.8</c:v>
                </c:pt>
                <c:pt idx="171">
                  <c:v>4.2</c:v>
                </c:pt>
                <c:pt idx="172">
                  <c:v>4</c:v>
                </c:pt>
                <c:pt idx="173">
                  <c:v>4.4000000000000004</c:v>
                </c:pt>
                <c:pt idx="174">
                  <c:v>4.5</c:v>
                </c:pt>
                <c:pt idx="175">
                  <c:v>5.0999999999999996</c:v>
                </c:pt>
                <c:pt idx="176">
                  <c:v>5.3</c:v>
                </c:pt>
                <c:pt idx="177">
                  <c:v>5.4</c:v>
                </c:pt>
                <c:pt idx="178">
                  <c:v>5.7</c:v>
                </c:pt>
                <c:pt idx="179">
                  <c:v>6</c:v>
                </c:pt>
                <c:pt idx="180">
                  <c:v>7.2</c:v>
                </c:pt>
                <c:pt idx="181">
                  <c:v>7.5</c:v>
                </c:pt>
                <c:pt idx="182">
                  <c:v>7.8</c:v>
                </c:pt>
                <c:pt idx="183">
                  <c:v>8.6</c:v>
                </c:pt>
                <c:pt idx="184">
                  <c:v>9.3000000000000007</c:v>
                </c:pt>
                <c:pt idx="185">
                  <c:v>9.9</c:v>
                </c:pt>
                <c:pt idx="186">
                  <c:v>10.199999999999999</c:v>
                </c:pt>
                <c:pt idx="187">
                  <c:v>10.4</c:v>
                </c:pt>
                <c:pt idx="188">
                  <c:v>10.6</c:v>
                </c:pt>
                <c:pt idx="189">
                  <c:v>10.5</c:v>
                </c:pt>
                <c:pt idx="190">
                  <c:v>10.9</c:v>
                </c:pt>
                <c:pt idx="191">
                  <c:v>10.8</c:v>
                </c:pt>
                <c:pt idx="192">
                  <c:v>12.7</c:v>
                </c:pt>
                <c:pt idx="193">
                  <c:v>12.2</c:v>
                </c:pt>
                <c:pt idx="194">
                  <c:v>11.6</c:v>
                </c:pt>
                <c:pt idx="195">
                  <c:v>12.4</c:v>
                </c:pt>
                <c:pt idx="196">
                  <c:v>13.1</c:v>
                </c:pt>
                <c:pt idx="197">
                  <c:v>13.8</c:v>
                </c:pt>
                <c:pt idx="198">
                  <c:v>16.7</c:v>
                </c:pt>
                <c:pt idx="199">
                  <c:v>18.7</c:v>
                </c:pt>
                <c:pt idx="200">
                  <c:v>19.2</c:v>
                </c:pt>
                <c:pt idx="201">
                  <c:v>18.600000000000001</c:v>
                </c:pt>
                <c:pt idx="202">
                  <c:v>16.7</c:v>
                </c:pt>
                <c:pt idx="203">
                  <c:v>16.600000000000001</c:v>
                </c:pt>
                <c:pt idx="204">
                  <c:v>17.600000000000001</c:v>
                </c:pt>
                <c:pt idx="205">
                  <c:v>17.2</c:v>
                </c:pt>
                <c:pt idx="206">
                  <c:v>16.2</c:v>
                </c:pt>
                <c:pt idx="207">
                  <c:v>15.4</c:v>
                </c:pt>
                <c:pt idx="208">
                  <c:v>16.2</c:v>
                </c:pt>
                <c:pt idx="209">
                  <c:v>16.600000000000001</c:v>
                </c:pt>
                <c:pt idx="210">
                  <c:v>20.5</c:v>
                </c:pt>
                <c:pt idx="211">
                  <c:v>20.6</c:v>
                </c:pt>
                <c:pt idx="212">
                  <c:v>22.9</c:v>
                </c:pt>
                <c:pt idx="213">
                  <c:v>19.399999999999999</c:v>
                </c:pt>
                <c:pt idx="214">
                  <c:v>21</c:v>
                </c:pt>
                <c:pt idx="215">
                  <c:v>23.2</c:v>
                </c:pt>
                <c:pt idx="216">
                  <c:v>24.8</c:v>
                </c:pt>
                <c:pt idx="217">
                  <c:v>21.8</c:v>
                </c:pt>
                <c:pt idx="218">
                  <c:v>22.8</c:v>
                </c:pt>
                <c:pt idx="219">
                  <c:v>24.1</c:v>
                </c:pt>
                <c:pt idx="220">
                  <c:v>23.5</c:v>
                </c:pt>
                <c:pt idx="221">
                  <c:v>21.6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74-4DB7-8D23-0EC982DF5CD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Siemens E.</c:v>
                </c:pt>
              </c:strCache>
            </c:strRef>
          </c:tx>
          <c:spPr>
            <a:ln w="19050">
              <a:solidFill>
                <a:srgbClr val="2471A3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222"/>
                <c:pt idx="0">
                  <c:v>4</c:v>
                </c:pt>
                <c:pt idx="1">
                  <c:v>4</c:v>
                </c:pt>
                <c:pt idx="2">
                  <c:v>3.4</c:v>
                </c:pt>
                <c:pt idx="3">
                  <c:v>3.5</c:v>
                </c:pt>
                <c:pt idx="4">
                  <c:v>3.4</c:v>
                </c:pt>
                <c:pt idx="5">
                  <c:v>3.4</c:v>
                </c:pt>
                <c:pt idx="6">
                  <c:v>3.3</c:v>
                </c:pt>
                <c:pt idx="7">
                  <c:v>3.5</c:v>
                </c:pt>
                <c:pt idx="8">
                  <c:v>3.4</c:v>
                </c:pt>
                <c:pt idx="9">
                  <c:v>3.8</c:v>
                </c:pt>
                <c:pt idx="10">
                  <c:v>3.8</c:v>
                </c:pt>
                <c:pt idx="11">
                  <c:v>3.7</c:v>
                </c:pt>
                <c:pt idx="12">
                  <c:v>3.8</c:v>
                </c:pt>
                <c:pt idx="13">
                  <c:v>3.5</c:v>
                </c:pt>
                <c:pt idx="14">
                  <c:v>3.4</c:v>
                </c:pt>
                <c:pt idx="15">
                  <c:v>3.5</c:v>
                </c:pt>
                <c:pt idx="16">
                  <c:v>3.3</c:v>
                </c:pt>
                <c:pt idx="17">
                  <c:v>3.1</c:v>
                </c:pt>
                <c:pt idx="18">
                  <c:v>2.8</c:v>
                </c:pt>
                <c:pt idx="19">
                  <c:v>3</c:v>
                </c:pt>
                <c:pt idx="20">
                  <c:v>3.1</c:v>
                </c:pt>
                <c:pt idx="21">
                  <c:v>3.2</c:v>
                </c:pt>
                <c:pt idx="22">
                  <c:v>3</c:v>
                </c:pt>
                <c:pt idx="23">
                  <c:v>2.7</c:v>
                </c:pt>
                <c:pt idx="24">
                  <c:v>2.8</c:v>
                </c:pt>
                <c:pt idx="25">
                  <c:v>2.6</c:v>
                </c:pt>
                <c:pt idx="26">
                  <c:v>2.7</c:v>
                </c:pt>
                <c:pt idx="27">
                  <c:v>2.5</c:v>
                </c:pt>
                <c:pt idx="28">
                  <c:v>2.7</c:v>
                </c:pt>
                <c:pt idx="29">
                  <c:v>2.9</c:v>
                </c:pt>
                <c:pt idx="30">
                  <c:v>3</c:v>
                </c:pt>
                <c:pt idx="31">
                  <c:v>2.9</c:v>
                </c:pt>
                <c:pt idx="32">
                  <c:v>2.9</c:v>
                </c:pt>
                <c:pt idx="33">
                  <c:v>2.8</c:v>
                </c:pt>
                <c:pt idx="34">
                  <c:v>2.5</c:v>
                </c:pt>
                <c:pt idx="35">
                  <c:v>2.5</c:v>
                </c:pt>
                <c:pt idx="36">
                  <c:v>2.2000000000000002</c:v>
                </c:pt>
                <c:pt idx="37">
                  <c:v>2.1</c:v>
                </c:pt>
                <c:pt idx="38">
                  <c:v>2</c:v>
                </c:pt>
                <c:pt idx="39">
                  <c:v>1.9</c:v>
                </c:pt>
                <c:pt idx="40">
                  <c:v>2</c:v>
                </c:pt>
                <c:pt idx="41">
                  <c:v>2</c:v>
                </c:pt>
                <c:pt idx="42">
                  <c:v>2.1</c:v>
                </c:pt>
                <c:pt idx="43">
                  <c:v>2.2000000000000002</c:v>
                </c:pt>
                <c:pt idx="44">
                  <c:v>2.6</c:v>
                </c:pt>
                <c:pt idx="45">
                  <c:v>2.6</c:v>
                </c:pt>
                <c:pt idx="46">
                  <c:v>2.9</c:v>
                </c:pt>
                <c:pt idx="47">
                  <c:v>2.9</c:v>
                </c:pt>
                <c:pt idx="48">
                  <c:v>3</c:v>
                </c:pt>
                <c:pt idx="49">
                  <c:v>3</c:v>
                </c:pt>
                <c:pt idx="50">
                  <c:v>3.1</c:v>
                </c:pt>
                <c:pt idx="51">
                  <c:v>3.2</c:v>
                </c:pt>
                <c:pt idx="52">
                  <c:v>3.3</c:v>
                </c:pt>
                <c:pt idx="53">
                  <c:v>3.4</c:v>
                </c:pt>
                <c:pt idx="54">
                  <c:v>3.4</c:v>
                </c:pt>
                <c:pt idx="55">
                  <c:v>3.4</c:v>
                </c:pt>
                <c:pt idx="56">
                  <c:v>3.4</c:v>
                </c:pt>
                <c:pt idx="57">
                  <c:v>3.4</c:v>
                </c:pt>
                <c:pt idx="58">
                  <c:v>3.4</c:v>
                </c:pt>
                <c:pt idx="59">
                  <c:v>3.4</c:v>
                </c:pt>
                <c:pt idx="60">
                  <c:v>3.6</c:v>
                </c:pt>
                <c:pt idx="61">
                  <c:v>3.6</c:v>
                </c:pt>
                <c:pt idx="62">
                  <c:v>3.3</c:v>
                </c:pt>
                <c:pt idx="63">
                  <c:v>3.3</c:v>
                </c:pt>
                <c:pt idx="64">
                  <c:v>3.6</c:v>
                </c:pt>
                <c:pt idx="65">
                  <c:v>3.7</c:v>
                </c:pt>
                <c:pt idx="66">
                  <c:v>3.9</c:v>
                </c:pt>
                <c:pt idx="67">
                  <c:v>3.8</c:v>
                </c:pt>
                <c:pt idx="68">
                  <c:v>4</c:v>
                </c:pt>
                <c:pt idx="69">
                  <c:v>4</c:v>
                </c:pt>
                <c:pt idx="70">
                  <c:v>3.9</c:v>
                </c:pt>
                <c:pt idx="71">
                  <c:v>4.3</c:v>
                </c:pt>
                <c:pt idx="72">
                  <c:v>4.3</c:v>
                </c:pt>
                <c:pt idx="73">
                  <c:v>4.4000000000000004</c:v>
                </c:pt>
                <c:pt idx="74">
                  <c:v>4.3</c:v>
                </c:pt>
                <c:pt idx="75">
                  <c:v>4.0999999999999996</c:v>
                </c:pt>
                <c:pt idx="76">
                  <c:v>2.6</c:v>
                </c:pt>
                <c:pt idx="77">
                  <c:v>2.9</c:v>
                </c:pt>
                <c:pt idx="78">
                  <c:v>2.7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2.5</c:v>
                </c:pt>
                <c:pt idx="84">
                  <c:v>2.4</c:v>
                </c:pt>
                <c:pt idx="85">
                  <c:v>2.2999999999999998</c:v>
                </c:pt>
                <c:pt idx="86">
                  <c:v>2.2999999999999998</c:v>
                </c:pt>
                <c:pt idx="87">
                  <c:v>2.2000000000000002</c:v>
                </c:pt>
                <c:pt idx="88">
                  <c:v>2.2999999999999998</c:v>
                </c:pt>
                <c:pt idx="89">
                  <c:v>2.2000000000000002</c:v>
                </c:pt>
                <c:pt idx="90">
                  <c:v>2.2000000000000002</c:v>
                </c:pt>
                <c:pt idx="91">
                  <c:v>2.1</c:v>
                </c:pt>
                <c:pt idx="92">
                  <c:v>2.1</c:v>
                </c:pt>
                <c:pt idx="93">
                  <c:v>2</c:v>
                </c:pt>
                <c:pt idx="94">
                  <c:v>1.3</c:v>
                </c:pt>
                <c:pt idx="95">
                  <c:v>1.7</c:v>
                </c:pt>
                <c:pt idx="96">
                  <c:v>1.7</c:v>
                </c:pt>
                <c:pt idx="97">
                  <c:v>2.1</c:v>
                </c:pt>
                <c:pt idx="98">
                  <c:v>1.9</c:v>
                </c:pt>
                <c:pt idx="99">
                  <c:v>2</c:v>
                </c:pt>
                <c:pt idx="100">
                  <c:v>2</c:v>
                </c:pt>
                <c:pt idx="101">
                  <c:v>2</c:v>
                </c:pt>
                <c:pt idx="102">
                  <c:v>2</c:v>
                </c:pt>
                <c:pt idx="103">
                  <c:v>2.2000000000000002</c:v>
                </c:pt>
                <c:pt idx="104">
                  <c:v>2.1</c:v>
                </c:pt>
                <c:pt idx="105">
                  <c:v>2.2000000000000002</c:v>
                </c:pt>
                <c:pt idx="106">
                  <c:v>2.1</c:v>
                </c:pt>
                <c:pt idx="107">
                  <c:v>2.5</c:v>
                </c:pt>
                <c:pt idx="108">
                  <c:v>2.5</c:v>
                </c:pt>
                <c:pt idx="109">
                  <c:v>2.5</c:v>
                </c:pt>
                <c:pt idx="110">
                  <c:v>2.5</c:v>
                </c:pt>
                <c:pt idx="111">
                  <c:v>2.5</c:v>
                </c:pt>
                <c:pt idx="112">
                  <c:v>2.6</c:v>
                </c:pt>
                <c:pt idx="113">
                  <c:v>2.5</c:v>
                </c:pt>
                <c:pt idx="114">
                  <c:v>2.6</c:v>
                </c:pt>
                <c:pt idx="115">
                  <c:v>3</c:v>
                </c:pt>
                <c:pt idx="116">
                  <c:v>3.1</c:v>
                </c:pt>
                <c:pt idx="117">
                  <c:v>3.2</c:v>
                </c:pt>
                <c:pt idx="118">
                  <c:v>3.2</c:v>
                </c:pt>
                <c:pt idx="119">
                  <c:v>3.2</c:v>
                </c:pt>
                <c:pt idx="120">
                  <c:v>3.4</c:v>
                </c:pt>
                <c:pt idx="121">
                  <c:v>3.5</c:v>
                </c:pt>
                <c:pt idx="122">
                  <c:v>4.4000000000000004</c:v>
                </c:pt>
                <c:pt idx="123">
                  <c:v>4.5</c:v>
                </c:pt>
                <c:pt idx="124">
                  <c:v>4.5999999999999996</c:v>
                </c:pt>
                <c:pt idx="125">
                  <c:v>4.5</c:v>
                </c:pt>
                <c:pt idx="126">
                  <c:v>4.0999999999999996</c:v>
                </c:pt>
                <c:pt idx="127">
                  <c:v>4.2</c:v>
                </c:pt>
                <c:pt idx="128">
                  <c:v>4.2</c:v>
                </c:pt>
                <c:pt idx="129">
                  <c:v>4.4000000000000004</c:v>
                </c:pt>
                <c:pt idx="130">
                  <c:v>4.7</c:v>
                </c:pt>
                <c:pt idx="131">
                  <c:v>5</c:v>
                </c:pt>
                <c:pt idx="132">
                  <c:v>4.5999999999999996</c:v>
                </c:pt>
                <c:pt idx="133">
                  <c:v>4.5999999999999996</c:v>
                </c:pt>
                <c:pt idx="134">
                  <c:v>4.3</c:v>
                </c:pt>
                <c:pt idx="135">
                  <c:v>4.3</c:v>
                </c:pt>
                <c:pt idx="136">
                  <c:v>4.5</c:v>
                </c:pt>
                <c:pt idx="137">
                  <c:v>4.5999999999999996</c:v>
                </c:pt>
                <c:pt idx="138">
                  <c:v>4.7</c:v>
                </c:pt>
                <c:pt idx="139">
                  <c:v>4.3</c:v>
                </c:pt>
                <c:pt idx="140">
                  <c:v>4.8</c:v>
                </c:pt>
                <c:pt idx="141">
                  <c:v>5.8</c:v>
                </c:pt>
                <c:pt idx="142">
                  <c:v>5.9</c:v>
                </c:pt>
                <c:pt idx="143">
                  <c:v>6.3</c:v>
                </c:pt>
                <c:pt idx="144">
                  <c:v>6.4</c:v>
                </c:pt>
                <c:pt idx="145">
                  <c:v>6.6</c:v>
                </c:pt>
                <c:pt idx="146">
                  <c:v>6.9</c:v>
                </c:pt>
                <c:pt idx="147">
                  <c:v>6.7</c:v>
                </c:pt>
                <c:pt idx="148">
                  <c:v>7.1</c:v>
                </c:pt>
                <c:pt idx="149">
                  <c:v>8.3000000000000007</c:v>
                </c:pt>
                <c:pt idx="150">
                  <c:v>8.6999999999999993</c:v>
                </c:pt>
                <c:pt idx="151">
                  <c:v>9.1999999999999993</c:v>
                </c:pt>
                <c:pt idx="152">
                  <c:v>9.3000000000000007</c:v>
                </c:pt>
                <c:pt idx="153">
                  <c:v>8.8000000000000007</c:v>
                </c:pt>
                <c:pt idx="154">
                  <c:v>9.1</c:v>
                </c:pt>
                <c:pt idx="155">
                  <c:v>9</c:v>
                </c:pt>
                <c:pt idx="156">
                  <c:v>9.3000000000000007</c:v>
                </c:pt>
                <c:pt idx="157">
                  <c:v>8.9</c:v>
                </c:pt>
                <c:pt idx="158">
                  <c:v>9</c:v>
                </c:pt>
                <c:pt idx="159">
                  <c:v>10.5</c:v>
                </c:pt>
                <c:pt idx="160">
                  <c:v>10.4</c:v>
                </c:pt>
                <c:pt idx="161">
                  <c:v>10.199999999999999</c:v>
                </c:pt>
                <c:pt idx="162">
                  <c:v>11</c:v>
                </c:pt>
                <c:pt idx="163">
                  <c:v>10.7</c:v>
                </c:pt>
                <c:pt idx="164">
                  <c:v>9.9</c:v>
                </c:pt>
                <c:pt idx="165">
                  <c:v>10</c:v>
                </c:pt>
                <c:pt idx="166">
                  <c:v>10.6</c:v>
                </c:pt>
                <c:pt idx="167">
                  <c:v>11.1</c:v>
                </c:pt>
                <c:pt idx="168">
                  <c:v>9.9</c:v>
                </c:pt>
                <c:pt idx="169">
                  <c:v>8.9</c:v>
                </c:pt>
                <c:pt idx="170">
                  <c:v>9.6</c:v>
                </c:pt>
                <c:pt idx="171">
                  <c:v>11.4</c:v>
                </c:pt>
                <c:pt idx="172">
                  <c:v>12.2</c:v>
                </c:pt>
                <c:pt idx="173">
                  <c:v>13</c:v>
                </c:pt>
                <c:pt idx="174">
                  <c:v>13.4</c:v>
                </c:pt>
                <c:pt idx="175">
                  <c:v>13.6</c:v>
                </c:pt>
                <c:pt idx="176">
                  <c:v>14.7</c:v>
                </c:pt>
                <c:pt idx="177">
                  <c:v>15.3</c:v>
                </c:pt>
                <c:pt idx="178">
                  <c:v>15.9</c:v>
                </c:pt>
                <c:pt idx="179">
                  <c:v>15.2</c:v>
                </c:pt>
                <c:pt idx="180">
                  <c:v>15.7</c:v>
                </c:pt>
                <c:pt idx="181">
                  <c:v>17.100000000000001</c:v>
                </c:pt>
                <c:pt idx="182">
                  <c:v>16.600000000000001</c:v>
                </c:pt>
                <c:pt idx="183">
                  <c:v>16.399999999999999</c:v>
                </c:pt>
                <c:pt idx="184">
                  <c:v>16.899999999999999</c:v>
                </c:pt>
                <c:pt idx="185">
                  <c:v>17.399999999999999</c:v>
                </c:pt>
                <c:pt idx="186">
                  <c:v>17.600000000000001</c:v>
                </c:pt>
                <c:pt idx="187">
                  <c:v>17.2</c:v>
                </c:pt>
                <c:pt idx="188">
                  <c:v>17</c:v>
                </c:pt>
                <c:pt idx="189">
                  <c:v>16.7</c:v>
                </c:pt>
                <c:pt idx="190">
                  <c:v>16.3</c:v>
                </c:pt>
                <c:pt idx="191">
                  <c:v>15.7</c:v>
                </c:pt>
                <c:pt idx="192">
                  <c:v>16.7</c:v>
                </c:pt>
                <c:pt idx="193">
                  <c:v>17.100000000000001</c:v>
                </c:pt>
                <c:pt idx="194">
                  <c:v>17.7</c:v>
                </c:pt>
                <c:pt idx="195">
                  <c:v>19</c:v>
                </c:pt>
                <c:pt idx="196">
                  <c:v>19</c:v>
                </c:pt>
                <c:pt idx="197">
                  <c:v>18.100000000000001</c:v>
                </c:pt>
                <c:pt idx="198">
                  <c:v>18.600000000000001</c:v>
                </c:pt>
                <c:pt idx="199">
                  <c:v>19.2</c:v>
                </c:pt>
                <c:pt idx="200">
                  <c:v>19.2</c:v>
                </c:pt>
                <c:pt idx="201">
                  <c:v>19.8</c:v>
                </c:pt>
                <c:pt idx="202">
                  <c:v>18.100000000000001</c:v>
                </c:pt>
                <c:pt idx="203">
                  <c:v>20.7</c:v>
                </c:pt>
                <c:pt idx="204">
                  <c:v>21</c:v>
                </c:pt>
                <c:pt idx="205">
                  <c:v>21.2</c:v>
                </c:pt>
                <c:pt idx="206">
                  <c:v>21.6</c:v>
                </c:pt>
                <c:pt idx="207">
                  <c:v>21.7</c:v>
                </c:pt>
                <c:pt idx="208">
                  <c:v>22</c:v>
                </c:pt>
                <c:pt idx="209">
                  <c:v>22.6</c:v>
                </c:pt>
                <c:pt idx="210">
                  <c:v>24.5</c:v>
                </c:pt>
                <c:pt idx="211">
                  <c:v>25.4</c:v>
                </c:pt>
                <c:pt idx="212">
                  <c:v>25.9</c:v>
                </c:pt>
                <c:pt idx="213">
                  <c:v>27.3</c:v>
                </c:pt>
                <c:pt idx="214">
                  <c:v>29.1</c:v>
                </c:pt>
                <c:pt idx="215">
                  <c:v>29.6</c:v>
                </c:pt>
                <c:pt idx="216">
                  <c:v>29.9</c:v>
                </c:pt>
                <c:pt idx="217">
                  <c:v>27</c:v>
                </c:pt>
                <c:pt idx="218">
                  <c:v>25.9</c:v>
                </c:pt>
                <c:pt idx="219">
                  <c:v>25.4</c:v>
                </c:pt>
                <c:pt idx="220">
                  <c:v>26</c:v>
                </c:pt>
                <c:pt idx="221">
                  <c:v>25.6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574-4DB7-8D23-0EC982DF5CD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GE Vernova</c:v>
                </c:pt>
              </c:strCache>
            </c:strRef>
          </c:tx>
          <c:spPr>
            <a:ln w="19050">
              <a:solidFill>
                <a:srgbClr val="117A65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Sheet1!$F$2:$F$111</c:f>
              <c:numCache>
                <c:formatCode>General</c:formatCode>
                <c:ptCount val="2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5.9</c:v>
                </c:pt>
                <c:pt idx="117">
                  <c:v>5.3</c:v>
                </c:pt>
                <c:pt idx="118">
                  <c:v>5.8</c:v>
                </c:pt>
                <c:pt idx="119">
                  <c:v>5.9</c:v>
                </c:pt>
                <c:pt idx="120">
                  <c:v>6.6</c:v>
                </c:pt>
                <c:pt idx="121">
                  <c:v>7.2</c:v>
                </c:pt>
                <c:pt idx="122">
                  <c:v>7.2</c:v>
                </c:pt>
                <c:pt idx="123">
                  <c:v>7</c:v>
                </c:pt>
                <c:pt idx="124">
                  <c:v>7.7</c:v>
                </c:pt>
                <c:pt idx="125">
                  <c:v>7.6</c:v>
                </c:pt>
                <c:pt idx="126">
                  <c:v>7</c:v>
                </c:pt>
                <c:pt idx="127">
                  <c:v>7.4</c:v>
                </c:pt>
                <c:pt idx="128">
                  <c:v>7.6</c:v>
                </c:pt>
                <c:pt idx="129">
                  <c:v>7.4</c:v>
                </c:pt>
                <c:pt idx="130">
                  <c:v>7.6</c:v>
                </c:pt>
                <c:pt idx="131">
                  <c:v>7.8</c:v>
                </c:pt>
                <c:pt idx="132">
                  <c:v>7.1</c:v>
                </c:pt>
                <c:pt idx="133">
                  <c:v>7.5</c:v>
                </c:pt>
                <c:pt idx="134">
                  <c:v>7.1</c:v>
                </c:pt>
                <c:pt idx="135">
                  <c:v>7.8</c:v>
                </c:pt>
                <c:pt idx="136">
                  <c:v>8</c:v>
                </c:pt>
                <c:pt idx="137">
                  <c:v>7.9</c:v>
                </c:pt>
                <c:pt idx="138">
                  <c:v>8.6999999999999993</c:v>
                </c:pt>
                <c:pt idx="139">
                  <c:v>8.6</c:v>
                </c:pt>
                <c:pt idx="140">
                  <c:v>9.8000000000000007</c:v>
                </c:pt>
                <c:pt idx="141">
                  <c:v>10.6</c:v>
                </c:pt>
                <c:pt idx="142">
                  <c:v>10.8</c:v>
                </c:pt>
                <c:pt idx="143">
                  <c:v>11.5</c:v>
                </c:pt>
                <c:pt idx="144">
                  <c:v>11.6</c:v>
                </c:pt>
                <c:pt idx="145">
                  <c:v>11.8</c:v>
                </c:pt>
                <c:pt idx="146">
                  <c:v>12.7</c:v>
                </c:pt>
                <c:pt idx="147">
                  <c:v>13</c:v>
                </c:pt>
                <c:pt idx="148">
                  <c:v>14.8</c:v>
                </c:pt>
                <c:pt idx="149">
                  <c:v>14.3</c:v>
                </c:pt>
                <c:pt idx="150">
                  <c:v>15.1</c:v>
                </c:pt>
                <c:pt idx="151">
                  <c:v>14.5</c:v>
                </c:pt>
                <c:pt idx="152">
                  <c:v>15</c:v>
                </c:pt>
                <c:pt idx="153">
                  <c:v>14.4</c:v>
                </c:pt>
                <c:pt idx="154">
                  <c:v>14.8</c:v>
                </c:pt>
                <c:pt idx="155">
                  <c:v>14.5</c:v>
                </c:pt>
                <c:pt idx="156">
                  <c:v>15.4</c:v>
                </c:pt>
                <c:pt idx="157">
                  <c:v>15.9</c:v>
                </c:pt>
                <c:pt idx="158">
                  <c:v>17.399999999999999</c:v>
                </c:pt>
                <c:pt idx="159">
                  <c:v>18.2</c:v>
                </c:pt>
                <c:pt idx="160">
                  <c:v>16.2</c:v>
                </c:pt>
                <c:pt idx="161">
                  <c:v>16.399999999999999</c:v>
                </c:pt>
                <c:pt idx="162">
                  <c:v>15.9</c:v>
                </c:pt>
                <c:pt idx="163">
                  <c:v>14.2</c:v>
                </c:pt>
                <c:pt idx="164">
                  <c:v>14.5</c:v>
                </c:pt>
                <c:pt idx="165">
                  <c:v>12.5</c:v>
                </c:pt>
                <c:pt idx="166">
                  <c:v>13.6</c:v>
                </c:pt>
                <c:pt idx="167">
                  <c:v>14.5</c:v>
                </c:pt>
                <c:pt idx="168">
                  <c:v>13.1</c:v>
                </c:pt>
                <c:pt idx="169">
                  <c:v>11.8</c:v>
                </c:pt>
                <c:pt idx="170">
                  <c:v>13.9</c:v>
                </c:pt>
                <c:pt idx="171">
                  <c:v>14</c:v>
                </c:pt>
                <c:pt idx="172">
                  <c:v>16.2</c:v>
                </c:pt>
                <c:pt idx="173">
                  <c:v>17.2</c:v>
                </c:pt>
                <c:pt idx="174">
                  <c:v>17.3</c:v>
                </c:pt>
                <c:pt idx="175">
                  <c:v>18.600000000000001</c:v>
                </c:pt>
                <c:pt idx="176">
                  <c:v>20.2</c:v>
                </c:pt>
                <c:pt idx="177">
                  <c:v>20.5</c:v>
                </c:pt>
                <c:pt idx="178">
                  <c:v>21</c:v>
                </c:pt>
                <c:pt idx="179">
                  <c:v>20.8</c:v>
                </c:pt>
                <c:pt idx="180">
                  <c:v>21.1</c:v>
                </c:pt>
                <c:pt idx="181">
                  <c:v>22.6</c:v>
                </c:pt>
                <c:pt idx="182">
                  <c:v>22.4</c:v>
                </c:pt>
                <c:pt idx="183">
                  <c:v>23.4</c:v>
                </c:pt>
                <c:pt idx="184">
                  <c:v>24.9</c:v>
                </c:pt>
                <c:pt idx="185">
                  <c:v>28</c:v>
                </c:pt>
                <c:pt idx="186">
                  <c:v>28.5</c:v>
                </c:pt>
                <c:pt idx="187">
                  <c:v>28.2</c:v>
                </c:pt>
                <c:pt idx="188">
                  <c:v>27</c:v>
                </c:pt>
                <c:pt idx="189">
                  <c:v>26.4</c:v>
                </c:pt>
                <c:pt idx="190">
                  <c:v>26.6</c:v>
                </c:pt>
                <c:pt idx="191">
                  <c:v>25.3</c:v>
                </c:pt>
                <c:pt idx="192">
                  <c:v>27.2</c:v>
                </c:pt>
                <c:pt idx="193">
                  <c:v>27.1</c:v>
                </c:pt>
                <c:pt idx="194">
                  <c:v>26.3</c:v>
                </c:pt>
                <c:pt idx="195">
                  <c:v>25.8</c:v>
                </c:pt>
                <c:pt idx="196">
                  <c:v>26.2</c:v>
                </c:pt>
                <c:pt idx="197">
                  <c:v>26.1</c:v>
                </c:pt>
                <c:pt idx="198">
                  <c:v>25.4</c:v>
                </c:pt>
                <c:pt idx="199">
                  <c:v>25.4</c:v>
                </c:pt>
                <c:pt idx="200">
                  <c:v>25</c:v>
                </c:pt>
                <c:pt idx="201">
                  <c:v>25.1</c:v>
                </c:pt>
                <c:pt idx="202">
                  <c:v>24.1</c:v>
                </c:pt>
                <c:pt idx="203">
                  <c:v>26.1</c:v>
                </c:pt>
                <c:pt idx="204">
                  <c:v>27.4</c:v>
                </c:pt>
                <c:pt idx="205">
                  <c:v>29.2</c:v>
                </c:pt>
                <c:pt idx="206">
                  <c:v>28.6</c:v>
                </c:pt>
                <c:pt idx="207">
                  <c:v>28.8</c:v>
                </c:pt>
                <c:pt idx="208">
                  <c:v>29.5</c:v>
                </c:pt>
                <c:pt idx="209">
                  <c:v>27</c:v>
                </c:pt>
                <c:pt idx="210">
                  <c:v>29.6</c:v>
                </c:pt>
                <c:pt idx="211">
                  <c:v>28.6</c:v>
                </c:pt>
                <c:pt idx="212">
                  <c:v>31.6</c:v>
                </c:pt>
                <c:pt idx="213">
                  <c:v>33.9</c:v>
                </c:pt>
                <c:pt idx="214">
                  <c:v>34.9</c:v>
                </c:pt>
                <c:pt idx="215">
                  <c:v>36.1</c:v>
                </c:pt>
                <c:pt idx="216">
                  <c:v>38</c:v>
                </c:pt>
                <c:pt idx="217">
                  <c:v>34.299999999999997</c:v>
                </c:pt>
                <c:pt idx="218">
                  <c:v>35</c:v>
                </c:pt>
                <c:pt idx="219">
                  <c:v>37</c:v>
                </c:pt>
                <c:pt idx="220">
                  <c:v>37.1</c:v>
                </c:pt>
                <c:pt idx="221">
                  <c:v>36.4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574-4DB7-8D23-0EC982DF5CD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TBEA</c:v>
                </c:pt>
              </c:strCache>
            </c:strRef>
          </c:tx>
          <c:spPr>
            <a:ln w="19050">
              <a:solidFill>
                <a:srgbClr val="7D3C98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Sheet1!$G$2:$G$111</c:f>
              <c:numCache>
                <c:formatCode>General</c:formatCode>
                <c:ptCount val="222"/>
                <c:pt idx="0">
                  <c:v>10.6</c:v>
                </c:pt>
                <c:pt idx="1">
                  <c:v>10.5</c:v>
                </c:pt>
                <c:pt idx="2">
                  <c:v>10.4</c:v>
                </c:pt>
                <c:pt idx="3">
                  <c:v>10</c:v>
                </c:pt>
                <c:pt idx="4">
                  <c:v>10</c:v>
                </c:pt>
                <c:pt idx="5">
                  <c:v>10.3</c:v>
                </c:pt>
                <c:pt idx="6">
                  <c:v>10.7</c:v>
                </c:pt>
                <c:pt idx="7">
                  <c:v>10.8</c:v>
                </c:pt>
                <c:pt idx="8">
                  <c:v>10.8</c:v>
                </c:pt>
                <c:pt idx="9">
                  <c:v>11.4</c:v>
                </c:pt>
                <c:pt idx="10">
                  <c:v>11.1</c:v>
                </c:pt>
                <c:pt idx="11">
                  <c:v>10.4</c:v>
                </c:pt>
                <c:pt idx="12">
                  <c:v>11.1</c:v>
                </c:pt>
                <c:pt idx="13">
                  <c:v>10.5</c:v>
                </c:pt>
                <c:pt idx="14">
                  <c:v>10.6</c:v>
                </c:pt>
                <c:pt idx="15">
                  <c:v>10.199999999999999</c:v>
                </c:pt>
                <c:pt idx="16">
                  <c:v>10.4</c:v>
                </c:pt>
                <c:pt idx="17">
                  <c:v>10.1</c:v>
                </c:pt>
                <c:pt idx="18">
                  <c:v>10.8</c:v>
                </c:pt>
                <c:pt idx="19">
                  <c:v>11.6</c:v>
                </c:pt>
                <c:pt idx="20">
                  <c:v>11.5</c:v>
                </c:pt>
                <c:pt idx="21">
                  <c:v>12.1</c:v>
                </c:pt>
                <c:pt idx="22">
                  <c:v>13.7</c:v>
                </c:pt>
                <c:pt idx="23">
                  <c:v>15.1</c:v>
                </c:pt>
                <c:pt idx="24">
                  <c:v>14.4</c:v>
                </c:pt>
                <c:pt idx="25">
                  <c:v>15.2</c:v>
                </c:pt>
                <c:pt idx="26">
                  <c:v>15.6</c:v>
                </c:pt>
                <c:pt idx="27">
                  <c:v>14.9</c:v>
                </c:pt>
                <c:pt idx="28">
                  <c:v>14.3</c:v>
                </c:pt>
                <c:pt idx="29">
                  <c:v>13.7</c:v>
                </c:pt>
                <c:pt idx="30">
                  <c:v>13.2</c:v>
                </c:pt>
                <c:pt idx="31">
                  <c:v>13.1</c:v>
                </c:pt>
                <c:pt idx="32">
                  <c:v>14.3</c:v>
                </c:pt>
                <c:pt idx="33">
                  <c:v>14</c:v>
                </c:pt>
                <c:pt idx="34">
                  <c:v>13.2</c:v>
                </c:pt>
                <c:pt idx="35">
                  <c:v>13.8</c:v>
                </c:pt>
                <c:pt idx="36">
                  <c:v>12.4</c:v>
                </c:pt>
                <c:pt idx="37">
                  <c:v>12.3</c:v>
                </c:pt>
                <c:pt idx="38">
                  <c:v>11.9</c:v>
                </c:pt>
                <c:pt idx="39">
                  <c:v>11.9</c:v>
                </c:pt>
                <c:pt idx="40">
                  <c:v>12.6</c:v>
                </c:pt>
                <c:pt idx="41">
                  <c:v>11.9</c:v>
                </c:pt>
                <c:pt idx="42">
                  <c:v>11.4</c:v>
                </c:pt>
                <c:pt idx="43">
                  <c:v>12.1</c:v>
                </c:pt>
                <c:pt idx="44">
                  <c:v>12</c:v>
                </c:pt>
                <c:pt idx="45">
                  <c:v>11.9</c:v>
                </c:pt>
                <c:pt idx="46">
                  <c:v>11.8</c:v>
                </c:pt>
                <c:pt idx="47">
                  <c:v>11.8</c:v>
                </c:pt>
                <c:pt idx="48">
                  <c:v>11.6</c:v>
                </c:pt>
                <c:pt idx="49">
                  <c:v>11.2</c:v>
                </c:pt>
                <c:pt idx="50">
                  <c:v>10.199999999999999</c:v>
                </c:pt>
                <c:pt idx="51">
                  <c:v>11</c:v>
                </c:pt>
                <c:pt idx="52">
                  <c:v>11.1</c:v>
                </c:pt>
                <c:pt idx="53">
                  <c:v>11.1</c:v>
                </c:pt>
                <c:pt idx="54">
                  <c:v>11.7</c:v>
                </c:pt>
                <c:pt idx="55">
                  <c:v>11.7</c:v>
                </c:pt>
                <c:pt idx="56">
                  <c:v>11.6</c:v>
                </c:pt>
                <c:pt idx="57">
                  <c:v>11.6</c:v>
                </c:pt>
                <c:pt idx="58">
                  <c:v>11.3</c:v>
                </c:pt>
                <c:pt idx="59">
                  <c:v>11.8</c:v>
                </c:pt>
                <c:pt idx="60">
                  <c:v>11.9</c:v>
                </c:pt>
                <c:pt idx="61">
                  <c:v>11.4</c:v>
                </c:pt>
                <c:pt idx="62">
                  <c:v>12</c:v>
                </c:pt>
                <c:pt idx="63">
                  <c:v>11.8</c:v>
                </c:pt>
                <c:pt idx="64">
                  <c:v>11.9</c:v>
                </c:pt>
                <c:pt idx="65">
                  <c:v>11.8</c:v>
                </c:pt>
                <c:pt idx="66">
                  <c:v>11.9</c:v>
                </c:pt>
                <c:pt idx="67">
                  <c:v>12.6</c:v>
                </c:pt>
                <c:pt idx="68">
                  <c:v>12.4</c:v>
                </c:pt>
                <c:pt idx="69">
                  <c:v>12.6</c:v>
                </c:pt>
                <c:pt idx="70">
                  <c:v>12.6</c:v>
                </c:pt>
                <c:pt idx="71">
                  <c:v>12.8</c:v>
                </c:pt>
                <c:pt idx="72">
                  <c:v>12.5</c:v>
                </c:pt>
                <c:pt idx="73">
                  <c:v>12.5</c:v>
                </c:pt>
                <c:pt idx="74">
                  <c:v>12.6</c:v>
                </c:pt>
                <c:pt idx="75">
                  <c:v>12.3</c:v>
                </c:pt>
                <c:pt idx="76">
                  <c:v>12.2</c:v>
                </c:pt>
                <c:pt idx="77">
                  <c:v>12.3</c:v>
                </c:pt>
                <c:pt idx="78">
                  <c:v>12</c:v>
                </c:pt>
                <c:pt idx="79">
                  <c:v>12.6</c:v>
                </c:pt>
                <c:pt idx="80">
                  <c:v>11.4</c:v>
                </c:pt>
                <c:pt idx="81">
                  <c:v>12.4</c:v>
                </c:pt>
                <c:pt idx="82">
                  <c:v>12.7</c:v>
                </c:pt>
                <c:pt idx="83">
                  <c:v>12.3</c:v>
                </c:pt>
                <c:pt idx="84">
                  <c:v>11.5</c:v>
                </c:pt>
                <c:pt idx="85">
                  <c:v>11.1</c:v>
                </c:pt>
                <c:pt idx="86">
                  <c:v>11.3</c:v>
                </c:pt>
                <c:pt idx="87">
                  <c:v>10.9</c:v>
                </c:pt>
                <c:pt idx="88">
                  <c:v>11</c:v>
                </c:pt>
                <c:pt idx="89">
                  <c:v>11.1</c:v>
                </c:pt>
                <c:pt idx="90">
                  <c:v>11.3</c:v>
                </c:pt>
                <c:pt idx="91">
                  <c:v>11.3</c:v>
                </c:pt>
                <c:pt idx="92">
                  <c:v>11.3</c:v>
                </c:pt>
                <c:pt idx="93">
                  <c:v>10.8</c:v>
                </c:pt>
                <c:pt idx="94">
                  <c:v>10.8</c:v>
                </c:pt>
                <c:pt idx="95">
                  <c:v>10.6</c:v>
                </c:pt>
                <c:pt idx="96">
                  <c:v>10.8</c:v>
                </c:pt>
                <c:pt idx="97">
                  <c:v>10.8</c:v>
                </c:pt>
                <c:pt idx="98">
                  <c:v>10.5</c:v>
                </c:pt>
                <c:pt idx="99">
                  <c:v>10.7</c:v>
                </c:pt>
                <c:pt idx="100">
                  <c:v>10.3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10.5</c:v>
                </c:pt>
                <c:pt idx="104">
                  <c:v>10.6</c:v>
                </c:pt>
                <c:pt idx="105">
                  <c:v>10.9</c:v>
                </c:pt>
                <c:pt idx="106">
                  <c:v>10.9</c:v>
                </c:pt>
                <c:pt idx="107">
                  <c:v>11.1</c:v>
                </c:pt>
                <c:pt idx="108">
                  <c:v>10.5</c:v>
                </c:pt>
                <c:pt idx="109">
                  <c:v>11.2</c:v>
                </c:pt>
                <c:pt idx="110">
                  <c:v>11.2</c:v>
                </c:pt>
                <c:pt idx="111">
                  <c:v>11.5</c:v>
                </c:pt>
                <c:pt idx="112">
                  <c:v>11.5</c:v>
                </c:pt>
                <c:pt idx="113">
                  <c:v>12.4</c:v>
                </c:pt>
                <c:pt idx="114">
                  <c:v>12.1</c:v>
                </c:pt>
                <c:pt idx="115">
                  <c:v>11.9</c:v>
                </c:pt>
                <c:pt idx="116">
                  <c:v>11.7</c:v>
                </c:pt>
                <c:pt idx="117">
                  <c:v>11.9</c:v>
                </c:pt>
                <c:pt idx="118">
                  <c:v>11</c:v>
                </c:pt>
                <c:pt idx="119">
                  <c:v>10.9</c:v>
                </c:pt>
                <c:pt idx="120">
                  <c:v>10.6</c:v>
                </c:pt>
                <c:pt idx="121">
                  <c:v>10.8</c:v>
                </c:pt>
                <c:pt idx="122">
                  <c:v>11.1</c:v>
                </c:pt>
                <c:pt idx="123">
                  <c:v>11.2</c:v>
                </c:pt>
                <c:pt idx="124">
                  <c:v>11.2</c:v>
                </c:pt>
                <c:pt idx="125">
                  <c:v>11.4</c:v>
                </c:pt>
                <c:pt idx="126">
                  <c:v>11</c:v>
                </c:pt>
                <c:pt idx="127">
                  <c:v>11</c:v>
                </c:pt>
                <c:pt idx="128">
                  <c:v>10.7</c:v>
                </c:pt>
                <c:pt idx="129">
                  <c:v>10.6</c:v>
                </c:pt>
                <c:pt idx="130">
                  <c:v>10.3</c:v>
                </c:pt>
                <c:pt idx="131">
                  <c:v>10.199999999999999</c:v>
                </c:pt>
                <c:pt idx="132">
                  <c:v>10.5</c:v>
                </c:pt>
                <c:pt idx="133">
                  <c:v>10.4</c:v>
                </c:pt>
                <c:pt idx="134">
                  <c:v>10.4</c:v>
                </c:pt>
                <c:pt idx="135">
                  <c:v>10.3</c:v>
                </c:pt>
                <c:pt idx="136">
                  <c:v>10.1</c:v>
                </c:pt>
                <c:pt idx="137">
                  <c:v>9.6</c:v>
                </c:pt>
                <c:pt idx="138">
                  <c:v>9.8000000000000007</c:v>
                </c:pt>
                <c:pt idx="139">
                  <c:v>9.6</c:v>
                </c:pt>
                <c:pt idx="140">
                  <c:v>9.1</c:v>
                </c:pt>
                <c:pt idx="141">
                  <c:v>9.3000000000000007</c:v>
                </c:pt>
                <c:pt idx="142">
                  <c:v>10.6</c:v>
                </c:pt>
                <c:pt idx="143">
                  <c:v>11.3</c:v>
                </c:pt>
                <c:pt idx="144">
                  <c:v>10.5</c:v>
                </c:pt>
                <c:pt idx="145">
                  <c:v>10.1</c:v>
                </c:pt>
                <c:pt idx="146">
                  <c:v>11.3</c:v>
                </c:pt>
                <c:pt idx="147">
                  <c:v>10.9</c:v>
                </c:pt>
                <c:pt idx="148">
                  <c:v>11.2</c:v>
                </c:pt>
                <c:pt idx="149">
                  <c:v>10.8</c:v>
                </c:pt>
                <c:pt idx="150">
                  <c:v>10.5</c:v>
                </c:pt>
                <c:pt idx="151">
                  <c:v>10.5</c:v>
                </c:pt>
                <c:pt idx="152">
                  <c:v>10.1</c:v>
                </c:pt>
                <c:pt idx="153">
                  <c:v>9.9</c:v>
                </c:pt>
                <c:pt idx="154">
                  <c:v>9.8000000000000007</c:v>
                </c:pt>
                <c:pt idx="155">
                  <c:v>9.9</c:v>
                </c:pt>
                <c:pt idx="156">
                  <c:v>9.5</c:v>
                </c:pt>
                <c:pt idx="157">
                  <c:v>9.3000000000000007</c:v>
                </c:pt>
                <c:pt idx="158">
                  <c:v>9.5</c:v>
                </c:pt>
                <c:pt idx="159">
                  <c:v>9.3000000000000007</c:v>
                </c:pt>
                <c:pt idx="160">
                  <c:v>9.3000000000000007</c:v>
                </c:pt>
                <c:pt idx="161">
                  <c:v>9.6</c:v>
                </c:pt>
                <c:pt idx="162">
                  <c:v>9.5</c:v>
                </c:pt>
                <c:pt idx="163">
                  <c:v>9.5</c:v>
                </c:pt>
                <c:pt idx="164">
                  <c:v>9.4</c:v>
                </c:pt>
                <c:pt idx="165">
                  <c:v>9.5</c:v>
                </c:pt>
                <c:pt idx="166">
                  <c:v>9.8000000000000007</c:v>
                </c:pt>
                <c:pt idx="167">
                  <c:v>9.6999999999999993</c:v>
                </c:pt>
                <c:pt idx="168">
                  <c:v>9.5</c:v>
                </c:pt>
                <c:pt idx="169">
                  <c:v>9.3000000000000007</c:v>
                </c:pt>
                <c:pt idx="170">
                  <c:v>9</c:v>
                </c:pt>
                <c:pt idx="171">
                  <c:v>9</c:v>
                </c:pt>
                <c:pt idx="172">
                  <c:v>9</c:v>
                </c:pt>
                <c:pt idx="173">
                  <c:v>8.9</c:v>
                </c:pt>
                <c:pt idx="174">
                  <c:v>9</c:v>
                </c:pt>
                <c:pt idx="175">
                  <c:v>9.1999999999999993</c:v>
                </c:pt>
                <c:pt idx="176">
                  <c:v>9.1</c:v>
                </c:pt>
                <c:pt idx="177">
                  <c:v>9</c:v>
                </c:pt>
                <c:pt idx="178">
                  <c:v>9.1</c:v>
                </c:pt>
                <c:pt idx="179">
                  <c:v>9</c:v>
                </c:pt>
                <c:pt idx="180">
                  <c:v>8.9</c:v>
                </c:pt>
                <c:pt idx="181">
                  <c:v>9.1999999999999993</c:v>
                </c:pt>
                <c:pt idx="182">
                  <c:v>9.4</c:v>
                </c:pt>
                <c:pt idx="183">
                  <c:v>9.5</c:v>
                </c:pt>
                <c:pt idx="184">
                  <c:v>9.6999999999999993</c:v>
                </c:pt>
                <c:pt idx="185">
                  <c:v>11.1</c:v>
                </c:pt>
                <c:pt idx="186">
                  <c:v>10.6</c:v>
                </c:pt>
                <c:pt idx="187">
                  <c:v>10.7</c:v>
                </c:pt>
                <c:pt idx="188">
                  <c:v>10.7</c:v>
                </c:pt>
                <c:pt idx="189">
                  <c:v>11.2</c:v>
                </c:pt>
                <c:pt idx="190">
                  <c:v>11.2</c:v>
                </c:pt>
                <c:pt idx="191">
                  <c:v>11.9</c:v>
                </c:pt>
                <c:pt idx="192">
                  <c:v>11.7</c:v>
                </c:pt>
                <c:pt idx="193">
                  <c:v>12.9</c:v>
                </c:pt>
                <c:pt idx="194">
                  <c:v>12.8</c:v>
                </c:pt>
                <c:pt idx="195">
                  <c:v>14.1</c:v>
                </c:pt>
                <c:pt idx="196">
                  <c:v>15.5</c:v>
                </c:pt>
                <c:pt idx="197">
                  <c:v>14.9</c:v>
                </c:pt>
                <c:pt idx="198">
                  <c:v>15</c:v>
                </c:pt>
                <c:pt idx="199">
                  <c:v>15.5</c:v>
                </c:pt>
                <c:pt idx="200">
                  <c:v>20.9</c:v>
                </c:pt>
                <c:pt idx="201">
                  <c:v>18.7</c:v>
                </c:pt>
                <c:pt idx="202">
                  <c:v>16.899999999999999</c:v>
                </c:pt>
                <c:pt idx="203">
                  <c:v>17.2</c:v>
                </c:pt>
                <c:pt idx="204">
                  <c:v>17.399999999999999</c:v>
                </c:pt>
                <c:pt idx="205">
                  <c:v>18.8</c:v>
                </c:pt>
                <c:pt idx="206">
                  <c:v>17.3</c:v>
                </c:pt>
                <c:pt idx="207">
                  <c:v>18.5</c:v>
                </c:pt>
                <c:pt idx="208">
                  <c:v>17.600000000000001</c:v>
                </c:pt>
                <c:pt idx="209">
                  <c:v>19.7</c:v>
                </c:pt>
                <c:pt idx="210">
                  <c:v>21.9</c:v>
                </c:pt>
                <c:pt idx="211">
                  <c:v>22.6</c:v>
                </c:pt>
                <c:pt idx="212">
                  <c:v>21.5</c:v>
                </c:pt>
                <c:pt idx="213">
                  <c:v>21.8</c:v>
                </c:pt>
                <c:pt idx="214">
                  <c:v>22.7</c:v>
                </c:pt>
                <c:pt idx="215">
                  <c:v>22.7</c:v>
                </c:pt>
                <c:pt idx="216">
                  <c:v>24</c:v>
                </c:pt>
                <c:pt idx="217">
                  <c:v>25.5</c:v>
                </c:pt>
                <c:pt idx="218">
                  <c:v>24</c:v>
                </c:pt>
                <c:pt idx="219">
                  <c:v>22.1</c:v>
                </c:pt>
                <c:pt idx="220">
                  <c:v>22.3</c:v>
                </c:pt>
                <c:pt idx="221">
                  <c:v>20.9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574-4DB7-8D23-0EC982DF5CD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China XD</c:v>
                </c:pt>
              </c:strCache>
            </c:strRef>
          </c:tx>
          <c:spPr>
            <a:ln w="19050">
              <a:solidFill>
                <a:schemeClr val="bg1">
                  <a:lumMod val="85000"/>
                </a:schemeClr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Sheet1!$H$2:$H$111</c:f>
              <c:numCache>
                <c:formatCode>General</c:formatCode>
                <c:ptCount val="222"/>
                <c:pt idx="0">
                  <c:v>13.7</c:v>
                </c:pt>
                <c:pt idx="1">
                  <c:v>13.9</c:v>
                </c:pt>
                <c:pt idx="2">
                  <c:v>13.7</c:v>
                </c:pt>
                <c:pt idx="3">
                  <c:v>13.1</c:v>
                </c:pt>
                <c:pt idx="4">
                  <c:v>13.1</c:v>
                </c:pt>
                <c:pt idx="5">
                  <c:v>13.4</c:v>
                </c:pt>
                <c:pt idx="6">
                  <c:v>13.3</c:v>
                </c:pt>
                <c:pt idx="7">
                  <c:v>13.3</c:v>
                </c:pt>
                <c:pt idx="8">
                  <c:v>13.3</c:v>
                </c:pt>
                <c:pt idx="9">
                  <c:v>12.3</c:v>
                </c:pt>
                <c:pt idx="10">
                  <c:v>11.6</c:v>
                </c:pt>
                <c:pt idx="11">
                  <c:v>11.4</c:v>
                </c:pt>
                <c:pt idx="12">
                  <c:v>11.8</c:v>
                </c:pt>
                <c:pt idx="13">
                  <c:v>11.5</c:v>
                </c:pt>
                <c:pt idx="14">
                  <c:v>11</c:v>
                </c:pt>
                <c:pt idx="15">
                  <c:v>10.6</c:v>
                </c:pt>
                <c:pt idx="16">
                  <c:v>10.5</c:v>
                </c:pt>
                <c:pt idx="17">
                  <c:v>10.5</c:v>
                </c:pt>
                <c:pt idx="18">
                  <c:v>10.8</c:v>
                </c:pt>
                <c:pt idx="19">
                  <c:v>11.2</c:v>
                </c:pt>
                <c:pt idx="20">
                  <c:v>11.7</c:v>
                </c:pt>
                <c:pt idx="21">
                  <c:v>12.6</c:v>
                </c:pt>
                <c:pt idx="22">
                  <c:v>12.2</c:v>
                </c:pt>
                <c:pt idx="23">
                  <c:v>12.6</c:v>
                </c:pt>
                <c:pt idx="24">
                  <c:v>12.6</c:v>
                </c:pt>
                <c:pt idx="25">
                  <c:v>12.3</c:v>
                </c:pt>
                <c:pt idx="26">
                  <c:v>12.8</c:v>
                </c:pt>
                <c:pt idx="27">
                  <c:v>13.6</c:v>
                </c:pt>
                <c:pt idx="28">
                  <c:v>13.3</c:v>
                </c:pt>
                <c:pt idx="29">
                  <c:v>13.2</c:v>
                </c:pt>
                <c:pt idx="30">
                  <c:v>13</c:v>
                </c:pt>
                <c:pt idx="31">
                  <c:v>13</c:v>
                </c:pt>
                <c:pt idx="32">
                  <c:v>13.6</c:v>
                </c:pt>
                <c:pt idx="33">
                  <c:v>13.2</c:v>
                </c:pt>
                <c:pt idx="34">
                  <c:v>12.5</c:v>
                </c:pt>
                <c:pt idx="35">
                  <c:v>12.7</c:v>
                </c:pt>
                <c:pt idx="36">
                  <c:v>11.6</c:v>
                </c:pt>
                <c:pt idx="37">
                  <c:v>11.6</c:v>
                </c:pt>
                <c:pt idx="38">
                  <c:v>11.1</c:v>
                </c:pt>
                <c:pt idx="39">
                  <c:v>11.1</c:v>
                </c:pt>
                <c:pt idx="40">
                  <c:v>11.6</c:v>
                </c:pt>
                <c:pt idx="41">
                  <c:v>11.9</c:v>
                </c:pt>
                <c:pt idx="42">
                  <c:v>11.6</c:v>
                </c:pt>
                <c:pt idx="43">
                  <c:v>12.7</c:v>
                </c:pt>
                <c:pt idx="44">
                  <c:v>12.4</c:v>
                </c:pt>
                <c:pt idx="45">
                  <c:v>13</c:v>
                </c:pt>
                <c:pt idx="46">
                  <c:v>12.9</c:v>
                </c:pt>
                <c:pt idx="47">
                  <c:v>12.7</c:v>
                </c:pt>
                <c:pt idx="48">
                  <c:v>12.5</c:v>
                </c:pt>
                <c:pt idx="49">
                  <c:v>12.4</c:v>
                </c:pt>
                <c:pt idx="50">
                  <c:v>11.9</c:v>
                </c:pt>
                <c:pt idx="51">
                  <c:v>12</c:v>
                </c:pt>
                <c:pt idx="52">
                  <c:v>12.4</c:v>
                </c:pt>
                <c:pt idx="53">
                  <c:v>12.4</c:v>
                </c:pt>
                <c:pt idx="54">
                  <c:v>12.7</c:v>
                </c:pt>
                <c:pt idx="55">
                  <c:v>12.7</c:v>
                </c:pt>
                <c:pt idx="56">
                  <c:v>12.6</c:v>
                </c:pt>
                <c:pt idx="57">
                  <c:v>12.7</c:v>
                </c:pt>
                <c:pt idx="58">
                  <c:v>12.7</c:v>
                </c:pt>
                <c:pt idx="59">
                  <c:v>12.8</c:v>
                </c:pt>
                <c:pt idx="60">
                  <c:v>13.4</c:v>
                </c:pt>
                <c:pt idx="61">
                  <c:v>12.8</c:v>
                </c:pt>
                <c:pt idx="62">
                  <c:v>14.9</c:v>
                </c:pt>
                <c:pt idx="63">
                  <c:v>14.2</c:v>
                </c:pt>
                <c:pt idx="64">
                  <c:v>13.7</c:v>
                </c:pt>
                <c:pt idx="65">
                  <c:v>14.2</c:v>
                </c:pt>
                <c:pt idx="66">
                  <c:v>14.8</c:v>
                </c:pt>
                <c:pt idx="67">
                  <c:v>13.9</c:v>
                </c:pt>
                <c:pt idx="68">
                  <c:v>14.2</c:v>
                </c:pt>
                <c:pt idx="69">
                  <c:v>14.7</c:v>
                </c:pt>
                <c:pt idx="70">
                  <c:v>14.8</c:v>
                </c:pt>
                <c:pt idx="71">
                  <c:v>14.8</c:v>
                </c:pt>
                <c:pt idx="72">
                  <c:v>13.9</c:v>
                </c:pt>
                <c:pt idx="73">
                  <c:v>14</c:v>
                </c:pt>
                <c:pt idx="74">
                  <c:v>13.6</c:v>
                </c:pt>
                <c:pt idx="75">
                  <c:v>14.3</c:v>
                </c:pt>
                <c:pt idx="76">
                  <c:v>13.9</c:v>
                </c:pt>
                <c:pt idx="77">
                  <c:v>14.1</c:v>
                </c:pt>
                <c:pt idx="78">
                  <c:v>14.2</c:v>
                </c:pt>
                <c:pt idx="79">
                  <c:v>14.3</c:v>
                </c:pt>
                <c:pt idx="80">
                  <c:v>13.9</c:v>
                </c:pt>
                <c:pt idx="81">
                  <c:v>14.3</c:v>
                </c:pt>
                <c:pt idx="82">
                  <c:v>14.4</c:v>
                </c:pt>
                <c:pt idx="83">
                  <c:v>13.7</c:v>
                </c:pt>
                <c:pt idx="84">
                  <c:v>13.5</c:v>
                </c:pt>
                <c:pt idx="85">
                  <c:v>12.8</c:v>
                </c:pt>
                <c:pt idx="86">
                  <c:v>12.6</c:v>
                </c:pt>
                <c:pt idx="87">
                  <c:v>12.8</c:v>
                </c:pt>
                <c:pt idx="88">
                  <c:v>12.9</c:v>
                </c:pt>
                <c:pt idx="89">
                  <c:v>12.8</c:v>
                </c:pt>
                <c:pt idx="90">
                  <c:v>12.8</c:v>
                </c:pt>
                <c:pt idx="91">
                  <c:v>12.8</c:v>
                </c:pt>
                <c:pt idx="92">
                  <c:v>12.4</c:v>
                </c:pt>
                <c:pt idx="93">
                  <c:v>12</c:v>
                </c:pt>
                <c:pt idx="94">
                  <c:v>12.2</c:v>
                </c:pt>
                <c:pt idx="95">
                  <c:v>12.2</c:v>
                </c:pt>
                <c:pt idx="96">
                  <c:v>12.1</c:v>
                </c:pt>
                <c:pt idx="97">
                  <c:v>12.1</c:v>
                </c:pt>
                <c:pt idx="98">
                  <c:v>11.8</c:v>
                </c:pt>
                <c:pt idx="99">
                  <c:v>12.1</c:v>
                </c:pt>
                <c:pt idx="100">
                  <c:v>11.8</c:v>
                </c:pt>
                <c:pt idx="101">
                  <c:v>12.2</c:v>
                </c:pt>
                <c:pt idx="102">
                  <c:v>12.9</c:v>
                </c:pt>
                <c:pt idx="103">
                  <c:v>13</c:v>
                </c:pt>
                <c:pt idx="104">
                  <c:v>13.3</c:v>
                </c:pt>
                <c:pt idx="105">
                  <c:v>13.4</c:v>
                </c:pt>
                <c:pt idx="106">
                  <c:v>13.2</c:v>
                </c:pt>
                <c:pt idx="107">
                  <c:v>13.8</c:v>
                </c:pt>
                <c:pt idx="108">
                  <c:v>12.8</c:v>
                </c:pt>
                <c:pt idx="109">
                  <c:v>13.8</c:v>
                </c:pt>
                <c:pt idx="110">
                  <c:v>0</c:v>
                </c:pt>
                <c:pt idx="111">
                  <c:v>13.9</c:v>
                </c:pt>
                <c:pt idx="112">
                  <c:v>14.2</c:v>
                </c:pt>
                <c:pt idx="113">
                  <c:v>14.7</c:v>
                </c:pt>
                <c:pt idx="114">
                  <c:v>14.5</c:v>
                </c:pt>
                <c:pt idx="115">
                  <c:v>14.3</c:v>
                </c:pt>
                <c:pt idx="116">
                  <c:v>14.5</c:v>
                </c:pt>
                <c:pt idx="117">
                  <c:v>14.2</c:v>
                </c:pt>
                <c:pt idx="118">
                  <c:v>17.399999999999999</c:v>
                </c:pt>
                <c:pt idx="119">
                  <c:v>21.3</c:v>
                </c:pt>
                <c:pt idx="120">
                  <c:v>19.7</c:v>
                </c:pt>
                <c:pt idx="121">
                  <c:v>18.600000000000001</c:v>
                </c:pt>
                <c:pt idx="122">
                  <c:v>19.8</c:v>
                </c:pt>
                <c:pt idx="123">
                  <c:v>18</c:v>
                </c:pt>
                <c:pt idx="124">
                  <c:v>18</c:v>
                </c:pt>
                <c:pt idx="125">
                  <c:v>17.8</c:v>
                </c:pt>
                <c:pt idx="126">
                  <c:v>19.100000000000001</c:v>
                </c:pt>
                <c:pt idx="127">
                  <c:v>19.5</c:v>
                </c:pt>
                <c:pt idx="128">
                  <c:v>20.100000000000001</c:v>
                </c:pt>
                <c:pt idx="129">
                  <c:v>21.1</c:v>
                </c:pt>
                <c:pt idx="130">
                  <c:v>20.7</c:v>
                </c:pt>
                <c:pt idx="131">
                  <c:v>19.899999999999999</c:v>
                </c:pt>
                <c:pt idx="132">
                  <c:v>18</c:v>
                </c:pt>
                <c:pt idx="133">
                  <c:v>18.600000000000001</c:v>
                </c:pt>
                <c:pt idx="134">
                  <c:v>18.8</c:v>
                </c:pt>
                <c:pt idx="135">
                  <c:v>18.399999999999999</c:v>
                </c:pt>
                <c:pt idx="136">
                  <c:v>18.2</c:v>
                </c:pt>
                <c:pt idx="137">
                  <c:v>17.600000000000001</c:v>
                </c:pt>
                <c:pt idx="138">
                  <c:v>18.3</c:v>
                </c:pt>
                <c:pt idx="139">
                  <c:v>18.399999999999999</c:v>
                </c:pt>
                <c:pt idx="140">
                  <c:v>18.8</c:v>
                </c:pt>
                <c:pt idx="141">
                  <c:v>18.899999999999999</c:v>
                </c:pt>
                <c:pt idx="142">
                  <c:v>21.6</c:v>
                </c:pt>
                <c:pt idx="143">
                  <c:v>23.1</c:v>
                </c:pt>
                <c:pt idx="144">
                  <c:v>21.2</c:v>
                </c:pt>
                <c:pt idx="145">
                  <c:v>21.1</c:v>
                </c:pt>
                <c:pt idx="146">
                  <c:v>20.7</c:v>
                </c:pt>
                <c:pt idx="147">
                  <c:v>23.1</c:v>
                </c:pt>
                <c:pt idx="148">
                  <c:v>24</c:v>
                </c:pt>
                <c:pt idx="149">
                  <c:v>21.8</c:v>
                </c:pt>
                <c:pt idx="150">
                  <c:v>20.6</c:v>
                </c:pt>
                <c:pt idx="151">
                  <c:v>20.100000000000001</c:v>
                </c:pt>
                <c:pt idx="152">
                  <c:v>20.6</c:v>
                </c:pt>
                <c:pt idx="153">
                  <c:v>20.399999999999999</c:v>
                </c:pt>
                <c:pt idx="154">
                  <c:v>20.7</c:v>
                </c:pt>
                <c:pt idx="155">
                  <c:v>21</c:v>
                </c:pt>
                <c:pt idx="156">
                  <c:v>18.7</c:v>
                </c:pt>
                <c:pt idx="157">
                  <c:v>18.7</c:v>
                </c:pt>
                <c:pt idx="158">
                  <c:v>19.399999999999999</c:v>
                </c:pt>
                <c:pt idx="159">
                  <c:v>19.7</c:v>
                </c:pt>
                <c:pt idx="160">
                  <c:v>19.5</c:v>
                </c:pt>
                <c:pt idx="161">
                  <c:v>19.3</c:v>
                </c:pt>
                <c:pt idx="162">
                  <c:v>18.7</c:v>
                </c:pt>
                <c:pt idx="163">
                  <c:v>19.100000000000001</c:v>
                </c:pt>
                <c:pt idx="164">
                  <c:v>18</c:v>
                </c:pt>
                <c:pt idx="165">
                  <c:v>17.600000000000001</c:v>
                </c:pt>
                <c:pt idx="166">
                  <c:v>18.100000000000001</c:v>
                </c:pt>
                <c:pt idx="167">
                  <c:v>17.8</c:v>
                </c:pt>
                <c:pt idx="168">
                  <c:v>18</c:v>
                </c:pt>
                <c:pt idx="169">
                  <c:v>18.2</c:v>
                </c:pt>
                <c:pt idx="170">
                  <c:v>16.899999999999999</c:v>
                </c:pt>
                <c:pt idx="171">
                  <c:v>16.7</c:v>
                </c:pt>
                <c:pt idx="172">
                  <c:v>17</c:v>
                </c:pt>
                <c:pt idx="173">
                  <c:v>16.600000000000001</c:v>
                </c:pt>
                <c:pt idx="174">
                  <c:v>16.899999999999999</c:v>
                </c:pt>
                <c:pt idx="175">
                  <c:v>16.8</c:v>
                </c:pt>
                <c:pt idx="176">
                  <c:v>16.5</c:v>
                </c:pt>
                <c:pt idx="177">
                  <c:v>16.7</c:v>
                </c:pt>
                <c:pt idx="178">
                  <c:v>16.8</c:v>
                </c:pt>
                <c:pt idx="179">
                  <c:v>16.5</c:v>
                </c:pt>
                <c:pt idx="180">
                  <c:v>16</c:v>
                </c:pt>
                <c:pt idx="181">
                  <c:v>16.399999999999999</c:v>
                </c:pt>
                <c:pt idx="182">
                  <c:v>16.399999999999999</c:v>
                </c:pt>
                <c:pt idx="183">
                  <c:v>16.8</c:v>
                </c:pt>
                <c:pt idx="184">
                  <c:v>17</c:v>
                </c:pt>
                <c:pt idx="185">
                  <c:v>18.2</c:v>
                </c:pt>
                <c:pt idx="186">
                  <c:v>17.399999999999999</c:v>
                </c:pt>
                <c:pt idx="187">
                  <c:v>17.7</c:v>
                </c:pt>
                <c:pt idx="188">
                  <c:v>17.399999999999999</c:v>
                </c:pt>
                <c:pt idx="189">
                  <c:v>18.100000000000001</c:v>
                </c:pt>
                <c:pt idx="190">
                  <c:v>17.600000000000001</c:v>
                </c:pt>
                <c:pt idx="191">
                  <c:v>17.2</c:v>
                </c:pt>
                <c:pt idx="192">
                  <c:v>17.399999999999999</c:v>
                </c:pt>
                <c:pt idx="193">
                  <c:v>17.600000000000001</c:v>
                </c:pt>
                <c:pt idx="194">
                  <c:v>17.7</c:v>
                </c:pt>
                <c:pt idx="195">
                  <c:v>18.3</c:v>
                </c:pt>
                <c:pt idx="196">
                  <c:v>19.399999999999999</c:v>
                </c:pt>
                <c:pt idx="197">
                  <c:v>18.7</c:v>
                </c:pt>
                <c:pt idx="198">
                  <c:v>19.2</c:v>
                </c:pt>
                <c:pt idx="199">
                  <c:v>21.5</c:v>
                </c:pt>
                <c:pt idx="200">
                  <c:v>27.2</c:v>
                </c:pt>
                <c:pt idx="201">
                  <c:v>25.2</c:v>
                </c:pt>
                <c:pt idx="202">
                  <c:v>21.5</c:v>
                </c:pt>
                <c:pt idx="203">
                  <c:v>22.5</c:v>
                </c:pt>
                <c:pt idx="204">
                  <c:v>22.9</c:v>
                </c:pt>
                <c:pt idx="205">
                  <c:v>24.5</c:v>
                </c:pt>
                <c:pt idx="206">
                  <c:v>24.7</c:v>
                </c:pt>
                <c:pt idx="207">
                  <c:v>25.7</c:v>
                </c:pt>
                <c:pt idx="208">
                  <c:v>24.6</c:v>
                </c:pt>
                <c:pt idx="209">
                  <c:v>29.4</c:v>
                </c:pt>
                <c:pt idx="210">
                  <c:v>35.299999999999997</c:v>
                </c:pt>
                <c:pt idx="211">
                  <c:v>43.1</c:v>
                </c:pt>
                <c:pt idx="212">
                  <c:v>39.200000000000003</c:v>
                </c:pt>
                <c:pt idx="213">
                  <c:v>39.700000000000003</c:v>
                </c:pt>
                <c:pt idx="214">
                  <c:v>39.200000000000003</c:v>
                </c:pt>
                <c:pt idx="215">
                  <c:v>39.200000000000003</c:v>
                </c:pt>
                <c:pt idx="216">
                  <c:v>43.5</c:v>
                </c:pt>
                <c:pt idx="217">
                  <c:v>52.2</c:v>
                </c:pt>
                <c:pt idx="218">
                  <c:v>47.7</c:v>
                </c:pt>
                <c:pt idx="219">
                  <c:v>44.1</c:v>
                </c:pt>
                <c:pt idx="220">
                  <c:v>43.4</c:v>
                </c:pt>
                <c:pt idx="221">
                  <c:v>41.1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574-4DB7-8D23-0EC982DF5C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Book Antiqua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思源电气</c:v>
                </c:pt>
              </c:strCache>
            </c:strRef>
          </c:tx>
          <c:spPr>
            <a:ln w="19050">
              <a:solidFill>
                <a:srgbClr val="1F3864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222"/>
                <c:pt idx="0">
                  <c:v>100</c:v>
                </c:pt>
                <c:pt idx="1">
                  <c:v>102.6</c:v>
                </c:pt>
                <c:pt idx="2">
                  <c:v>103.3</c:v>
                </c:pt>
                <c:pt idx="3">
                  <c:v>101.2</c:v>
                </c:pt>
                <c:pt idx="4">
                  <c:v>101.2</c:v>
                </c:pt>
                <c:pt idx="5">
                  <c:v>93.7</c:v>
                </c:pt>
                <c:pt idx="6">
                  <c:v>100.8</c:v>
                </c:pt>
                <c:pt idx="7">
                  <c:v>103.1</c:v>
                </c:pt>
                <c:pt idx="8">
                  <c:v>94.4</c:v>
                </c:pt>
                <c:pt idx="9">
                  <c:v>88.5</c:v>
                </c:pt>
                <c:pt idx="10">
                  <c:v>82.8</c:v>
                </c:pt>
                <c:pt idx="11">
                  <c:v>81</c:v>
                </c:pt>
                <c:pt idx="12">
                  <c:v>73.7</c:v>
                </c:pt>
                <c:pt idx="13">
                  <c:v>67.2</c:v>
                </c:pt>
                <c:pt idx="14">
                  <c:v>67.5</c:v>
                </c:pt>
                <c:pt idx="15">
                  <c:v>64</c:v>
                </c:pt>
                <c:pt idx="16">
                  <c:v>66.900000000000006</c:v>
                </c:pt>
                <c:pt idx="17">
                  <c:v>68.2</c:v>
                </c:pt>
                <c:pt idx="18">
                  <c:v>71</c:v>
                </c:pt>
                <c:pt idx="19">
                  <c:v>74.400000000000006</c:v>
                </c:pt>
                <c:pt idx="20">
                  <c:v>74.599999999999994</c:v>
                </c:pt>
                <c:pt idx="21">
                  <c:v>87.3</c:v>
                </c:pt>
                <c:pt idx="22">
                  <c:v>80.3</c:v>
                </c:pt>
                <c:pt idx="23">
                  <c:v>81.900000000000006</c:v>
                </c:pt>
                <c:pt idx="24">
                  <c:v>79.8</c:v>
                </c:pt>
                <c:pt idx="25">
                  <c:v>75.599999999999994</c:v>
                </c:pt>
                <c:pt idx="26">
                  <c:v>87</c:v>
                </c:pt>
                <c:pt idx="27">
                  <c:v>95.4</c:v>
                </c:pt>
                <c:pt idx="28">
                  <c:v>100.6</c:v>
                </c:pt>
                <c:pt idx="29">
                  <c:v>99</c:v>
                </c:pt>
                <c:pt idx="30">
                  <c:v>98.7</c:v>
                </c:pt>
                <c:pt idx="31">
                  <c:v>104.9</c:v>
                </c:pt>
                <c:pt idx="32">
                  <c:v>101.7</c:v>
                </c:pt>
                <c:pt idx="33">
                  <c:v>93.9</c:v>
                </c:pt>
                <c:pt idx="34">
                  <c:v>90.2</c:v>
                </c:pt>
                <c:pt idx="35">
                  <c:v>95.2</c:v>
                </c:pt>
                <c:pt idx="36">
                  <c:v>88.5</c:v>
                </c:pt>
                <c:pt idx="37">
                  <c:v>87.2</c:v>
                </c:pt>
                <c:pt idx="38">
                  <c:v>85.5</c:v>
                </c:pt>
                <c:pt idx="39">
                  <c:v>85.5</c:v>
                </c:pt>
                <c:pt idx="40">
                  <c:v>90.4</c:v>
                </c:pt>
                <c:pt idx="41">
                  <c:v>88.6</c:v>
                </c:pt>
                <c:pt idx="42">
                  <c:v>76.5</c:v>
                </c:pt>
                <c:pt idx="43">
                  <c:v>85.7</c:v>
                </c:pt>
                <c:pt idx="44">
                  <c:v>83.4</c:v>
                </c:pt>
                <c:pt idx="45">
                  <c:v>87.2</c:v>
                </c:pt>
                <c:pt idx="46">
                  <c:v>86.8</c:v>
                </c:pt>
                <c:pt idx="47">
                  <c:v>86.2</c:v>
                </c:pt>
                <c:pt idx="48">
                  <c:v>84.2</c:v>
                </c:pt>
                <c:pt idx="49">
                  <c:v>87.4</c:v>
                </c:pt>
                <c:pt idx="50">
                  <c:v>82.8</c:v>
                </c:pt>
                <c:pt idx="51">
                  <c:v>85.5</c:v>
                </c:pt>
                <c:pt idx="52">
                  <c:v>90.4</c:v>
                </c:pt>
                <c:pt idx="53">
                  <c:v>90</c:v>
                </c:pt>
                <c:pt idx="54">
                  <c:v>98.8</c:v>
                </c:pt>
                <c:pt idx="55">
                  <c:v>98.8</c:v>
                </c:pt>
                <c:pt idx="56">
                  <c:v>97.4</c:v>
                </c:pt>
                <c:pt idx="57">
                  <c:v>96.7</c:v>
                </c:pt>
                <c:pt idx="58">
                  <c:v>98.7</c:v>
                </c:pt>
                <c:pt idx="59">
                  <c:v>102.9</c:v>
                </c:pt>
                <c:pt idx="60">
                  <c:v>101.2</c:v>
                </c:pt>
                <c:pt idx="61">
                  <c:v>100.2</c:v>
                </c:pt>
                <c:pt idx="62">
                  <c:v>97.3</c:v>
                </c:pt>
                <c:pt idx="63">
                  <c:v>102.6</c:v>
                </c:pt>
                <c:pt idx="64">
                  <c:v>102.3</c:v>
                </c:pt>
                <c:pt idx="65">
                  <c:v>96.5</c:v>
                </c:pt>
                <c:pt idx="66">
                  <c:v>95.5</c:v>
                </c:pt>
                <c:pt idx="67">
                  <c:v>101.2</c:v>
                </c:pt>
                <c:pt idx="68">
                  <c:v>102.8</c:v>
                </c:pt>
                <c:pt idx="69">
                  <c:v>98.5</c:v>
                </c:pt>
                <c:pt idx="70">
                  <c:v>101</c:v>
                </c:pt>
                <c:pt idx="71">
                  <c:v>105</c:v>
                </c:pt>
                <c:pt idx="72">
                  <c:v>103.7</c:v>
                </c:pt>
                <c:pt idx="73">
                  <c:v>106.7</c:v>
                </c:pt>
                <c:pt idx="74">
                  <c:v>104.6</c:v>
                </c:pt>
                <c:pt idx="75">
                  <c:v>104.6</c:v>
                </c:pt>
                <c:pt idx="76">
                  <c:v>101</c:v>
                </c:pt>
                <c:pt idx="77">
                  <c:v>104.5</c:v>
                </c:pt>
                <c:pt idx="78">
                  <c:v>106.7</c:v>
                </c:pt>
                <c:pt idx="79">
                  <c:v>113.8</c:v>
                </c:pt>
                <c:pt idx="80">
                  <c:v>114.5</c:v>
                </c:pt>
                <c:pt idx="81">
                  <c:v>111.4</c:v>
                </c:pt>
                <c:pt idx="82">
                  <c:v>112.9</c:v>
                </c:pt>
                <c:pt idx="83">
                  <c:v>115.2</c:v>
                </c:pt>
                <c:pt idx="84">
                  <c:v>111.6</c:v>
                </c:pt>
                <c:pt idx="85">
                  <c:v>109.9</c:v>
                </c:pt>
                <c:pt idx="86">
                  <c:v>116.5</c:v>
                </c:pt>
                <c:pt idx="87">
                  <c:v>113.1</c:v>
                </c:pt>
                <c:pt idx="88">
                  <c:v>110.9</c:v>
                </c:pt>
                <c:pt idx="89">
                  <c:v>111.5</c:v>
                </c:pt>
                <c:pt idx="90">
                  <c:v>116.4</c:v>
                </c:pt>
                <c:pt idx="91">
                  <c:v>116.4</c:v>
                </c:pt>
                <c:pt idx="92">
                  <c:v>107.4</c:v>
                </c:pt>
                <c:pt idx="93">
                  <c:v>107.2</c:v>
                </c:pt>
                <c:pt idx="94">
                  <c:v>110.2</c:v>
                </c:pt>
                <c:pt idx="95">
                  <c:v>111.1</c:v>
                </c:pt>
                <c:pt idx="96">
                  <c:v>108.4</c:v>
                </c:pt>
                <c:pt idx="97">
                  <c:v>108.3</c:v>
                </c:pt>
                <c:pt idx="98">
                  <c:v>108.4</c:v>
                </c:pt>
                <c:pt idx="99">
                  <c:v>111.3</c:v>
                </c:pt>
                <c:pt idx="100">
                  <c:v>109.6</c:v>
                </c:pt>
                <c:pt idx="101">
                  <c:v>112.9</c:v>
                </c:pt>
                <c:pt idx="102">
                  <c:v>112.6</c:v>
                </c:pt>
                <c:pt idx="103">
                  <c:v>117.2</c:v>
                </c:pt>
                <c:pt idx="104">
                  <c:v>119.2</c:v>
                </c:pt>
                <c:pt idx="105">
                  <c:v>121.4</c:v>
                </c:pt>
                <c:pt idx="106">
                  <c:v>113.5</c:v>
                </c:pt>
                <c:pt idx="107">
                  <c:v>114.9</c:v>
                </c:pt>
                <c:pt idx="108">
                  <c:v>115.5</c:v>
                </c:pt>
                <c:pt idx="109">
                  <c:v>129.1</c:v>
                </c:pt>
                <c:pt idx="110">
                  <c:v>0</c:v>
                </c:pt>
                <c:pt idx="111">
                  <c:v>122</c:v>
                </c:pt>
                <c:pt idx="112">
                  <c:v>130.30000000000001</c:v>
                </c:pt>
                <c:pt idx="113">
                  <c:v>138</c:v>
                </c:pt>
                <c:pt idx="114">
                  <c:v>135.1</c:v>
                </c:pt>
                <c:pt idx="115">
                  <c:v>131.4</c:v>
                </c:pt>
                <c:pt idx="116">
                  <c:v>134.30000000000001</c:v>
                </c:pt>
                <c:pt idx="117">
                  <c:v>132.9</c:v>
                </c:pt>
                <c:pt idx="118">
                  <c:v>147.80000000000001</c:v>
                </c:pt>
                <c:pt idx="119">
                  <c:v>148.69999999999999</c:v>
                </c:pt>
                <c:pt idx="120">
                  <c:v>148.1</c:v>
                </c:pt>
                <c:pt idx="121">
                  <c:v>146.69999999999999</c:v>
                </c:pt>
                <c:pt idx="122">
                  <c:v>161.69999999999999</c:v>
                </c:pt>
                <c:pt idx="123">
                  <c:v>161.5</c:v>
                </c:pt>
                <c:pt idx="124">
                  <c:v>158.80000000000001</c:v>
                </c:pt>
                <c:pt idx="125">
                  <c:v>158.80000000000001</c:v>
                </c:pt>
                <c:pt idx="126">
                  <c:v>164.3</c:v>
                </c:pt>
                <c:pt idx="127">
                  <c:v>159.9</c:v>
                </c:pt>
                <c:pt idx="128">
                  <c:v>158.1</c:v>
                </c:pt>
                <c:pt idx="129">
                  <c:v>150.69999999999999</c:v>
                </c:pt>
                <c:pt idx="130">
                  <c:v>143.9</c:v>
                </c:pt>
                <c:pt idx="131">
                  <c:v>143.9</c:v>
                </c:pt>
                <c:pt idx="132">
                  <c:v>141.5</c:v>
                </c:pt>
                <c:pt idx="133">
                  <c:v>146.9</c:v>
                </c:pt>
                <c:pt idx="134">
                  <c:v>146.6</c:v>
                </c:pt>
                <c:pt idx="135">
                  <c:v>150</c:v>
                </c:pt>
                <c:pt idx="136">
                  <c:v>150.19999999999999</c:v>
                </c:pt>
                <c:pt idx="137">
                  <c:v>150.1</c:v>
                </c:pt>
                <c:pt idx="138">
                  <c:v>148.4</c:v>
                </c:pt>
                <c:pt idx="139">
                  <c:v>151.4</c:v>
                </c:pt>
                <c:pt idx="140">
                  <c:v>150</c:v>
                </c:pt>
                <c:pt idx="141">
                  <c:v>152.80000000000001</c:v>
                </c:pt>
                <c:pt idx="142">
                  <c:v>157.9</c:v>
                </c:pt>
                <c:pt idx="143">
                  <c:v>167.4</c:v>
                </c:pt>
                <c:pt idx="144">
                  <c:v>162.1</c:v>
                </c:pt>
                <c:pt idx="145">
                  <c:v>168.8</c:v>
                </c:pt>
                <c:pt idx="146">
                  <c:v>168</c:v>
                </c:pt>
                <c:pt idx="147">
                  <c:v>174.1</c:v>
                </c:pt>
                <c:pt idx="148">
                  <c:v>177.7</c:v>
                </c:pt>
                <c:pt idx="149">
                  <c:v>173</c:v>
                </c:pt>
                <c:pt idx="150">
                  <c:v>174</c:v>
                </c:pt>
                <c:pt idx="151">
                  <c:v>176.4</c:v>
                </c:pt>
                <c:pt idx="152">
                  <c:v>171.2</c:v>
                </c:pt>
                <c:pt idx="153">
                  <c:v>164.2</c:v>
                </c:pt>
                <c:pt idx="154">
                  <c:v>160.5</c:v>
                </c:pt>
                <c:pt idx="155">
                  <c:v>165.3</c:v>
                </c:pt>
                <c:pt idx="156">
                  <c:v>160.6</c:v>
                </c:pt>
                <c:pt idx="157">
                  <c:v>162.69999999999999</c:v>
                </c:pt>
                <c:pt idx="158">
                  <c:v>168.3</c:v>
                </c:pt>
                <c:pt idx="159">
                  <c:v>182.7</c:v>
                </c:pt>
                <c:pt idx="160">
                  <c:v>183</c:v>
                </c:pt>
                <c:pt idx="161">
                  <c:v>176.9</c:v>
                </c:pt>
                <c:pt idx="162">
                  <c:v>175.8</c:v>
                </c:pt>
                <c:pt idx="163">
                  <c:v>166.7</c:v>
                </c:pt>
                <c:pt idx="164">
                  <c:v>165.3</c:v>
                </c:pt>
                <c:pt idx="165">
                  <c:v>167.6</c:v>
                </c:pt>
                <c:pt idx="166">
                  <c:v>167.9</c:v>
                </c:pt>
                <c:pt idx="167">
                  <c:v>162.5</c:v>
                </c:pt>
                <c:pt idx="168">
                  <c:v>173.3</c:v>
                </c:pt>
                <c:pt idx="169">
                  <c:v>172.1</c:v>
                </c:pt>
                <c:pt idx="170">
                  <c:v>168.7</c:v>
                </c:pt>
                <c:pt idx="171">
                  <c:v>159</c:v>
                </c:pt>
                <c:pt idx="172">
                  <c:v>164.8</c:v>
                </c:pt>
                <c:pt idx="173">
                  <c:v>163</c:v>
                </c:pt>
                <c:pt idx="174">
                  <c:v>159.69999999999999</c:v>
                </c:pt>
                <c:pt idx="175">
                  <c:v>167.5</c:v>
                </c:pt>
                <c:pt idx="176">
                  <c:v>174.4</c:v>
                </c:pt>
                <c:pt idx="177">
                  <c:v>163.1</c:v>
                </c:pt>
                <c:pt idx="178">
                  <c:v>166</c:v>
                </c:pt>
                <c:pt idx="179">
                  <c:v>163.80000000000001</c:v>
                </c:pt>
                <c:pt idx="180">
                  <c:v>166.2</c:v>
                </c:pt>
                <c:pt idx="181">
                  <c:v>164.3</c:v>
                </c:pt>
                <c:pt idx="182">
                  <c:v>165.8</c:v>
                </c:pt>
                <c:pt idx="183">
                  <c:v>159.6</c:v>
                </c:pt>
                <c:pt idx="184">
                  <c:v>173.9</c:v>
                </c:pt>
                <c:pt idx="185">
                  <c:v>182.4</c:v>
                </c:pt>
                <c:pt idx="186">
                  <c:v>179.8</c:v>
                </c:pt>
                <c:pt idx="187">
                  <c:v>182.4</c:v>
                </c:pt>
                <c:pt idx="188">
                  <c:v>198.5</c:v>
                </c:pt>
                <c:pt idx="189">
                  <c:v>192.1</c:v>
                </c:pt>
                <c:pt idx="190">
                  <c:v>199.8</c:v>
                </c:pt>
                <c:pt idx="191">
                  <c:v>213.6</c:v>
                </c:pt>
                <c:pt idx="192">
                  <c:v>213.1</c:v>
                </c:pt>
                <c:pt idx="193">
                  <c:v>227.2</c:v>
                </c:pt>
                <c:pt idx="194">
                  <c:v>235.1</c:v>
                </c:pt>
                <c:pt idx="195">
                  <c:v>248.6</c:v>
                </c:pt>
                <c:pt idx="196">
                  <c:v>252.3</c:v>
                </c:pt>
                <c:pt idx="197">
                  <c:v>242.4</c:v>
                </c:pt>
                <c:pt idx="198">
                  <c:v>279.39999999999998</c:v>
                </c:pt>
                <c:pt idx="199">
                  <c:v>299.5</c:v>
                </c:pt>
                <c:pt idx="200">
                  <c:v>333.4</c:v>
                </c:pt>
                <c:pt idx="201">
                  <c:v>340</c:v>
                </c:pt>
                <c:pt idx="202">
                  <c:v>309.60000000000002</c:v>
                </c:pt>
                <c:pt idx="203">
                  <c:v>327.2</c:v>
                </c:pt>
                <c:pt idx="204">
                  <c:v>362.4</c:v>
                </c:pt>
                <c:pt idx="205">
                  <c:v>346.8</c:v>
                </c:pt>
                <c:pt idx="206">
                  <c:v>332.6</c:v>
                </c:pt>
                <c:pt idx="207">
                  <c:v>367.1</c:v>
                </c:pt>
                <c:pt idx="208">
                  <c:v>352.5</c:v>
                </c:pt>
                <c:pt idx="209">
                  <c:v>363.8</c:v>
                </c:pt>
                <c:pt idx="210">
                  <c:v>423.9</c:v>
                </c:pt>
                <c:pt idx="211">
                  <c:v>430</c:v>
                </c:pt>
                <c:pt idx="212">
                  <c:v>421.4</c:v>
                </c:pt>
                <c:pt idx="213">
                  <c:v>428.7</c:v>
                </c:pt>
                <c:pt idx="214">
                  <c:v>484.9</c:v>
                </c:pt>
                <c:pt idx="215">
                  <c:v>484.9</c:v>
                </c:pt>
                <c:pt idx="216">
                  <c:v>489</c:v>
                </c:pt>
                <c:pt idx="217">
                  <c:v>532.5</c:v>
                </c:pt>
                <c:pt idx="218">
                  <c:v>482.1</c:v>
                </c:pt>
                <c:pt idx="219">
                  <c:v>464.5</c:v>
                </c:pt>
                <c:pt idx="220">
                  <c:v>474.8</c:v>
                </c:pt>
                <c:pt idx="221">
                  <c:v>460.6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1E-412D-AA9B-3C13025A9A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HD Hyundai</c:v>
                </c:pt>
              </c:strCache>
            </c:strRef>
          </c:tx>
          <c:spPr>
            <a:ln w="19050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222"/>
                <c:pt idx="0">
                  <c:v>100</c:v>
                </c:pt>
                <c:pt idx="1">
                  <c:v>96.6</c:v>
                </c:pt>
                <c:pt idx="2">
                  <c:v>95.4</c:v>
                </c:pt>
                <c:pt idx="3">
                  <c:v>83.9</c:v>
                </c:pt>
                <c:pt idx="4">
                  <c:v>92.3</c:v>
                </c:pt>
                <c:pt idx="5">
                  <c:v>89.2</c:v>
                </c:pt>
                <c:pt idx="6">
                  <c:v>93.5</c:v>
                </c:pt>
                <c:pt idx="7">
                  <c:v>97.1</c:v>
                </c:pt>
                <c:pt idx="8">
                  <c:v>99.5</c:v>
                </c:pt>
                <c:pt idx="9">
                  <c:v>95</c:v>
                </c:pt>
                <c:pt idx="10">
                  <c:v>98.6</c:v>
                </c:pt>
                <c:pt idx="11">
                  <c:v>98.8</c:v>
                </c:pt>
                <c:pt idx="12">
                  <c:v>102.2</c:v>
                </c:pt>
                <c:pt idx="13">
                  <c:v>100</c:v>
                </c:pt>
                <c:pt idx="14">
                  <c:v>106.3</c:v>
                </c:pt>
                <c:pt idx="15">
                  <c:v>108.4</c:v>
                </c:pt>
                <c:pt idx="16">
                  <c:v>105</c:v>
                </c:pt>
                <c:pt idx="17">
                  <c:v>117.3</c:v>
                </c:pt>
                <c:pt idx="18">
                  <c:v>117.5</c:v>
                </c:pt>
                <c:pt idx="19">
                  <c:v>102.9</c:v>
                </c:pt>
                <c:pt idx="20">
                  <c:v>105</c:v>
                </c:pt>
                <c:pt idx="21">
                  <c:v>118.8</c:v>
                </c:pt>
                <c:pt idx="22">
                  <c:v>113</c:v>
                </c:pt>
                <c:pt idx="23">
                  <c:v>99</c:v>
                </c:pt>
                <c:pt idx="24">
                  <c:v>113.9</c:v>
                </c:pt>
                <c:pt idx="25">
                  <c:v>120.2</c:v>
                </c:pt>
                <c:pt idx="26">
                  <c:v>114.9</c:v>
                </c:pt>
                <c:pt idx="27">
                  <c:v>110.1</c:v>
                </c:pt>
                <c:pt idx="28">
                  <c:v>112</c:v>
                </c:pt>
                <c:pt idx="29">
                  <c:v>132</c:v>
                </c:pt>
                <c:pt idx="30">
                  <c:v>127.2</c:v>
                </c:pt>
                <c:pt idx="31">
                  <c:v>147.4</c:v>
                </c:pt>
                <c:pt idx="32">
                  <c:v>144.19999999999999</c:v>
                </c:pt>
                <c:pt idx="33">
                  <c:v>158.69999999999999</c:v>
                </c:pt>
                <c:pt idx="34">
                  <c:v>151.69999999999999</c:v>
                </c:pt>
                <c:pt idx="35">
                  <c:v>163.5</c:v>
                </c:pt>
                <c:pt idx="36">
                  <c:v>153.80000000000001</c:v>
                </c:pt>
                <c:pt idx="37">
                  <c:v>153.80000000000001</c:v>
                </c:pt>
                <c:pt idx="38">
                  <c:v>153.1</c:v>
                </c:pt>
                <c:pt idx="39">
                  <c:v>158.69999999999999</c:v>
                </c:pt>
                <c:pt idx="40">
                  <c:v>160.1</c:v>
                </c:pt>
                <c:pt idx="41">
                  <c:v>147.6</c:v>
                </c:pt>
                <c:pt idx="42">
                  <c:v>165.1</c:v>
                </c:pt>
                <c:pt idx="43">
                  <c:v>184.6</c:v>
                </c:pt>
                <c:pt idx="44">
                  <c:v>184.6</c:v>
                </c:pt>
                <c:pt idx="45">
                  <c:v>199</c:v>
                </c:pt>
                <c:pt idx="46">
                  <c:v>207.2</c:v>
                </c:pt>
                <c:pt idx="47">
                  <c:v>183.7</c:v>
                </c:pt>
                <c:pt idx="48">
                  <c:v>189.2</c:v>
                </c:pt>
                <c:pt idx="49">
                  <c:v>203.6</c:v>
                </c:pt>
                <c:pt idx="50">
                  <c:v>197.1</c:v>
                </c:pt>
                <c:pt idx="51">
                  <c:v>204.3</c:v>
                </c:pt>
                <c:pt idx="52">
                  <c:v>181</c:v>
                </c:pt>
                <c:pt idx="53">
                  <c:v>196</c:v>
                </c:pt>
                <c:pt idx="54">
                  <c:v>177.6</c:v>
                </c:pt>
                <c:pt idx="55">
                  <c:v>188.7</c:v>
                </c:pt>
                <c:pt idx="56">
                  <c:v>188.5</c:v>
                </c:pt>
                <c:pt idx="57">
                  <c:v>187.3</c:v>
                </c:pt>
                <c:pt idx="58">
                  <c:v>188</c:v>
                </c:pt>
                <c:pt idx="59">
                  <c:v>194.3</c:v>
                </c:pt>
                <c:pt idx="60">
                  <c:v>218.4</c:v>
                </c:pt>
                <c:pt idx="61">
                  <c:v>196.3</c:v>
                </c:pt>
                <c:pt idx="62">
                  <c:v>190.2</c:v>
                </c:pt>
                <c:pt idx="63">
                  <c:v>185.6</c:v>
                </c:pt>
                <c:pt idx="64">
                  <c:v>184.4</c:v>
                </c:pt>
                <c:pt idx="65">
                  <c:v>185.8</c:v>
                </c:pt>
                <c:pt idx="66">
                  <c:v>231.3</c:v>
                </c:pt>
                <c:pt idx="67">
                  <c:v>248.1</c:v>
                </c:pt>
                <c:pt idx="68">
                  <c:v>246.1</c:v>
                </c:pt>
                <c:pt idx="69">
                  <c:v>252.5</c:v>
                </c:pt>
                <c:pt idx="70">
                  <c:v>230.6</c:v>
                </c:pt>
                <c:pt idx="71">
                  <c:v>221.8</c:v>
                </c:pt>
                <c:pt idx="72">
                  <c:v>234.7</c:v>
                </c:pt>
                <c:pt idx="73">
                  <c:v>254.9</c:v>
                </c:pt>
                <c:pt idx="74">
                  <c:v>263.2</c:v>
                </c:pt>
                <c:pt idx="75">
                  <c:v>272.39999999999998</c:v>
                </c:pt>
                <c:pt idx="76">
                  <c:v>276.8</c:v>
                </c:pt>
                <c:pt idx="77">
                  <c:v>316.7</c:v>
                </c:pt>
                <c:pt idx="78">
                  <c:v>329.3</c:v>
                </c:pt>
                <c:pt idx="79">
                  <c:v>329.8</c:v>
                </c:pt>
                <c:pt idx="80">
                  <c:v>342</c:v>
                </c:pt>
                <c:pt idx="81">
                  <c:v>354.6</c:v>
                </c:pt>
                <c:pt idx="82">
                  <c:v>355.1</c:v>
                </c:pt>
                <c:pt idx="83">
                  <c:v>360</c:v>
                </c:pt>
                <c:pt idx="84">
                  <c:v>339.5</c:v>
                </c:pt>
                <c:pt idx="85">
                  <c:v>327.9</c:v>
                </c:pt>
                <c:pt idx="86">
                  <c:v>307</c:v>
                </c:pt>
                <c:pt idx="87">
                  <c:v>305</c:v>
                </c:pt>
                <c:pt idx="88">
                  <c:v>341.5</c:v>
                </c:pt>
                <c:pt idx="89">
                  <c:v>339.5</c:v>
                </c:pt>
                <c:pt idx="90">
                  <c:v>324</c:v>
                </c:pt>
                <c:pt idx="91">
                  <c:v>321.5</c:v>
                </c:pt>
                <c:pt idx="92">
                  <c:v>348.3</c:v>
                </c:pt>
                <c:pt idx="93">
                  <c:v>354.6</c:v>
                </c:pt>
                <c:pt idx="94">
                  <c:v>361.9</c:v>
                </c:pt>
                <c:pt idx="95">
                  <c:v>370.7</c:v>
                </c:pt>
                <c:pt idx="96">
                  <c:v>406.2</c:v>
                </c:pt>
                <c:pt idx="97">
                  <c:v>428.1</c:v>
                </c:pt>
                <c:pt idx="98">
                  <c:v>422.2</c:v>
                </c:pt>
                <c:pt idx="99">
                  <c:v>419.8</c:v>
                </c:pt>
                <c:pt idx="100">
                  <c:v>389.2</c:v>
                </c:pt>
                <c:pt idx="101">
                  <c:v>398.9</c:v>
                </c:pt>
                <c:pt idx="102">
                  <c:v>401.3</c:v>
                </c:pt>
                <c:pt idx="103">
                  <c:v>399.9</c:v>
                </c:pt>
                <c:pt idx="104">
                  <c:v>444.8</c:v>
                </c:pt>
                <c:pt idx="105">
                  <c:v>457.6</c:v>
                </c:pt>
                <c:pt idx="106">
                  <c:v>486.2</c:v>
                </c:pt>
                <c:pt idx="107">
                  <c:v>514.29999999999995</c:v>
                </c:pt>
                <c:pt idx="108">
                  <c:v>490.6</c:v>
                </c:pt>
                <c:pt idx="109">
                  <c:v>529.1</c:v>
                </c:pt>
                <c:pt idx="110">
                  <c:v>570.9</c:v>
                </c:pt>
                <c:pt idx="111">
                  <c:v>660.6</c:v>
                </c:pt>
                <c:pt idx="112">
                  <c:v>612.79999999999995</c:v>
                </c:pt>
                <c:pt idx="113">
                  <c:v>637.4</c:v>
                </c:pt>
                <c:pt idx="114">
                  <c:v>729.1</c:v>
                </c:pt>
                <c:pt idx="115">
                  <c:v>820.2</c:v>
                </c:pt>
                <c:pt idx="116">
                  <c:v>883.7</c:v>
                </c:pt>
                <c:pt idx="117">
                  <c:v>957.6</c:v>
                </c:pt>
                <c:pt idx="118">
                  <c:v>1157.5999999999999</c:v>
                </c:pt>
                <c:pt idx="119">
                  <c:v>1202</c:v>
                </c:pt>
                <c:pt idx="120">
                  <c:v>1231.5</c:v>
                </c:pt>
                <c:pt idx="121">
                  <c:v>1133</c:v>
                </c:pt>
                <c:pt idx="122">
                  <c:v>1290.5999999999999</c:v>
                </c:pt>
                <c:pt idx="123">
                  <c:v>1231.5</c:v>
                </c:pt>
                <c:pt idx="124">
                  <c:v>1394.1</c:v>
                </c:pt>
                <c:pt idx="125">
                  <c:v>1482.8</c:v>
                </c:pt>
                <c:pt idx="126">
                  <c:v>1280.8</c:v>
                </c:pt>
                <c:pt idx="127">
                  <c:v>1428.6</c:v>
                </c:pt>
                <c:pt idx="128">
                  <c:v>1561.6</c:v>
                </c:pt>
                <c:pt idx="129">
                  <c:v>1527.1</c:v>
                </c:pt>
                <c:pt idx="130">
                  <c:v>1536.9</c:v>
                </c:pt>
                <c:pt idx="131">
                  <c:v>1647.8</c:v>
                </c:pt>
                <c:pt idx="132">
                  <c:v>1512.3</c:v>
                </c:pt>
                <c:pt idx="133">
                  <c:v>1576.4</c:v>
                </c:pt>
                <c:pt idx="134">
                  <c:v>1354.7</c:v>
                </c:pt>
                <c:pt idx="135">
                  <c:v>1423.6</c:v>
                </c:pt>
                <c:pt idx="136">
                  <c:v>1465.5</c:v>
                </c:pt>
                <c:pt idx="137">
                  <c:v>1546.8</c:v>
                </c:pt>
                <c:pt idx="138">
                  <c:v>1504.9</c:v>
                </c:pt>
                <c:pt idx="139">
                  <c:v>1177.3</c:v>
                </c:pt>
                <c:pt idx="140">
                  <c:v>1396.5</c:v>
                </c:pt>
                <c:pt idx="141">
                  <c:v>1645.3</c:v>
                </c:pt>
                <c:pt idx="142">
                  <c:v>1573.9</c:v>
                </c:pt>
                <c:pt idx="143">
                  <c:v>1591.4</c:v>
                </c:pt>
                <c:pt idx="144">
                  <c:v>1522.2</c:v>
                </c:pt>
                <c:pt idx="145">
                  <c:v>1534.6</c:v>
                </c:pt>
                <c:pt idx="146">
                  <c:v>1705.1</c:v>
                </c:pt>
                <c:pt idx="147">
                  <c:v>1593.9</c:v>
                </c:pt>
                <c:pt idx="148">
                  <c:v>1796.5</c:v>
                </c:pt>
                <c:pt idx="149">
                  <c:v>1791.6</c:v>
                </c:pt>
                <c:pt idx="150">
                  <c:v>1794.1</c:v>
                </c:pt>
                <c:pt idx="151">
                  <c:v>1727.3</c:v>
                </c:pt>
                <c:pt idx="152">
                  <c:v>1754.5</c:v>
                </c:pt>
                <c:pt idx="153">
                  <c:v>1838.5</c:v>
                </c:pt>
                <c:pt idx="154">
                  <c:v>1808.9</c:v>
                </c:pt>
                <c:pt idx="155">
                  <c:v>1934.9</c:v>
                </c:pt>
                <c:pt idx="156">
                  <c:v>1976.9</c:v>
                </c:pt>
                <c:pt idx="157">
                  <c:v>1962.1</c:v>
                </c:pt>
                <c:pt idx="158">
                  <c:v>2065.9</c:v>
                </c:pt>
                <c:pt idx="159">
                  <c:v>2199.3000000000002</c:v>
                </c:pt>
                <c:pt idx="160">
                  <c:v>2026.4</c:v>
                </c:pt>
                <c:pt idx="161">
                  <c:v>1932.4</c:v>
                </c:pt>
                <c:pt idx="162">
                  <c:v>1907.7</c:v>
                </c:pt>
                <c:pt idx="163">
                  <c:v>1853.4</c:v>
                </c:pt>
                <c:pt idx="164">
                  <c:v>1627.3</c:v>
                </c:pt>
                <c:pt idx="165">
                  <c:v>1687.3</c:v>
                </c:pt>
                <c:pt idx="166">
                  <c:v>1692.3</c:v>
                </c:pt>
                <c:pt idx="167">
                  <c:v>1647.3</c:v>
                </c:pt>
                <c:pt idx="168">
                  <c:v>1524.8</c:v>
                </c:pt>
                <c:pt idx="169">
                  <c:v>1514.8</c:v>
                </c:pt>
                <c:pt idx="170">
                  <c:v>1552.3</c:v>
                </c:pt>
                <c:pt idx="171">
                  <c:v>1652.3</c:v>
                </c:pt>
                <c:pt idx="172">
                  <c:v>1497.3</c:v>
                </c:pt>
                <c:pt idx="173">
                  <c:v>1614.8</c:v>
                </c:pt>
                <c:pt idx="174">
                  <c:v>1672.3</c:v>
                </c:pt>
                <c:pt idx="175">
                  <c:v>1824.8</c:v>
                </c:pt>
                <c:pt idx="176">
                  <c:v>1929.8</c:v>
                </c:pt>
                <c:pt idx="177">
                  <c:v>1894.8</c:v>
                </c:pt>
                <c:pt idx="178">
                  <c:v>1944.8</c:v>
                </c:pt>
                <c:pt idx="179">
                  <c:v>2149.6999999999998</c:v>
                </c:pt>
                <c:pt idx="180">
                  <c:v>2349.6999999999998</c:v>
                </c:pt>
                <c:pt idx="181">
                  <c:v>2437.1999999999998</c:v>
                </c:pt>
                <c:pt idx="182">
                  <c:v>2168.1999999999998</c:v>
                </c:pt>
                <c:pt idx="183">
                  <c:v>2220.9</c:v>
                </c:pt>
                <c:pt idx="184">
                  <c:v>2421.6999999999998</c:v>
                </c:pt>
                <c:pt idx="185">
                  <c:v>2454.3000000000002</c:v>
                </c:pt>
                <c:pt idx="186">
                  <c:v>2429.1999999999998</c:v>
                </c:pt>
                <c:pt idx="187">
                  <c:v>2454.3000000000002</c:v>
                </c:pt>
                <c:pt idx="188">
                  <c:v>2446.8000000000002</c:v>
                </c:pt>
                <c:pt idx="189">
                  <c:v>2459.3000000000002</c:v>
                </c:pt>
                <c:pt idx="190">
                  <c:v>2471.9</c:v>
                </c:pt>
                <c:pt idx="191">
                  <c:v>2594.9</c:v>
                </c:pt>
                <c:pt idx="192">
                  <c:v>2986.3</c:v>
                </c:pt>
                <c:pt idx="193">
                  <c:v>2981.3</c:v>
                </c:pt>
                <c:pt idx="194">
                  <c:v>2855.9</c:v>
                </c:pt>
                <c:pt idx="195">
                  <c:v>3121.9</c:v>
                </c:pt>
                <c:pt idx="196">
                  <c:v>3312.6</c:v>
                </c:pt>
                <c:pt idx="197">
                  <c:v>3347.7</c:v>
                </c:pt>
                <c:pt idx="198">
                  <c:v>3914.9</c:v>
                </c:pt>
                <c:pt idx="199">
                  <c:v>4366.6000000000004</c:v>
                </c:pt>
                <c:pt idx="200">
                  <c:v>4105.6000000000004</c:v>
                </c:pt>
                <c:pt idx="201">
                  <c:v>4135.7</c:v>
                </c:pt>
                <c:pt idx="202">
                  <c:v>3769.3</c:v>
                </c:pt>
                <c:pt idx="203">
                  <c:v>3889.8</c:v>
                </c:pt>
                <c:pt idx="204">
                  <c:v>4175.8999999999996</c:v>
                </c:pt>
                <c:pt idx="205">
                  <c:v>4346.5</c:v>
                </c:pt>
                <c:pt idx="206">
                  <c:v>4050.4</c:v>
                </c:pt>
                <c:pt idx="207">
                  <c:v>3834.6</c:v>
                </c:pt>
                <c:pt idx="208">
                  <c:v>4110.6000000000004</c:v>
                </c:pt>
                <c:pt idx="209">
                  <c:v>4256.2</c:v>
                </c:pt>
                <c:pt idx="210">
                  <c:v>4547.3</c:v>
                </c:pt>
                <c:pt idx="211">
                  <c:v>4436.8999999999996</c:v>
                </c:pt>
                <c:pt idx="212">
                  <c:v>4462</c:v>
                </c:pt>
                <c:pt idx="213">
                  <c:v>4216</c:v>
                </c:pt>
                <c:pt idx="214">
                  <c:v>4763.1000000000004</c:v>
                </c:pt>
                <c:pt idx="215">
                  <c:v>5074.3</c:v>
                </c:pt>
                <c:pt idx="216">
                  <c:v>5270</c:v>
                </c:pt>
                <c:pt idx="217">
                  <c:v>4882.3</c:v>
                </c:pt>
                <c:pt idx="218">
                  <c:v>4685.6000000000004</c:v>
                </c:pt>
                <c:pt idx="219">
                  <c:v>4836.8999999999996</c:v>
                </c:pt>
                <c:pt idx="220">
                  <c:v>4615</c:v>
                </c:pt>
                <c:pt idx="221">
                  <c:v>4196.3999999999996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1E-412D-AA9B-3C13025A9A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Hyosung</c:v>
                </c:pt>
              </c:strCache>
            </c:strRef>
          </c:tx>
          <c:spPr>
            <a:ln w="19050">
              <a:solidFill>
                <a:srgbClr val="E67E2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222"/>
                <c:pt idx="0">
                  <c:v>100</c:v>
                </c:pt>
                <c:pt idx="1">
                  <c:v>96.9</c:v>
                </c:pt>
                <c:pt idx="2">
                  <c:v>88.7</c:v>
                </c:pt>
                <c:pt idx="3">
                  <c:v>91.3</c:v>
                </c:pt>
                <c:pt idx="4">
                  <c:v>94.1</c:v>
                </c:pt>
                <c:pt idx="5">
                  <c:v>93.6</c:v>
                </c:pt>
                <c:pt idx="6">
                  <c:v>92.5</c:v>
                </c:pt>
                <c:pt idx="7">
                  <c:v>97.2</c:v>
                </c:pt>
                <c:pt idx="8">
                  <c:v>100.9</c:v>
                </c:pt>
                <c:pt idx="9">
                  <c:v>102.3</c:v>
                </c:pt>
                <c:pt idx="10">
                  <c:v>105.7</c:v>
                </c:pt>
                <c:pt idx="11">
                  <c:v>106.8</c:v>
                </c:pt>
                <c:pt idx="12">
                  <c:v>105.4</c:v>
                </c:pt>
                <c:pt idx="13">
                  <c:v>99.1</c:v>
                </c:pt>
                <c:pt idx="14">
                  <c:v>97.9</c:v>
                </c:pt>
                <c:pt idx="15">
                  <c:v>101.9</c:v>
                </c:pt>
                <c:pt idx="16">
                  <c:v>97</c:v>
                </c:pt>
                <c:pt idx="17">
                  <c:v>104.9</c:v>
                </c:pt>
                <c:pt idx="18">
                  <c:v>104.5</c:v>
                </c:pt>
                <c:pt idx="19">
                  <c:v>103.1</c:v>
                </c:pt>
                <c:pt idx="20">
                  <c:v>103.1</c:v>
                </c:pt>
                <c:pt idx="21">
                  <c:v>110.1</c:v>
                </c:pt>
                <c:pt idx="22">
                  <c:v>110.8</c:v>
                </c:pt>
                <c:pt idx="23">
                  <c:v>96.2</c:v>
                </c:pt>
                <c:pt idx="24">
                  <c:v>99</c:v>
                </c:pt>
                <c:pt idx="25">
                  <c:v>107.7</c:v>
                </c:pt>
                <c:pt idx="26">
                  <c:v>99.3</c:v>
                </c:pt>
                <c:pt idx="27">
                  <c:v>89.4</c:v>
                </c:pt>
                <c:pt idx="28">
                  <c:v>92.2</c:v>
                </c:pt>
                <c:pt idx="29">
                  <c:v>104.3</c:v>
                </c:pt>
                <c:pt idx="30">
                  <c:v>107.5</c:v>
                </c:pt>
                <c:pt idx="31">
                  <c:v>115</c:v>
                </c:pt>
                <c:pt idx="32">
                  <c:v>120.9</c:v>
                </c:pt>
                <c:pt idx="33">
                  <c:v>127.8</c:v>
                </c:pt>
                <c:pt idx="34">
                  <c:v>122.8</c:v>
                </c:pt>
                <c:pt idx="35">
                  <c:v>127</c:v>
                </c:pt>
                <c:pt idx="36">
                  <c:v>110.6</c:v>
                </c:pt>
                <c:pt idx="37">
                  <c:v>112.2</c:v>
                </c:pt>
                <c:pt idx="38">
                  <c:v>103.5</c:v>
                </c:pt>
                <c:pt idx="39">
                  <c:v>108</c:v>
                </c:pt>
                <c:pt idx="40">
                  <c:v>93.7</c:v>
                </c:pt>
                <c:pt idx="41">
                  <c:v>91</c:v>
                </c:pt>
                <c:pt idx="42">
                  <c:v>85.3</c:v>
                </c:pt>
                <c:pt idx="43">
                  <c:v>111</c:v>
                </c:pt>
                <c:pt idx="44">
                  <c:v>120.9</c:v>
                </c:pt>
                <c:pt idx="45">
                  <c:v>127.8</c:v>
                </c:pt>
                <c:pt idx="46">
                  <c:v>149.9</c:v>
                </c:pt>
                <c:pt idx="47">
                  <c:v>141.4</c:v>
                </c:pt>
                <c:pt idx="48">
                  <c:v>142.1</c:v>
                </c:pt>
                <c:pt idx="49">
                  <c:v>141.69999999999999</c:v>
                </c:pt>
                <c:pt idx="50">
                  <c:v>138.30000000000001</c:v>
                </c:pt>
                <c:pt idx="51">
                  <c:v>135.69999999999999</c:v>
                </c:pt>
                <c:pt idx="52">
                  <c:v>123.8</c:v>
                </c:pt>
                <c:pt idx="53">
                  <c:v>131</c:v>
                </c:pt>
                <c:pt idx="54">
                  <c:v>117.9</c:v>
                </c:pt>
                <c:pt idx="55">
                  <c:v>120.5</c:v>
                </c:pt>
                <c:pt idx="56">
                  <c:v>121.6</c:v>
                </c:pt>
                <c:pt idx="57">
                  <c:v>117.6</c:v>
                </c:pt>
                <c:pt idx="58">
                  <c:v>121.4</c:v>
                </c:pt>
                <c:pt idx="59">
                  <c:v>123.1</c:v>
                </c:pt>
                <c:pt idx="60">
                  <c:v>135.30000000000001</c:v>
                </c:pt>
                <c:pt idx="61">
                  <c:v>127.5</c:v>
                </c:pt>
                <c:pt idx="62">
                  <c:v>117.9</c:v>
                </c:pt>
                <c:pt idx="63">
                  <c:v>115.1</c:v>
                </c:pt>
                <c:pt idx="64">
                  <c:v>116</c:v>
                </c:pt>
                <c:pt idx="65">
                  <c:v>119.3</c:v>
                </c:pt>
                <c:pt idx="66">
                  <c:v>132.30000000000001</c:v>
                </c:pt>
                <c:pt idx="67">
                  <c:v>135.1</c:v>
                </c:pt>
                <c:pt idx="68">
                  <c:v>136.5</c:v>
                </c:pt>
                <c:pt idx="69">
                  <c:v>142.30000000000001</c:v>
                </c:pt>
                <c:pt idx="70">
                  <c:v>139.1</c:v>
                </c:pt>
                <c:pt idx="71">
                  <c:v>131.5</c:v>
                </c:pt>
                <c:pt idx="72">
                  <c:v>137.9</c:v>
                </c:pt>
                <c:pt idx="73">
                  <c:v>153.6</c:v>
                </c:pt>
                <c:pt idx="74">
                  <c:v>166.1</c:v>
                </c:pt>
                <c:pt idx="75">
                  <c:v>167.7</c:v>
                </c:pt>
                <c:pt idx="76">
                  <c:v>173.9</c:v>
                </c:pt>
                <c:pt idx="77">
                  <c:v>199.8</c:v>
                </c:pt>
                <c:pt idx="78">
                  <c:v>212</c:v>
                </c:pt>
                <c:pt idx="79">
                  <c:v>228.3</c:v>
                </c:pt>
                <c:pt idx="80">
                  <c:v>227</c:v>
                </c:pt>
                <c:pt idx="81">
                  <c:v>233.6</c:v>
                </c:pt>
                <c:pt idx="82">
                  <c:v>300.5</c:v>
                </c:pt>
                <c:pt idx="83">
                  <c:v>324.89999999999998</c:v>
                </c:pt>
                <c:pt idx="84">
                  <c:v>323.5</c:v>
                </c:pt>
                <c:pt idx="85">
                  <c:v>336.5</c:v>
                </c:pt>
                <c:pt idx="86">
                  <c:v>323.3</c:v>
                </c:pt>
                <c:pt idx="87">
                  <c:v>304.3</c:v>
                </c:pt>
                <c:pt idx="88">
                  <c:v>317.7</c:v>
                </c:pt>
                <c:pt idx="89">
                  <c:v>320.3</c:v>
                </c:pt>
                <c:pt idx="90">
                  <c:v>295.7</c:v>
                </c:pt>
                <c:pt idx="91">
                  <c:v>281.7</c:v>
                </c:pt>
                <c:pt idx="92">
                  <c:v>305.7</c:v>
                </c:pt>
                <c:pt idx="93">
                  <c:v>303.8</c:v>
                </c:pt>
                <c:pt idx="94">
                  <c:v>305.39999999999998</c:v>
                </c:pt>
                <c:pt idx="95">
                  <c:v>307.5</c:v>
                </c:pt>
                <c:pt idx="96">
                  <c:v>336.3</c:v>
                </c:pt>
                <c:pt idx="97">
                  <c:v>356.5</c:v>
                </c:pt>
                <c:pt idx="98">
                  <c:v>342.1</c:v>
                </c:pt>
                <c:pt idx="99">
                  <c:v>373</c:v>
                </c:pt>
                <c:pt idx="100">
                  <c:v>314.10000000000002</c:v>
                </c:pt>
                <c:pt idx="101">
                  <c:v>288.5</c:v>
                </c:pt>
                <c:pt idx="102">
                  <c:v>288.5</c:v>
                </c:pt>
                <c:pt idx="103">
                  <c:v>281.60000000000002</c:v>
                </c:pt>
                <c:pt idx="104">
                  <c:v>299.2</c:v>
                </c:pt>
                <c:pt idx="105">
                  <c:v>319.7</c:v>
                </c:pt>
                <c:pt idx="106">
                  <c:v>313.5</c:v>
                </c:pt>
                <c:pt idx="107">
                  <c:v>326.7</c:v>
                </c:pt>
                <c:pt idx="108">
                  <c:v>289.10000000000002</c:v>
                </c:pt>
                <c:pt idx="109">
                  <c:v>283.10000000000002</c:v>
                </c:pt>
                <c:pt idx="110">
                  <c:v>299.5</c:v>
                </c:pt>
                <c:pt idx="111">
                  <c:v>326</c:v>
                </c:pt>
                <c:pt idx="112">
                  <c:v>339.8</c:v>
                </c:pt>
                <c:pt idx="113">
                  <c:v>408.9</c:v>
                </c:pt>
                <c:pt idx="114">
                  <c:v>405.3</c:v>
                </c:pt>
                <c:pt idx="115">
                  <c:v>422.1</c:v>
                </c:pt>
                <c:pt idx="116">
                  <c:v>501.6</c:v>
                </c:pt>
                <c:pt idx="117">
                  <c:v>535.20000000000005</c:v>
                </c:pt>
                <c:pt idx="118">
                  <c:v>598.70000000000005</c:v>
                </c:pt>
                <c:pt idx="119">
                  <c:v>553.70000000000005</c:v>
                </c:pt>
                <c:pt idx="120">
                  <c:v>514</c:v>
                </c:pt>
                <c:pt idx="121">
                  <c:v>509.5</c:v>
                </c:pt>
                <c:pt idx="122">
                  <c:v>572.20000000000005</c:v>
                </c:pt>
                <c:pt idx="123">
                  <c:v>654.4</c:v>
                </c:pt>
                <c:pt idx="124">
                  <c:v>735.6</c:v>
                </c:pt>
                <c:pt idx="125">
                  <c:v>780.7</c:v>
                </c:pt>
                <c:pt idx="126">
                  <c:v>655.29999999999995</c:v>
                </c:pt>
                <c:pt idx="127">
                  <c:v>661.4</c:v>
                </c:pt>
                <c:pt idx="128">
                  <c:v>665</c:v>
                </c:pt>
                <c:pt idx="129">
                  <c:v>611.1</c:v>
                </c:pt>
                <c:pt idx="130">
                  <c:v>548.4</c:v>
                </c:pt>
                <c:pt idx="131">
                  <c:v>672.9</c:v>
                </c:pt>
                <c:pt idx="132">
                  <c:v>608.5</c:v>
                </c:pt>
                <c:pt idx="133">
                  <c:v>593.4</c:v>
                </c:pt>
                <c:pt idx="134">
                  <c:v>495.4</c:v>
                </c:pt>
                <c:pt idx="135">
                  <c:v>503.4</c:v>
                </c:pt>
                <c:pt idx="136">
                  <c:v>550.20000000000005</c:v>
                </c:pt>
                <c:pt idx="137">
                  <c:v>593.4</c:v>
                </c:pt>
                <c:pt idx="138">
                  <c:v>511.3</c:v>
                </c:pt>
                <c:pt idx="139">
                  <c:v>438.9</c:v>
                </c:pt>
                <c:pt idx="140">
                  <c:v>511.3</c:v>
                </c:pt>
                <c:pt idx="141">
                  <c:v>556.29999999999995</c:v>
                </c:pt>
                <c:pt idx="142">
                  <c:v>627</c:v>
                </c:pt>
                <c:pt idx="143">
                  <c:v>619</c:v>
                </c:pt>
                <c:pt idx="144">
                  <c:v>658.8</c:v>
                </c:pt>
                <c:pt idx="145">
                  <c:v>718</c:v>
                </c:pt>
                <c:pt idx="146">
                  <c:v>692.3</c:v>
                </c:pt>
                <c:pt idx="147">
                  <c:v>737.4</c:v>
                </c:pt>
                <c:pt idx="148">
                  <c:v>815.1</c:v>
                </c:pt>
                <c:pt idx="149">
                  <c:v>823.9</c:v>
                </c:pt>
                <c:pt idx="150">
                  <c:v>718</c:v>
                </c:pt>
                <c:pt idx="151">
                  <c:v>712.7</c:v>
                </c:pt>
                <c:pt idx="152">
                  <c:v>752.4</c:v>
                </c:pt>
                <c:pt idx="153">
                  <c:v>759.5</c:v>
                </c:pt>
                <c:pt idx="154">
                  <c:v>723.3</c:v>
                </c:pt>
                <c:pt idx="155">
                  <c:v>682.6</c:v>
                </c:pt>
                <c:pt idx="156">
                  <c:v>747</c:v>
                </c:pt>
                <c:pt idx="157">
                  <c:v>761.3</c:v>
                </c:pt>
                <c:pt idx="158">
                  <c:v>858.8</c:v>
                </c:pt>
                <c:pt idx="159">
                  <c:v>908.9</c:v>
                </c:pt>
                <c:pt idx="160">
                  <c:v>802.4</c:v>
                </c:pt>
                <c:pt idx="161">
                  <c:v>899.9</c:v>
                </c:pt>
                <c:pt idx="162">
                  <c:v>873.1</c:v>
                </c:pt>
                <c:pt idx="163">
                  <c:v>860.6</c:v>
                </c:pt>
                <c:pt idx="164">
                  <c:v>773.8</c:v>
                </c:pt>
                <c:pt idx="165">
                  <c:v>756.8</c:v>
                </c:pt>
                <c:pt idx="166">
                  <c:v>812.3</c:v>
                </c:pt>
                <c:pt idx="167">
                  <c:v>806.9</c:v>
                </c:pt>
                <c:pt idx="168">
                  <c:v>770.2</c:v>
                </c:pt>
                <c:pt idx="169">
                  <c:v>772</c:v>
                </c:pt>
                <c:pt idx="170">
                  <c:v>780.1</c:v>
                </c:pt>
                <c:pt idx="171">
                  <c:v>856.1</c:v>
                </c:pt>
                <c:pt idx="172">
                  <c:v>822.1</c:v>
                </c:pt>
                <c:pt idx="173">
                  <c:v>907.1</c:v>
                </c:pt>
                <c:pt idx="174">
                  <c:v>926.8</c:v>
                </c:pt>
                <c:pt idx="175">
                  <c:v>1046.7</c:v>
                </c:pt>
                <c:pt idx="176">
                  <c:v>1073.5</c:v>
                </c:pt>
                <c:pt idx="177">
                  <c:v>1107.5</c:v>
                </c:pt>
                <c:pt idx="178">
                  <c:v>1162.9000000000001</c:v>
                </c:pt>
                <c:pt idx="179">
                  <c:v>1216.5999999999999</c:v>
                </c:pt>
                <c:pt idx="180">
                  <c:v>1479.6</c:v>
                </c:pt>
                <c:pt idx="181">
                  <c:v>1533.3</c:v>
                </c:pt>
                <c:pt idx="182">
                  <c:v>1590.6</c:v>
                </c:pt>
                <c:pt idx="183">
                  <c:v>1749.8</c:v>
                </c:pt>
                <c:pt idx="184">
                  <c:v>1892.9</c:v>
                </c:pt>
                <c:pt idx="185">
                  <c:v>2012.8</c:v>
                </c:pt>
                <c:pt idx="186">
                  <c:v>2091.5</c:v>
                </c:pt>
                <c:pt idx="187">
                  <c:v>2129.1</c:v>
                </c:pt>
                <c:pt idx="188">
                  <c:v>2173.8000000000002</c:v>
                </c:pt>
                <c:pt idx="189">
                  <c:v>2145.1999999999998</c:v>
                </c:pt>
                <c:pt idx="190">
                  <c:v>2218.6</c:v>
                </c:pt>
                <c:pt idx="191">
                  <c:v>2204.1999999999998</c:v>
                </c:pt>
                <c:pt idx="192">
                  <c:v>2585.3000000000002</c:v>
                </c:pt>
                <c:pt idx="193">
                  <c:v>2492.3000000000002</c:v>
                </c:pt>
                <c:pt idx="194">
                  <c:v>2376</c:v>
                </c:pt>
                <c:pt idx="195">
                  <c:v>2537</c:v>
                </c:pt>
                <c:pt idx="196">
                  <c:v>2680.2</c:v>
                </c:pt>
                <c:pt idx="197">
                  <c:v>2826.9</c:v>
                </c:pt>
                <c:pt idx="198">
                  <c:v>3404.8</c:v>
                </c:pt>
                <c:pt idx="199">
                  <c:v>3819.8</c:v>
                </c:pt>
                <c:pt idx="200">
                  <c:v>3914.7</c:v>
                </c:pt>
                <c:pt idx="201">
                  <c:v>3802</c:v>
                </c:pt>
                <c:pt idx="202">
                  <c:v>3417.3</c:v>
                </c:pt>
                <c:pt idx="203">
                  <c:v>3401.2</c:v>
                </c:pt>
                <c:pt idx="204">
                  <c:v>3599.8</c:v>
                </c:pt>
                <c:pt idx="205">
                  <c:v>3510.3</c:v>
                </c:pt>
                <c:pt idx="206">
                  <c:v>3309.9</c:v>
                </c:pt>
                <c:pt idx="207">
                  <c:v>3143.5</c:v>
                </c:pt>
                <c:pt idx="208">
                  <c:v>3301</c:v>
                </c:pt>
                <c:pt idx="209">
                  <c:v>3387</c:v>
                </c:pt>
                <c:pt idx="210">
                  <c:v>4192</c:v>
                </c:pt>
                <c:pt idx="211">
                  <c:v>4217.1000000000004</c:v>
                </c:pt>
                <c:pt idx="212">
                  <c:v>4677.1000000000004</c:v>
                </c:pt>
                <c:pt idx="213">
                  <c:v>3972.8</c:v>
                </c:pt>
                <c:pt idx="214">
                  <c:v>4283.6000000000004</c:v>
                </c:pt>
                <c:pt idx="215">
                  <c:v>4731</c:v>
                </c:pt>
                <c:pt idx="216">
                  <c:v>5072.3999999999996</c:v>
                </c:pt>
                <c:pt idx="217">
                  <c:v>4452.5</c:v>
                </c:pt>
                <c:pt idx="218">
                  <c:v>4659.2</c:v>
                </c:pt>
                <c:pt idx="219">
                  <c:v>4914.3</c:v>
                </c:pt>
                <c:pt idx="220">
                  <c:v>4808.3</c:v>
                </c:pt>
                <c:pt idx="221">
                  <c:v>4413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1E-412D-AA9B-3C13025A9A9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Siemens E.</c:v>
                </c:pt>
              </c:strCache>
            </c:strRef>
          </c:tx>
          <c:spPr>
            <a:ln w="19050">
              <a:solidFill>
                <a:srgbClr val="2471A3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222"/>
                <c:pt idx="0">
                  <c:v>100</c:v>
                </c:pt>
                <c:pt idx="1">
                  <c:v>98.8</c:v>
                </c:pt>
                <c:pt idx="2">
                  <c:v>84.7</c:v>
                </c:pt>
                <c:pt idx="3">
                  <c:v>85.8</c:v>
                </c:pt>
                <c:pt idx="4">
                  <c:v>85.4</c:v>
                </c:pt>
                <c:pt idx="5">
                  <c:v>83.3</c:v>
                </c:pt>
                <c:pt idx="6">
                  <c:v>81.5</c:v>
                </c:pt>
                <c:pt idx="7">
                  <c:v>86</c:v>
                </c:pt>
                <c:pt idx="8">
                  <c:v>85.2</c:v>
                </c:pt>
                <c:pt idx="9">
                  <c:v>95.1</c:v>
                </c:pt>
                <c:pt idx="10">
                  <c:v>95.4</c:v>
                </c:pt>
                <c:pt idx="11">
                  <c:v>91.7</c:v>
                </c:pt>
                <c:pt idx="12">
                  <c:v>93</c:v>
                </c:pt>
                <c:pt idx="13">
                  <c:v>87.2</c:v>
                </c:pt>
                <c:pt idx="14">
                  <c:v>84.7</c:v>
                </c:pt>
                <c:pt idx="15">
                  <c:v>85.7</c:v>
                </c:pt>
                <c:pt idx="16">
                  <c:v>82</c:v>
                </c:pt>
                <c:pt idx="17">
                  <c:v>77.2</c:v>
                </c:pt>
                <c:pt idx="18">
                  <c:v>69.5</c:v>
                </c:pt>
                <c:pt idx="19">
                  <c:v>75.400000000000006</c:v>
                </c:pt>
                <c:pt idx="20">
                  <c:v>77.900000000000006</c:v>
                </c:pt>
                <c:pt idx="21">
                  <c:v>79.400000000000006</c:v>
                </c:pt>
                <c:pt idx="22">
                  <c:v>75</c:v>
                </c:pt>
                <c:pt idx="23">
                  <c:v>68.099999999999994</c:v>
                </c:pt>
                <c:pt idx="24">
                  <c:v>69.900000000000006</c:v>
                </c:pt>
                <c:pt idx="25">
                  <c:v>63.3</c:v>
                </c:pt>
                <c:pt idx="26">
                  <c:v>66</c:v>
                </c:pt>
                <c:pt idx="27">
                  <c:v>63.1</c:v>
                </c:pt>
                <c:pt idx="28">
                  <c:v>68</c:v>
                </c:pt>
                <c:pt idx="29">
                  <c:v>72</c:v>
                </c:pt>
                <c:pt idx="30">
                  <c:v>73.599999999999994</c:v>
                </c:pt>
                <c:pt idx="31">
                  <c:v>72.8</c:v>
                </c:pt>
                <c:pt idx="32">
                  <c:v>70.7</c:v>
                </c:pt>
                <c:pt idx="33">
                  <c:v>68.3</c:v>
                </c:pt>
                <c:pt idx="34">
                  <c:v>63</c:v>
                </c:pt>
                <c:pt idx="35">
                  <c:v>62.3</c:v>
                </c:pt>
                <c:pt idx="36">
                  <c:v>54.7</c:v>
                </c:pt>
                <c:pt idx="37">
                  <c:v>50.9</c:v>
                </c:pt>
                <c:pt idx="38">
                  <c:v>50.7</c:v>
                </c:pt>
                <c:pt idx="39">
                  <c:v>48</c:v>
                </c:pt>
                <c:pt idx="40">
                  <c:v>48.4</c:v>
                </c:pt>
                <c:pt idx="41">
                  <c:v>49.1</c:v>
                </c:pt>
                <c:pt idx="42">
                  <c:v>52.1</c:v>
                </c:pt>
                <c:pt idx="43">
                  <c:v>54.6</c:v>
                </c:pt>
                <c:pt idx="44">
                  <c:v>63.8</c:v>
                </c:pt>
                <c:pt idx="45">
                  <c:v>65.3</c:v>
                </c:pt>
                <c:pt idx="46">
                  <c:v>71.8</c:v>
                </c:pt>
                <c:pt idx="47">
                  <c:v>72.2</c:v>
                </c:pt>
                <c:pt idx="48">
                  <c:v>75.400000000000006</c:v>
                </c:pt>
                <c:pt idx="49">
                  <c:v>73.8</c:v>
                </c:pt>
                <c:pt idx="50">
                  <c:v>77.2</c:v>
                </c:pt>
                <c:pt idx="51">
                  <c:v>78.2</c:v>
                </c:pt>
                <c:pt idx="52">
                  <c:v>81.599999999999994</c:v>
                </c:pt>
                <c:pt idx="53">
                  <c:v>83.6</c:v>
                </c:pt>
                <c:pt idx="54">
                  <c:v>84</c:v>
                </c:pt>
                <c:pt idx="55">
                  <c:v>83.8</c:v>
                </c:pt>
                <c:pt idx="56">
                  <c:v>85</c:v>
                </c:pt>
                <c:pt idx="57">
                  <c:v>84.2</c:v>
                </c:pt>
                <c:pt idx="58">
                  <c:v>85.4</c:v>
                </c:pt>
                <c:pt idx="59">
                  <c:v>83.4</c:v>
                </c:pt>
                <c:pt idx="60">
                  <c:v>88.6</c:v>
                </c:pt>
                <c:pt idx="61">
                  <c:v>88.4</c:v>
                </c:pt>
                <c:pt idx="62">
                  <c:v>81.5</c:v>
                </c:pt>
                <c:pt idx="63">
                  <c:v>82.5</c:v>
                </c:pt>
                <c:pt idx="64">
                  <c:v>90.1</c:v>
                </c:pt>
                <c:pt idx="65">
                  <c:v>92.6</c:v>
                </c:pt>
                <c:pt idx="66">
                  <c:v>96.6</c:v>
                </c:pt>
                <c:pt idx="67">
                  <c:v>94.7</c:v>
                </c:pt>
                <c:pt idx="68">
                  <c:v>98.7</c:v>
                </c:pt>
                <c:pt idx="69">
                  <c:v>100.2</c:v>
                </c:pt>
                <c:pt idx="70">
                  <c:v>96.4</c:v>
                </c:pt>
                <c:pt idx="71">
                  <c:v>107.9</c:v>
                </c:pt>
                <c:pt idx="72">
                  <c:v>107.5</c:v>
                </c:pt>
                <c:pt idx="73">
                  <c:v>108.6</c:v>
                </c:pt>
                <c:pt idx="74">
                  <c:v>105.5</c:v>
                </c:pt>
                <c:pt idx="75">
                  <c:v>102.4</c:v>
                </c:pt>
                <c:pt idx="76">
                  <c:v>65.2</c:v>
                </c:pt>
                <c:pt idx="77">
                  <c:v>72</c:v>
                </c:pt>
                <c:pt idx="78">
                  <c:v>66.3</c:v>
                </c:pt>
                <c:pt idx="79">
                  <c:v>68.7</c:v>
                </c:pt>
                <c:pt idx="80">
                  <c:v>68.599999999999994</c:v>
                </c:pt>
                <c:pt idx="81">
                  <c:v>70.3</c:v>
                </c:pt>
                <c:pt idx="82">
                  <c:v>69.2</c:v>
                </c:pt>
                <c:pt idx="83">
                  <c:v>61.3</c:v>
                </c:pt>
                <c:pt idx="84">
                  <c:v>58.4</c:v>
                </c:pt>
                <c:pt idx="85">
                  <c:v>57.5</c:v>
                </c:pt>
                <c:pt idx="86">
                  <c:v>58</c:v>
                </c:pt>
                <c:pt idx="87">
                  <c:v>54.4</c:v>
                </c:pt>
                <c:pt idx="88">
                  <c:v>57.4</c:v>
                </c:pt>
                <c:pt idx="89">
                  <c:v>54.9</c:v>
                </c:pt>
                <c:pt idx="90">
                  <c:v>55.1</c:v>
                </c:pt>
                <c:pt idx="91">
                  <c:v>51</c:v>
                </c:pt>
                <c:pt idx="92">
                  <c:v>51.6</c:v>
                </c:pt>
                <c:pt idx="93">
                  <c:v>48.4</c:v>
                </c:pt>
                <c:pt idx="94">
                  <c:v>33.299999999999997</c:v>
                </c:pt>
                <c:pt idx="95">
                  <c:v>42.5</c:v>
                </c:pt>
                <c:pt idx="96">
                  <c:v>41.8</c:v>
                </c:pt>
                <c:pt idx="97">
                  <c:v>52</c:v>
                </c:pt>
                <c:pt idx="98">
                  <c:v>48.2</c:v>
                </c:pt>
                <c:pt idx="99">
                  <c:v>50.4</c:v>
                </c:pt>
                <c:pt idx="100">
                  <c:v>50.6</c:v>
                </c:pt>
                <c:pt idx="101">
                  <c:v>50.6</c:v>
                </c:pt>
                <c:pt idx="102">
                  <c:v>50.3</c:v>
                </c:pt>
                <c:pt idx="103">
                  <c:v>53.4</c:v>
                </c:pt>
                <c:pt idx="104">
                  <c:v>51.3</c:v>
                </c:pt>
                <c:pt idx="105">
                  <c:v>55.4</c:v>
                </c:pt>
                <c:pt idx="106">
                  <c:v>52.6</c:v>
                </c:pt>
                <c:pt idx="107">
                  <c:v>61.1</c:v>
                </c:pt>
                <c:pt idx="108">
                  <c:v>61.8</c:v>
                </c:pt>
                <c:pt idx="109">
                  <c:v>61</c:v>
                </c:pt>
                <c:pt idx="110">
                  <c:v>61.8</c:v>
                </c:pt>
                <c:pt idx="111">
                  <c:v>61.1</c:v>
                </c:pt>
                <c:pt idx="112">
                  <c:v>63.9</c:v>
                </c:pt>
                <c:pt idx="113">
                  <c:v>63.1</c:v>
                </c:pt>
                <c:pt idx="114">
                  <c:v>64.2</c:v>
                </c:pt>
                <c:pt idx="115">
                  <c:v>73.5</c:v>
                </c:pt>
                <c:pt idx="116">
                  <c:v>75.7</c:v>
                </c:pt>
                <c:pt idx="117">
                  <c:v>78.900000000000006</c:v>
                </c:pt>
                <c:pt idx="118">
                  <c:v>78.400000000000006</c:v>
                </c:pt>
                <c:pt idx="119">
                  <c:v>78.400000000000006</c:v>
                </c:pt>
                <c:pt idx="120">
                  <c:v>83.9</c:v>
                </c:pt>
                <c:pt idx="121">
                  <c:v>88</c:v>
                </c:pt>
                <c:pt idx="122">
                  <c:v>108</c:v>
                </c:pt>
                <c:pt idx="123">
                  <c:v>111.2</c:v>
                </c:pt>
                <c:pt idx="124">
                  <c:v>113.9</c:v>
                </c:pt>
                <c:pt idx="125">
                  <c:v>110.4</c:v>
                </c:pt>
                <c:pt idx="126">
                  <c:v>102.4</c:v>
                </c:pt>
                <c:pt idx="127">
                  <c:v>103.4</c:v>
                </c:pt>
                <c:pt idx="128">
                  <c:v>105.1</c:v>
                </c:pt>
                <c:pt idx="129">
                  <c:v>108.2</c:v>
                </c:pt>
                <c:pt idx="130">
                  <c:v>117.3</c:v>
                </c:pt>
                <c:pt idx="131">
                  <c:v>123.5</c:v>
                </c:pt>
                <c:pt idx="132">
                  <c:v>113.2</c:v>
                </c:pt>
                <c:pt idx="133">
                  <c:v>113</c:v>
                </c:pt>
                <c:pt idx="134">
                  <c:v>107.6</c:v>
                </c:pt>
                <c:pt idx="135">
                  <c:v>107.6</c:v>
                </c:pt>
                <c:pt idx="136">
                  <c:v>112</c:v>
                </c:pt>
                <c:pt idx="137">
                  <c:v>114.6</c:v>
                </c:pt>
                <c:pt idx="138">
                  <c:v>115.9</c:v>
                </c:pt>
                <c:pt idx="139">
                  <c:v>106.1</c:v>
                </c:pt>
                <c:pt idx="140">
                  <c:v>118.8</c:v>
                </c:pt>
                <c:pt idx="141">
                  <c:v>143.69999999999999</c:v>
                </c:pt>
                <c:pt idx="142">
                  <c:v>146.4</c:v>
                </c:pt>
                <c:pt idx="143">
                  <c:v>157.30000000000001</c:v>
                </c:pt>
                <c:pt idx="144">
                  <c:v>159.4</c:v>
                </c:pt>
                <c:pt idx="145">
                  <c:v>162.5</c:v>
                </c:pt>
                <c:pt idx="146">
                  <c:v>170.6</c:v>
                </c:pt>
                <c:pt idx="147">
                  <c:v>167</c:v>
                </c:pt>
                <c:pt idx="148">
                  <c:v>175.8</c:v>
                </c:pt>
                <c:pt idx="149">
                  <c:v>205.6</c:v>
                </c:pt>
                <c:pt idx="150">
                  <c:v>215.1</c:v>
                </c:pt>
                <c:pt idx="151">
                  <c:v>227</c:v>
                </c:pt>
                <c:pt idx="152">
                  <c:v>230.8</c:v>
                </c:pt>
                <c:pt idx="153">
                  <c:v>217.5</c:v>
                </c:pt>
                <c:pt idx="154">
                  <c:v>225.6</c:v>
                </c:pt>
                <c:pt idx="155">
                  <c:v>222.8</c:v>
                </c:pt>
                <c:pt idx="156">
                  <c:v>231.3</c:v>
                </c:pt>
                <c:pt idx="157">
                  <c:v>220.3</c:v>
                </c:pt>
                <c:pt idx="158">
                  <c:v>224</c:v>
                </c:pt>
                <c:pt idx="159">
                  <c:v>261.60000000000002</c:v>
                </c:pt>
                <c:pt idx="160">
                  <c:v>257.39999999999998</c:v>
                </c:pt>
                <c:pt idx="161">
                  <c:v>254.1</c:v>
                </c:pt>
                <c:pt idx="162">
                  <c:v>273.8</c:v>
                </c:pt>
                <c:pt idx="163">
                  <c:v>266.39999999999998</c:v>
                </c:pt>
                <c:pt idx="164">
                  <c:v>244.5</c:v>
                </c:pt>
                <c:pt idx="165">
                  <c:v>247.7</c:v>
                </c:pt>
                <c:pt idx="166">
                  <c:v>263.7</c:v>
                </c:pt>
                <c:pt idx="167">
                  <c:v>275.10000000000002</c:v>
                </c:pt>
                <c:pt idx="168">
                  <c:v>246.1</c:v>
                </c:pt>
                <c:pt idx="169">
                  <c:v>220.3</c:v>
                </c:pt>
                <c:pt idx="170">
                  <c:v>239.1</c:v>
                </c:pt>
                <c:pt idx="171">
                  <c:v>283.89999999999998</c:v>
                </c:pt>
                <c:pt idx="172">
                  <c:v>302.2</c:v>
                </c:pt>
                <c:pt idx="173">
                  <c:v>323</c:v>
                </c:pt>
                <c:pt idx="174">
                  <c:v>332.7</c:v>
                </c:pt>
                <c:pt idx="175">
                  <c:v>338.3</c:v>
                </c:pt>
                <c:pt idx="176">
                  <c:v>363.5</c:v>
                </c:pt>
                <c:pt idx="177">
                  <c:v>380.4</c:v>
                </c:pt>
                <c:pt idx="178">
                  <c:v>393.9</c:v>
                </c:pt>
                <c:pt idx="179">
                  <c:v>377.4</c:v>
                </c:pt>
                <c:pt idx="180">
                  <c:v>389</c:v>
                </c:pt>
                <c:pt idx="181">
                  <c:v>424.9</c:v>
                </c:pt>
                <c:pt idx="182">
                  <c:v>411.9</c:v>
                </c:pt>
                <c:pt idx="183">
                  <c:v>407.9</c:v>
                </c:pt>
                <c:pt idx="184">
                  <c:v>418.3</c:v>
                </c:pt>
                <c:pt idx="185">
                  <c:v>431</c:v>
                </c:pt>
                <c:pt idx="186">
                  <c:v>435.7</c:v>
                </c:pt>
                <c:pt idx="187">
                  <c:v>427.2</c:v>
                </c:pt>
                <c:pt idx="188">
                  <c:v>422</c:v>
                </c:pt>
                <c:pt idx="189">
                  <c:v>413.4</c:v>
                </c:pt>
                <c:pt idx="190">
                  <c:v>403.7</c:v>
                </c:pt>
                <c:pt idx="191">
                  <c:v>389.7</c:v>
                </c:pt>
                <c:pt idx="192">
                  <c:v>414.5</c:v>
                </c:pt>
                <c:pt idx="193">
                  <c:v>423.8</c:v>
                </c:pt>
                <c:pt idx="194">
                  <c:v>439.3</c:v>
                </c:pt>
                <c:pt idx="195">
                  <c:v>471.9</c:v>
                </c:pt>
                <c:pt idx="196">
                  <c:v>471.7</c:v>
                </c:pt>
                <c:pt idx="197">
                  <c:v>449</c:v>
                </c:pt>
                <c:pt idx="198">
                  <c:v>461.9</c:v>
                </c:pt>
                <c:pt idx="199">
                  <c:v>477.4</c:v>
                </c:pt>
                <c:pt idx="200">
                  <c:v>477.2</c:v>
                </c:pt>
                <c:pt idx="201">
                  <c:v>491.7</c:v>
                </c:pt>
                <c:pt idx="202">
                  <c:v>448.5</c:v>
                </c:pt>
                <c:pt idx="203">
                  <c:v>513</c:v>
                </c:pt>
                <c:pt idx="204">
                  <c:v>520.79999999999995</c:v>
                </c:pt>
                <c:pt idx="205">
                  <c:v>526.20000000000005</c:v>
                </c:pt>
                <c:pt idx="206">
                  <c:v>534.6</c:v>
                </c:pt>
                <c:pt idx="207">
                  <c:v>537.29999999999995</c:v>
                </c:pt>
                <c:pt idx="208">
                  <c:v>546.4</c:v>
                </c:pt>
                <c:pt idx="209">
                  <c:v>560</c:v>
                </c:pt>
                <c:pt idx="210">
                  <c:v>606.5</c:v>
                </c:pt>
                <c:pt idx="211">
                  <c:v>630.70000000000005</c:v>
                </c:pt>
                <c:pt idx="212">
                  <c:v>643.20000000000005</c:v>
                </c:pt>
                <c:pt idx="213">
                  <c:v>676.3</c:v>
                </c:pt>
                <c:pt idx="214">
                  <c:v>721.3</c:v>
                </c:pt>
                <c:pt idx="215">
                  <c:v>735.3</c:v>
                </c:pt>
                <c:pt idx="216">
                  <c:v>740.6</c:v>
                </c:pt>
                <c:pt idx="217">
                  <c:v>669.2</c:v>
                </c:pt>
                <c:pt idx="218">
                  <c:v>643.20000000000005</c:v>
                </c:pt>
                <c:pt idx="219">
                  <c:v>628.9</c:v>
                </c:pt>
                <c:pt idx="220">
                  <c:v>645.29999999999995</c:v>
                </c:pt>
                <c:pt idx="221">
                  <c:v>635.70000000000005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C1E-412D-AA9B-3C13025A9A9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GE Vernova</c:v>
                </c:pt>
              </c:strCache>
            </c:strRef>
          </c:tx>
          <c:spPr>
            <a:ln w="19050">
              <a:solidFill>
                <a:srgbClr val="117A65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Sheet1!$F$2:$F$111</c:f>
              <c:numCache>
                <c:formatCode>General</c:formatCode>
                <c:ptCount val="2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100</c:v>
                </c:pt>
                <c:pt idx="117">
                  <c:v>89.7</c:v>
                </c:pt>
                <c:pt idx="118">
                  <c:v>98</c:v>
                </c:pt>
                <c:pt idx="119">
                  <c:v>98.8</c:v>
                </c:pt>
                <c:pt idx="120">
                  <c:v>111.9</c:v>
                </c:pt>
                <c:pt idx="121">
                  <c:v>121.6</c:v>
                </c:pt>
                <c:pt idx="122">
                  <c:v>122.3</c:v>
                </c:pt>
                <c:pt idx="123">
                  <c:v>118.9</c:v>
                </c:pt>
                <c:pt idx="124">
                  <c:v>129.69999999999999</c:v>
                </c:pt>
                <c:pt idx="125">
                  <c:v>128.6</c:v>
                </c:pt>
                <c:pt idx="126">
                  <c:v>118.5</c:v>
                </c:pt>
                <c:pt idx="127">
                  <c:v>124.4</c:v>
                </c:pt>
                <c:pt idx="128">
                  <c:v>128.5</c:v>
                </c:pt>
                <c:pt idx="129">
                  <c:v>125.4</c:v>
                </c:pt>
                <c:pt idx="130">
                  <c:v>128.9</c:v>
                </c:pt>
                <c:pt idx="131">
                  <c:v>132</c:v>
                </c:pt>
                <c:pt idx="132">
                  <c:v>119.4</c:v>
                </c:pt>
                <c:pt idx="133">
                  <c:v>126.6</c:v>
                </c:pt>
                <c:pt idx="134">
                  <c:v>120.5</c:v>
                </c:pt>
                <c:pt idx="135">
                  <c:v>131</c:v>
                </c:pt>
                <c:pt idx="136">
                  <c:v>134.6</c:v>
                </c:pt>
                <c:pt idx="137">
                  <c:v>134</c:v>
                </c:pt>
                <c:pt idx="138">
                  <c:v>147</c:v>
                </c:pt>
                <c:pt idx="139">
                  <c:v>145</c:v>
                </c:pt>
                <c:pt idx="140">
                  <c:v>165</c:v>
                </c:pt>
                <c:pt idx="141">
                  <c:v>179.5</c:v>
                </c:pt>
                <c:pt idx="142">
                  <c:v>182.7</c:v>
                </c:pt>
                <c:pt idx="143">
                  <c:v>194.2</c:v>
                </c:pt>
                <c:pt idx="144">
                  <c:v>195.2</c:v>
                </c:pt>
                <c:pt idx="145">
                  <c:v>199.4</c:v>
                </c:pt>
                <c:pt idx="146">
                  <c:v>214.7</c:v>
                </c:pt>
                <c:pt idx="147">
                  <c:v>220.2</c:v>
                </c:pt>
                <c:pt idx="148">
                  <c:v>249.5</c:v>
                </c:pt>
                <c:pt idx="149">
                  <c:v>241.1</c:v>
                </c:pt>
                <c:pt idx="150">
                  <c:v>255.3</c:v>
                </c:pt>
                <c:pt idx="151">
                  <c:v>244.3</c:v>
                </c:pt>
                <c:pt idx="152">
                  <c:v>253.4</c:v>
                </c:pt>
                <c:pt idx="153">
                  <c:v>242.8</c:v>
                </c:pt>
                <c:pt idx="154">
                  <c:v>250.6</c:v>
                </c:pt>
                <c:pt idx="155">
                  <c:v>244.3</c:v>
                </c:pt>
                <c:pt idx="156">
                  <c:v>259.10000000000002</c:v>
                </c:pt>
                <c:pt idx="157">
                  <c:v>268.60000000000002</c:v>
                </c:pt>
                <c:pt idx="158">
                  <c:v>293.8</c:v>
                </c:pt>
                <c:pt idx="159">
                  <c:v>307.7</c:v>
                </c:pt>
                <c:pt idx="160">
                  <c:v>272.89999999999998</c:v>
                </c:pt>
                <c:pt idx="161">
                  <c:v>276.60000000000002</c:v>
                </c:pt>
                <c:pt idx="162">
                  <c:v>269</c:v>
                </c:pt>
                <c:pt idx="163">
                  <c:v>239.9</c:v>
                </c:pt>
                <c:pt idx="164">
                  <c:v>245.3</c:v>
                </c:pt>
                <c:pt idx="165">
                  <c:v>211.7</c:v>
                </c:pt>
                <c:pt idx="166">
                  <c:v>229.5</c:v>
                </c:pt>
                <c:pt idx="167">
                  <c:v>244.3</c:v>
                </c:pt>
                <c:pt idx="168">
                  <c:v>221.7</c:v>
                </c:pt>
                <c:pt idx="169">
                  <c:v>198.7</c:v>
                </c:pt>
                <c:pt idx="170">
                  <c:v>235.2</c:v>
                </c:pt>
                <c:pt idx="171">
                  <c:v>236.8</c:v>
                </c:pt>
                <c:pt idx="172">
                  <c:v>272.7</c:v>
                </c:pt>
                <c:pt idx="173">
                  <c:v>290.3</c:v>
                </c:pt>
                <c:pt idx="174">
                  <c:v>292.39999999999998</c:v>
                </c:pt>
                <c:pt idx="175">
                  <c:v>313.5</c:v>
                </c:pt>
                <c:pt idx="176">
                  <c:v>340.1</c:v>
                </c:pt>
                <c:pt idx="177">
                  <c:v>346.4</c:v>
                </c:pt>
                <c:pt idx="178">
                  <c:v>355.2</c:v>
                </c:pt>
                <c:pt idx="179">
                  <c:v>350.4</c:v>
                </c:pt>
                <c:pt idx="180">
                  <c:v>356.6</c:v>
                </c:pt>
                <c:pt idx="181">
                  <c:v>380.6</c:v>
                </c:pt>
                <c:pt idx="182">
                  <c:v>378.7</c:v>
                </c:pt>
                <c:pt idx="183">
                  <c:v>394.9</c:v>
                </c:pt>
                <c:pt idx="184">
                  <c:v>420.8</c:v>
                </c:pt>
                <c:pt idx="185">
                  <c:v>472.1</c:v>
                </c:pt>
                <c:pt idx="186">
                  <c:v>481</c:v>
                </c:pt>
                <c:pt idx="187">
                  <c:v>475.6</c:v>
                </c:pt>
                <c:pt idx="188">
                  <c:v>455.7</c:v>
                </c:pt>
                <c:pt idx="189">
                  <c:v>444.8</c:v>
                </c:pt>
                <c:pt idx="190">
                  <c:v>449.1</c:v>
                </c:pt>
                <c:pt idx="191">
                  <c:v>426.5</c:v>
                </c:pt>
                <c:pt idx="192">
                  <c:v>458.3</c:v>
                </c:pt>
                <c:pt idx="193">
                  <c:v>457.3</c:v>
                </c:pt>
                <c:pt idx="194">
                  <c:v>443.4</c:v>
                </c:pt>
                <c:pt idx="195">
                  <c:v>435.9</c:v>
                </c:pt>
                <c:pt idx="196">
                  <c:v>443</c:v>
                </c:pt>
                <c:pt idx="197">
                  <c:v>439.6</c:v>
                </c:pt>
                <c:pt idx="198">
                  <c:v>428.2</c:v>
                </c:pt>
                <c:pt idx="199">
                  <c:v>428.9</c:v>
                </c:pt>
                <c:pt idx="200">
                  <c:v>421.6</c:v>
                </c:pt>
                <c:pt idx="201">
                  <c:v>423.9</c:v>
                </c:pt>
                <c:pt idx="202">
                  <c:v>407.4</c:v>
                </c:pt>
                <c:pt idx="203">
                  <c:v>439.6</c:v>
                </c:pt>
                <c:pt idx="204">
                  <c:v>462.8</c:v>
                </c:pt>
                <c:pt idx="205">
                  <c:v>492.4</c:v>
                </c:pt>
                <c:pt idx="206">
                  <c:v>482.5</c:v>
                </c:pt>
                <c:pt idx="207">
                  <c:v>486.3</c:v>
                </c:pt>
                <c:pt idx="208">
                  <c:v>498.1</c:v>
                </c:pt>
                <c:pt idx="209">
                  <c:v>456.3</c:v>
                </c:pt>
                <c:pt idx="210">
                  <c:v>499.9</c:v>
                </c:pt>
                <c:pt idx="211">
                  <c:v>482.5</c:v>
                </c:pt>
                <c:pt idx="212">
                  <c:v>532.79999999999995</c:v>
                </c:pt>
                <c:pt idx="213">
                  <c:v>571.70000000000005</c:v>
                </c:pt>
                <c:pt idx="214">
                  <c:v>588.4</c:v>
                </c:pt>
                <c:pt idx="215">
                  <c:v>609.1</c:v>
                </c:pt>
                <c:pt idx="216">
                  <c:v>640.79999999999995</c:v>
                </c:pt>
                <c:pt idx="217">
                  <c:v>578.9</c:v>
                </c:pt>
                <c:pt idx="218">
                  <c:v>590.5</c:v>
                </c:pt>
                <c:pt idx="219">
                  <c:v>624.29999999999995</c:v>
                </c:pt>
                <c:pt idx="220">
                  <c:v>626.20000000000005</c:v>
                </c:pt>
                <c:pt idx="221">
                  <c:v>614.6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C1E-412D-AA9B-3C13025A9A9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TBEA</c:v>
                </c:pt>
              </c:strCache>
            </c:strRef>
          </c:tx>
          <c:spPr>
            <a:ln w="19050">
              <a:solidFill>
                <a:srgbClr val="7D3C98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Sheet1!$G$2:$G$111</c:f>
              <c:numCache>
                <c:formatCode>General</c:formatCode>
                <c:ptCount val="222"/>
                <c:pt idx="0">
                  <c:v>100</c:v>
                </c:pt>
                <c:pt idx="1">
                  <c:v>99.2</c:v>
                </c:pt>
                <c:pt idx="2">
                  <c:v>98.7</c:v>
                </c:pt>
                <c:pt idx="3">
                  <c:v>94.8</c:v>
                </c:pt>
                <c:pt idx="4">
                  <c:v>94.8</c:v>
                </c:pt>
                <c:pt idx="5">
                  <c:v>97.3</c:v>
                </c:pt>
                <c:pt idx="6">
                  <c:v>101.4</c:v>
                </c:pt>
                <c:pt idx="7">
                  <c:v>102.1</c:v>
                </c:pt>
                <c:pt idx="8">
                  <c:v>101.7</c:v>
                </c:pt>
                <c:pt idx="9">
                  <c:v>107.6</c:v>
                </c:pt>
                <c:pt idx="10">
                  <c:v>105</c:v>
                </c:pt>
                <c:pt idx="11">
                  <c:v>98.3</c:v>
                </c:pt>
                <c:pt idx="12">
                  <c:v>104.8</c:v>
                </c:pt>
                <c:pt idx="13">
                  <c:v>99.6</c:v>
                </c:pt>
                <c:pt idx="14">
                  <c:v>100.1</c:v>
                </c:pt>
                <c:pt idx="15">
                  <c:v>96.5</c:v>
                </c:pt>
                <c:pt idx="16">
                  <c:v>98.5</c:v>
                </c:pt>
                <c:pt idx="17">
                  <c:v>95.3</c:v>
                </c:pt>
                <c:pt idx="18">
                  <c:v>102.1</c:v>
                </c:pt>
                <c:pt idx="19">
                  <c:v>109.6</c:v>
                </c:pt>
                <c:pt idx="20">
                  <c:v>108.8</c:v>
                </c:pt>
                <c:pt idx="21">
                  <c:v>114.5</c:v>
                </c:pt>
                <c:pt idx="22">
                  <c:v>129.5</c:v>
                </c:pt>
                <c:pt idx="23">
                  <c:v>143</c:v>
                </c:pt>
                <c:pt idx="24">
                  <c:v>135.69999999999999</c:v>
                </c:pt>
                <c:pt idx="25">
                  <c:v>143.80000000000001</c:v>
                </c:pt>
                <c:pt idx="26">
                  <c:v>147.80000000000001</c:v>
                </c:pt>
                <c:pt idx="27">
                  <c:v>141.30000000000001</c:v>
                </c:pt>
                <c:pt idx="28">
                  <c:v>135.69999999999999</c:v>
                </c:pt>
                <c:pt idx="29">
                  <c:v>129.80000000000001</c:v>
                </c:pt>
                <c:pt idx="30">
                  <c:v>125.2</c:v>
                </c:pt>
                <c:pt idx="31">
                  <c:v>124.2</c:v>
                </c:pt>
                <c:pt idx="32">
                  <c:v>134.9</c:v>
                </c:pt>
                <c:pt idx="33">
                  <c:v>132.30000000000001</c:v>
                </c:pt>
                <c:pt idx="34">
                  <c:v>125.2</c:v>
                </c:pt>
                <c:pt idx="35">
                  <c:v>130.4</c:v>
                </c:pt>
                <c:pt idx="36">
                  <c:v>117.2</c:v>
                </c:pt>
                <c:pt idx="37">
                  <c:v>116</c:v>
                </c:pt>
                <c:pt idx="38">
                  <c:v>112.6</c:v>
                </c:pt>
                <c:pt idx="39">
                  <c:v>112.6</c:v>
                </c:pt>
                <c:pt idx="40">
                  <c:v>118.8</c:v>
                </c:pt>
                <c:pt idx="41">
                  <c:v>112.9</c:v>
                </c:pt>
                <c:pt idx="42">
                  <c:v>107.7</c:v>
                </c:pt>
                <c:pt idx="43">
                  <c:v>114.5</c:v>
                </c:pt>
                <c:pt idx="44">
                  <c:v>113.3</c:v>
                </c:pt>
                <c:pt idx="45">
                  <c:v>112.5</c:v>
                </c:pt>
                <c:pt idx="46">
                  <c:v>111.9</c:v>
                </c:pt>
                <c:pt idx="47">
                  <c:v>111.3</c:v>
                </c:pt>
                <c:pt idx="48">
                  <c:v>109.4</c:v>
                </c:pt>
                <c:pt idx="49">
                  <c:v>106.1</c:v>
                </c:pt>
                <c:pt idx="50">
                  <c:v>96.6</c:v>
                </c:pt>
                <c:pt idx="51">
                  <c:v>104.4</c:v>
                </c:pt>
                <c:pt idx="52">
                  <c:v>104.9</c:v>
                </c:pt>
                <c:pt idx="53">
                  <c:v>104.6</c:v>
                </c:pt>
                <c:pt idx="54">
                  <c:v>110.4</c:v>
                </c:pt>
                <c:pt idx="55">
                  <c:v>110.4</c:v>
                </c:pt>
                <c:pt idx="56">
                  <c:v>109.7</c:v>
                </c:pt>
                <c:pt idx="57">
                  <c:v>109.6</c:v>
                </c:pt>
                <c:pt idx="58">
                  <c:v>106.7</c:v>
                </c:pt>
                <c:pt idx="59">
                  <c:v>111.3</c:v>
                </c:pt>
                <c:pt idx="60">
                  <c:v>112.4</c:v>
                </c:pt>
                <c:pt idx="61">
                  <c:v>107.5</c:v>
                </c:pt>
                <c:pt idx="62">
                  <c:v>113.7</c:v>
                </c:pt>
                <c:pt idx="63">
                  <c:v>111.6</c:v>
                </c:pt>
                <c:pt idx="64">
                  <c:v>112.8</c:v>
                </c:pt>
                <c:pt idx="65">
                  <c:v>111.2</c:v>
                </c:pt>
                <c:pt idx="66">
                  <c:v>112.4</c:v>
                </c:pt>
                <c:pt idx="67">
                  <c:v>118.9</c:v>
                </c:pt>
                <c:pt idx="68">
                  <c:v>117.4</c:v>
                </c:pt>
                <c:pt idx="69">
                  <c:v>119.2</c:v>
                </c:pt>
                <c:pt idx="70">
                  <c:v>119.5</c:v>
                </c:pt>
                <c:pt idx="71">
                  <c:v>121.5</c:v>
                </c:pt>
                <c:pt idx="72">
                  <c:v>117.9</c:v>
                </c:pt>
                <c:pt idx="73">
                  <c:v>118.1</c:v>
                </c:pt>
                <c:pt idx="74">
                  <c:v>119.5</c:v>
                </c:pt>
                <c:pt idx="75">
                  <c:v>116.7</c:v>
                </c:pt>
                <c:pt idx="76">
                  <c:v>115.4</c:v>
                </c:pt>
                <c:pt idx="77">
                  <c:v>115.8</c:v>
                </c:pt>
                <c:pt idx="78">
                  <c:v>113.8</c:v>
                </c:pt>
                <c:pt idx="79">
                  <c:v>118.9</c:v>
                </c:pt>
                <c:pt idx="80">
                  <c:v>108.2</c:v>
                </c:pt>
                <c:pt idx="81">
                  <c:v>117.5</c:v>
                </c:pt>
                <c:pt idx="82">
                  <c:v>120.3</c:v>
                </c:pt>
                <c:pt idx="83">
                  <c:v>116.4</c:v>
                </c:pt>
                <c:pt idx="84">
                  <c:v>108.9</c:v>
                </c:pt>
                <c:pt idx="85">
                  <c:v>105.2</c:v>
                </c:pt>
                <c:pt idx="86">
                  <c:v>107.2</c:v>
                </c:pt>
                <c:pt idx="87">
                  <c:v>103.4</c:v>
                </c:pt>
                <c:pt idx="88">
                  <c:v>104.1</c:v>
                </c:pt>
                <c:pt idx="89">
                  <c:v>105</c:v>
                </c:pt>
                <c:pt idx="90">
                  <c:v>107</c:v>
                </c:pt>
                <c:pt idx="91">
                  <c:v>107</c:v>
                </c:pt>
                <c:pt idx="92">
                  <c:v>106.4</c:v>
                </c:pt>
                <c:pt idx="93">
                  <c:v>102.5</c:v>
                </c:pt>
                <c:pt idx="94">
                  <c:v>101.9</c:v>
                </c:pt>
                <c:pt idx="95">
                  <c:v>100.6</c:v>
                </c:pt>
                <c:pt idx="96">
                  <c:v>101.8</c:v>
                </c:pt>
                <c:pt idx="97">
                  <c:v>101.7</c:v>
                </c:pt>
                <c:pt idx="98">
                  <c:v>99.3</c:v>
                </c:pt>
                <c:pt idx="99">
                  <c:v>101</c:v>
                </c:pt>
                <c:pt idx="100">
                  <c:v>97.2</c:v>
                </c:pt>
                <c:pt idx="101">
                  <c:v>95.1</c:v>
                </c:pt>
                <c:pt idx="102">
                  <c:v>96.2</c:v>
                </c:pt>
                <c:pt idx="103">
                  <c:v>99.6</c:v>
                </c:pt>
                <c:pt idx="104">
                  <c:v>100.5</c:v>
                </c:pt>
                <c:pt idx="105">
                  <c:v>102.9</c:v>
                </c:pt>
                <c:pt idx="106">
                  <c:v>103.2</c:v>
                </c:pt>
                <c:pt idx="107">
                  <c:v>105.1</c:v>
                </c:pt>
                <c:pt idx="108">
                  <c:v>99.4</c:v>
                </c:pt>
                <c:pt idx="109">
                  <c:v>105.6</c:v>
                </c:pt>
                <c:pt idx="110">
                  <c:v>105.6</c:v>
                </c:pt>
                <c:pt idx="111">
                  <c:v>108.7</c:v>
                </c:pt>
                <c:pt idx="112">
                  <c:v>108.5</c:v>
                </c:pt>
                <c:pt idx="113">
                  <c:v>117.3</c:v>
                </c:pt>
                <c:pt idx="114">
                  <c:v>114.3</c:v>
                </c:pt>
                <c:pt idx="115">
                  <c:v>112.5</c:v>
                </c:pt>
                <c:pt idx="116">
                  <c:v>110.6</c:v>
                </c:pt>
                <c:pt idx="117">
                  <c:v>112.2</c:v>
                </c:pt>
                <c:pt idx="118">
                  <c:v>103.9</c:v>
                </c:pt>
                <c:pt idx="119">
                  <c:v>103.2</c:v>
                </c:pt>
                <c:pt idx="120">
                  <c:v>100</c:v>
                </c:pt>
                <c:pt idx="121">
                  <c:v>102.1</c:v>
                </c:pt>
                <c:pt idx="122">
                  <c:v>105.4</c:v>
                </c:pt>
                <c:pt idx="123">
                  <c:v>105.5</c:v>
                </c:pt>
                <c:pt idx="124">
                  <c:v>105.8</c:v>
                </c:pt>
                <c:pt idx="125">
                  <c:v>107.7</c:v>
                </c:pt>
                <c:pt idx="126">
                  <c:v>103.9</c:v>
                </c:pt>
                <c:pt idx="127">
                  <c:v>103.7</c:v>
                </c:pt>
                <c:pt idx="128">
                  <c:v>101.3</c:v>
                </c:pt>
                <c:pt idx="129">
                  <c:v>100.1</c:v>
                </c:pt>
                <c:pt idx="130">
                  <c:v>97.4</c:v>
                </c:pt>
                <c:pt idx="131">
                  <c:v>96</c:v>
                </c:pt>
                <c:pt idx="132">
                  <c:v>99.3</c:v>
                </c:pt>
                <c:pt idx="133">
                  <c:v>98.4</c:v>
                </c:pt>
                <c:pt idx="134">
                  <c:v>97.9</c:v>
                </c:pt>
                <c:pt idx="135">
                  <c:v>97.4</c:v>
                </c:pt>
                <c:pt idx="136">
                  <c:v>96</c:v>
                </c:pt>
                <c:pt idx="137">
                  <c:v>91.1</c:v>
                </c:pt>
                <c:pt idx="138">
                  <c:v>92.4</c:v>
                </c:pt>
                <c:pt idx="139">
                  <c:v>90.3</c:v>
                </c:pt>
                <c:pt idx="140">
                  <c:v>86.5</c:v>
                </c:pt>
                <c:pt idx="141">
                  <c:v>88.2</c:v>
                </c:pt>
                <c:pt idx="142">
                  <c:v>100.3</c:v>
                </c:pt>
                <c:pt idx="143">
                  <c:v>107.2</c:v>
                </c:pt>
                <c:pt idx="144">
                  <c:v>99.1</c:v>
                </c:pt>
                <c:pt idx="145">
                  <c:v>95.3</c:v>
                </c:pt>
                <c:pt idx="146">
                  <c:v>106.5</c:v>
                </c:pt>
                <c:pt idx="147">
                  <c:v>102.7</c:v>
                </c:pt>
                <c:pt idx="148">
                  <c:v>105.9</c:v>
                </c:pt>
                <c:pt idx="149">
                  <c:v>102</c:v>
                </c:pt>
                <c:pt idx="150">
                  <c:v>99.1</c:v>
                </c:pt>
                <c:pt idx="151">
                  <c:v>99.6</c:v>
                </c:pt>
                <c:pt idx="152">
                  <c:v>95.7</c:v>
                </c:pt>
                <c:pt idx="153">
                  <c:v>93.9</c:v>
                </c:pt>
                <c:pt idx="154">
                  <c:v>92.4</c:v>
                </c:pt>
                <c:pt idx="155">
                  <c:v>93.8</c:v>
                </c:pt>
                <c:pt idx="156">
                  <c:v>89.6</c:v>
                </c:pt>
                <c:pt idx="157">
                  <c:v>87.7</c:v>
                </c:pt>
                <c:pt idx="158">
                  <c:v>89.7</c:v>
                </c:pt>
                <c:pt idx="159">
                  <c:v>88.2</c:v>
                </c:pt>
                <c:pt idx="160">
                  <c:v>87.6</c:v>
                </c:pt>
                <c:pt idx="161">
                  <c:v>90.9</c:v>
                </c:pt>
                <c:pt idx="162">
                  <c:v>89.7</c:v>
                </c:pt>
                <c:pt idx="163">
                  <c:v>89.4</c:v>
                </c:pt>
                <c:pt idx="164">
                  <c:v>88.4</c:v>
                </c:pt>
                <c:pt idx="165">
                  <c:v>89.6</c:v>
                </c:pt>
                <c:pt idx="166">
                  <c:v>92.4</c:v>
                </c:pt>
                <c:pt idx="167">
                  <c:v>91.5</c:v>
                </c:pt>
                <c:pt idx="168">
                  <c:v>90</c:v>
                </c:pt>
                <c:pt idx="169">
                  <c:v>88.3</c:v>
                </c:pt>
                <c:pt idx="170">
                  <c:v>84.7</c:v>
                </c:pt>
                <c:pt idx="171">
                  <c:v>84.8</c:v>
                </c:pt>
                <c:pt idx="172">
                  <c:v>84.8</c:v>
                </c:pt>
                <c:pt idx="173">
                  <c:v>84.5</c:v>
                </c:pt>
                <c:pt idx="174">
                  <c:v>85.1</c:v>
                </c:pt>
                <c:pt idx="175">
                  <c:v>87.2</c:v>
                </c:pt>
                <c:pt idx="176">
                  <c:v>85.8</c:v>
                </c:pt>
                <c:pt idx="177">
                  <c:v>85</c:v>
                </c:pt>
                <c:pt idx="178">
                  <c:v>85.7</c:v>
                </c:pt>
                <c:pt idx="179">
                  <c:v>85.3</c:v>
                </c:pt>
                <c:pt idx="180">
                  <c:v>83.9</c:v>
                </c:pt>
                <c:pt idx="181">
                  <c:v>87</c:v>
                </c:pt>
                <c:pt idx="182">
                  <c:v>89.1</c:v>
                </c:pt>
                <c:pt idx="183">
                  <c:v>89.4</c:v>
                </c:pt>
                <c:pt idx="184">
                  <c:v>91.9</c:v>
                </c:pt>
                <c:pt idx="185">
                  <c:v>104.9</c:v>
                </c:pt>
                <c:pt idx="186">
                  <c:v>100.2</c:v>
                </c:pt>
                <c:pt idx="187">
                  <c:v>101.4</c:v>
                </c:pt>
                <c:pt idx="188">
                  <c:v>101.1</c:v>
                </c:pt>
                <c:pt idx="189">
                  <c:v>106.3</c:v>
                </c:pt>
                <c:pt idx="190">
                  <c:v>105.9</c:v>
                </c:pt>
                <c:pt idx="191">
                  <c:v>112.7</c:v>
                </c:pt>
                <c:pt idx="192">
                  <c:v>110.9</c:v>
                </c:pt>
                <c:pt idx="193">
                  <c:v>122.4</c:v>
                </c:pt>
                <c:pt idx="194">
                  <c:v>121</c:v>
                </c:pt>
                <c:pt idx="195">
                  <c:v>133.1</c:v>
                </c:pt>
                <c:pt idx="196">
                  <c:v>146.69999999999999</c:v>
                </c:pt>
                <c:pt idx="197">
                  <c:v>141.19999999999999</c:v>
                </c:pt>
                <c:pt idx="198">
                  <c:v>142</c:v>
                </c:pt>
                <c:pt idx="199">
                  <c:v>146.4</c:v>
                </c:pt>
                <c:pt idx="200">
                  <c:v>198.1</c:v>
                </c:pt>
                <c:pt idx="201">
                  <c:v>176.9</c:v>
                </c:pt>
                <c:pt idx="202">
                  <c:v>160.1</c:v>
                </c:pt>
                <c:pt idx="203">
                  <c:v>163</c:v>
                </c:pt>
                <c:pt idx="204">
                  <c:v>164.4</c:v>
                </c:pt>
                <c:pt idx="205">
                  <c:v>178</c:v>
                </c:pt>
                <c:pt idx="206">
                  <c:v>163.6</c:v>
                </c:pt>
                <c:pt idx="207">
                  <c:v>175.4</c:v>
                </c:pt>
                <c:pt idx="208">
                  <c:v>166.1</c:v>
                </c:pt>
                <c:pt idx="209">
                  <c:v>186.4</c:v>
                </c:pt>
                <c:pt idx="210">
                  <c:v>207.3</c:v>
                </c:pt>
                <c:pt idx="211">
                  <c:v>213.4</c:v>
                </c:pt>
                <c:pt idx="212">
                  <c:v>203.3</c:v>
                </c:pt>
                <c:pt idx="213">
                  <c:v>205.9</c:v>
                </c:pt>
                <c:pt idx="214">
                  <c:v>214.9</c:v>
                </c:pt>
                <c:pt idx="215">
                  <c:v>214.9</c:v>
                </c:pt>
                <c:pt idx="216">
                  <c:v>226.8</c:v>
                </c:pt>
                <c:pt idx="217">
                  <c:v>240.9</c:v>
                </c:pt>
                <c:pt idx="218">
                  <c:v>226.7</c:v>
                </c:pt>
                <c:pt idx="219">
                  <c:v>209.4</c:v>
                </c:pt>
                <c:pt idx="220">
                  <c:v>211.2</c:v>
                </c:pt>
                <c:pt idx="221">
                  <c:v>198.1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C1E-412D-AA9B-3C13025A9A9D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China XD</c:v>
                </c:pt>
              </c:strCache>
            </c:strRef>
          </c:tx>
          <c:spPr>
            <a:ln w="19050">
              <a:solidFill>
                <a:srgbClr val="1ABC9C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Sheet1!$H$2:$H$111</c:f>
              <c:numCache>
                <c:formatCode>General</c:formatCode>
                <c:ptCount val="222"/>
                <c:pt idx="0">
                  <c:v>100</c:v>
                </c:pt>
                <c:pt idx="1">
                  <c:v>101.7</c:v>
                </c:pt>
                <c:pt idx="2">
                  <c:v>100.2</c:v>
                </c:pt>
                <c:pt idx="3">
                  <c:v>95.8</c:v>
                </c:pt>
                <c:pt idx="4">
                  <c:v>95.8</c:v>
                </c:pt>
                <c:pt idx="5">
                  <c:v>98.1</c:v>
                </c:pt>
                <c:pt idx="6">
                  <c:v>97.2</c:v>
                </c:pt>
                <c:pt idx="7">
                  <c:v>97.7</c:v>
                </c:pt>
                <c:pt idx="8">
                  <c:v>97.2</c:v>
                </c:pt>
                <c:pt idx="9">
                  <c:v>90.1</c:v>
                </c:pt>
                <c:pt idx="10">
                  <c:v>85</c:v>
                </c:pt>
                <c:pt idx="11">
                  <c:v>83.1</c:v>
                </c:pt>
                <c:pt idx="12">
                  <c:v>86.3</c:v>
                </c:pt>
                <c:pt idx="13">
                  <c:v>84.1</c:v>
                </c:pt>
                <c:pt idx="14">
                  <c:v>80.3</c:v>
                </c:pt>
                <c:pt idx="15">
                  <c:v>77.599999999999994</c:v>
                </c:pt>
                <c:pt idx="16">
                  <c:v>76.7</c:v>
                </c:pt>
                <c:pt idx="17">
                  <c:v>76.7</c:v>
                </c:pt>
                <c:pt idx="18">
                  <c:v>79.099999999999994</c:v>
                </c:pt>
                <c:pt idx="19">
                  <c:v>82.4</c:v>
                </c:pt>
                <c:pt idx="20">
                  <c:v>85.4</c:v>
                </c:pt>
                <c:pt idx="21">
                  <c:v>92.4</c:v>
                </c:pt>
                <c:pt idx="22">
                  <c:v>89.4</c:v>
                </c:pt>
                <c:pt idx="23">
                  <c:v>92</c:v>
                </c:pt>
                <c:pt idx="24">
                  <c:v>92.2</c:v>
                </c:pt>
                <c:pt idx="25">
                  <c:v>90.2</c:v>
                </c:pt>
                <c:pt idx="26">
                  <c:v>93.6</c:v>
                </c:pt>
                <c:pt idx="27">
                  <c:v>99.3</c:v>
                </c:pt>
                <c:pt idx="28">
                  <c:v>97.6</c:v>
                </c:pt>
                <c:pt idx="29">
                  <c:v>96.6</c:v>
                </c:pt>
                <c:pt idx="30">
                  <c:v>95.3</c:v>
                </c:pt>
                <c:pt idx="31">
                  <c:v>95.1</c:v>
                </c:pt>
                <c:pt idx="32">
                  <c:v>99.5</c:v>
                </c:pt>
                <c:pt idx="33">
                  <c:v>96.5</c:v>
                </c:pt>
                <c:pt idx="34">
                  <c:v>91.3</c:v>
                </c:pt>
                <c:pt idx="35">
                  <c:v>93</c:v>
                </c:pt>
                <c:pt idx="36">
                  <c:v>84.6</c:v>
                </c:pt>
                <c:pt idx="37">
                  <c:v>85.2</c:v>
                </c:pt>
                <c:pt idx="38">
                  <c:v>81</c:v>
                </c:pt>
                <c:pt idx="39">
                  <c:v>81</c:v>
                </c:pt>
                <c:pt idx="40">
                  <c:v>85</c:v>
                </c:pt>
                <c:pt idx="41">
                  <c:v>87.3</c:v>
                </c:pt>
                <c:pt idx="42">
                  <c:v>84.6</c:v>
                </c:pt>
                <c:pt idx="43">
                  <c:v>93</c:v>
                </c:pt>
                <c:pt idx="44">
                  <c:v>90.9</c:v>
                </c:pt>
                <c:pt idx="45">
                  <c:v>94.9</c:v>
                </c:pt>
                <c:pt idx="46">
                  <c:v>94.7</c:v>
                </c:pt>
                <c:pt idx="47">
                  <c:v>93.2</c:v>
                </c:pt>
                <c:pt idx="48">
                  <c:v>91.7</c:v>
                </c:pt>
                <c:pt idx="49">
                  <c:v>91.1</c:v>
                </c:pt>
                <c:pt idx="50">
                  <c:v>87.1</c:v>
                </c:pt>
                <c:pt idx="51">
                  <c:v>88.1</c:v>
                </c:pt>
                <c:pt idx="52">
                  <c:v>91.1</c:v>
                </c:pt>
                <c:pt idx="53">
                  <c:v>90.7</c:v>
                </c:pt>
                <c:pt idx="54">
                  <c:v>93.2</c:v>
                </c:pt>
                <c:pt idx="55">
                  <c:v>93.2</c:v>
                </c:pt>
                <c:pt idx="56">
                  <c:v>92.1</c:v>
                </c:pt>
                <c:pt idx="57">
                  <c:v>92.6</c:v>
                </c:pt>
                <c:pt idx="58">
                  <c:v>92.8</c:v>
                </c:pt>
                <c:pt idx="59">
                  <c:v>93.4</c:v>
                </c:pt>
                <c:pt idx="60">
                  <c:v>98.4</c:v>
                </c:pt>
                <c:pt idx="61">
                  <c:v>93.8</c:v>
                </c:pt>
                <c:pt idx="62">
                  <c:v>108.9</c:v>
                </c:pt>
                <c:pt idx="63">
                  <c:v>104.3</c:v>
                </c:pt>
                <c:pt idx="64">
                  <c:v>100.3</c:v>
                </c:pt>
                <c:pt idx="65">
                  <c:v>103.9</c:v>
                </c:pt>
                <c:pt idx="66">
                  <c:v>108.7</c:v>
                </c:pt>
                <c:pt idx="67">
                  <c:v>102</c:v>
                </c:pt>
                <c:pt idx="68">
                  <c:v>104.3</c:v>
                </c:pt>
                <c:pt idx="69">
                  <c:v>107.3</c:v>
                </c:pt>
                <c:pt idx="70">
                  <c:v>108.1</c:v>
                </c:pt>
                <c:pt idx="71">
                  <c:v>108.5</c:v>
                </c:pt>
                <c:pt idx="72">
                  <c:v>101.8</c:v>
                </c:pt>
                <c:pt idx="73">
                  <c:v>102.2</c:v>
                </c:pt>
                <c:pt idx="74">
                  <c:v>99.9</c:v>
                </c:pt>
                <c:pt idx="75">
                  <c:v>104.5</c:v>
                </c:pt>
                <c:pt idx="76">
                  <c:v>101.6</c:v>
                </c:pt>
                <c:pt idx="77">
                  <c:v>103.3</c:v>
                </c:pt>
                <c:pt idx="78">
                  <c:v>104.3</c:v>
                </c:pt>
                <c:pt idx="79">
                  <c:v>104.7</c:v>
                </c:pt>
                <c:pt idx="80">
                  <c:v>102.1</c:v>
                </c:pt>
                <c:pt idx="81">
                  <c:v>104.4</c:v>
                </c:pt>
                <c:pt idx="82">
                  <c:v>105.5</c:v>
                </c:pt>
                <c:pt idx="83">
                  <c:v>100.5</c:v>
                </c:pt>
                <c:pt idx="84">
                  <c:v>98.8</c:v>
                </c:pt>
                <c:pt idx="85">
                  <c:v>93.8</c:v>
                </c:pt>
                <c:pt idx="86">
                  <c:v>92.2</c:v>
                </c:pt>
                <c:pt idx="87">
                  <c:v>93.4</c:v>
                </c:pt>
                <c:pt idx="88">
                  <c:v>94.6</c:v>
                </c:pt>
                <c:pt idx="89">
                  <c:v>93.4</c:v>
                </c:pt>
                <c:pt idx="90">
                  <c:v>93.4</c:v>
                </c:pt>
                <c:pt idx="91">
                  <c:v>93.4</c:v>
                </c:pt>
                <c:pt idx="92">
                  <c:v>90.5</c:v>
                </c:pt>
                <c:pt idx="93">
                  <c:v>87.6</c:v>
                </c:pt>
                <c:pt idx="94">
                  <c:v>89.2</c:v>
                </c:pt>
                <c:pt idx="95">
                  <c:v>89.2</c:v>
                </c:pt>
                <c:pt idx="96">
                  <c:v>88.4</c:v>
                </c:pt>
                <c:pt idx="97">
                  <c:v>88.6</c:v>
                </c:pt>
                <c:pt idx="98">
                  <c:v>86.7</c:v>
                </c:pt>
                <c:pt idx="99">
                  <c:v>88.6</c:v>
                </c:pt>
                <c:pt idx="100">
                  <c:v>86.1</c:v>
                </c:pt>
                <c:pt idx="101">
                  <c:v>89</c:v>
                </c:pt>
                <c:pt idx="102">
                  <c:v>94.6</c:v>
                </c:pt>
                <c:pt idx="103">
                  <c:v>94.9</c:v>
                </c:pt>
                <c:pt idx="104">
                  <c:v>97.2</c:v>
                </c:pt>
                <c:pt idx="105">
                  <c:v>97.8</c:v>
                </c:pt>
                <c:pt idx="106">
                  <c:v>96.7</c:v>
                </c:pt>
                <c:pt idx="107">
                  <c:v>100.7</c:v>
                </c:pt>
                <c:pt idx="108">
                  <c:v>93.6</c:v>
                </c:pt>
                <c:pt idx="109">
                  <c:v>101.1</c:v>
                </c:pt>
                <c:pt idx="110">
                  <c:v>0</c:v>
                </c:pt>
                <c:pt idx="111">
                  <c:v>101.5</c:v>
                </c:pt>
                <c:pt idx="112">
                  <c:v>104</c:v>
                </c:pt>
                <c:pt idx="113">
                  <c:v>107.6</c:v>
                </c:pt>
                <c:pt idx="114">
                  <c:v>106.5</c:v>
                </c:pt>
                <c:pt idx="115">
                  <c:v>104.8</c:v>
                </c:pt>
                <c:pt idx="116">
                  <c:v>105.9</c:v>
                </c:pt>
                <c:pt idx="117">
                  <c:v>104.2</c:v>
                </c:pt>
                <c:pt idx="118">
                  <c:v>127.7</c:v>
                </c:pt>
                <c:pt idx="119">
                  <c:v>156.19999999999999</c:v>
                </c:pt>
                <c:pt idx="120">
                  <c:v>144</c:v>
                </c:pt>
                <c:pt idx="121">
                  <c:v>136.1</c:v>
                </c:pt>
                <c:pt idx="122">
                  <c:v>144.80000000000001</c:v>
                </c:pt>
                <c:pt idx="123">
                  <c:v>131.9</c:v>
                </c:pt>
                <c:pt idx="124">
                  <c:v>131.69999999999999</c:v>
                </c:pt>
                <c:pt idx="125">
                  <c:v>130.6</c:v>
                </c:pt>
                <c:pt idx="126">
                  <c:v>139.80000000000001</c:v>
                </c:pt>
                <c:pt idx="127">
                  <c:v>142.69999999999999</c:v>
                </c:pt>
                <c:pt idx="128">
                  <c:v>146.9</c:v>
                </c:pt>
                <c:pt idx="129">
                  <c:v>154.80000000000001</c:v>
                </c:pt>
                <c:pt idx="130">
                  <c:v>151.6</c:v>
                </c:pt>
                <c:pt idx="131">
                  <c:v>145.4</c:v>
                </c:pt>
                <c:pt idx="132">
                  <c:v>131.9</c:v>
                </c:pt>
                <c:pt idx="133">
                  <c:v>136.30000000000001</c:v>
                </c:pt>
                <c:pt idx="134">
                  <c:v>137.69999999999999</c:v>
                </c:pt>
                <c:pt idx="135">
                  <c:v>134.80000000000001</c:v>
                </c:pt>
                <c:pt idx="136">
                  <c:v>133</c:v>
                </c:pt>
                <c:pt idx="137">
                  <c:v>129</c:v>
                </c:pt>
                <c:pt idx="138">
                  <c:v>134.19999999999999</c:v>
                </c:pt>
                <c:pt idx="139">
                  <c:v>134.4</c:v>
                </c:pt>
                <c:pt idx="140">
                  <c:v>137.69999999999999</c:v>
                </c:pt>
                <c:pt idx="141">
                  <c:v>138.5</c:v>
                </c:pt>
                <c:pt idx="142">
                  <c:v>157.9</c:v>
                </c:pt>
                <c:pt idx="143">
                  <c:v>169.2</c:v>
                </c:pt>
                <c:pt idx="144">
                  <c:v>155</c:v>
                </c:pt>
                <c:pt idx="145">
                  <c:v>154.80000000000001</c:v>
                </c:pt>
                <c:pt idx="146">
                  <c:v>151.5</c:v>
                </c:pt>
                <c:pt idx="147">
                  <c:v>169.1</c:v>
                </c:pt>
                <c:pt idx="148">
                  <c:v>175.8</c:v>
                </c:pt>
                <c:pt idx="149">
                  <c:v>159.4</c:v>
                </c:pt>
                <c:pt idx="150">
                  <c:v>150.80000000000001</c:v>
                </c:pt>
                <c:pt idx="151">
                  <c:v>147.5</c:v>
                </c:pt>
                <c:pt idx="152">
                  <c:v>150.80000000000001</c:v>
                </c:pt>
                <c:pt idx="153">
                  <c:v>149</c:v>
                </c:pt>
                <c:pt idx="154">
                  <c:v>151.4</c:v>
                </c:pt>
                <c:pt idx="155">
                  <c:v>153.69999999999999</c:v>
                </c:pt>
                <c:pt idx="156">
                  <c:v>137.1</c:v>
                </c:pt>
                <c:pt idx="157">
                  <c:v>136.9</c:v>
                </c:pt>
                <c:pt idx="158">
                  <c:v>141.80000000000001</c:v>
                </c:pt>
                <c:pt idx="159">
                  <c:v>144.19999999999999</c:v>
                </c:pt>
                <c:pt idx="160">
                  <c:v>142.5</c:v>
                </c:pt>
                <c:pt idx="161">
                  <c:v>141.5</c:v>
                </c:pt>
                <c:pt idx="162">
                  <c:v>136.6</c:v>
                </c:pt>
                <c:pt idx="163">
                  <c:v>139.80000000000001</c:v>
                </c:pt>
                <c:pt idx="164">
                  <c:v>132.1</c:v>
                </c:pt>
                <c:pt idx="165">
                  <c:v>129.19999999999999</c:v>
                </c:pt>
                <c:pt idx="166">
                  <c:v>132.69999999999999</c:v>
                </c:pt>
                <c:pt idx="167">
                  <c:v>130.4</c:v>
                </c:pt>
                <c:pt idx="168">
                  <c:v>131.6</c:v>
                </c:pt>
                <c:pt idx="169">
                  <c:v>133.1</c:v>
                </c:pt>
                <c:pt idx="170">
                  <c:v>123.5</c:v>
                </c:pt>
                <c:pt idx="171">
                  <c:v>122.4</c:v>
                </c:pt>
                <c:pt idx="172">
                  <c:v>124.1</c:v>
                </c:pt>
                <c:pt idx="173">
                  <c:v>121.6</c:v>
                </c:pt>
                <c:pt idx="174">
                  <c:v>123.5</c:v>
                </c:pt>
                <c:pt idx="175">
                  <c:v>122.9</c:v>
                </c:pt>
                <c:pt idx="176">
                  <c:v>121.2</c:v>
                </c:pt>
                <c:pt idx="177">
                  <c:v>122</c:v>
                </c:pt>
                <c:pt idx="178">
                  <c:v>122.9</c:v>
                </c:pt>
                <c:pt idx="179">
                  <c:v>120.8</c:v>
                </c:pt>
                <c:pt idx="180">
                  <c:v>116.9</c:v>
                </c:pt>
                <c:pt idx="181">
                  <c:v>119.8</c:v>
                </c:pt>
                <c:pt idx="182">
                  <c:v>120.2</c:v>
                </c:pt>
                <c:pt idx="183">
                  <c:v>123.1</c:v>
                </c:pt>
                <c:pt idx="184">
                  <c:v>124.6</c:v>
                </c:pt>
                <c:pt idx="185">
                  <c:v>133</c:v>
                </c:pt>
                <c:pt idx="186">
                  <c:v>127.7</c:v>
                </c:pt>
                <c:pt idx="187">
                  <c:v>129.30000000000001</c:v>
                </c:pt>
                <c:pt idx="188">
                  <c:v>127.5</c:v>
                </c:pt>
                <c:pt idx="189">
                  <c:v>132.4</c:v>
                </c:pt>
                <c:pt idx="190">
                  <c:v>128.9</c:v>
                </c:pt>
                <c:pt idx="191">
                  <c:v>126.1</c:v>
                </c:pt>
                <c:pt idx="192">
                  <c:v>127.3</c:v>
                </c:pt>
                <c:pt idx="193">
                  <c:v>128.9</c:v>
                </c:pt>
                <c:pt idx="194">
                  <c:v>129.69999999999999</c:v>
                </c:pt>
                <c:pt idx="195">
                  <c:v>133.80000000000001</c:v>
                </c:pt>
                <c:pt idx="196">
                  <c:v>142.1</c:v>
                </c:pt>
                <c:pt idx="197">
                  <c:v>136.9</c:v>
                </c:pt>
                <c:pt idx="198">
                  <c:v>140.69999999999999</c:v>
                </c:pt>
                <c:pt idx="199">
                  <c:v>157.69999999999999</c:v>
                </c:pt>
                <c:pt idx="200">
                  <c:v>199.5</c:v>
                </c:pt>
                <c:pt idx="201">
                  <c:v>184.4</c:v>
                </c:pt>
                <c:pt idx="202">
                  <c:v>157.5</c:v>
                </c:pt>
                <c:pt idx="203">
                  <c:v>164.9</c:v>
                </c:pt>
                <c:pt idx="204">
                  <c:v>167.8</c:v>
                </c:pt>
                <c:pt idx="205">
                  <c:v>179.7</c:v>
                </c:pt>
                <c:pt idx="206">
                  <c:v>180.9</c:v>
                </c:pt>
                <c:pt idx="207">
                  <c:v>188.2</c:v>
                </c:pt>
                <c:pt idx="208">
                  <c:v>180.1</c:v>
                </c:pt>
                <c:pt idx="209">
                  <c:v>214.9</c:v>
                </c:pt>
                <c:pt idx="210">
                  <c:v>258.3</c:v>
                </c:pt>
                <c:pt idx="211">
                  <c:v>315.5</c:v>
                </c:pt>
                <c:pt idx="212">
                  <c:v>287</c:v>
                </c:pt>
                <c:pt idx="213">
                  <c:v>290.5</c:v>
                </c:pt>
                <c:pt idx="214">
                  <c:v>287.2</c:v>
                </c:pt>
                <c:pt idx="215">
                  <c:v>287.2</c:v>
                </c:pt>
                <c:pt idx="216">
                  <c:v>318.2</c:v>
                </c:pt>
                <c:pt idx="217">
                  <c:v>381.9</c:v>
                </c:pt>
                <c:pt idx="218">
                  <c:v>349.3</c:v>
                </c:pt>
                <c:pt idx="219">
                  <c:v>322.60000000000002</c:v>
                </c:pt>
                <c:pt idx="220">
                  <c:v>318</c:v>
                </c:pt>
                <c:pt idx="221">
                  <c:v>301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C1E-412D-AA9B-3C13025A9A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latin typeface="Book Antiqua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EPS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0.505</c:v>
                </c:pt>
                <c:pt idx="1">
                  <c:v>0.505</c:v>
                </c:pt>
                <c:pt idx="2">
                  <c:v>0.505</c:v>
                </c:pt>
                <c:pt idx="3">
                  <c:v>0.505</c:v>
                </c:pt>
                <c:pt idx="4">
                  <c:v>0.66</c:v>
                </c:pt>
                <c:pt idx="5">
                  <c:v>0.66</c:v>
                </c:pt>
                <c:pt idx="6">
                  <c:v>0.66</c:v>
                </c:pt>
                <c:pt idx="7">
                  <c:v>0.66</c:v>
                </c:pt>
                <c:pt idx="8">
                  <c:v>0.56999999999999995</c:v>
                </c:pt>
                <c:pt idx="9">
                  <c:v>1.0149999999999999</c:v>
                </c:pt>
                <c:pt idx="10">
                  <c:v>1.0149999999999999</c:v>
                </c:pt>
                <c:pt idx="11">
                  <c:v>1.0149999999999999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A24-4AFE-BE8E-7FA3E8313A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Fwd PE (26E)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</c:marker>
          <c:cat>
            <c:strRef>
              <c:f>Sheet1!$A$2:$A$85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Sheet1!$B$2:$B$85</c:f>
              <c:numCache>
                <c:formatCode>General</c:formatCode>
                <c:ptCount val="222"/>
                <c:pt idx="0">
                  <c:v>6.8</c:v>
                </c:pt>
                <c:pt idx="1">
                  <c:v>7</c:v>
                </c:pt>
                <c:pt idx="2">
                  <c:v>7</c:v>
                </c:pt>
                <c:pt idx="3">
                  <c:v>6.9</c:v>
                </c:pt>
                <c:pt idx="4">
                  <c:v>6.9</c:v>
                </c:pt>
                <c:pt idx="5">
                  <c:v>6.4</c:v>
                </c:pt>
                <c:pt idx="6">
                  <c:v>6.9</c:v>
                </c:pt>
                <c:pt idx="7">
                  <c:v>7</c:v>
                </c:pt>
                <c:pt idx="8">
                  <c:v>6.4</c:v>
                </c:pt>
                <c:pt idx="9">
                  <c:v>6</c:v>
                </c:pt>
                <c:pt idx="10">
                  <c:v>5.6</c:v>
                </c:pt>
                <c:pt idx="11">
                  <c:v>5.5</c:v>
                </c:pt>
                <c:pt idx="12">
                  <c:v>5</c:v>
                </c:pt>
                <c:pt idx="13">
                  <c:v>4.5999999999999996</c:v>
                </c:pt>
                <c:pt idx="14">
                  <c:v>4.5999999999999996</c:v>
                </c:pt>
                <c:pt idx="15">
                  <c:v>4.4000000000000004</c:v>
                </c:pt>
                <c:pt idx="16">
                  <c:v>4.5</c:v>
                </c:pt>
                <c:pt idx="17">
                  <c:v>4.5999999999999996</c:v>
                </c:pt>
                <c:pt idx="18">
                  <c:v>4.8</c:v>
                </c:pt>
                <c:pt idx="19">
                  <c:v>5.0999999999999996</c:v>
                </c:pt>
                <c:pt idx="20">
                  <c:v>5.0999999999999996</c:v>
                </c:pt>
                <c:pt idx="21">
                  <c:v>5.9</c:v>
                </c:pt>
                <c:pt idx="22">
                  <c:v>5.5</c:v>
                </c:pt>
                <c:pt idx="23">
                  <c:v>5.6</c:v>
                </c:pt>
                <c:pt idx="24">
                  <c:v>5.4</c:v>
                </c:pt>
                <c:pt idx="25">
                  <c:v>5.0999999999999996</c:v>
                </c:pt>
                <c:pt idx="26">
                  <c:v>5.9</c:v>
                </c:pt>
                <c:pt idx="27">
                  <c:v>6.5</c:v>
                </c:pt>
                <c:pt idx="28">
                  <c:v>6.8</c:v>
                </c:pt>
                <c:pt idx="29">
                  <c:v>6.7</c:v>
                </c:pt>
                <c:pt idx="30">
                  <c:v>6.7</c:v>
                </c:pt>
                <c:pt idx="31">
                  <c:v>7.1</c:v>
                </c:pt>
                <c:pt idx="32">
                  <c:v>6.9</c:v>
                </c:pt>
                <c:pt idx="33">
                  <c:v>6.4</c:v>
                </c:pt>
                <c:pt idx="34">
                  <c:v>6.1</c:v>
                </c:pt>
                <c:pt idx="35">
                  <c:v>6.5</c:v>
                </c:pt>
                <c:pt idx="36">
                  <c:v>6</c:v>
                </c:pt>
                <c:pt idx="37">
                  <c:v>5.9</c:v>
                </c:pt>
                <c:pt idx="38">
                  <c:v>5.8</c:v>
                </c:pt>
                <c:pt idx="39">
                  <c:v>5.8</c:v>
                </c:pt>
                <c:pt idx="40">
                  <c:v>6.1</c:v>
                </c:pt>
                <c:pt idx="41">
                  <c:v>6</c:v>
                </c:pt>
                <c:pt idx="42">
                  <c:v>5.2</c:v>
                </c:pt>
                <c:pt idx="43">
                  <c:v>5.8</c:v>
                </c:pt>
                <c:pt idx="44">
                  <c:v>5.7</c:v>
                </c:pt>
                <c:pt idx="45">
                  <c:v>5.9</c:v>
                </c:pt>
                <c:pt idx="46">
                  <c:v>5.9</c:v>
                </c:pt>
                <c:pt idx="47">
                  <c:v>5.9</c:v>
                </c:pt>
                <c:pt idx="48">
                  <c:v>5.7</c:v>
                </c:pt>
                <c:pt idx="49">
                  <c:v>5.9</c:v>
                </c:pt>
                <c:pt idx="50">
                  <c:v>5.6</c:v>
                </c:pt>
                <c:pt idx="51">
                  <c:v>5.8</c:v>
                </c:pt>
                <c:pt idx="52">
                  <c:v>6.1</c:v>
                </c:pt>
                <c:pt idx="53">
                  <c:v>6.1</c:v>
                </c:pt>
                <c:pt idx="54">
                  <c:v>6.7</c:v>
                </c:pt>
                <c:pt idx="55">
                  <c:v>6.7</c:v>
                </c:pt>
                <c:pt idx="56">
                  <c:v>6.6</c:v>
                </c:pt>
                <c:pt idx="57">
                  <c:v>6.6</c:v>
                </c:pt>
                <c:pt idx="58">
                  <c:v>6.7</c:v>
                </c:pt>
                <c:pt idx="59">
                  <c:v>7</c:v>
                </c:pt>
                <c:pt idx="60">
                  <c:v>6.9</c:v>
                </c:pt>
                <c:pt idx="61">
                  <c:v>6.8</c:v>
                </c:pt>
                <c:pt idx="62">
                  <c:v>6.6</c:v>
                </c:pt>
                <c:pt idx="63">
                  <c:v>7</c:v>
                </c:pt>
                <c:pt idx="64">
                  <c:v>6.9</c:v>
                </c:pt>
                <c:pt idx="65">
                  <c:v>6.6</c:v>
                </c:pt>
                <c:pt idx="66">
                  <c:v>6.5</c:v>
                </c:pt>
                <c:pt idx="67">
                  <c:v>6.9</c:v>
                </c:pt>
                <c:pt idx="68">
                  <c:v>7</c:v>
                </c:pt>
                <c:pt idx="69">
                  <c:v>6.7</c:v>
                </c:pt>
                <c:pt idx="70">
                  <c:v>6.9</c:v>
                </c:pt>
                <c:pt idx="71">
                  <c:v>7.1</c:v>
                </c:pt>
                <c:pt idx="72">
                  <c:v>7</c:v>
                </c:pt>
                <c:pt idx="73">
                  <c:v>7.2</c:v>
                </c:pt>
                <c:pt idx="74">
                  <c:v>7.1</c:v>
                </c:pt>
                <c:pt idx="75">
                  <c:v>7.1</c:v>
                </c:pt>
                <c:pt idx="76">
                  <c:v>6.9</c:v>
                </c:pt>
                <c:pt idx="77">
                  <c:v>7.1</c:v>
                </c:pt>
                <c:pt idx="78">
                  <c:v>7.2</c:v>
                </c:pt>
                <c:pt idx="79">
                  <c:v>7.7</c:v>
                </c:pt>
                <c:pt idx="80">
                  <c:v>7.8</c:v>
                </c:pt>
                <c:pt idx="81">
                  <c:v>7.6</c:v>
                </c:pt>
                <c:pt idx="82">
                  <c:v>7.7</c:v>
                </c:pt>
                <c:pt idx="83">
                  <c:v>7.8</c:v>
                </c:pt>
                <c:pt idx="84">
                  <c:v>7.6</c:v>
                </c:pt>
                <c:pt idx="85">
                  <c:v>7.5</c:v>
                </c:pt>
                <c:pt idx="86">
                  <c:v>7.9</c:v>
                </c:pt>
                <c:pt idx="87">
                  <c:v>7.7</c:v>
                </c:pt>
                <c:pt idx="88">
                  <c:v>7.5</c:v>
                </c:pt>
                <c:pt idx="89">
                  <c:v>7.6</c:v>
                </c:pt>
                <c:pt idx="90">
                  <c:v>7.9</c:v>
                </c:pt>
                <c:pt idx="91">
                  <c:v>7.9</c:v>
                </c:pt>
                <c:pt idx="92">
                  <c:v>7.3</c:v>
                </c:pt>
                <c:pt idx="93">
                  <c:v>7.3</c:v>
                </c:pt>
                <c:pt idx="94">
                  <c:v>7.5</c:v>
                </c:pt>
                <c:pt idx="95">
                  <c:v>7.6</c:v>
                </c:pt>
                <c:pt idx="96">
                  <c:v>7.4</c:v>
                </c:pt>
                <c:pt idx="97">
                  <c:v>7.4</c:v>
                </c:pt>
                <c:pt idx="98">
                  <c:v>7.4</c:v>
                </c:pt>
                <c:pt idx="99">
                  <c:v>7.6</c:v>
                </c:pt>
                <c:pt idx="100">
                  <c:v>7.4</c:v>
                </c:pt>
                <c:pt idx="101">
                  <c:v>7.7</c:v>
                </c:pt>
                <c:pt idx="102">
                  <c:v>7.6</c:v>
                </c:pt>
                <c:pt idx="103">
                  <c:v>8</c:v>
                </c:pt>
                <c:pt idx="104">
                  <c:v>8.1</c:v>
                </c:pt>
                <c:pt idx="105">
                  <c:v>8.1999999999999993</c:v>
                </c:pt>
                <c:pt idx="106">
                  <c:v>7.7</c:v>
                </c:pt>
                <c:pt idx="107">
                  <c:v>7.8</c:v>
                </c:pt>
                <c:pt idx="108">
                  <c:v>7.9</c:v>
                </c:pt>
                <c:pt idx="109">
                  <c:v>8.8000000000000007</c:v>
                </c:pt>
                <c:pt idx="110">
                  <c:v>0</c:v>
                </c:pt>
                <c:pt idx="111">
                  <c:v>8.3000000000000007</c:v>
                </c:pt>
                <c:pt idx="112">
                  <c:v>8.9</c:v>
                </c:pt>
                <c:pt idx="113">
                  <c:v>9.4</c:v>
                </c:pt>
                <c:pt idx="114">
                  <c:v>9.1999999999999993</c:v>
                </c:pt>
                <c:pt idx="115">
                  <c:v>8.9</c:v>
                </c:pt>
                <c:pt idx="116">
                  <c:v>9.1</c:v>
                </c:pt>
                <c:pt idx="117">
                  <c:v>9</c:v>
                </c:pt>
                <c:pt idx="118">
                  <c:v>10</c:v>
                </c:pt>
                <c:pt idx="119">
                  <c:v>10.1</c:v>
                </c:pt>
                <c:pt idx="120">
                  <c:v>10.1</c:v>
                </c:pt>
                <c:pt idx="121">
                  <c:v>10</c:v>
                </c:pt>
                <c:pt idx="122">
                  <c:v>11</c:v>
                </c:pt>
                <c:pt idx="123">
                  <c:v>11</c:v>
                </c:pt>
                <c:pt idx="124">
                  <c:v>10.8</c:v>
                </c:pt>
                <c:pt idx="125">
                  <c:v>10.8</c:v>
                </c:pt>
                <c:pt idx="126">
                  <c:v>11.2</c:v>
                </c:pt>
                <c:pt idx="127">
                  <c:v>10.9</c:v>
                </c:pt>
                <c:pt idx="128">
                  <c:v>10.7</c:v>
                </c:pt>
                <c:pt idx="129">
                  <c:v>10.199999999999999</c:v>
                </c:pt>
                <c:pt idx="130">
                  <c:v>9.8000000000000007</c:v>
                </c:pt>
                <c:pt idx="131">
                  <c:v>9.8000000000000007</c:v>
                </c:pt>
                <c:pt idx="132">
                  <c:v>9.6</c:v>
                </c:pt>
                <c:pt idx="133">
                  <c:v>10</c:v>
                </c:pt>
                <c:pt idx="134">
                  <c:v>10</c:v>
                </c:pt>
                <c:pt idx="135">
                  <c:v>10.199999999999999</c:v>
                </c:pt>
                <c:pt idx="136">
                  <c:v>10.199999999999999</c:v>
                </c:pt>
                <c:pt idx="137">
                  <c:v>10.199999999999999</c:v>
                </c:pt>
                <c:pt idx="138">
                  <c:v>10.1</c:v>
                </c:pt>
                <c:pt idx="139">
                  <c:v>10.3</c:v>
                </c:pt>
                <c:pt idx="140">
                  <c:v>10.199999999999999</c:v>
                </c:pt>
                <c:pt idx="141">
                  <c:v>10.4</c:v>
                </c:pt>
                <c:pt idx="142">
                  <c:v>10.7</c:v>
                </c:pt>
                <c:pt idx="143">
                  <c:v>11.4</c:v>
                </c:pt>
                <c:pt idx="144">
                  <c:v>11</c:v>
                </c:pt>
                <c:pt idx="145">
                  <c:v>11.5</c:v>
                </c:pt>
                <c:pt idx="146">
                  <c:v>11.4</c:v>
                </c:pt>
                <c:pt idx="147">
                  <c:v>11.8</c:v>
                </c:pt>
                <c:pt idx="148">
                  <c:v>12.1</c:v>
                </c:pt>
                <c:pt idx="149">
                  <c:v>11.8</c:v>
                </c:pt>
                <c:pt idx="150">
                  <c:v>11.8</c:v>
                </c:pt>
                <c:pt idx="151">
                  <c:v>12</c:v>
                </c:pt>
                <c:pt idx="152">
                  <c:v>11.6</c:v>
                </c:pt>
                <c:pt idx="153">
                  <c:v>11.2</c:v>
                </c:pt>
                <c:pt idx="154">
                  <c:v>10.9</c:v>
                </c:pt>
                <c:pt idx="155">
                  <c:v>11.2</c:v>
                </c:pt>
                <c:pt idx="156">
                  <c:v>10.9</c:v>
                </c:pt>
                <c:pt idx="157">
                  <c:v>11.1</c:v>
                </c:pt>
                <c:pt idx="158">
                  <c:v>11.4</c:v>
                </c:pt>
                <c:pt idx="159">
                  <c:v>12.4</c:v>
                </c:pt>
                <c:pt idx="160">
                  <c:v>12.4</c:v>
                </c:pt>
                <c:pt idx="161">
                  <c:v>12</c:v>
                </c:pt>
                <c:pt idx="162">
                  <c:v>11.9</c:v>
                </c:pt>
                <c:pt idx="163">
                  <c:v>11.3</c:v>
                </c:pt>
                <c:pt idx="164">
                  <c:v>11.2</c:v>
                </c:pt>
                <c:pt idx="165">
                  <c:v>11.4</c:v>
                </c:pt>
                <c:pt idx="166">
                  <c:v>11.4</c:v>
                </c:pt>
                <c:pt idx="167">
                  <c:v>11</c:v>
                </c:pt>
                <c:pt idx="168">
                  <c:v>11.8</c:v>
                </c:pt>
                <c:pt idx="169">
                  <c:v>11.7</c:v>
                </c:pt>
                <c:pt idx="170">
                  <c:v>11.5</c:v>
                </c:pt>
                <c:pt idx="171">
                  <c:v>10.8</c:v>
                </c:pt>
                <c:pt idx="172">
                  <c:v>11.2</c:v>
                </c:pt>
                <c:pt idx="173">
                  <c:v>11.1</c:v>
                </c:pt>
                <c:pt idx="174">
                  <c:v>10.9</c:v>
                </c:pt>
                <c:pt idx="175">
                  <c:v>11.4</c:v>
                </c:pt>
                <c:pt idx="176">
                  <c:v>11.9</c:v>
                </c:pt>
                <c:pt idx="177">
                  <c:v>11.1</c:v>
                </c:pt>
                <c:pt idx="178">
                  <c:v>11.3</c:v>
                </c:pt>
                <c:pt idx="179">
                  <c:v>11.1</c:v>
                </c:pt>
                <c:pt idx="180">
                  <c:v>11.3</c:v>
                </c:pt>
                <c:pt idx="181">
                  <c:v>11.2</c:v>
                </c:pt>
                <c:pt idx="182">
                  <c:v>11.3</c:v>
                </c:pt>
                <c:pt idx="183">
                  <c:v>10.8</c:v>
                </c:pt>
                <c:pt idx="184">
                  <c:v>11.8</c:v>
                </c:pt>
                <c:pt idx="185">
                  <c:v>12.4</c:v>
                </c:pt>
                <c:pt idx="186">
                  <c:v>12.2</c:v>
                </c:pt>
                <c:pt idx="187">
                  <c:v>12.4</c:v>
                </c:pt>
                <c:pt idx="188">
                  <c:v>13.5</c:v>
                </c:pt>
                <c:pt idx="189">
                  <c:v>13.1</c:v>
                </c:pt>
                <c:pt idx="190">
                  <c:v>13.6</c:v>
                </c:pt>
                <c:pt idx="191">
                  <c:v>14.5</c:v>
                </c:pt>
                <c:pt idx="192">
                  <c:v>14.5</c:v>
                </c:pt>
                <c:pt idx="193">
                  <c:v>15.4</c:v>
                </c:pt>
                <c:pt idx="194">
                  <c:v>16</c:v>
                </c:pt>
                <c:pt idx="195">
                  <c:v>16.899999999999999</c:v>
                </c:pt>
                <c:pt idx="196">
                  <c:v>17.100000000000001</c:v>
                </c:pt>
                <c:pt idx="197">
                  <c:v>16.5</c:v>
                </c:pt>
                <c:pt idx="198">
                  <c:v>19</c:v>
                </c:pt>
                <c:pt idx="199">
                  <c:v>20.399999999999999</c:v>
                </c:pt>
                <c:pt idx="200">
                  <c:v>22.7</c:v>
                </c:pt>
                <c:pt idx="201">
                  <c:v>23.1</c:v>
                </c:pt>
                <c:pt idx="202">
                  <c:v>21</c:v>
                </c:pt>
                <c:pt idx="203">
                  <c:v>22.2</c:v>
                </c:pt>
                <c:pt idx="204">
                  <c:v>24.6</c:v>
                </c:pt>
                <c:pt idx="205">
                  <c:v>23.6</c:v>
                </c:pt>
                <c:pt idx="206">
                  <c:v>22.6</c:v>
                </c:pt>
                <c:pt idx="207">
                  <c:v>24.9</c:v>
                </c:pt>
                <c:pt idx="208">
                  <c:v>24</c:v>
                </c:pt>
                <c:pt idx="209">
                  <c:v>24.7</c:v>
                </c:pt>
                <c:pt idx="210">
                  <c:v>28.8</c:v>
                </c:pt>
                <c:pt idx="211">
                  <c:v>29.2</c:v>
                </c:pt>
                <c:pt idx="212">
                  <c:v>28.6</c:v>
                </c:pt>
                <c:pt idx="213">
                  <c:v>29.1</c:v>
                </c:pt>
                <c:pt idx="214">
                  <c:v>32.9</c:v>
                </c:pt>
                <c:pt idx="215">
                  <c:v>32.9</c:v>
                </c:pt>
                <c:pt idx="216">
                  <c:v>33.200000000000003</c:v>
                </c:pt>
                <c:pt idx="217">
                  <c:v>36.200000000000003</c:v>
                </c:pt>
                <c:pt idx="218">
                  <c:v>32.799999999999997</c:v>
                </c:pt>
                <c:pt idx="219">
                  <c:v>31.6</c:v>
                </c:pt>
                <c:pt idx="220">
                  <c:v>32.299999999999997</c:v>
                </c:pt>
                <c:pt idx="221">
                  <c:v>31.3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85-411F-B8C9-5B2828CE61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EPS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1800</c:v>
                </c:pt>
                <c:pt idx="1">
                  <c:v>1800</c:v>
                </c:pt>
                <c:pt idx="2">
                  <c:v>1800</c:v>
                </c:pt>
                <c:pt idx="3">
                  <c:v>1800</c:v>
                </c:pt>
                <c:pt idx="4">
                  <c:v>3483.75</c:v>
                </c:pt>
                <c:pt idx="5">
                  <c:v>4486</c:v>
                </c:pt>
                <c:pt idx="6">
                  <c:v>3247</c:v>
                </c:pt>
                <c:pt idx="7">
                  <c:v>3483.75</c:v>
                </c:pt>
                <c:pt idx="8">
                  <c:v>4281</c:v>
                </c:pt>
                <c:pt idx="9">
                  <c:v>3957</c:v>
                </c:pt>
                <c:pt idx="10">
                  <c:v>5309</c:v>
                </c:pt>
                <c:pt idx="11">
                  <c:v>4905.25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65D-469A-941C-82826DED48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Fwd PE (26E)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</c:marker>
          <c:cat>
            <c:strRef>
              <c:f>Sheet1!$A$2:$A$85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Sheet1!$B$2:$B$85</c:f>
              <c:numCache>
                <c:formatCode>General</c:formatCode>
                <c:ptCount val="222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0.7</c:v>
                </c:pt>
                <c:pt idx="18">
                  <c:v>0.7</c:v>
                </c:pt>
                <c:pt idx="19">
                  <c:v>0.6</c:v>
                </c:pt>
                <c:pt idx="20">
                  <c:v>0.6</c:v>
                </c:pt>
                <c:pt idx="21">
                  <c:v>0.7</c:v>
                </c:pt>
                <c:pt idx="22">
                  <c:v>0.7</c:v>
                </c:pt>
                <c:pt idx="23">
                  <c:v>0.6</c:v>
                </c:pt>
                <c:pt idx="24">
                  <c:v>0.7</c:v>
                </c:pt>
                <c:pt idx="25">
                  <c:v>0.7</c:v>
                </c:pt>
                <c:pt idx="26">
                  <c:v>0.7</c:v>
                </c:pt>
                <c:pt idx="27">
                  <c:v>0.7</c:v>
                </c:pt>
                <c:pt idx="28">
                  <c:v>0.7</c:v>
                </c:pt>
                <c:pt idx="29">
                  <c:v>0.8</c:v>
                </c:pt>
                <c:pt idx="30">
                  <c:v>0.8</c:v>
                </c:pt>
                <c:pt idx="31">
                  <c:v>0.9</c:v>
                </c:pt>
                <c:pt idx="32">
                  <c:v>0.9</c:v>
                </c:pt>
                <c:pt idx="33">
                  <c:v>0.9</c:v>
                </c:pt>
                <c:pt idx="34">
                  <c:v>0.9</c:v>
                </c:pt>
                <c:pt idx="35">
                  <c:v>1</c:v>
                </c:pt>
                <c:pt idx="36">
                  <c:v>0.9</c:v>
                </c:pt>
                <c:pt idx="37">
                  <c:v>0.9</c:v>
                </c:pt>
                <c:pt idx="38">
                  <c:v>0.9</c:v>
                </c:pt>
                <c:pt idx="39">
                  <c:v>0.9</c:v>
                </c:pt>
                <c:pt idx="40">
                  <c:v>1</c:v>
                </c:pt>
                <c:pt idx="41">
                  <c:v>0.9</c:v>
                </c:pt>
                <c:pt idx="42">
                  <c:v>1</c:v>
                </c:pt>
                <c:pt idx="43">
                  <c:v>1.1000000000000001</c:v>
                </c:pt>
                <c:pt idx="44">
                  <c:v>1.1000000000000001</c:v>
                </c:pt>
                <c:pt idx="45">
                  <c:v>1.2</c:v>
                </c:pt>
                <c:pt idx="46">
                  <c:v>1.2</c:v>
                </c:pt>
                <c:pt idx="47">
                  <c:v>1.1000000000000001</c:v>
                </c:pt>
                <c:pt idx="48">
                  <c:v>1.1000000000000001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1.1000000000000001</c:v>
                </c:pt>
                <c:pt idx="53">
                  <c:v>1.2</c:v>
                </c:pt>
                <c:pt idx="54">
                  <c:v>1.1000000000000001</c:v>
                </c:pt>
                <c:pt idx="55">
                  <c:v>1.1000000000000001</c:v>
                </c:pt>
                <c:pt idx="56">
                  <c:v>1.1000000000000001</c:v>
                </c:pt>
                <c:pt idx="57">
                  <c:v>1.1000000000000001</c:v>
                </c:pt>
                <c:pt idx="58">
                  <c:v>1.1000000000000001</c:v>
                </c:pt>
                <c:pt idx="59">
                  <c:v>1.2</c:v>
                </c:pt>
                <c:pt idx="60">
                  <c:v>1.3</c:v>
                </c:pt>
                <c:pt idx="61">
                  <c:v>1.2</c:v>
                </c:pt>
                <c:pt idx="62">
                  <c:v>1.1000000000000001</c:v>
                </c:pt>
                <c:pt idx="63">
                  <c:v>1.1000000000000001</c:v>
                </c:pt>
                <c:pt idx="64">
                  <c:v>1.1000000000000001</c:v>
                </c:pt>
                <c:pt idx="65">
                  <c:v>1.1000000000000001</c:v>
                </c:pt>
                <c:pt idx="66">
                  <c:v>1.4</c:v>
                </c:pt>
                <c:pt idx="67">
                  <c:v>1.5</c:v>
                </c:pt>
                <c:pt idx="68">
                  <c:v>1.5</c:v>
                </c:pt>
                <c:pt idx="69">
                  <c:v>1.5</c:v>
                </c:pt>
                <c:pt idx="70">
                  <c:v>1.4</c:v>
                </c:pt>
                <c:pt idx="71">
                  <c:v>1.3</c:v>
                </c:pt>
                <c:pt idx="72">
                  <c:v>1.4</c:v>
                </c:pt>
                <c:pt idx="73">
                  <c:v>1.5</c:v>
                </c:pt>
                <c:pt idx="74">
                  <c:v>1.6</c:v>
                </c:pt>
                <c:pt idx="75">
                  <c:v>1.6</c:v>
                </c:pt>
                <c:pt idx="76">
                  <c:v>1.6</c:v>
                </c:pt>
                <c:pt idx="77">
                  <c:v>1.9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2.1</c:v>
                </c:pt>
                <c:pt idx="82">
                  <c:v>2.1</c:v>
                </c:pt>
                <c:pt idx="83">
                  <c:v>2.1</c:v>
                </c:pt>
                <c:pt idx="84">
                  <c:v>2</c:v>
                </c:pt>
                <c:pt idx="85">
                  <c:v>2</c:v>
                </c:pt>
                <c:pt idx="86">
                  <c:v>1.8</c:v>
                </c:pt>
                <c:pt idx="87">
                  <c:v>1.8</c:v>
                </c:pt>
                <c:pt idx="88">
                  <c:v>2</c:v>
                </c:pt>
                <c:pt idx="89">
                  <c:v>2</c:v>
                </c:pt>
                <c:pt idx="90">
                  <c:v>1.9</c:v>
                </c:pt>
                <c:pt idx="91">
                  <c:v>1.9</c:v>
                </c:pt>
                <c:pt idx="92">
                  <c:v>2.1</c:v>
                </c:pt>
                <c:pt idx="93">
                  <c:v>2.1</c:v>
                </c:pt>
                <c:pt idx="94">
                  <c:v>2.2000000000000002</c:v>
                </c:pt>
                <c:pt idx="95">
                  <c:v>2.2000000000000002</c:v>
                </c:pt>
                <c:pt idx="96">
                  <c:v>2.4</c:v>
                </c:pt>
                <c:pt idx="97">
                  <c:v>2.6</c:v>
                </c:pt>
                <c:pt idx="98">
                  <c:v>2.5</c:v>
                </c:pt>
                <c:pt idx="99">
                  <c:v>2.5</c:v>
                </c:pt>
                <c:pt idx="100">
                  <c:v>2.2999999999999998</c:v>
                </c:pt>
                <c:pt idx="101">
                  <c:v>2.4</c:v>
                </c:pt>
                <c:pt idx="102">
                  <c:v>2.4</c:v>
                </c:pt>
                <c:pt idx="103">
                  <c:v>2.4</c:v>
                </c:pt>
                <c:pt idx="104">
                  <c:v>2.7</c:v>
                </c:pt>
                <c:pt idx="105">
                  <c:v>2.7</c:v>
                </c:pt>
                <c:pt idx="106">
                  <c:v>2.9</c:v>
                </c:pt>
                <c:pt idx="107">
                  <c:v>3.1</c:v>
                </c:pt>
                <c:pt idx="108">
                  <c:v>2.9</c:v>
                </c:pt>
                <c:pt idx="109">
                  <c:v>3.2</c:v>
                </c:pt>
                <c:pt idx="110">
                  <c:v>3.4</c:v>
                </c:pt>
                <c:pt idx="111">
                  <c:v>3.9</c:v>
                </c:pt>
                <c:pt idx="112">
                  <c:v>3.7</c:v>
                </c:pt>
                <c:pt idx="113">
                  <c:v>3.8</c:v>
                </c:pt>
                <c:pt idx="114">
                  <c:v>4.3</c:v>
                </c:pt>
                <c:pt idx="115">
                  <c:v>4.9000000000000004</c:v>
                </c:pt>
                <c:pt idx="116">
                  <c:v>5.3</c:v>
                </c:pt>
                <c:pt idx="117">
                  <c:v>5.7</c:v>
                </c:pt>
                <c:pt idx="118">
                  <c:v>6.9</c:v>
                </c:pt>
                <c:pt idx="119">
                  <c:v>7.2</c:v>
                </c:pt>
                <c:pt idx="120">
                  <c:v>7.3</c:v>
                </c:pt>
                <c:pt idx="121">
                  <c:v>6.7</c:v>
                </c:pt>
                <c:pt idx="122">
                  <c:v>7.7</c:v>
                </c:pt>
                <c:pt idx="123">
                  <c:v>7.3</c:v>
                </c:pt>
                <c:pt idx="124">
                  <c:v>8.3000000000000007</c:v>
                </c:pt>
                <c:pt idx="125">
                  <c:v>8.8000000000000007</c:v>
                </c:pt>
                <c:pt idx="126">
                  <c:v>7.6</c:v>
                </c:pt>
                <c:pt idx="127">
                  <c:v>8.5</c:v>
                </c:pt>
                <c:pt idx="128">
                  <c:v>9.3000000000000007</c:v>
                </c:pt>
                <c:pt idx="129">
                  <c:v>9.1</c:v>
                </c:pt>
                <c:pt idx="130">
                  <c:v>9.1999999999999993</c:v>
                </c:pt>
                <c:pt idx="131">
                  <c:v>9.8000000000000007</c:v>
                </c:pt>
                <c:pt idx="132">
                  <c:v>9</c:v>
                </c:pt>
                <c:pt idx="133">
                  <c:v>9.4</c:v>
                </c:pt>
                <c:pt idx="134">
                  <c:v>8.1</c:v>
                </c:pt>
                <c:pt idx="135">
                  <c:v>8.5</c:v>
                </c:pt>
                <c:pt idx="136">
                  <c:v>8.6999999999999993</c:v>
                </c:pt>
                <c:pt idx="137">
                  <c:v>9.1999999999999993</c:v>
                </c:pt>
                <c:pt idx="138">
                  <c:v>9</c:v>
                </c:pt>
                <c:pt idx="139">
                  <c:v>7</c:v>
                </c:pt>
                <c:pt idx="140">
                  <c:v>8.3000000000000007</c:v>
                </c:pt>
                <c:pt idx="141">
                  <c:v>9.8000000000000007</c:v>
                </c:pt>
                <c:pt idx="142">
                  <c:v>9.4</c:v>
                </c:pt>
                <c:pt idx="143">
                  <c:v>9.5</c:v>
                </c:pt>
                <c:pt idx="144">
                  <c:v>9.1</c:v>
                </c:pt>
                <c:pt idx="145">
                  <c:v>9.1</c:v>
                </c:pt>
                <c:pt idx="146">
                  <c:v>10.199999999999999</c:v>
                </c:pt>
                <c:pt idx="147">
                  <c:v>9.5</c:v>
                </c:pt>
                <c:pt idx="148">
                  <c:v>10.7</c:v>
                </c:pt>
                <c:pt idx="149">
                  <c:v>10.7</c:v>
                </c:pt>
                <c:pt idx="150">
                  <c:v>10.7</c:v>
                </c:pt>
                <c:pt idx="151">
                  <c:v>10.3</c:v>
                </c:pt>
                <c:pt idx="152">
                  <c:v>10.5</c:v>
                </c:pt>
                <c:pt idx="153">
                  <c:v>11</c:v>
                </c:pt>
                <c:pt idx="154">
                  <c:v>10.8</c:v>
                </c:pt>
                <c:pt idx="155">
                  <c:v>11.5</c:v>
                </c:pt>
                <c:pt idx="156">
                  <c:v>11.8</c:v>
                </c:pt>
                <c:pt idx="157">
                  <c:v>11.7</c:v>
                </c:pt>
                <c:pt idx="158">
                  <c:v>12.3</c:v>
                </c:pt>
                <c:pt idx="159">
                  <c:v>13.1</c:v>
                </c:pt>
                <c:pt idx="160">
                  <c:v>12.1</c:v>
                </c:pt>
                <c:pt idx="161">
                  <c:v>11.5</c:v>
                </c:pt>
                <c:pt idx="162">
                  <c:v>11.4</c:v>
                </c:pt>
                <c:pt idx="163">
                  <c:v>11</c:v>
                </c:pt>
                <c:pt idx="164">
                  <c:v>9.6999999999999993</c:v>
                </c:pt>
                <c:pt idx="165">
                  <c:v>10.1</c:v>
                </c:pt>
                <c:pt idx="166">
                  <c:v>10.1</c:v>
                </c:pt>
                <c:pt idx="167">
                  <c:v>9.8000000000000007</c:v>
                </c:pt>
                <c:pt idx="168">
                  <c:v>9.1</c:v>
                </c:pt>
                <c:pt idx="169">
                  <c:v>9</c:v>
                </c:pt>
                <c:pt idx="170">
                  <c:v>9.1999999999999993</c:v>
                </c:pt>
                <c:pt idx="171">
                  <c:v>9.8000000000000007</c:v>
                </c:pt>
                <c:pt idx="172">
                  <c:v>8.9</c:v>
                </c:pt>
                <c:pt idx="173">
                  <c:v>9.6</c:v>
                </c:pt>
                <c:pt idx="174">
                  <c:v>10</c:v>
                </c:pt>
                <c:pt idx="175">
                  <c:v>10.9</c:v>
                </c:pt>
                <c:pt idx="176">
                  <c:v>11.5</c:v>
                </c:pt>
                <c:pt idx="177">
                  <c:v>11.3</c:v>
                </c:pt>
                <c:pt idx="178">
                  <c:v>11.6</c:v>
                </c:pt>
                <c:pt idx="179">
                  <c:v>12.8</c:v>
                </c:pt>
                <c:pt idx="180">
                  <c:v>14</c:v>
                </c:pt>
                <c:pt idx="181">
                  <c:v>14.5</c:v>
                </c:pt>
                <c:pt idx="182">
                  <c:v>12.9</c:v>
                </c:pt>
                <c:pt idx="183">
                  <c:v>13.2</c:v>
                </c:pt>
                <c:pt idx="184">
                  <c:v>14.4</c:v>
                </c:pt>
                <c:pt idx="185">
                  <c:v>14.6</c:v>
                </c:pt>
                <c:pt idx="186">
                  <c:v>14.5</c:v>
                </c:pt>
                <c:pt idx="187">
                  <c:v>14.6</c:v>
                </c:pt>
                <c:pt idx="188">
                  <c:v>14.6</c:v>
                </c:pt>
                <c:pt idx="189">
                  <c:v>14.7</c:v>
                </c:pt>
                <c:pt idx="190">
                  <c:v>14.7</c:v>
                </c:pt>
                <c:pt idx="191">
                  <c:v>15.5</c:v>
                </c:pt>
                <c:pt idx="192">
                  <c:v>17.8</c:v>
                </c:pt>
                <c:pt idx="193">
                  <c:v>17.8</c:v>
                </c:pt>
                <c:pt idx="194">
                  <c:v>17</c:v>
                </c:pt>
                <c:pt idx="195">
                  <c:v>18.600000000000001</c:v>
                </c:pt>
                <c:pt idx="196">
                  <c:v>19.7</c:v>
                </c:pt>
                <c:pt idx="197">
                  <c:v>19.899999999999999</c:v>
                </c:pt>
                <c:pt idx="198">
                  <c:v>23.3</c:v>
                </c:pt>
                <c:pt idx="199">
                  <c:v>26</c:v>
                </c:pt>
                <c:pt idx="200">
                  <c:v>24.5</c:v>
                </c:pt>
                <c:pt idx="201">
                  <c:v>24.6</c:v>
                </c:pt>
                <c:pt idx="202">
                  <c:v>22.5</c:v>
                </c:pt>
                <c:pt idx="203">
                  <c:v>23.2</c:v>
                </c:pt>
                <c:pt idx="204">
                  <c:v>24.9</c:v>
                </c:pt>
                <c:pt idx="205">
                  <c:v>25.9</c:v>
                </c:pt>
                <c:pt idx="206">
                  <c:v>24.1</c:v>
                </c:pt>
                <c:pt idx="207">
                  <c:v>22.8</c:v>
                </c:pt>
                <c:pt idx="208">
                  <c:v>24.5</c:v>
                </c:pt>
                <c:pt idx="209">
                  <c:v>25.4</c:v>
                </c:pt>
                <c:pt idx="210">
                  <c:v>27.1</c:v>
                </c:pt>
                <c:pt idx="211">
                  <c:v>26.4</c:v>
                </c:pt>
                <c:pt idx="212">
                  <c:v>26.6</c:v>
                </c:pt>
                <c:pt idx="213">
                  <c:v>25.1</c:v>
                </c:pt>
                <c:pt idx="214">
                  <c:v>28.4</c:v>
                </c:pt>
                <c:pt idx="215">
                  <c:v>30.2</c:v>
                </c:pt>
                <c:pt idx="216">
                  <c:v>31.4</c:v>
                </c:pt>
                <c:pt idx="217">
                  <c:v>29.1</c:v>
                </c:pt>
                <c:pt idx="218">
                  <c:v>27.9</c:v>
                </c:pt>
                <c:pt idx="219">
                  <c:v>28.8</c:v>
                </c:pt>
                <c:pt idx="220">
                  <c:v>27.5</c:v>
                </c:pt>
                <c:pt idx="221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B2-4DDF-A36B-2856F7EDE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EPS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3113.75</c:v>
                </c:pt>
                <c:pt idx="1">
                  <c:v>3113.75</c:v>
                </c:pt>
                <c:pt idx="2">
                  <c:v>3113.75</c:v>
                </c:pt>
                <c:pt idx="3">
                  <c:v>3113.75</c:v>
                </c:pt>
                <c:pt idx="4">
                  <c:v>5977.25</c:v>
                </c:pt>
                <c:pt idx="5">
                  <c:v>3866</c:v>
                </c:pt>
                <c:pt idx="6">
                  <c:v>7938</c:v>
                </c:pt>
                <c:pt idx="7">
                  <c:v>5977.25</c:v>
                </c:pt>
                <c:pt idx="8">
                  <c:v>10971</c:v>
                </c:pt>
                <c:pt idx="9">
                  <c:v>9936</c:v>
                </c:pt>
                <c:pt idx="10">
                  <c:v>16131</c:v>
                </c:pt>
                <c:pt idx="11">
                  <c:v>12848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FB-44CD-A04C-B819190E30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Fwd PE (26E)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</c:marker>
          <c:cat>
            <c:strRef>
              <c:f>Sheet1!$A$2:$A$85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Sheet1!$B$2:$B$85</c:f>
              <c:numCache>
                <c:formatCode>General</c:formatCode>
                <c:ptCount val="222"/>
                <c:pt idx="0">
                  <c:v>0.5</c:v>
                </c:pt>
                <c:pt idx="1">
                  <c:v>0.5</c:v>
                </c:pt>
                <c:pt idx="2">
                  <c:v>0.4</c:v>
                </c:pt>
                <c:pt idx="3">
                  <c:v>0.4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0.4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0.4</c:v>
                </c:pt>
                <c:pt idx="42">
                  <c:v>0.4</c:v>
                </c:pt>
                <c:pt idx="43">
                  <c:v>0.5</c:v>
                </c:pt>
                <c:pt idx="44">
                  <c:v>0.6</c:v>
                </c:pt>
                <c:pt idx="45">
                  <c:v>0.6</c:v>
                </c:pt>
                <c:pt idx="46">
                  <c:v>0.7</c:v>
                </c:pt>
                <c:pt idx="47">
                  <c:v>0.7</c:v>
                </c:pt>
                <c:pt idx="48">
                  <c:v>0.7</c:v>
                </c:pt>
                <c:pt idx="49">
                  <c:v>0.7</c:v>
                </c:pt>
                <c:pt idx="50">
                  <c:v>0.7</c:v>
                </c:pt>
                <c:pt idx="51">
                  <c:v>0.7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0.7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0.6</c:v>
                </c:pt>
                <c:pt idx="66">
                  <c:v>0.6</c:v>
                </c:pt>
                <c:pt idx="67">
                  <c:v>0.7</c:v>
                </c:pt>
                <c:pt idx="68">
                  <c:v>0.7</c:v>
                </c:pt>
                <c:pt idx="69">
                  <c:v>0.7</c:v>
                </c:pt>
                <c:pt idx="70">
                  <c:v>0.7</c:v>
                </c:pt>
                <c:pt idx="71">
                  <c:v>0.6</c:v>
                </c:pt>
                <c:pt idx="72">
                  <c:v>0.7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0.9</c:v>
                </c:pt>
                <c:pt idx="77">
                  <c:v>1</c:v>
                </c:pt>
                <c:pt idx="78">
                  <c:v>1</c:v>
                </c:pt>
                <c:pt idx="79">
                  <c:v>1.1000000000000001</c:v>
                </c:pt>
                <c:pt idx="80">
                  <c:v>1.1000000000000001</c:v>
                </c:pt>
                <c:pt idx="81">
                  <c:v>1.1000000000000001</c:v>
                </c:pt>
                <c:pt idx="82">
                  <c:v>1.5</c:v>
                </c:pt>
                <c:pt idx="83">
                  <c:v>1.6</c:v>
                </c:pt>
                <c:pt idx="84">
                  <c:v>1.6</c:v>
                </c:pt>
                <c:pt idx="85">
                  <c:v>1.6</c:v>
                </c:pt>
                <c:pt idx="86">
                  <c:v>1.6</c:v>
                </c:pt>
                <c:pt idx="87">
                  <c:v>1.5</c:v>
                </c:pt>
                <c:pt idx="88">
                  <c:v>1.6</c:v>
                </c:pt>
                <c:pt idx="89">
                  <c:v>1.6</c:v>
                </c:pt>
                <c:pt idx="90">
                  <c:v>1.4</c:v>
                </c:pt>
                <c:pt idx="91">
                  <c:v>1.4</c:v>
                </c:pt>
                <c:pt idx="92">
                  <c:v>1.5</c:v>
                </c:pt>
                <c:pt idx="93">
                  <c:v>1.5</c:v>
                </c:pt>
                <c:pt idx="94">
                  <c:v>1.5</c:v>
                </c:pt>
                <c:pt idx="95">
                  <c:v>1.5</c:v>
                </c:pt>
                <c:pt idx="96">
                  <c:v>1.6</c:v>
                </c:pt>
                <c:pt idx="97">
                  <c:v>1.7</c:v>
                </c:pt>
                <c:pt idx="98">
                  <c:v>1.7</c:v>
                </c:pt>
                <c:pt idx="99">
                  <c:v>1.8</c:v>
                </c:pt>
                <c:pt idx="100">
                  <c:v>1.5</c:v>
                </c:pt>
                <c:pt idx="101">
                  <c:v>1.4</c:v>
                </c:pt>
                <c:pt idx="102">
                  <c:v>1.4</c:v>
                </c:pt>
                <c:pt idx="103">
                  <c:v>1.4</c:v>
                </c:pt>
                <c:pt idx="104">
                  <c:v>1.5</c:v>
                </c:pt>
                <c:pt idx="105">
                  <c:v>1.6</c:v>
                </c:pt>
                <c:pt idx="106">
                  <c:v>1.5</c:v>
                </c:pt>
                <c:pt idx="107">
                  <c:v>1.6</c:v>
                </c:pt>
                <c:pt idx="108">
                  <c:v>1.4</c:v>
                </c:pt>
                <c:pt idx="109">
                  <c:v>1.4</c:v>
                </c:pt>
                <c:pt idx="110">
                  <c:v>1.5</c:v>
                </c:pt>
                <c:pt idx="111">
                  <c:v>1.6</c:v>
                </c:pt>
                <c:pt idx="112">
                  <c:v>1.7</c:v>
                </c:pt>
                <c:pt idx="113">
                  <c:v>2</c:v>
                </c:pt>
                <c:pt idx="114">
                  <c:v>2</c:v>
                </c:pt>
                <c:pt idx="115">
                  <c:v>2.1</c:v>
                </c:pt>
                <c:pt idx="116">
                  <c:v>2.5</c:v>
                </c:pt>
                <c:pt idx="117">
                  <c:v>2.6</c:v>
                </c:pt>
                <c:pt idx="118">
                  <c:v>2.9</c:v>
                </c:pt>
                <c:pt idx="119">
                  <c:v>2.7</c:v>
                </c:pt>
                <c:pt idx="120">
                  <c:v>2.5</c:v>
                </c:pt>
                <c:pt idx="121">
                  <c:v>2.5</c:v>
                </c:pt>
                <c:pt idx="122">
                  <c:v>2.8</c:v>
                </c:pt>
                <c:pt idx="123">
                  <c:v>3.2</c:v>
                </c:pt>
                <c:pt idx="124">
                  <c:v>3.6</c:v>
                </c:pt>
                <c:pt idx="125">
                  <c:v>3.8</c:v>
                </c:pt>
                <c:pt idx="126">
                  <c:v>3.2</c:v>
                </c:pt>
                <c:pt idx="127">
                  <c:v>3.2</c:v>
                </c:pt>
                <c:pt idx="128">
                  <c:v>3.3</c:v>
                </c:pt>
                <c:pt idx="129">
                  <c:v>3</c:v>
                </c:pt>
                <c:pt idx="130">
                  <c:v>2.7</c:v>
                </c:pt>
                <c:pt idx="131">
                  <c:v>3.3</c:v>
                </c:pt>
                <c:pt idx="132">
                  <c:v>3</c:v>
                </c:pt>
                <c:pt idx="133">
                  <c:v>2.9</c:v>
                </c:pt>
                <c:pt idx="134">
                  <c:v>2.4</c:v>
                </c:pt>
                <c:pt idx="135">
                  <c:v>2.5</c:v>
                </c:pt>
                <c:pt idx="136">
                  <c:v>2.7</c:v>
                </c:pt>
                <c:pt idx="137">
                  <c:v>2.9</c:v>
                </c:pt>
                <c:pt idx="138">
                  <c:v>2.5</c:v>
                </c:pt>
                <c:pt idx="139">
                  <c:v>2.1</c:v>
                </c:pt>
                <c:pt idx="140">
                  <c:v>2.5</c:v>
                </c:pt>
                <c:pt idx="141">
                  <c:v>2.7</c:v>
                </c:pt>
                <c:pt idx="142">
                  <c:v>3.1</c:v>
                </c:pt>
                <c:pt idx="143">
                  <c:v>3</c:v>
                </c:pt>
                <c:pt idx="144">
                  <c:v>3.2</c:v>
                </c:pt>
                <c:pt idx="145">
                  <c:v>3.5</c:v>
                </c:pt>
                <c:pt idx="146">
                  <c:v>3.4</c:v>
                </c:pt>
                <c:pt idx="147">
                  <c:v>3.6</c:v>
                </c:pt>
                <c:pt idx="148">
                  <c:v>4</c:v>
                </c:pt>
                <c:pt idx="149">
                  <c:v>4</c:v>
                </c:pt>
                <c:pt idx="150">
                  <c:v>3.5</c:v>
                </c:pt>
                <c:pt idx="151">
                  <c:v>3.5</c:v>
                </c:pt>
                <c:pt idx="152">
                  <c:v>3.7</c:v>
                </c:pt>
                <c:pt idx="153">
                  <c:v>3.7</c:v>
                </c:pt>
                <c:pt idx="154">
                  <c:v>3.5</c:v>
                </c:pt>
                <c:pt idx="155">
                  <c:v>3.3</c:v>
                </c:pt>
                <c:pt idx="156">
                  <c:v>3.7</c:v>
                </c:pt>
                <c:pt idx="157">
                  <c:v>3.7</c:v>
                </c:pt>
                <c:pt idx="158">
                  <c:v>4.2</c:v>
                </c:pt>
                <c:pt idx="159">
                  <c:v>4.4000000000000004</c:v>
                </c:pt>
                <c:pt idx="160">
                  <c:v>3.9</c:v>
                </c:pt>
                <c:pt idx="161">
                  <c:v>4.4000000000000004</c:v>
                </c:pt>
                <c:pt idx="162">
                  <c:v>4.3</c:v>
                </c:pt>
                <c:pt idx="163">
                  <c:v>4.2</c:v>
                </c:pt>
                <c:pt idx="164">
                  <c:v>3.8</c:v>
                </c:pt>
                <c:pt idx="165">
                  <c:v>3.7</c:v>
                </c:pt>
                <c:pt idx="166">
                  <c:v>4</c:v>
                </c:pt>
                <c:pt idx="167">
                  <c:v>3.9</c:v>
                </c:pt>
                <c:pt idx="168">
                  <c:v>3.8</c:v>
                </c:pt>
                <c:pt idx="169">
                  <c:v>3.8</c:v>
                </c:pt>
                <c:pt idx="170">
                  <c:v>3.8</c:v>
                </c:pt>
                <c:pt idx="171">
                  <c:v>4.2</c:v>
                </c:pt>
                <c:pt idx="172">
                  <c:v>4</c:v>
                </c:pt>
                <c:pt idx="173">
                  <c:v>4.4000000000000004</c:v>
                </c:pt>
                <c:pt idx="174">
                  <c:v>4.5</c:v>
                </c:pt>
                <c:pt idx="175">
                  <c:v>5.0999999999999996</c:v>
                </c:pt>
                <c:pt idx="176">
                  <c:v>5.3</c:v>
                </c:pt>
                <c:pt idx="177">
                  <c:v>5.4</c:v>
                </c:pt>
                <c:pt idx="178">
                  <c:v>5.7</c:v>
                </c:pt>
                <c:pt idx="179">
                  <c:v>6</c:v>
                </c:pt>
                <c:pt idx="180">
                  <c:v>7.2</c:v>
                </c:pt>
                <c:pt idx="181">
                  <c:v>7.5</c:v>
                </c:pt>
                <c:pt idx="182">
                  <c:v>7.8</c:v>
                </c:pt>
                <c:pt idx="183">
                  <c:v>8.6</c:v>
                </c:pt>
                <c:pt idx="184">
                  <c:v>9.3000000000000007</c:v>
                </c:pt>
                <c:pt idx="185">
                  <c:v>9.9</c:v>
                </c:pt>
                <c:pt idx="186">
                  <c:v>10.199999999999999</c:v>
                </c:pt>
                <c:pt idx="187">
                  <c:v>10.4</c:v>
                </c:pt>
                <c:pt idx="188">
                  <c:v>10.6</c:v>
                </c:pt>
                <c:pt idx="189">
                  <c:v>10.5</c:v>
                </c:pt>
                <c:pt idx="190">
                  <c:v>10.9</c:v>
                </c:pt>
                <c:pt idx="191">
                  <c:v>10.8</c:v>
                </c:pt>
                <c:pt idx="192">
                  <c:v>12.7</c:v>
                </c:pt>
                <c:pt idx="193">
                  <c:v>12.2</c:v>
                </c:pt>
                <c:pt idx="194">
                  <c:v>11.6</c:v>
                </c:pt>
                <c:pt idx="195">
                  <c:v>12.4</c:v>
                </c:pt>
                <c:pt idx="196">
                  <c:v>13.1</c:v>
                </c:pt>
                <c:pt idx="197">
                  <c:v>13.8</c:v>
                </c:pt>
                <c:pt idx="198">
                  <c:v>16.7</c:v>
                </c:pt>
                <c:pt idx="199">
                  <c:v>18.7</c:v>
                </c:pt>
                <c:pt idx="200">
                  <c:v>19.2</c:v>
                </c:pt>
                <c:pt idx="201">
                  <c:v>18.600000000000001</c:v>
                </c:pt>
                <c:pt idx="202">
                  <c:v>16.7</c:v>
                </c:pt>
                <c:pt idx="203">
                  <c:v>16.600000000000001</c:v>
                </c:pt>
                <c:pt idx="204">
                  <c:v>17.600000000000001</c:v>
                </c:pt>
                <c:pt idx="205">
                  <c:v>17.2</c:v>
                </c:pt>
                <c:pt idx="206">
                  <c:v>16.2</c:v>
                </c:pt>
                <c:pt idx="207">
                  <c:v>15.4</c:v>
                </c:pt>
                <c:pt idx="208">
                  <c:v>16.2</c:v>
                </c:pt>
                <c:pt idx="209">
                  <c:v>16.600000000000001</c:v>
                </c:pt>
                <c:pt idx="210">
                  <c:v>20.5</c:v>
                </c:pt>
                <c:pt idx="211">
                  <c:v>20.6</c:v>
                </c:pt>
                <c:pt idx="212">
                  <c:v>22.9</c:v>
                </c:pt>
                <c:pt idx="213">
                  <c:v>19.399999999999999</c:v>
                </c:pt>
                <c:pt idx="214">
                  <c:v>21</c:v>
                </c:pt>
                <c:pt idx="215">
                  <c:v>23.2</c:v>
                </c:pt>
                <c:pt idx="216">
                  <c:v>24.8</c:v>
                </c:pt>
                <c:pt idx="217">
                  <c:v>21.8</c:v>
                </c:pt>
                <c:pt idx="218">
                  <c:v>22.8</c:v>
                </c:pt>
                <c:pt idx="219">
                  <c:v>24.1</c:v>
                </c:pt>
                <c:pt idx="220">
                  <c:v>23.5</c:v>
                </c:pt>
                <c:pt idx="221">
                  <c:v>21.6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C8-4B54-8891-C45B3403E7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EPS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  <c:pt idx="7">
                  <c:v>2025Q4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0.34300000000000003</c:v>
                </c:pt>
                <c:pt idx="1">
                  <c:v>0.34300000000000003</c:v>
                </c:pt>
                <c:pt idx="2">
                  <c:v>-0.34</c:v>
                </c:pt>
                <c:pt idx="3">
                  <c:v>0.23</c:v>
                </c:pt>
                <c:pt idx="4">
                  <c:v>0.40699999999999997</c:v>
                </c:pt>
                <c:pt idx="5">
                  <c:v>0.71</c:v>
                </c:pt>
                <c:pt idx="6">
                  <c:v>0.19</c:v>
                </c:pt>
                <c:pt idx="7">
                  <c:v>0.79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401-422F-AB5C-D51F83409E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Fwd PE (26E)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</c:marker>
          <c:cat>
            <c:strRef>
              <c:f>Sheet1!$A$2:$A$85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Sheet1!$B$2:$B$85</c:f>
              <c:numCache>
                <c:formatCode>General</c:formatCode>
                <c:ptCount val="222"/>
                <c:pt idx="0">
                  <c:v>4</c:v>
                </c:pt>
                <c:pt idx="1">
                  <c:v>4</c:v>
                </c:pt>
                <c:pt idx="2">
                  <c:v>3.4</c:v>
                </c:pt>
                <c:pt idx="3">
                  <c:v>3.5</c:v>
                </c:pt>
                <c:pt idx="4">
                  <c:v>3.4</c:v>
                </c:pt>
                <c:pt idx="5">
                  <c:v>3.4</c:v>
                </c:pt>
                <c:pt idx="6">
                  <c:v>3.3</c:v>
                </c:pt>
                <c:pt idx="7">
                  <c:v>3.5</c:v>
                </c:pt>
                <c:pt idx="8">
                  <c:v>3.4</c:v>
                </c:pt>
                <c:pt idx="9">
                  <c:v>3.8</c:v>
                </c:pt>
                <c:pt idx="10">
                  <c:v>3.8</c:v>
                </c:pt>
                <c:pt idx="11">
                  <c:v>3.7</c:v>
                </c:pt>
                <c:pt idx="12">
                  <c:v>3.8</c:v>
                </c:pt>
                <c:pt idx="13">
                  <c:v>3.5</c:v>
                </c:pt>
                <c:pt idx="14">
                  <c:v>3.4</c:v>
                </c:pt>
                <c:pt idx="15">
                  <c:v>3.5</c:v>
                </c:pt>
                <c:pt idx="16">
                  <c:v>3.3</c:v>
                </c:pt>
                <c:pt idx="17">
                  <c:v>3.1</c:v>
                </c:pt>
                <c:pt idx="18">
                  <c:v>2.8</c:v>
                </c:pt>
                <c:pt idx="19">
                  <c:v>3</c:v>
                </c:pt>
                <c:pt idx="20">
                  <c:v>3.1</c:v>
                </c:pt>
                <c:pt idx="21">
                  <c:v>3.2</c:v>
                </c:pt>
                <c:pt idx="22">
                  <c:v>3</c:v>
                </c:pt>
                <c:pt idx="23">
                  <c:v>2.7</c:v>
                </c:pt>
                <c:pt idx="24">
                  <c:v>2.8</c:v>
                </c:pt>
                <c:pt idx="25">
                  <c:v>2.6</c:v>
                </c:pt>
                <c:pt idx="26">
                  <c:v>2.7</c:v>
                </c:pt>
                <c:pt idx="27">
                  <c:v>2.5</c:v>
                </c:pt>
                <c:pt idx="28">
                  <c:v>2.7</c:v>
                </c:pt>
                <c:pt idx="29">
                  <c:v>2.9</c:v>
                </c:pt>
                <c:pt idx="30">
                  <c:v>3</c:v>
                </c:pt>
                <c:pt idx="31">
                  <c:v>2.9</c:v>
                </c:pt>
                <c:pt idx="32">
                  <c:v>2.9</c:v>
                </c:pt>
                <c:pt idx="33">
                  <c:v>2.8</c:v>
                </c:pt>
                <c:pt idx="34">
                  <c:v>2.5</c:v>
                </c:pt>
                <c:pt idx="35">
                  <c:v>2.5</c:v>
                </c:pt>
                <c:pt idx="36">
                  <c:v>2.2000000000000002</c:v>
                </c:pt>
                <c:pt idx="37">
                  <c:v>2.1</c:v>
                </c:pt>
                <c:pt idx="38">
                  <c:v>2</c:v>
                </c:pt>
                <c:pt idx="39">
                  <c:v>1.9</c:v>
                </c:pt>
                <c:pt idx="40">
                  <c:v>2</c:v>
                </c:pt>
                <c:pt idx="41">
                  <c:v>2</c:v>
                </c:pt>
                <c:pt idx="42">
                  <c:v>2.1</c:v>
                </c:pt>
                <c:pt idx="43">
                  <c:v>2.2000000000000002</c:v>
                </c:pt>
                <c:pt idx="44">
                  <c:v>2.6</c:v>
                </c:pt>
                <c:pt idx="45">
                  <c:v>2.6</c:v>
                </c:pt>
                <c:pt idx="46">
                  <c:v>2.9</c:v>
                </c:pt>
                <c:pt idx="47">
                  <c:v>2.9</c:v>
                </c:pt>
                <c:pt idx="48">
                  <c:v>3</c:v>
                </c:pt>
                <c:pt idx="49">
                  <c:v>3</c:v>
                </c:pt>
                <c:pt idx="50">
                  <c:v>3.1</c:v>
                </c:pt>
                <c:pt idx="51">
                  <c:v>3.2</c:v>
                </c:pt>
                <c:pt idx="52">
                  <c:v>3.3</c:v>
                </c:pt>
                <c:pt idx="53">
                  <c:v>3.4</c:v>
                </c:pt>
                <c:pt idx="54">
                  <c:v>3.4</c:v>
                </c:pt>
                <c:pt idx="55">
                  <c:v>3.4</c:v>
                </c:pt>
                <c:pt idx="56">
                  <c:v>3.4</c:v>
                </c:pt>
                <c:pt idx="57">
                  <c:v>3.4</c:v>
                </c:pt>
                <c:pt idx="58">
                  <c:v>3.4</c:v>
                </c:pt>
                <c:pt idx="59">
                  <c:v>3.4</c:v>
                </c:pt>
                <c:pt idx="60">
                  <c:v>3.6</c:v>
                </c:pt>
                <c:pt idx="61">
                  <c:v>3.6</c:v>
                </c:pt>
                <c:pt idx="62">
                  <c:v>3.3</c:v>
                </c:pt>
                <c:pt idx="63">
                  <c:v>3.3</c:v>
                </c:pt>
                <c:pt idx="64">
                  <c:v>3.6</c:v>
                </c:pt>
                <c:pt idx="65">
                  <c:v>3.7</c:v>
                </c:pt>
                <c:pt idx="66">
                  <c:v>3.9</c:v>
                </c:pt>
                <c:pt idx="67">
                  <c:v>3.8</c:v>
                </c:pt>
                <c:pt idx="68">
                  <c:v>4</c:v>
                </c:pt>
                <c:pt idx="69">
                  <c:v>4</c:v>
                </c:pt>
                <c:pt idx="70">
                  <c:v>3.9</c:v>
                </c:pt>
                <c:pt idx="71">
                  <c:v>4.3</c:v>
                </c:pt>
                <c:pt idx="72">
                  <c:v>4.3</c:v>
                </c:pt>
                <c:pt idx="73">
                  <c:v>4.4000000000000004</c:v>
                </c:pt>
                <c:pt idx="74">
                  <c:v>4.3</c:v>
                </c:pt>
                <c:pt idx="75">
                  <c:v>4.0999999999999996</c:v>
                </c:pt>
                <c:pt idx="76">
                  <c:v>2.6</c:v>
                </c:pt>
                <c:pt idx="77">
                  <c:v>2.9</c:v>
                </c:pt>
                <c:pt idx="78">
                  <c:v>2.7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2.5</c:v>
                </c:pt>
                <c:pt idx="84">
                  <c:v>2.4</c:v>
                </c:pt>
                <c:pt idx="85">
                  <c:v>2.2999999999999998</c:v>
                </c:pt>
                <c:pt idx="86">
                  <c:v>2.2999999999999998</c:v>
                </c:pt>
                <c:pt idx="87">
                  <c:v>2.2000000000000002</c:v>
                </c:pt>
                <c:pt idx="88">
                  <c:v>2.2999999999999998</c:v>
                </c:pt>
                <c:pt idx="89">
                  <c:v>2.2000000000000002</c:v>
                </c:pt>
                <c:pt idx="90">
                  <c:v>2.2000000000000002</c:v>
                </c:pt>
                <c:pt idx="91">
                  <c:v>2.1</c:v>
                </c:pt>
                <c:pt idx="92">
                  <c:v>2.1</c:v>
                </c:pt>
                <c:pt idx="93">
                  <c:v>2</c:v>
                </c:pt>
                <c:pt idx="94">
                  <c:v>1.3</c:v>
                </c:pt>
                <c:pt idx="95">
                  <c:v>1.7</c:v>
                </c:pt>
                <c:pt idx="96">
                  <c:v>1.7</c:v>
                </c:pt>
                <c:pt idx="97">
                  <c:v>2.1</c:v>
                </c:pt>
                <c:pt idx="98">
                  <c:v>1.9</c:v>
                </c:pt>
                <c:pt idx="99">
                  <c:v>2</c:v>
                </c:pt>
                <c:pt idx="100">
                  <c:v>2</c:v>
                </c:pt>
                <c:pt idx="101">
                  <c:v>2</c:v>
                </c:pt>
                <c:pt idx="102">
                  <c:v>2</c:v>
                </c:pt>
                <c:pt idx="103">
                  <c:v>2.2000000000000002</c:v>
                </c:pt>
                <c:pt idx="104">
                  <c:v>2.1</c:v>
                </c:pt>
                <c:pt idx="105">
                  <c:v>2.2000000000000002</c:v>
                </c:pt>
                <c:pt idx="106">
                  <c:v>2.1</c:v>
                </c:pt>
                <c:pt idx="107">
                  <c:v>2.5</c:v>
                </c:pt>
                <c:pt idx="108">
                  <c:v>2.5</c:v>
                </c:pt>
                <c:pt idx="109">
                  <c:v>2.5</c:v>
                </c:pt>
                <c:pt idx="110">
                  <c:v>2.5</c:v>
                </c:pt>
                <c:pt idx="111">
                  <c:v>2.5</c:v>
                </c:pt>
                <c:pt idx="112">
                  <c:v>2.6</c:v>
                </c:pt>
                <c:pt idx="113">
                  <c:v>2.5</c:v>
                </c:pt>
                <c:pt idx="114">
                  <c:v>2.6</c:v>
                </c:pt>
                <c:pt idx="115">
                  <c:v>3</c:v>
                </c:pt>
                <c:pt idx="116">
                  <c:v>3.1</c:v>
                </c:pt>
                <c:pt idx="117">
                  <c:v>3.2</c:v>
                </c:pt>
                <c:pt idx="118">
                  <c:v>3.2</c:v>
                </c:pt>
                <c:pt idx="119">
                  <c:v>3.2</c:v>
                </c:pt>
                <c:pt idx="120">
                  <c:v>3.4</c:v>
                </c:pt>
                <c:pt idx="121">
                  <c:v>3.5</c:v>
                </c:pt>
                <c:pt idx="122">
                  <c:v>4.4000000000000004</c:v>
                </c:pt>
                <c:pt idx="123">
                  <c:v>4.5</c:v>
                </c:pt>
                <c:pt idx="124">
                  <c:v>4.5999999999999996</c:v>
                </c:pt>
                <c:pt idx="125">
                  <c:v>4.5</c:v>
                </c:pt>
                <c:pt idx="126">
                  <c:v>4.0999999999999996</c:v>
                </c:pt>
                <c:pt idx="127">
                  <c:v>4.2</c:v>
                </c:pt>
                <c:pt idx="128">
                  <c:v>4.2</c:v>
                </c:pt>
                <c:pt idx="129">
                  <c:v>4.4000000000000004</c:v>
                </c:pt>
                <c:pt idx="130">
                  <c:v>4.7</c:v>
                </c:pt>
                <c:pt idx="131">
                  <c:v>5</c:v>
                </c:pt>
                <c:pt idx="132">
                  <c:v>4.5999999999999996</c:v>
                </c:pt>
                <c:pt idx="133">
                  <c:v>4.5999999999999996</c:v>
                </c:pt>
                <c:pt idx="134">
                  <c:v>4.3</c:v>
                </c:pt>
                <c:pt idx="135">
                  <c:v>4.3</c:v>
                </c:pt>
                <c:pt idx="136">
                  <c:v>4.5</c:v>
                </c:pt>
                <c:pt idx="137">
                  <c:v>4.5999999999999996</c:v>
                </c:pt>
                <c:pt idx="138">
                  <c:v>4.7</c:v>
                </c:pt>
                <c:pt idx="139">
                  <c:v>4.3</c:v>
                </c:pt>
                <c:pt idx="140">
                  <c:v>4.8</c:v>
                </c:pt>
                <c:pt idx="141">
                  <c:v>5.8</c:v>
                </c:pt>
                <c:pt idx="142">
                  <c:v>5.9</c:v>
                </c:pt>
                <c:pt idx="143">
                  <c:v>6.3</c:v>
                </c:pt>
                <c:pt idx="144">
                  <c:v>6.4</c:v>
                </c:pt>
                <c:pt idx="145">
                  <c:v>6.6</c:v>
                </c:pt>
                <c:pt idx="146">
                  <c:v>6.9</c:v>
                </c:pt>
                <c:pt idx="147">
                  <c:v>6.7</c:v>
                </c:pt>
                <c:pt idx="148">
                  <c:v>7.1</c:v>
                </c:pt>
                <c:pt idx="149">
                  <c:v>8.3000000000000007</c:v>
                </c:pt>
                <c:pt idx="150">
                  <c:v>8.6999999999999993</c:v>
                </c:pt>
                <c:pt idx="151">
                  <c:v>9.1999999999999993</c:v>
                </c:pt>
                <c:pt idx="152">
                  <c:v>9.3000000000000007</c:v>
                </c:pt>
                <c:pt idx="153">
                  <c:v>8.8000000000000007</c:v>
                </c:pt>
                <c:pt idx="154">
                  <c:v>9.1</c:v>
                </c:pt>
                <c:pt idx="155">
                  <c:v>9</c:v>
                </c:pt>
                <c:pt idx="156">
                  <c:v>9.3000000000000007</c:v>
                </c:pt>
                <c:pt idx="157">
                  <c:v>8.9</c:v>
                </c:pt>
                <c:pt idx="158">
                  <c:v>9</c:v>
                </c:pt>
                <c:pt idx="159">
                  <c:v>10.5</c:v>
                </c:pt>
                <c:pt idx="160">
                  <c:v>10.4</c:v>
                </c:pt>
                <c:pt idx="161">
                  <c:v>10.199999999999999</c:v>
                </c:pt>
                <c:pt idx="162">
                  <c:v>11</c:v>
                </c:pt>
                <c:pt idx="163">
                  <c:v>10.7</c:v>
                </c:pt>
                <c:pt idx="164">
                  <c:v>9.9</c:v>
                </c:pt>
                <c:pt idx="165">
                  <c:v>10</c:v>
                </c:pt>
                <c:pt idx="166">
                  <c:v>10.6</c:v>
                </c:pt>
                <c:pt idx="167">
                  <c:v>11.1</c:v>
                </c:pt>
                <c:pt idx="168">
                  <c:v>9.9</c:v>
                </c:pt>
                <c:pt idx="169">
                  <c:v>8.9</c:v>
                </c:pt>
                <c:pt idx="170">
                  <c:v>9.6</c:v>
                </c:pt>
                <c:pt idx="171">
                  <c:v>11.4</c:v>
                </c:pt>
                <c:pt idx="172">
                  <c:v>12.2</c:v>
                </c:pt>
                <c:pt idx="173">
                  <c:v>13</c:v>
                </c:pt>
                <c:pt idx="174">
                  <c:v>13.4</c:v>
                </c:pt>
                <c:pt idx="175">
                  <c:v>13.6</c:v>
                </c:pt>
                <c:pt idx="176">
                  <c:v>14.7</c:v>
                </c:pt>
                <c:pt idx="177">
                  <c:v>15.3</c:v>
                </c:pt>
                <c:pt idx="178">
                  <c:v>15.9</c:v>
                </c:pt>
                <c:pt idx="179">
                  <c:v>15.2</c:v>
                </c:pt>
                <c:pt idx="180">
                  <c:v>15.7</c:v>
                </c:pt>
                <c:pt idx="181">
                  <c:v>17.100000000000001</c:v>
                </c:pt>
                <c:pt idx="182">
                  <c:v>16.600000000000001</c:v>
                </c:pt>
                <c:pt idx="183">
                  <c:v>16.399999999999999</c:v>
                </c:pt>
                <c:pt idx="184">
                  <c:v>16.899999999999999</c:v>
                </c:pt>
                <c:pt idx="185">
                  <c:v>17.399999999999999</c:v>
                </c:pt>
                <c:pt idx="186">
                  <c:v>17.600000000000001</c:v>
                </c:pt>
                <c:pt idx="187">
                  <c:v>17.2</c:v>
                </c:pt>
                <c:pt idx="188">
                  <c:v>17</c:v>
                </c:pt>
                <c:pt idx="189">
                  <c:v>16.7</c:v>
                </c:pt>
                <c:pt idx="190">
                  <c:v>16.3</c:v>
                </c:pt>
                <c:pt idx="191">
                  <c:v>15.7</c:v>
                </c:pt>
                <c:pt idx="192">
                  <c:v>16.7</c:v>
                </c:pt>
                <c:pt idx="193">
                  <c:v>17.100000000000001</c:v>
                </c:pt>
                <c:pt idx="194">
                  <c:v>17.7</c:v>
                </c:pt>
                <c:pt idx="195">
                  <c:v>19</c:v>
                </c:pt>
                <c:pt idx="196">
                  <c:v>19</c:v>
                </c:pt>
                <c:pt idx="197">
                  <c:v>18.100000000000001</c:v>
                </c:pt>
                <c:pt idx="198">
                  <c:v>18.600000000000001</c:v>
                </c:pt>
                <c:pt idx="199">
                  <c:v>19.2</c:v>
                </c:pt>
                <c:pt idx="200">
                  <c:v>19.2</c:v>
                </c:pt>
                <c:pt idx="201">
                  <c:v>19.8</c:v>
                </c:pt>
                <c:pt idx="202">
                  <c:v>18.100000000000001</c:v>
                </c:pt>
                <c:pt idx="203">
                  <c:v>20.7</c:v>
                </c:pt>
                <c:pt idx="204">
                  <c:v>21</c:v>
                </c:pt>
                <c:pt idx="205">
                  <c:v>21.2</c:v>
                </c:pt>
                <c:pt idx="206">
                  <c:v>21.6</c:v>
                </c:pt>
                <c:pt idx="207">
                  <c:v>21.7</c:v>
                </c:pt>
                <c:pt idx="208">
                  <c:v>22</c:v>
                </c:pt>
                <c:pt idx="209">
                  <c:v>22.6</c:v>
                </c:pt>
                <c:pt idx="210">
                  <c:v>24.5</c:v>
                </c:pt>
                <c:pt idx="211">
                  <c:v>25.4</c:v>
                </c:pt>
                <c:pt idx="212">
                  <c:v>25.9</c:v>
                </c:pt>
                <c:pt idx="213">
                  <c:v>27.3</c:v>
                </c:pt>
                <c:pt idx="214">
                  <c:v>29.1</c:v>
                </c:pt>
                <c:pt idx="215">
                  <c:v>29.6</c:v>
                </c:pt>
                <c:pt idx="216">
                  <c:v>29.9</c:v>
                </c:pt>
                <c:pt idx="217">
                  <c:v>27</c:v>
                </c:pt>
                <c:pt idx="218">
                  <c:v>25.9</c:v>
                </c:pt>
                <c:pt idx="219">
                  <c:v>25.4</c:v>
                </c:pt>
                <c:pt idx="220">
                  <c:v>26</c:v>
                </c:pt>
                <c:pt idx="221">
                  <c:v>25.6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B9-4F83-8FED-F306FF0F5F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EPS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2024Q1</c:v>
                </c:pt>
                <c:pt idx="1">
                  <c:v>2024Q2</c:v>
                </c:pt>
                <c:pt idx="2">
                  <c:v>2024Q3</c:v>
                </c:pt>
                <c:pt idx="3">
                  <c:v>2024Q4</c:v>
                </c:pt>
                <c:pt idx="4">
                  <c:v>2025Q1</c:v>
                </c:pt>
                <c:pt idx="5">
                  <c:v>2025Q2</c:v>
                </c:pt>
                <c:pt idx="6">
                  <c:v>2025Q3</c:v>
                </c:pt>
                <c:pt idx="7">
                  <c:v>2025Q4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1.413</c:v>
                </c:pt>
                <c:pt idx="1">
                  <c:v>1.413</c:v>
                </c:pt>
                <c:pt idx="2">
                  <c:v>1.413</c:v>
                </c:pt>
                <c:pt idx="3">
                  <c:v>1.75</c:v>
                </c:pt>
                <c:pt idx="4">
                  <c:v>0.92</c:v>
                </c:pt>
                <c:pt idx="5">
                  <c:v>1.89</c:v>
                </c:pt>
                <c:pt idx="6">
                  <c:v>1.66</c:v>
                </c:pt>
                <c:pt idx="7">
                  <c:v>13.56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9FE-42D3-830B-C0656314EB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Fwd PE (26E)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</c:marker>
          <c:cat>
            <c:strRef>
              <c:f>Sheet1!$A$2:$A$85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Sheet1!$B$2:$B$85</c:f>
              <c:numCache>
                <c:formatCode>General</c:formatCode>
                <c:ptCount val="2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5.9</c:v>
                </c:pt>
                <c:pt idx="117">
                  <c:v>5.3</c:v>
                </c:pt>
                <c:pt idx="118">
                  <c:v>5.8</c:v>
                </c:pt>
                <c:pt idx="119">
                  <c:v>5.9</c:v>
                </c:pt>
                <c:pt idx="120">
                  <c:v>6.6</c:v>
                </c:pt>
                <c:pt idx="121">
                  <c:v>7.2</c:v>
                </c:pt>
                <c:pt idx="122">
                  <c:v>7.2</c:v>
                </c:pt>
                <c:pt idx="123">
                  <c:v>7</c:v>
                </c:pt>
                <c:pt idx="124">
                  <c:v>7.7</c:v>
                </c:pt>
                <c:pt idx="125">
                  <c:v>7.6</c:v>
                </c:pt>
                <c:pt idx="126">
                  <c:v>7</c:v>
                </c:pt>
                <c:pt idx="127">
                  <c:v>7.4</c:v>
                </c:pt>
                <c:pt idx="128">
                  <c:v>7.6</c:v>
                </c:pt>
                <c:pt idx="129">
                  <c:v>7.4</c:v>
                </c:pt>
                <c:pt idx="130">
                  <c:v>7.6</c:v>
                </c:pt>
                <c:pt idx="131">
                  <c:v>7.8</c:v>
                </c:pt>
                <c:pt idx="132">
                  <c:v>7.1</c:v>
                </c:pt>
                <c:pt idx="133">
                  <c:v>7.5</c:v>
                </c:pt>
                <c:pt idx="134">
                  <c:v>7.1</c:v>
                </c:pt>
                <c:pt idx="135">
                  <c:v>7.8</c:v>
                </c:pt>
                <c:pt idx="136">
                  <c:v>8</c:v>
                </c:pt>
                <c:pt idx="137">
                  <c:v>7.9</c:v>
                </c:pt>
                <c:pt idx="138">
                  <c:v>8.6999999999999993</c:v>
                </c:pt>
                <c:pt idx="139">
                  <c:v>8.6</c:v>
                </c:pt>
                <c:pt idx="140">
                  <c:v>9.8000000000000007</c:v>
                </c:pt>
                <c:pt idx="141">
                  <c:v>10.6</c:v>
                </c:pt>
                <c:pt idx="142">
                  <c:v>10.8</c:v>
                </c:pt>
                <c:pt idx="143">
                  <c:v>11.5</c:v>
                </c:pt>
                <c:pt idx="144">
                  <c:v>11.6</c:v>
                </c:pt>
                <c:pt idx="145">
                  <c:v>11.8</c:v>
                </c:pt>
                <c:pt idx="146">
                  <c:v>12.7</c:v>
                </c:pt>
                <c:pt idx="147">
                  <c:v>13</c:v>
                </c:pt>
                <c:pt idx="148">
                  <c:v>14.8</c:v>
                </c:pt>
                <c:pt idx="149">
                  <c:v>14.3</c:v>
                </c:pt>
                <c:pt idx="150">
                  <c:v>15.1</c:v>
                </c:pt>
                <c:pt idx="151">
                  <c:v>14.5</c:v>
                </c:pt>
                <c:pt idx="152">
                  <c:v>15</c:v>
                </c:pt>
                <c:pt idx="153">
                  <c:v>14.4</c:v>
                </c:pt>
                <c:pt idx="154">
                  <c:v>14.8</c:v>
                </c:pt>
                <c:pt idx="155">
                  <c:v>14.5</c:v>
                </c:pt>
                <c:pt idx="156">
                  <c:v>15.4</c:v>
                </c:pt>
                <c:pt idx="157">
                  <c:v>15.9</c:v>
                </c:pt>
                <c:pt idx="158">
                  <c:v>17.399999999999999</c:v>
                </c:pt>
                <c:pt idx="159">
                  <c:v>18.2</c:v>
                </c:pt>
                <c:pt idx="160">
                  <c:v>16.2</c:v>
                </c:pt>
                <c:pt idx="161">
                  <c:v>16.399999999999999</c:v>
                </c:pt>
                <c:pt idx="162">
                  <c:v>15.9</c:v>
                </c:pt>
                <c:pt idx="163">
                  <c:v>14.2</c:v>
                </c:pt>
                <c:pt idx="164">
                  <c:v>14.5</c:v>
                </c:pt>
                <c:pt idx="165">
                  <c:v>12.5</c:v>
                </c:pt>
                <c:pt idx="166">
                  <c:v>13.6</c:v>
                </c:pt>
                <c:pt idx="167">
                  <c:v>14.5</c:v>
                </c:pt>
                <c:pt idx="168">
                  <c:v>13.1</c:v>
                </c:pt>
                <c:pt idx="169">
                  <c:v>11.8</c:v>
                </c:pt>
                <c:pt idx="170">
                  <c:v>13.9</c:v>
                </c:pt>
                <c:pt idx="171">
                  <c:v>14</c:v>
                </c:pt>
                <c:pt idx="172">
                  <c:v>16.2</c:v>
                </c:pt>
                <c:pt idx="173">
                  <c:v>17.2</c:v>
                </c:pt>
                <c:pt idx="174">
                  <c:v>17.3</c:v>
                </c:pt>
                <c:pt idx="175">
                  <c:v>18.600000000000001</c:v>
                </c:pt>
                <c:pt idx="176">
                  <c:v>20.2</c:v>
                </c:pt>
                <c:pt idx="177">
                  <c:v>20.5</c:v>
                </c:pt>
                <c:pt idx="178">
                  <c:v>21</c:v>
                </c:pt>
                <c:pt idx="179">
                  <c:v>20.8</c:v>
                </c:pt>
                <c:pt idx="180">
                  <c:v>21.1</c:v>
                </c:pt>
                <c:pt idx="181">
                  <c:v>22.6</c:v>
                </c:pt>
                <c:pt idx="182">
                  <c:v>22.4</c:v>
                </c:pt>
                <c:pt idx="183">
                  <c:v>23.4</c:v>
                </c:pt>
                <c:pt idx="184">
                  <c:v>24.9</c:v>
                </c:pt>
                <c:pt idx="185">
                  <c:v>28</c:v>
                </c:pt>
                <c:pt idx="186">
                  <c:v>28.5</c:v>
                </c:pt>
                <c:pt idx="187">
                  <c:v>28.2</c:v>
                </c:pt>
                <c:pt idx="188">
                  <c:v>27</c:v>
                </c:pt>
                <c:pt idx="189">
                  <c:v>26.4</c:v>
                </c:pt>
                <c:pt idx="190">
                  <c:v>26.6</c:v>
                </c:pt>
                <c:pt idx="191">
                  <c:v>25.3</c:v>
                </c:pt>
                <c:pt idx="192">
                  <c:v>27.2</c:v>
                </c:pt>
                <c:pt idx="193">
                  <c:v>27.1</c:v>
                </c:pt>
                <c:pt idx="194">
                  <c:v>26.3</c:v>
                </c:pt>
                <c:pt idx="195">
                  <c:v>25.8</c:v>
                </c:pt>
                <c:pt idx="196">
                  <c:v>26.2</c:v>
                </c:pt>
                <c:pt idx="197">
                  <c:v>26.1</c:v>
                </c:pt>
                <c:pt idx="198">
                  <c:v>25.4</c:v>
                </c:pt>
                <c:pt idx="199">
                  <c:v>25.4</c:v>
                </c:pt>
                <c:pt idx="200">
                  <c:v>25</c:v>
                </c:pt>
                <c:pt idx="201">
                  <c:v>25.1</c:v>
                </c:pt>
                <c:pt idx="202">
                  <c:v>24.1</c:v>
                </c:pt>
                <c:pt idx="203">
                  <c:v>26.1</c:v>
                </c:pt>
                <c:pt idx="204">
                  <c:v>27.4</c:v>
                </c:pt>
                <c:pt idx="205">
                  <c:v>29.2</c:v>
                </c:pt>
                <c:pt idx="206">
                  <c:v>28.6</c:v>
                </c:pt>
                <c:pt idx="207">
                  <c:v>28.8</c:v>
                </c:pt>
                <c:pt idx="208">
                  <c:v>29.5</c:v>
                </c:pt>
                <c:pt idx="209">
                  <c:v>27</c:v>
                </c:pt>
                <c:pt idx="210">
                  <c:v>29.6</c:v>
                </c:pt>
                <c:pt idx="211">
                  <c:v>28.6</c:v>
                </c:pt>
                <c:pt idx="212">
                  <c:v>31.6</c:v>
                </c:pt>
                <c:pt idx="213">
                  <c:v>33.9</c:v>
                </c:pt>
                <c:pt idx="214">
                  <c:v>34.9</c:v>
                </c:pt>
                <c:pt idx="215">
                  <c:v>36.1</c:v>
                </c:pt>
                <c:pt idx="216">
                  <c:v>38</c:v>
                </c:pt>
                <c:pt idx="217">
                  <c:v>34.299999999999997</c:v>
                </c:pt>
                <c:pt idx="218">
                  <c:v>35</c:v>
                </c:pt>
                <c:pt idx="219">
                  <c:v>37</c:v>
                </c:pt>
                <c:pt idx="220">
                  <c:v>37.1</c:v>
                </c:pt>
                <c:pt idx="221">
                  <c:v>36.4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325-4C30-A70D-D8760936FB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EPS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0.59799999999999998</c:v>
                </c:pt>
                <c:pt idx="1">
                  <c:v>0.59799999999999998</c:v>
                </c:pt>
                <c:pt idx="2">
                  <c:v>0.59799999999999998</c:v>
                </c:pt>
                <c:pt idx="3">
                  <c:v>0.59799999999999998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0.31900000000000001</c:v>
                </c:pt>
                <c:pt idx="9">
                  <c:v>0.31</c:v>
                </c:pt>
                <c:pt idx="10">
                  <c:v>0.31</c:v>
                </c:pt>
                <c:pt idx="11">
                  <c:v>0.31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E8E-441C-A14A-B14B0A641F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Fwd PE (26E)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</c:marker>
          <c:cat>
            <c:strRef>
              <c:f>Sheet1!$A$2:$A$85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Sheet1!$B$2:$B$85</c:f>
              <c:numCache>
                <c:formatCode>General</c:formatCode>
                <c:ptCount val="222"/>
                <c:pt idx="0">
                  <c:v>10.6</c:v>
                </c:pt>
                <c:pt idx="1">
                  <c:v>10.5</c:v>
                </c:pt>
                <c:pt idx="2">
                  <c:v>10.4</c:v>
                </c:pt>
                <c:pt idx="3">
                  <c:v>10</c:v>
                </c:pt>
                <c:pt idx="4">
                  <c:v>10</c:v>
                </c:pt>
                <c:pt idx="5">
                  <c:v>10.3</c:v>
                </c:pt>
                <c:pt idx="6">
                  <c:v>10.7</c:v>
                </c:pt>
                <c:pt idx="7">
                  <c:v>10.8</c:v>
                </c:pt>
                <c:pt idx="8">
                  <c:v>10.8</c:v>
                </c:pt>
                <c:pt idx="9">
                  <c:v>11.4</c:v>
                </c:pt>
                <c:pt idx="10">
                  <c:v>11.1</c:v>
                </c:pt>
                <c:pt idx="11">
                  <c:v>10.4</c:v>
                </c:pt>
                <c:pt idx="12">
                  <c:v>11.1</c:v>
                </c:pt>
                <c:pt idx="13">
                  <c:v>10.5</c:v>
                </c:pt>
                <c:pt idx="14">
                  <c:v>10.6</c:v>
                </c:pt>
                <c:pt idx="15">
                  <c:v>10.199999999999999</c:v>
                </c:pt>
                <c:pt idx="16">
                  <c:v>10.4</c:v>
                </c:pt>
                <c:pt idx="17">
                  <c:v>10.1</c:v>
                </c:pt>
                <c:pt idx="18">
                  <c:v>10.8</c:v>
                </c:pt>
                <c:pt idx="19">
                  <c:v>11.6</c:v>
                </c:pt>
                <c:pt idx="20">
                  <c:v>11.5</c:v>
                </c:pt>
                <c:pt idx="21">
                  <c:v>12.1</c:v>
                </c:pt>
                <c:pt idx="22">
                  <c:v>13.7</c:v>
                </c:pt>
                <c:pt idx="23">
                  <c:v>15.1</c:v>
                </c:pt>
                <c:pt idx="24">
                  <c:v>14.4</c:v>
                </c:pt>
                <c:pt idx="25">
                  <c:v>15.2</c:v>
                </c:pt>
                <c:pt idx="26">
                  <c:v>15.6</c:v>
                </c:pt>
                <c:pt idx="27">
                  <c:v>14.9</c:v>
                </c:pt>
                <c:pt idx="28">
                  <c:v>14.3</c:v>
                </c:pt>
                <c:pt idx="29">
                  <c:v>13.7</c:v>
                </c:pt>
                <c:pt idx="30">
                  <c:v>13.2</c:v>
                </c:pt>
                <c:pt idx="31">
                  <c:v>13.1</c:v>
                </c:pt>
                <c:pt idx="32">
                  <c:v>14.3</c:v>
                </c:pt>
                <c:pt idx="33">
                  <c:v>14</c:v>
                </c:pt>
                <c:pt idx="34">
                  <c:v>13.2</c:v>
                </c:pt>
                <c:pt idx="35">
                  <c:v>13.8</c:v>
                </c:pt>
                <c:pt idx="36">
                  <c:v>12.4</c:v>
                </c:pt>
                <c:pt idx="37">
                  <c:v>12.3</c:v>
                </c:pt>
                <c:pt idx="38">
                  <c:v>11.9</c:v>
                </c:pt>
                <c:pt idx="39">
                  <c:v>11.9</c:v>
                </c:pt>
                <c:pt idx="40">
                  <c:v>12.6</c:v>
                </c:pt>
                <c:pt idx="41">
                  <c:v>11.9</c:v>
                </c:pt>
                <c:pt idx="42">
                  <c:v>11.4</c:v>
                </c:pt>
                <c:pt idx="43">
                  <c:v>12.1</c:v>
                </c:pt>
                <c:pt idx="44">
                  <c:v>12</c:v>
                </c:pt>
                <c:pt idx="45">
                  <c:v>11.9</c:v>
                </c:pt>
                <c:pt idx="46">
                  <c:v>11.8</c:v>
                </c:pt>
                <c:pt idx="47">
                  <c:v>11.8</c:v>
                </c:pt>
                <c:pt idx="48">
                  <c:v>11.6</c:v>
                </c:pt>
                <c:pt idx="49">
                  <c:v>11.2</c:v>
                </c:pt>
                <c:pt idx="50">
                  <c:v>10.199999999999999</c:v>
                </c:pt>
                <c:pt idx="51">
                  <c:v>11</c:v>
                </c:pt>
                <c:pt idx="52">
                  <c:v>11.1</c:v>
                </c:pt>
                <c:pt idx="53">
                  <c:v>11.1</c:v>
                </c:pt>
                <c:pt idx="54">
                  <c:v>11.7</c:v>
                </c:pt>
                <c:pt idx="55">
                  <c:v>11.7</c:v>
                </c:pt>
                <c:pt idx="56">
                  <c:v>11.6</c:v>
                </c:pt>
                <c:pt idx="57">
                  <c:v>11.6</c:v>
                </c:pt>
                <c:pt idx="58">
                  <c:v>11.3</c:v>
                </c:pt>
                <c:pt idx="59">
                  <c:v>11.8</c:v>
                </c:pt>
                <c:pt idx="60">
                  <c:v>11.9</c:v>
                </c:pt>
                <c:pt idx="61">
                  <c:v>11.4</c:v>
                </c:pt>
                <c:pt idx="62">
                  <c:v>12</c:v>
                </c:pt>
                <c:pt idx="63">
                  <c:v>11.8</c:v>
                </c:pt>
                <c:pt idx="64">
                  <c:v>11.9</c:v>
                </c:pt>
                <c:pt idx="65">
                  <c:v>11.8</c:v>
                </c:pt>
                <c:pt idx="66">
                  <c:v>11.9</c:v>
                </c:pt>
                <c:pt idx="67">
                  <c:v>12.6</c:v>
                </c:pt>
                <c:pt idx="68">
                  <c:v>12.4</c:v>
                </c:pt>
                <c:pt idx="69">
                  <c:v>12.6</c:v>
                </c:pt>
                <c:pt idx="70">
                  <c:v>12.6</c:v>
                </c:pt>
                <c:pt idx="71">
                  <c:v>12.8</c:v>
                </c:pt>
                <c:pt idx="72">
                  <c:v>12.5</c:v>
                </c:pt>
                <c:pt idx="73">
                  <c:v>12.5</c:v>
                </c:pt>
                <c:pt idx="74">
                  <c:v>12.6</c:v>
                </c:pt>
                <c:pt idx="75">
                  <c:v>12.3</c:v>
                </c:pt>
                <c:pt idx="76">
                  <c:v>12.2</c:v>
                </c:pt>
                <c:pt idx="77">
                  <c:v>12.3</c:v>
                </c:pt>
                <c:pt idx="78">
                  <c:v>12</c:v>
                </c:pt>
                <c:pt idx="79">
                  <c:v>12.6</c:v>
                </c:pt>
                <c:pt idx="80">
                  <c:v>11.4</c:v>
                </c:pt>
                <c:pt idx="81">
                  <c:v>12.4</c:v>
                </c:pt>
                <c:pt idx="82">
                  <c:v>12.7</c:v>
                </c:pt>
                <c:pt idx="83">
                  <c:v>12.3</c:v>
                </c:pt>
                <c:pt idx="84">
                  <c:v>11.5</c:v>
                </c:pt>
                <c:pt idx="85">
                  <c:v>11.1</c:v>
                </c:pt>
                <c:pt idx="86">
                  <c:v>11.3</c:v>
                </c:pt>
                <c:pt idx="87">
                  <c:v>10.9</c:v>
                </c:pt>
                <c:pt idx="88">
                  <c:v>11</c:v>
                </c:pt>
                <c:pt idx="89">
                  <c:v>11.1</c:v>
                </c:pt>
                <c:pt idx="90">
                  <c:v>11.3</c:v>
                </c:pt>
                <c:pt idx="91">
                  <c:v>11.3</c:v>
                </c:pt>
                <c:pt idx="92">
                  <c:v>11.3</c:v>
                </c:pt>
                <c:pt idx="93">
                  <c:v>10.8</c:v>
                </c:pt>
                <c:pt idx="94">
                  <c:v>10.8</c:v>
                </c:pt>
                <c:pt idx="95">
                  <c:v>10.6</c:v>
                </c:pt>
                <c:pt idx="96">
                  <c:v>10.8</c:v>
                </c:pt>
                <c:pt idx="97">
                  <c:v>10.8</c:v>
                </c:pt>
                <c:pt idx="98">
                  <c:v>10.5</c:v>
                </c:pt>
                <c:pt idx="99">
                  <c:v>10.7</c:v>
                </c:pt>
                <c:pt idx="100">
                  <c:v>10.3</c:v>
                </c:pt>
                <c:pt idx="101">
                  <c:v>10.1</c:v>
                </c:pt>
                <c:pt idx="102">
                  <c:v>10.199999999999999</c:v>
                </c:pt>
                <c:pt idx="103">
                  <c:v>10.5</c:v>
                </c:pt>
                <c:pt idx="104">
                  <c:v>10.6</c:v>
                </c:pt>
                <c:pt idx="105">
                  <c:v>10.9</c:v>
                </c:pt>
                <c:pt idx="106">
                  <c:v>10.9</c:v>
                </c:pt>
                <c:pt idx="107">
                  <c:v>11.1</c:v>
                </c:pt>
                <c:pt idx="108">
                  <c:v>10.5</c:v>
                </c:pt>
                <c:pt idx="109">
                  <c:v>11.2</c:v>
                </c:pt>
                <c:pt idx="110">
                  <c:v>11.2</c:v>
                </c:pt>
                <c:pt idx="111">
                  <c:v>11.5</c:v>
                </c:pt>
                <c:pt idx="112">
                  <c:v>11.5</c:v>
                </c:pt>
                <c:pt idx="113">
                  <c:v>12.4</c:v>
                </c:pt>
                <c:pt idx="114">
                  <c:v>12.1</c:v>
                </c:pt>
                <c:pt idx="115">
                  <c:v>11.9</c:v>
                </c:pt>
                <c:pt idx="116">
                  <c:v>11.7</c:v>
                </c:pt>
                <c:pt idx="117">
                  <c:v>11.9</c:v>
                </c:pt>
                <c:pt idx="118">
                  <c:v>11</c:v>
                </c:pt>
                <c:pt idx="119">
                  <c:v>10.9</c:v>
                </c:pt>
                <c:pt idx="120">
                  <c:v>10.6</c:v>
                </c:pt>
                <c:pt idx="121">
                  <c:v>10.8</c:v>
                </c:pt>
                <c:pt idx="122">
                  <c:v>11.1</c:v>
                </c:pt>
                <c:pt idx="123">
                  <c:v>11.2</c:v>
                </c:pt>
                <c:pt idx="124">
                  <c:v>11.2</c:v>
                </c:pt>
                <c:pt idx="125">
                  <c:v>11.4</c:v>
                </c:pt>
                <c:pt idx="126">
                  <c:v>11</c:v>
                </c:pt>
                <c:pt idx="127">
                  <c:v>11</c:v>
                </c:pt>
                <c:pt idx="128">
                  <c:v>10.7</c:v>
                </c:pt>
                <c:pt idx="129">
                  <c:v>10.6</c:v>
                </c:pt>
                <c:pt idx="130">
                  <c:v>10.3</c:v>
                </c:pt>
                <c:pt idx="131">
                  <c:v>10.199999999999999</c:v>
                </c:pt>
                <c:pt idx="132">
                  <c:v>10.5</c:v>
                </c:pt>
                <c:pt idx="133">
                  <c:v>10.4</c:v>
                </c:pt>
                <c:pt idx="134">
                  <c:v>10.4</c:v>
                </c:pt>
                <c:pt idx="135">
                  <c:v>10.3</c:v>
                </c:pt>
                <c:pt idx="136">
                  <c:v>10.1</c:v>
                </c:pt>
                <c:pt idx="137">
                  <c:v>9.6</c:v>
                </c:pt>
                <c:pt idx="138">
                  <c:v>9.8000000000000007</c:v>
                </c:pt>
                <c:pt idx="139">
                  <c:v>9.6</c:v>
                </c:pt>
                <c:pt idx="140">
                  <c:v>9.1</c:v>
                </c:pt>
                <c:pt idx="141">
                  <c:v>9.3000000000000007</c:v>
                </c:pt>
                <c:pt idx="142">
                  <c:v>10.6</c:v>
                </c:pt>
                <c:pt idx="143">
                  <c:v>11.3</c:v>
                </c:pt>
                <c:pt idx="144">
                  <c:v>10.5</c:v>
                </c:pt>
                <c:pt idx="145">
                  <c:v>10.1</c:v>
                </c:pt>
                <c:pt idx="146">
                  <c:v>11.3</c:v>
                </c:pt>
                <c:pt idx="147">
                  <c:v>10.9</c:v>
                </c:pt>
                <c:pt idx="148">
                  <c:v>11.2</c:v>
                </c:pt>
                <c:pt idx="149">
                  <c:v>10.8</c:v>
                </c:pt>
                <c:pt idx="150">
                  <c:v>10.5</c:v>
                </c:pt>
                <c:pt idx="151">
                  <c:v>10.5</c:v>
                </c:pt>
                <c:pt idx="152">
                  <c:v>10.1</c:v>
                </c:pt>
                <c:pt idx="153">
                  <c:v>9.9</c:v>
                </c:pt>
                <c:pt idx="154">
                  <c:v>9.8000000000000007</c:v>
                </c:pt>
                <c:pt idx="155">
                  <c:v>9.9</c:v>
                </c:pt>
                <c:pt idx="156">
                  <c:v>9.5</c:v>
                </c:pt>
                <c:pt idx="157">
                  <c:v>9.3000000000000007</c:v>
                </c:pt>
                <c:pt idx="158">
                  <c:v>9.5</c:v>
                </c:pt>
                <c:pt idx="159">
                  <c:v>9.3000000000000007</c:v>
                </c:pt>
                <c:pt idx="160">
                  <c:v>9.3000000000000007</c:v>
                </c:pt>
                <c:pt idx="161">
                  <c:v>9.6</c:v>
                </c:pt>
                <c:pt idx="162">
                  <c:v>9.5</c:v>
                </c:pt>
                <c:pt idx="163">
                  <c:v>9.5</c:v>
                </c:pt>
                <c:pt idx="164">
                  <c:v>9.4</c:v>
                </c:pt>
                <c:pt idx="165">
                  <c:v>9.5</c:v>
                </c:pt>
                <c:pt idx="166">
                  <c:v>9.8000000000000007</c:v>
                </c:pt>
                <c:pt idx="167">
                  <c:v>9.6999999999999993</c:v>
                </c:pt>
                <c:pt idx="168">
                  <c:v>9.5</c:v>
                </c:pt>
                <c:pt idx="169">
                  <c:v>9.3000000000000007</c:v>
                </c:pt>
                <c:pt idx="170">
                  <c:v>9</c:v>
                </c:pt>
                <c:pt idx="171">
                  <c:v>9</c:v>
                </c:pt>
                <c:pt idx="172">
                  <c:v>9</c:v>
                </c:pt>
                <c:pt idx="173">
                  <c:v>8.9</c:v>
                </c:pt>
                <c:pt idx="174">
                  <c:v>9</c:v>
                </c:pt>
                <c:pt idx="175">
                  <c:v>9.1999999999999993</c:v>
                </c:pt>
                <c:pt idx="176">
                  <c:v>9.1</c:v>
                </c:pt>
                <c:pt idx="177">
                  <c:v>9</c:v>
                </c:pt>
                <c:pt idx="178">
                  <c:v>9.1</c:v>
                </c:pt>
                <c:pt idx="179">
                  <c:v>9</c:v>
                </c:pt>
                <c:pt idx="180">
                  <c:v>8.9</c:v>
                </c:pt>
                <c:pt idx="181">
                  <c:v>9.1999999999999993</c:v>
                </c:pt>
                <c:pt idx="182">
                  <c:v>9.4</c:v>
                </c:pt>
                <c:pt idx="183">
                  <c:v>9.5</c:v>
                </c:pt>
                <c:pt idx="184">
                  <c:v>9.6999999999999993</c:v>
                </c:pt>
                <c:pt idx="185">
                  <c:v>11.1</c:v>
                </c:pt>
                <c:pt idx="186">
                  <c:v>10.6</c:v>
                </c:pt>
                <c:pt idx="187">
                  <c:v>10.7</c:v>
                </c:pt>
                <c:pt idx="188">
                  <c:v>10.7</c:v>
                </c:pt>
                <c:pt idx="189">
                  <c:v>11.2</c:v>
                </c:pt>
                <c:pt idx="190">
                  <c:v>11.2</c:v>
                </c:pt>
                <c:pt idx="191">
                  <c:v>11.9</c:v>
                </c:pt>
                <c:pt idx="192">
                  <c:v>11.7</c:v>
                </c:pt>
                <c:pt idx="193">
                  <c:v>12.9</c:v>
                </c:pt>
                <c:pt idx="194">
                  <c:v>12.8</c:v>
                </c:pt>
                <c:pt idx="195">
                  <c:v>14.1</c:v>
                </c:pt>
                <c:pt idx="196">
                  <c:v>15.5</c:v>
                </c:pt>
                <c:pt idx="197">
                  <c:v>14.9</c:v>
                </c:pt>
                <c:pt idx="198">
                  <c:v>15</c:v>
                </c:pt>
                <c:pt idx="199">
                  <c:v>15.5</c:v>
                </c:pt>
                <c:pt idx="200">
                  <c:v>20.9</c:v>
                </c:pt>
                <c:pt idx="201">
                  <c:v>18.7</c:v>
                </c:pt>
                <c:pt idx="202">
                  <c:v>16.899999999999999</c:v>
                </c:pt>
                <c:pt idx="203">
                  <c:v>17.2</c:v>
                </c:pt>
                <c:pt idx="204">
                  <c:v>17.399999999999999</c:v>
                </c:pt>
                <c:pt idx="205">
                  <c:v>18.8</c:v>
                </c:pt>
                <c:pt idx="206">
                  <c:v>17.3</c:v>
                </c:pt>
                <c:pt idx="207">
                  <c:v>18.5</c:v>
                </c:pt>
                <c:pt idx="208">
                  <c:v>17.600000000000001</c:v>
                </c:pt>
                <c:pt idx="209">
                  <c:v>19.7</c:v>
                </c:pt>
                <c:pt idx="210">
                  <c:v>21.9</c:v>
                </c:pt>
                <c:pt idx="211">
                  <c:v>22.6</c:v>
                </c:pt>
                <c:pt idx="212">
                  <c:v>21.5</c:v>
                </c:pt>
                <c:pt idx="213">
                  <c:v>21.8</c:v>
                </c:pt>
                <c:pt idx="214">
                  <c:v>22.7</c:v>
                </c:pt>
                <c:pt idx="215">
                  <c:v>22.7</c:v>
                </c:pt>
                <c:pt idx="216">
                  <c:v>24</c:v>
                </c:pt>
                <c:pt idx="217">
                  <c:v>25.5</c:v>
                </c:pt>
                <c:pt idx="218">
                  <c:v>24</c:v>
                </c:pt>
                <c:pt idx="219">
                  <c:v>22.1</c:v>
                </c:pt>
                <c:pt idx="220">
                  <c:v>22.3</c:v>
                </c:pt>
                <c:pt idx="221">
                  <c:v>20.9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0C-4DAF-A9B1-5531BE57DD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EPS</c:v>
                </c:pt>
              </c:strCache>
            </c:strRef>
          </c:tx>
          <c:spPr>
            <a:solidFill>
              <a:srgbClr val="20396D"/>
            </a:solidFill>
          </c:spPr>
          <c:invertIfNegative val="1"/>
          <c:cat>
            <c:strRef>
              <c:f>Sheet1!$A$2:$A$13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4.4999999999999998E-2</c:v>
                </c:pt>
                <c:pt idx="1">
                  <c:v>4.4999999999999998E-2</c:v>
                </c:pt>
                <c:pt idx="2">
                  <c:v>4.4999999999999998E-2</c:v>
                </c:pt>
                <c:pt idx="3">
                  <c:v>4.4999999999999998E-2</c:v>
                </c:pt>
                <c:pt idx="4">
                  <c:v>5.1999999999999998E-2</c:v>
                </c:pt>
                <c:pt idx="5">
                  <c:v>5.1999999999999998E-2</c:v>
                </c:pt>
                <c:pt idx="6">
                  <c:v>5.1999999999999998E-2</c:v>
                </c:pt>
                <c:pt idx="7">
                  <c:v>5.1999999999999998E-2</c:v>
                </c:pt>
                <c:pt idx="8">
                  <c:v>5.8000000000000003E-2</c:v>
                </c:pt>
                <c:pt idx="9">
                  <c:v>7.4999999999999997E-2</c:v>
                </c:pt>
                <c:pt idx="10">
                  <c:v>7.4999999999999997E-2</c:v>
                </c:pt>
                <c:pt idx="11">
                  <c:v>7.4999999999999997E-2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109-4B2B-9091-AADF65B02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Fwd PE (26E)</c:v>
                </c:pt>
              </c:strCache>
            </c:strRef>
          </c:tx>
          <c:spPr>
            <a:ln w="19050">
              <a:solidFill>
                <a:srgbClr val="000000"/>
              </a:solidFill>
            </a:ln>
          </c:spPr>
          <c:marker>
            <c:symbol val="none"/>
          </c:marker>
          <c:cat>
            <c:strRef>
              <c:f>Sheet1!$A$2:$A$85</c:f>
              <c:strCache>
                <c:ptCount val="222"/>
                <c:pt idx="0">
                  <c:v>2022-01-03</c:v>
                </c:pt>
                <c:pt idx="1">
                  <c:v>2022-01-10</c:v>
                </c:pt>
                <c:pt idx="2">
                  <c:v>2022-01-17</c:v>
                </c:pt>
                <c:pt idx="3">
                  <c:v>2022-01-24</c:v>
                </c:pt>
                <c:pt idx="4">
                  <c:v>2022-01-31</c:v>
                </c:pt>
                <c:pt idx="5">
                  <c:v>2022-02-07</c:v>
                </c:pt>
                <c:pt idx="6">
                  <c:v>2022-02-14</c:v>
                </c:pt>
                <c:pt idx="7">
                  <c:v>2022-02-21</c:v>
                </c:pt>
                <c:pt idx="8">
                  <c:v>2022-02-28</c:v>
                </c:pt>
                <c:pt idx="9">
                  <c:v>2022-03-07</c:v>
                </c:pt>
                <c:pt idx="10">
                  <c:v>2022-03-14</c:v>
                </c:pt>
                <c:pt idx="11">
                  <c:v>2022-03-21</c:v>
                </c:pt>
                <c:pt idx="12">
                  <c:v>2022-03-28</c:v>
                </c:pt>
                <c:pt idx="13">
                  <c:v>2022-04-04</c:v>
                </c:pt>
                <c:pt idx="14">
                  <c:v>2022-04-11</c:v>
                </c:pt>
                <c:pt idx="15">
                  <c:v>2022-04-18</c:v>
                </c:pt>
                <c:pt idx="16">
                  <c:v>2022-04-25</c:v>
                </c:pt>
                <c:pt idx="17">
                  <c:v>2022-05-02</c:v>
                </c:pt>
                <c:pt idx="18">
                  <c:v>2022-05-09</c:v>
                </c:pt>
                <c:pt idx="19">
                  <c:v>2022-05-16</c:v>
                </c:pt>
                <c:pt idx="20">
                  <c:v>2022-05-23</c:v>
                </c:pt>
                <c:pt idx="21">
                  <c:v>2022-05-30</c:v>
                </c:pt>
                <c:pt idx="22">
                  <c:v>2022-06-06</c:v>
                </c:pt>
                <c:pt idx="23">
                  <c:v>2022-06-13</c:v>
                </c:pt>
                <c:pt idx="24">
                  <c:v>2022-06-20</c:v>
                </c:pt>
                <c:pt idx="25">
                  <c:v>2022-06-27</c:v>
                </c:pt>
                <c:pt idx="26">
                  <c:v>2022-07-04</c:v>
                </c:pt>
                <c:pt idx="27">
                  <c:v>2022-07-11</c:v>
                </c:pt>
                <c:pt idx="28">
                  <c:v>2022-07-18</c:v>
                </c:pt>
                <c:pt idx="29">
                  <c:v>2022-07-25</c:v>
                </c:pt>
                <c:pt idx="30">
                  <c:v>2022-08-01</c:v>
                </c:pt>
                <c:pt idx="31">
                  <c:v>2022-08-08</c:v>
                </c:pt>
                <c:pt idx="32">
                  <c:v>2022-08-15</c:v>
                </c:pt>
                <c:pt idx="33">
                  <c:v>2022-08-22</c:v>
                </c:pt>
                <c:pt idx="34">
                  <c:v>2022-08-29</c:v>
                </c:pt>
                <c:pt idx="35">
                  <c:v>2022-09-05</c:v>
                </c:pt>
                <c:pt idx="36">
                  <c:v>2022-09-12</c:v>
                </c:pt>
                <c:pt idx="37">
                  <c:v>2022-09-19</c:v>
                </c:pt>
                <c:pt idx="38">
                  <c:v>2022-09-26</c:v>
                </c:pt>
                <c:pt idx="39">
                  <c:v>2022-10-03</c:v>
                </c:pt>
                <c:pt idx="40">
                  <c:v>2022-10-10</c:v>
                </c:pt>
                <c:pt idx="41">
                  <c:v>2022-10-17</c:v>
                </c:pt>
                <c:pt idx="42">
                  <c:v>2022-10-24</c:v>
                </c:pt>
                <c:pt idx="43">
                  <c:v>2022-10-31</c:v>
                </c:pt>
                <c:pt idx="44">
                  <c:v>2022-11-07</c:v>
                </c:pt>
                <c:pt idx="45">
                  <c:v>2022-11-14</c:v>
                </c:pt>
                <c:pt idx="46">
                  <c:v>2022-11-21</c:v>
                </c:pt>
                <c:pt idx="47">
                  <c:v>2022-11-28</c:v>
                </c:pt>
                <c:pt idx="48">
                  <c:v>2022-12-05</c:v>
                </c:pt>
                <c:pt idx="49">
                  <c:v>2022-12-12</c:v>
                </c:pt>
                <c:pt idx="50">
                  <c:v>2022-12-19</c:v>
                </c:pt>
                <c:pt idx="51">
                  <c:v>2022-12-26</c:v>
                </c:pt>
                <c:pt idx="52">
                  <c:v>2023-01-02</c:v>
                </c:pt>
                <c:pt idx="53">
                  <c:v>2023-01-09</c:v>
                </c:pt>
                <c:pt idx="54">
                  <c:v>2023-01-16</c:v>
                </c:pt>
                <c:pt idx="55">
                  <c:v>2023-01-23</c:v>
                </c:pt>
                <c:pt idx="56">
                  <c:v>2023-01-30</c:v>
                </c:pt>
                <c:pt idx="57">
                  <c:v>2023-02-06</c:v>
                </c:pt>
                <c:pt idx="58">
                  <c:v>2023-02-13</c:v>
                </c:pt>
                <c:pt idx="59">
                  <c:v>2023-02-20</c:v>
                </c:pt>
                <c:pt idx="60">
                  <c:v>2023-02-27</c:v>
                </c:pt>
                <c:pt idx="61">
                  <c:v>2023-03-06</c:v>
                </c:pt>
                <c:pt idx="62">
                  <c:v>2023-03-13</c:v>
                </c:pt>
                <c:pt idx="63">
                  <c:v>2023-03-20</c:v>
                </c:pt>
                <c:pt idx="64">
                  <c:v>2023-03-27</c:v>
                </c:pt>
                <c:pt idx="65">
                  <c:v>2023-04-03</c:v>
                </c:pt>
                <c:pt idx="66">
                  <c:v>2023-04-10</c:v>
                </c:pt>
                <c:pt idx="67">
                  <c:v>2023-04-17</c:v>
                </c:pt>
                <c:pt idx="68">
                  <c:v>2023-04-24</c:v>
                </c:pt>
                <c:pt idx="69">
                  <c:v>2023-05-01</c:v>
                </c:pt>
                <c:pt idx="70">
                  <c:v>2023-05-08</c:v>
                </c:pt>
                <c:pt idx="71">
                  <c:v>2023-05-15</c:v>
                </c:pt>
                <c:pt idx="72">
                  <c:v>2023-05-22</c:v>
                </c:pt>
                <c:pt idx="73">
                  <c:v>2023-05-29</c:v>
                </c:pt>
                <c:pt idx="74">
                  <c:v>2023-06-05</c:v>
                </c:pt>
                <c:pt idx="75">
                  <c:v>2023-06-12</c:v>
                </c:pt>
                <c:pt idx="76">
                  <c:v>2023-06-19</c:v>
                </c:pt>
                <c:pt idx="77">
                  <c:v>2023-06-26</c:v>
                </c:pt>
                <c:pt idx="78">
                  <c:v>2023-07-03</c:v>
                </c:pt>
                <c:pt idx="79">
                  <c:v>2023-07-10</c:v>
                </c:pt>
                <c:pt idx="80">
                  <c:v>2023-07-17</c:v>
                </c:pt>
                <c:pt idx="81">
                  <c:v>2023-07-24</c:v>
                </c:pt>
                <c:pt idx="82">
                  <c:v>2023-07-31</c:v>
                </c:pt>
                <c:pt idx="83">
                  <c:v>2023-08-07</c:v>
                </c:pt>
                <c:pt idx="84">
                  <c:v>2023-08-14</c:v>
                </c:pt>
                <c:pt idx="85">
                  <c:v>2023-08-21</c:v>
                </c:pt>
                <c:pt idx="86">
                  <c:v>2023-08-28</c:v>
                </c:pt>
                <c:pt idx="87">
                  <c:v>2023-09-04</c:v>
                </c:pt>
                <c:pt idx="88">
                  <c:v>2023-09-11</c:v>
                </c:pt>
                <c:pt idx="89">
                  <c:v>2023-09-18</c:v>
                </c:pt>
                <c:pt idx="90">
                  <c:v>2023-09-25</c:v>
                </c:pt>
                <c:pt idx="91">
                  <c:v>2023-10-02</c:v>
                </c:pt>
                <c:pt idx="92">
                  <c:v>2023-10-09</c:v>
                </c:pt>
                <c:pt idx="93">
                  <c:v>2023-10-16</c:v>
                </c:pt>
                <c:pt idx="94">
                  <c:v>2023-10-23</c:v>
                </c:pt>
                <c:pt idx="95">
                  <c:v>2023-10-30</c:v>
                </c:pt>
                <c:pt idx="96">
                  <c:v>2023-11-06</c:v>
                </c:pt>
                <c:pt idx="97">
                  <c:v>2023-11-13</c:v>
                </c:pt>
                <c:pt idx="98">
                  <c:v>2023-11-20</c:v>
                </c:pt>
                <c:pt idx="99">
                  <c:v>2023-11-27</c:v>
                </c:pt>
                <c:pt idx="100">
                  <c:v>2023-12-04</c:v>
                </c:pt>
                <c:pt idx="101">
                  <c:v>2023-12-11</c:v>
                </c:pt>
                <c:pt idx="102">
                  <c:v>2023-12-18</c:v>
                </c:pt>
                <c:pt idx="103">
                  <c:v>2023-12-25</c:v>
                </c:pt>
                <c:pt idx="104">
                  <c:v>2024-01-01</c:v>
                </c:pt>
                <c:pt idx="105">
                  <c:v>2024-01-08</c:v>
                </c:pt>
                <c:pt idx="106">
                  <c:v>2024-01-15</c:v>
                </c:pt>
                <c:pt idx="107">
                  <c:v>2024-01-22</c:v>
                </c:pt>
                <c:pt idx="108">
                  <c:v>2024-01-29</c:v>
                </c:pt>
                <c:pt idx="109">
                  <c:v>2024-02-05</c:v>
                </c:pt>
                <c:pt idx="110">
                  <c:v>2024-02-12</c:v>
                </c:pt>
                <c:pt idx="111">
                  <c:v>2024-02-19</c:v>
                </c:pt>
                <c:pt idx="112">
                  <c:v>2024-02-26</c:v>
                </c:pt>
                <c:pt idx="113">
                  <c:v>2024-03-04</c:v>
                </c:pt>
                <c:pt idx="114">
                  <c:v>2024-03-11</c:v>
                </c:pt>
                <c:pt idx="115">
                  <c:v>2024-03-18</c:v>
                </c:pt>
                <c:pt idx="116">
                  <c:v>2024-03-25</c:v>
                </c:pt>
                <c:pt idx="117">
                  <c:v>2024-04-01</c:v>
                </c:pt>
                <c:pt idx="118">
                  <c:v>2024-04-08</c:v>
                </c:pt>
                <c:pt idx="119">
                  <c:v>2024-04-15</c:v>
                </c:pt>
                <c:pt idx="120">
                  <c:v>2024-04-22</c:v>
                </c:pt>
                <c:pt idx="121">
                  <c:v>2024-04-29</c:v>
                </c:pt>
                <c:pt idx="122">
                  <c:v>2024-05-06</c:v>
                </c:pt>
                <c:pt idx="123">
                  <c:v>2024-05-13</c:v>
                </c:pt>
                <c:pt idx="124">
                  <c:v>2024-05-20</c:v>
                </c:pt>
                <c:pt idx="125">
                  <c:v>2024-05-27</c:v>
                </c:pt>
                <c:pt idx="126">
                  <c:v>2024-06-03</c:v>
                </c:pt>
                <c:pt idx="127">
                  <c:v>2024-06-10</c:v>
                </c:pt>
                <c:pt idx="128">
                  <c:v>2024-06-17</c:v>
                </c:pt>
                <c:pt idx="129">
                  <c:v>2024-06-24</c:v>
                </c:pt>
                <c:pt idx="130">
                  <c:v>2024-07-01</c:v>
                </c:pt>
                <c:pt idx="131">
                  <c:v>2024-07-08</c:v>
                </c:pt>
                <c:pt idx="132">
                  <c:v>2024-07-15</c:v>
                </c:pt>
                <c:pt idx="133">
                  <c:v>2024-07-22</c:v>
                </c:pt>
                <c:pt idx="134">
                  <c:v>2024-07-29</c:v>
                </c:pt>
                <c:pt idx="135">
                  <c:v>2024-08-05</c:v>
                </c:pt>
                <c:pt idx="136">
                  <c:v>2024-08-12</c:v>
                </c:pt>
                <c:pt idx="137">
                  <c:v>2024-08-19</c:v>
                </c:pt>
                <c:pt idx="138">
                  <c:v>2024-08-26</c:v>
                </c:pt>
                <c:pt idx="139">
                  <c:v>2024-09-02</c:v>
                </c:pt>
                <c:pt idx="140">
                  <c:v>2024-09-09</c:v>
                </c:pt>
                <c:pt idx="141">
                  <c:v>2024-09-16</c:v>
                </c:pt>
                <c:pt idx="142">
                  <c:v>2024-09-23</c:v>
                </c:pt>
                <c:pt idx="143">
                  <c:v>2024-09-30</c:v>
                </c:pt>
                <c:pt idx="144">
                  <c:v>2024-10-07</c:v>
                </c:pt>
                <c:pt idx="145">
                  <c:v>2024-10-14</c:v>
                </c:pt>
                <c:pt idx="146">
                  <c:v>2024-10-21</c:v>
                </c:pt>
                <c:pt idx="147">
                  <c:v>2024-10-28</c:v>
                </c:pt>
                <c:pt idx="148">
                  <c:v>2024-11-04</c:v>
                </c:pt>
                <c:pt idx="149">
                  <c:v>2024-11-11</c:v>
                </c:pt>
                <c:pt idx="150">
                  <c:v>2024-11-18</c:v>
                </c:pt>
                <c:pt idx="151">
                  <c:v>2024-11-25</c:v>
                </c:pt>
                <c:pt idx="152">
                  <c:v>2024-12-02</c:v>
                </c:pt>
                <c:pt idx="153">
                  <c:v>2024-12-09</c:v>
                </c:pt>
                <c:pt idx="154">
                  <c:v>2024-12-16</c:v>
                </c:pt>
                <c:pt idx="155">
                  <c:v>2024-12-23</c:v>
                </c:pt>
                <c:pt idx="156">
                  <c:v>2024-12-30</c:v>
                </c:pt>
                <c:pt idx="157">
                  <c:v>2025-01-06</c:v>
                </c:pt>
                <c:pt idx="158">
                  <c:v>2025-01-13</c:v>
                </c:pt>
                <c:pt idx="159">
                  <c:v>2025-01-20</c:v>
                </c:pt>
                <c:pt idx="160">
                  <c:v>2025-01-27</c:v>
                </c:pt>
                <c:pt idx="161">
                  <c:v>2025-02-03</c:v>
                </c:pt>
                <c:pt idx="162">
                  <c:v>2025-02-10</c:v>
                </c:pt>
                <c:pt idx="163">
                  <c:v>2025-02-17</c:v>
                </c:pt>
                <c:pt idx="164">
                  <c:v>2025-02-24</c:v>
                </c:pt>
                <c:pt idx="165">
                  <c:v>2025-03-03</c:v>
                </c:pt>
                <c:pt idx="166">
                  <c:v>2025-03-10</c:v>
                </c:pt>
                <c:pt idx="167">
                  <c:v>2025-03-17</c:v>
                </c:pt>
                <c:pt idx="168">
                  <c:v>2025-03-24</c:v>
                </c:pt>
                <c:pt idx="169">
                  <c:v>2025-03-31</c:v>
                </c:pt>
                <c:pt idx="170">
                  <c:v>2025-04-07</c:v>
                </c:pt>
                <c:pt idx="171">
                  <c:v>2025-04-14</c:v>
                </c:pt>
                <c:pt idx="172">
                  <c:v>2025-04-21</c:v>
                </c:pt>
                <c:pt idx="173">
                  <c:v>2025-04-28</c:v>
                </c:pt>
                <c:pt idx="174">
                  <c:v>2025-05-05</c:v>
                </c:pt>
                <c:pt idx="175">
                  <c:v>2025-05-12</c:v>
                </c:pt>
                <c:pt idx="176">
                  <c:v>2025-05-19</c:v>
                </c:pt>
                <c:pt idx="177">
                  <c:v>2025-05-26</c:v>
                </c:pt>
                <c:pt idx="178">
                  <c:v>2025-06-02</c:v>
                </c:pt>
                <c:pt idx="179">
                  <c:v>2025-06-09</c:v>
                </c:pt>
                <c:pt idx="180">
                  <c:v>2025-06-16</c:v>
                </c:pt>
                <c:pt idx="181">
                  <c:v>2025-06-23</c:v>
                </c:pt>
                <c:pt idx="182">
                  <c:v>2025-06-30</c:v>
                </c:pt>
                <c:pt idx="183">
                  <c:v>2025-07-07</c:v>
                </c:pt>
                <c:pt idx="184">
                  <c:v>2025-07-14</c:v>
                </c:pt>
                <c:pt idx="185">
                  <c:v>2025-07-21</c:v>
                </c:pt>
                <c:pt idx="186">
                  <c:v>2025-07-28</c:v>
                </c:pt>
                <c:pt idx="187">
                  <c:v>2025-08-04</c:v>
                </c:pt>
                <c:pt idx="188">
                  <c:v>2025-08-11</c:v>
                </c:pt>
                <c:pt idx="189">
                  <c:v>2025-08-18</c:v>
                </c:pt>
                <c:pt idx="190">
                  <c:v>2025-08-25</c:v>
                </c:pt>
                <c:pt idx="191">
                  <c:v>2025-09-01</c:v>
                </c:pt>
                <c:pt idx="192">
                  <c:v>2025-09-08</c:v>
                </c:pt>
                <c:pt idx="193">
                  <c:v>2025-09-15</c:v>
                </c:pt>
                <c:pt idx="194">
                  <c:v>2025-09-22</c:v>
                </c:pt>
                <c:pt idx="195">
                  <c:v>2025-09-29</c:v>
                </c:pt>
                <c:pt idx="196">
                  <c:v>2025-10-06</c:v>
                </c:pt>
                <c:pt idx="197">
                  <c:v>2025-10-13</c:v>
                </c:pt>
                <c:pt idx="198">
                  <c:v>2025-10-20</c:v>
                </c:pt>
                <c:pt idx="199">
                  <c:v>2025-10-27</c:v>
                </c:pt>
                <c:pt idx="200">
                  <c:v>2025-11-03</c:v>
                </c:pt>
                <c:pt idx="201">
                  <c:v>2025-11-10</c:v>
                </c:pt>
                <c:pt idx="202">
                  <c:v>2025-11-17</c:v>
                </c:pt>
                <c:pt idx="203">
                  <c:v>2025-11-24</c:v>
                </c:pt>
                <c:pt idx="204">
                  <c:v>2025-12-01</c:v>
                </c:pt>
                <c:pt idx="205">
                  <c:v>2025-12-08</c:v>
                </c:pt>
                <c:pt idx="206">
                  <c:v>2025-12-15</c:v>
                </c:pt>
                <c:pt idx="207">
                  <c:v>2025-12-22</c:v>
                </c:pt>
                <c:pt idx="208">
                  <c:v>2025-12-29</c:v>
                </c:pt>
                <c:pt idx="209">
                  <c:v>2026-01-05</c:v>
                </c:pt>
                <c:pt idx="210">
                  <c:v>2026-01-12</c:v>
                </c:pt>
                <c:pt idx="211">
                  <c:v>2026-01-19</c:v>
                </c:pt>
                <c:pt idx="212">
                  <c:v>2026-01-26</c:v>
                </c:pt>
                <c:pt idx="213">
                  <c:v>2026-02-02</c:v>
                </c:pt>
                <c:pt idx="214">
                  <c:v>2026-02-09</c:v>
                </c:pt>
                <c:pt idx="215">
                  <c:v>2026-02-16</c:v>
                </c:pt>
                <c:pt idx="216">
                  <c:v>2026-02-23</c:v>
                </c:pt>
                <c:pt idx="217">
                  <c:v>2026-03-02</c:v>
                </c:pt>
                <c:pt idx="218">
                  <c:v>2026-03-09</c:v>
                </c:pt>
                <c:pt idx="219">
                  <c:v>2026-03-16</c:v>
                </c:pt>
                <c:pt idx="220">
                  <c:v>2026-03-23</c:v>
                </c:pt>
                <c:pt idx="221">
                  <c:v>2026-03-30</c:v>
                </c:pt>
              </c:strCache>
            </c:strRef>
          </c:cat>
          <c:val>
            <c:numRef>
              <c:f>Sheet1!$B$2:$B$85</c:f>
              <c:numCache>
                <c:formatCode>General</c:formatCode>
                <c:ptCount val="222"/>
                <c:pt idx="0">
                  <c:v>13.7</c:v>
                </c:pt>
                <c:pt idx="1">
                  <c:v>13.9</c:v>
                </c:pt>
                <c:pt idx="2">
                  <c:v>13.7</c:v>
                </c:pt>
                <c:pt idx="3">
                  <c:v>13.1</c:v>
                </c:pt>
                <c:pt idx="4">
                  <c:v>13.1</c:v>
                </c:pt>
                <c:pt idx="5">
                  <c:v>13.4</c:v>
                </c:pt>
                <c:pt idx="6">
                  <c:v>13.3</c:v>
                </c:pt>
                <c:pt idx="7">
                  <c:v>13.3</c:v>
                </c:pt>
                <c:pt idx="8">
                  <c:v>13.3</c:v>
                </c:pt>
                <c:pt idx="9">
                  <c:v>12.3</c:v>
                </c:pt>
                <c:pt idx="10">
                  <c:v>11.6</c:v>
                </c:pt>
                <c:pt idx="11">
                  <c:v>11.4</c:v>
                </c:pt>
                <c:pt idx="12">
                  <c:v>11.8</c:v>
                </c:pt>
                <c:pt idx="13">
                  <c:v>11.5</c:v>
                </c:pt>
                <c:pt idx="14">
                  <c:v>11</c:v>
                </c:pt>
                <c:pt idx="15">
                  <c:v>10.6</c:v>
                </c:pt>
                <c:pt idx="16">
                  <c:v>10.5</c:v>
                </c:pt>
                <c:pt idx="17">
                  <c:v>10.5</c:v>
                </c:pt>
                <c:pt idx="18">
                  <c:v>10.8</c:v>
                </c:pt>
                <c:pt idx="19">
                  <c:v>11.2</c:v>
                </c:pt>
                <c:pt idx="20">
                  <c:v>11.7</c:v>
                </c:pt>
                <c:pt idx="21">
                  <c:v>12.6</c:v>
                </c:pt>
                <c:pt idx="22">
                  <c:v>12.2</c:v>
                </c:pt>
                <c:pt idx="23">
                  <c:v>12.6</c:v>
                </c:pt>
                <c:pt idx="24">
                  <c:v>12.6</c:v>
                </c:pt>
                <c:pt idx="25">
                  <c:v>12.3</c:v>
                </c:pt>
                <c:pt idx="26">
                  <c:v>12.8</c:v>
                </c:pt>
                <c:pt idx="27">
                  <c:v>13.6</c:v>
                </c:pt>
                <c:pt idx="28">
                  <c:v>13.3</c:v>
                </c:pt>
                <c:pt idx="29">
                  <c:v>13.2</c:v>
                </c:pt>
                <c:pt idx="30">
                  <c:v>13</c:v>
                </c:pt>
                <c:pt idx="31">
                  <c:v>13</c:v>
                </c:pt>
                <c:pt idx="32">
                  <c:v>13.6</c:v>
                </c:pt>
                <c:pt idx="33">
                  <c:v>13.2</c:v>
                </c:pt>
                <c:pt idx="34">
                  <c:v>12.5</c:v>
                </c:pt>
                <c:pt idx="35">
                  <c:v>12.7</c:v>
                </c:pt>
                <c:pt idx="36">
                  <c:v>11.6</c:v>
                </c:pt>
                <c:pt idx="37">
                  <c:v>11.6</c:v>
                </c:pt>
                <c:pt idx="38">
                  <c:v>11.1</c:v>
                </c:pt>
                <c:pt idx="39">
                  <c:v>11.1</c:v>
                </c:pt>
                <c:pt idx="40">
                  <c:v>11.6</c:v>
                </c:pt>
                <c:pt idx="41">
                  <c:v>11.9</c:v>
                </c:pt>
                <c:pt idx="42">
                  <c:v>11.6</c:v>
                </c:pt>
                <c:pt idx="43">
                  <c:v>12.7</c:v>
                </c:pt>
                <c:pt idx="44">
                  <c:v>12.4</c:v>
                </c:pt>
                <c:pt idx="45">
                  <c:v>13</c:v>
                </c:pt>
                <c:pt idx="46">
                  <c:v>12.9</c:v>
                </c:pt>
                <c:pt idx="47">
                  <c:v>12.7</c:v>
                </c:pt>
                <c:pt idx="48">
                  <c:v>12.5</c:v>
                </c:pt>
                <c:pt idx="49">
                  <c:v>12.4</c:v>
                </c:pt>
                <c:pt idx="50">
                  <c:v>11.9</c:v>
                </c:pt>
                <c:pt idx="51">
                  <c:v>12</c:v>
                </c:pt>
                <c:pt idx="52">
                  <c:v>12.4</c:v>
                </c:pt>
                <c:pt idx="53">
                  <c:v>12.4</c:v>
                </c:pt>
                <c:pt idx="54">
                  <c:v>12.7</c:v>
                </c:pt>
                <c:pt idx="55">
                  <c:v>12.7</c:v>
                </c:pt>
                <c:pt idx="56">
                  <c:v>12.6</c:v>
                </c:pt>
                <c:pt idx="57">
                  <c:v>12.7</c:v>
                </c:pt>
                <c:pt idx="58">
                  <c:v>12.7</c:v>
                </c:pt>
                <c:pt idx="59">
                  <c:v>12.8</c:v>
                </c:pt>
                <c:pt idx="60">
                  <c:v>13.4</c:v>
                </c:pt>
                <c:pt idx="61">
                  <c:v>12.8</c:v>
                </c:pt>
                <c:pt idx="62">
                  <c:v>14.9</c:v>
                </c:pt>
                <c:pt idx="63">
                  <c:v>14.2</c:v>
                </c:pt>
                <c:pt idx="64">
                  <c:v>13.7</c:v>
                </c:pt>
                <c:pt idx="65">
                  <c:v>14.2</c:v>
                </c:pt>
                <c:pt idx="66">
                  <c:v>14.8</c:v>
                </c:pt>
                <c:pt idx="67">
                  <c:v>13.9</c:v>
                </c:pt>
                <c:pt idx="68">
                  <c:v>14.2</c:v>
                </c:pt>
                <c:pt idx="69">
                  <c:v>14.7</c:v>
                </c:pt>
                <c:pt idx="70">
                  <c:v>14.8</c:v>
                </c:pt>
                <c:pt idx="71">
                  <c:v>14.8</c:v>
                </c:pt>
                <c:pt idx="72">
                  <c:v>13.9</c:v>
                </c:pt>
                <c:pt idx="73">
                  <c:v>14</c:v>
                </c:pt>
                <c:pt idx="74">
                  <c:v>13.6</c:v>
                </c:pt>
                <c:pt idx="75">
                  <c:v>14.3</c:v>
                </c:pt>
                <c:pt idx="76">
                  <c:v>13.9</c:v>
                </c:pt>
                <c:pt idx="77">
                  <c:v>14.1</c:v>
                </c:pt>
                <c:pt idx="78">
                  <c:v>14.2</c:v>
                </c:pt>
                <c:pt idx="79">
                  <c:v>14.3</c:v>
                </c:pt>
                <c:pt idx="80">
                  <c:v>13.9</c:v>
                </c:pt>
                <c:pt idx="81">
                  <c:v>14.3</c:v>
                </c:pt>
                <c:pt idx="82">
                  <c:v>14.4</c:v>
                </c:pt>
                <c:pt idx="83">
                  <c:v>13.7</c:v>
                </c:pt>
                <c:pt idx="84">
                  <c:v>13.5</c:v>
                </c:pt>
                <c:pt idx="85">
                  <c:v>12.8</c:v>
                </c:pt>
                <c:pt idx="86">
                  <c:v>12.6</c:v>
                </c:pt>
                <c:pt idx="87">
                  <c:v>12.8</c:v>
                </c:pt>
                <c:pt idx="88">
                  <c:v>12.9</c:v>
                </c:pt>
                <c:pt idx="89">
                  <c:v>12.8</c:v>
                </c:pt>
                <c:pt idx="90">
                  <c:v>12.8</c:v>
                </c:pt>
                <c:pt idx="91">
                  <c:v>12.8</c:v>
                </c:pt>
                <c:pt idx="92">
                  <c:v>12.4</c:v>
                </c:pt>
                <c:pt idx="93">
                  <c:v>12</c:v>
                </c:pt>
                <c:pt idx="94">
                  <c:v>12.2</c:v>
                </c:pt>
                <c:pt idx="95">
                  <c:v>12.2</c:v>
                </c:pt>
                <c:pt idx="96">
                  <c:v>12.1</c:v>
                </c:pt>
                <c:pt idx="97">
                  <c:v>12.1</c:v>
                </c:pt>
                <c:pt idx="98">
                  <c:v>11.8</c:v>
                </c:pt>
                <c:pt idx="99">
                  <c:v>12.1</c:v>
                </c:pt>
                <c:pt idx="100">
                  <c:v>11.8</c:v>
                </c:pt>
                <c:pt idx="101">
                  <c:v>12.2</c:v>
                </c:pt>
                <c:pt idx="102">
                  <c:v>12.9</c:v>
                </c:pt>
                <c:pt idx="103">
                  <c:v>13</c:v>
                </c:pt>
                <c:pt idx="104">
                  <c:v>13.3</c:v>
                </c:pt>
                <c:pt idx="105">
                  <c:v>13.4</c:v>
                </c:pt>
                <c:pt idx="106">
                  <c:v>13.2</c:v>
                </c:pt>
                <c:pt idx="107">
                  <c:v>13.8</c:v>
                </c:pt>
                <c:pt idx="108">
                  <c:v>12.8</c:v>
                </c:pt>
                <c:pt idx="109">
                  <c:v>13.8</c:v>
                </c:pt>
                <c:pt idx="110">
                  <c:v>0</c:v>
                </c:pt>
                <c:pt idx="111">
                  <c:v>13.9</c:v>
                </c:pt>
                <c:pt idx="112">
                  <c:v>14.2</c:v>
                </c:pt>
                <c:pt idx="113">
                  <c:v>14.7</c:v>
                </c:pt>
                <c:pt idx="114">
                  <c:v>14.5</c:v>
                </c:pt>
                <c:pt idx="115">
                  <c:v>14.3</c:v>
                </c:pt>
                <c:pt idx="116">
                  <c:v>14.5</c:v>
                </c:pt>
                <c:pt idx="117">
                  <c:v>14.2</c:v>
                </c:pt>
                <c:pt idx="118">
                  <c:v>17.399999999999999</c:v>
                </c:pt>
                <c:pt idx="119">
                  <c:v>21.3</c:v>
                </c:pt>
                <c:pt idx="120">
                  <c:v>19.7</c:v>
                </c:pt>
                <c:pt idx="121">
                  <c:v>18.600000000000001</c:v>
                </c:pt>
                <c:pt idx="122">
                  <c:v>19.8</c:v>
                </c:pt>
                <c:pt idx="123">
                  <c:v>18</c:v>
                </c:pt>
                <c:pt idx="124">
                  <c:v>18</c:v>
                </c:pt>
                <c:pt idx="125">
                  <c:v>17.8</c:v>
                </c:pt>
                <c:pt idx="126">
                  <c:v>19.100000000000001</c:v>
                </c:pt>
                <c:pt idx="127">
                  <c:v>19.5</c:v>
                </c:pt>
                <c:pt idx="128">
                  <c:v>20.100000000000001</c:v>
                </c:pt>
                <c:pt idx="129">
                  <c:v>21.1</c:v>
                </c:pt>
                <c:pt idx="130">
                  <c:v>20.7</c:v>
                </c:pt>
                <c:pt idx="131">
                  <c:v>19.899999999999999</c:v>
                </c:pt>
                <c:pt idx="132">
                  <c:v>18</c:v>
                </c:pt>
                <c:pt idx="133">
                  <c:v>18.600000000000001</c:v>
                </c:pt>
                <c:pt idx="134">
                  <c:v>18.8</c:v>
                </c:pt>
                <c:pt idx="135">
                  <c:v>18.399999999999999</c:v>
                </c:pt>
                <c:pt idx="136">
                  <c:v>18.2</c:v>
                </c:pt>
                <c:pt idx="137">
                  <c:v>17.600000000000001</c:v>
                </c:pt>
                <c:pt idx="138">
                  <c:v>18.3</c:v>
                </c:pt>
                <c:pt idx="139">
                  <c:v>18.399999999999999</c:v>
                </c:pt>
                <c:pt idx="140">
                  <c:v>18.8</c:v>
                </c:pt>
                <c:pt idx="141">
                  <c:v>18.899999999999999</c:v>
                </c:pt>
                <c:pt idx="142">
                  <c:v>21.6</c:v>
                </c:pt>
                <c:pt idx="143">
                  <c:v>23.1</c:v>
                </c:pt>
                <c:pt idx="144">
                  <c:v>21.2</c:v>
                </c:pt>
                <c:pt idx="145">
                  <c:v>21.1</c:v>
                </c:pt>
                <c:pt idx="146">
                  <c:v>20.7</c:v>
                </c:pt>
                <c:pt idx="147">
                  <c:v>23.1</c:v>
                </c:pt>
                <c:pt idx="148">
                  <c:v>24</c:v>
                </c:pt>
                <c:pt idx="149">
                  <c:v>21.8</c:v>
                </c:pt>
                <c:pt idx="150">
                  <c:v>20.6</c:v>
                </c:pt>
                <c:pt idx="151">
                  <c:v>20.100000000000001</c:v>
                </c:pt>
                <c:pt idx="152">
                  <c:v>20.6</c:v>
                </c:pt>
                <c:pt idx="153">
                  <c:v>20.399999999999999</c:v>
                </c:pt>
                <c:pt idx="154">
                  <c:v>20.7</c:v>
                </c:pt>
                <c:pt idx="155">
                  <c:v>21</c:v>
                </c:pt>
                <c:pt idx="156">
                  <c:v>18.7</c:v>
                </c:pt>
                <c:pt idx="157">
                  <c:v>18.7</c:v>
                </c:pt>
                <c:pt idx="158">
                  <c:v>19.399999999999999</c:v>
                </c:pt>
                <c:pt idx="159">
                  <c:v>19.7</c:v>
                </c:pt>
                <c:pt idx="160">
                  <c:v>19.5</c:v>
                </c:pt>
                <c:pt idx="161">
                  <c:v>19.3</c:v>
                </c:pt>
                <c:pt idx="162">
                  <c:v>18.7</c:v>
                </c:pt>
                <c:pt idx="163">
                  <c:v>19.100000000000001</c:v>
                </c:pt>
                <c:pt idx="164">
                  <c:v>18</c:v>
                </c:pt>
                <c:pt idx="165">
                  <c:v>17.600000000000001</c:v>
                </c:pt>
                <c:pt idx="166">
                  <c:v>18.100000000000001</c:v>
                </c:pt>
                <c:pt idx="167">
                  <c:v>17.8</c:v>
                </c:pt>
                <c:pt idx="168">
                  <c:v>18</c:v>
                </c:pt>
                <c:pt idx="169">
                  <c:v>18.2</c:v>
                </c:pt>
                <c:pt idx="170">
                  <c:v>16.899999999999999</c:v>
                </c:pt>
                <c:pt idx="171">
                  <c:v>16.7</c:v>
                </c:pt>
                <c:pt idx="172">
                  <c:v>17</c:v>
                </c:pt>
                <c:pt idx="173">
                  <c:v>16.600000000000001</c:v>
                </c:pt>
                <c:pt idx="174">
                  <c:v>16.899999999999999</c:v>
                </c:pt>
                <c:pt idx="175">
                  <c:v>16.8</c:v>
                </c:pt>
                <c:pt idx="176">
                  <c:v>16.5</c:v>
                </c:pt>
                <c:pt idx="177">
                  <c:v>16.7</c:v>
                </c:pt>
                <c:pt idx="178">
                  <c:v>16.8</c:v>
                </c:pt>
                <c:pt idx="179">
                  <c:v>16.5</c:v>
                </c:pt>
                <c:pt idx="180">
                  <c:v>16</c:v>
                </c:pt>
                <c:pt idx="181">
                  <c:v>16.399999999999999</c:v>
                </c:pt>
                <c:pt idx="182">
                  <c:v>16.399999999999999</c:v>
                </c:pt>
                <c:pt idx="183">
                  <c:v>16.8</c:v>
                </c:pt>
                <c:pt idx="184">
                  <c:v>17</c:v>
                </c:pt>
                <c:pt idx="185">
                  <c:v>18.2</c:v>
                </c:pt>
                <c:pt idx="186">
                  <c:v>17.399999999999999</c:v>
                </c:pt>
                <c:pt idx="187">
                  <c:v>17.7</c:v>
                </c:pt>
                <c:pt idx="188">
                  <c:v>17.399999999999999</c:v>
                </c:pt>
                <c:pt idx="189">
                  <c:v>18.100000000000001</c:v>
                </c:pt>
                <c:pt idx="190">
                  <c:v>17.600000000000001</c:v>
                </c:pt>
                <c:pt idx="191">
                  <c:v>17.2</c:v>
                </c:pt>
                <c:pt idx="192">
                  <c:v>17.399999999999999</c:v>
                </c:pt>
                <c:pt idx="193">
                  <c:v>17.600000000000001</c:v>
                </c:pt>
                <c:pt idx="194">
                  <c:v>17.7</c:v>
                </c:pt>
                <c:pt idx="195">
                  <c:v>18.3</c:v>
                </c:pt>
                <c:pt idx="196">
                  <c:v>19.399999999999999</c:v>
                </c:pt>
                <c:pt idx="197">
                  <c:v>18.7</c:v>
                </c:pt>
                <c:pt idx="198">
                  <c:v>19.2</c:v>
                </c:pt>
                <c:pt idx="199">
                  <c:v>21.5</c:v>
                </c:pt>
                <c:pt idx="200">
                  <c:v>27.2</c:v>
                </c:pt>
                <c:pt idx="201">
                  <c:v>25.2</c:v>
                </c:pt>
                <c:pt idx="202">
                  <c:v>21.5</c:v>
                </c:pt>
                <c:pt idx="203">
                  <c:v>22.5</c:v>
                </c:pt>
                <c:pt idx="204">
                  <c:v>22.9</c:v>
                </c:pt>
                <c:pt idx="205">
                  <c:v>24.5</c:v>
                </c:pt>
                <c:pt idx="206">
                  <c:v>24.7</c:v>
                </c:pt>
                <c:pt idx="207">
                  <c:v>25.7</c:v>
                </c:pt>
                <c:pt idx="208">
                  <c:v>24.6</c:v>
                </c:pt>
                <c:pt idx="209">
                  <c:v>29.4</c:v>
                </c:pt>
                <c:pt idx="210">
                  <c:v>35.299999999999997</c:v>
                </c:pt>
                <c:pt idx="211">
                  <c:v>43.1</c:v>
                </c:pt>
                <c:pt idx="212">
                  <c:v>39.200000000000003</c:v>
                </c:pt>
                <c:pt idx="213">
                  <c:v>39.700000000000003</c:v>
                </c:pt>
                <c:pt idx="214">
                  <c:v>39.200000000000003</c:v>
                </c:pt>
                <c:pt idx="215">
                  <c:v>39.200000000000003</c:v>
                </c:pt>
                <c:pt idx="216">
                  <c:v>43.5</c:v>
                </c:pt>
                <c:pt idx="217">
                  <c:v>52.2</c:v>
                </c:pt>
                <c:pt idx="218">
                  <c:v>47.7</c:v>
                </c:pt>
                <c:pt idx="219">
                  <c:v>44.1</c:v>
                </c:pt>
                <c:pt idx="220">
                  <c:v>43.4</c:v>
                </c:pt>
                <c:pt idx="221">
                  <c:v>41.1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24-4518-AFA0-2802E6ECAB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Book Antiqua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Book Antiqua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50734ABB-FDD8-470C-94A0-E35EFCF8BF46}" type="datetimeFigureOut">
              <a:rPr lang="en-US" smtClean="0"/>
              <a:pPr/>
              <a:t>5/13/2026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46E0020C-34B3-4644-B138-3A9503ECB2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881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4F469F37-BD73-4419-AD67-49951E360B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95" imgH="394" progId="TCLayout.ActiveDocument.1">
                  <p:embed/>
                </p:oleObj>
              </mc:Choice>
              <mc:Fallback>
                <p:oleObj name="think-cell 幻灯片" r:id="rId3" imgW="395" imgH="394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4F469F37-BD73-4419-AD67-49951E360B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CCF30B-9970-441B-8D10-92169092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616C46-B237-4879-A72B-67763035C7B6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1CE2E1-5D43-45BF-8F26-7BD832849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ACDC6C-01F0-43EE-9497-0E546C76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2853F8-F8EC-43A5-9C60-93D622F44FA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B5AD7D6-EA0C-4B9A-B3EC-EE2046FC590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512854" y="2490938"/>
            <a:ext cx="1681892" cy="122413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83B98CC-3C91-41FE-AD96-49EDCCA1BA9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0938"/>
            <a:ext cx="1681892" cy="122413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F6FB8F1-1C36-4D72-8C9E-F4F0151F2F43}"/>
              </a:ext>
            </a:extLst>
          </p:cNvPr>
          <p:cNvSpPr/>
          <p:nvPr userDrawn="1"/>
        </p:nvSpPr>
        <p:spPr>
          <a:xfrm>
            <a:off x="1556936" y="2490936"/>
            <a:ext cx="8955918" cy="12241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KaiTi" panose="02010609060101010101" pitchFamily="49" charset="-122"/>
              <a:cs typeface="+mn-ea"/>
              <a:sym typeface="Book Antiqua" panose="02040602050305030304" pitchFamily="18" charset="0"/>
            </a:endParaRPr>
          </a:p>
        </p:txBody>
      </p:sp>
      <p:sp>
        <p:nvSpPr>
          <p:cNvPr id="16" name="文本占位符 20">
            <a:extLst>
              <a:ext uri="{FF2B5EF4-FFF2-40B4-BE49-F238E27FC236}">
                <a16:creationId xmlns:a16="http://schemas.microsoft.com/office/drawing/2014/main" id="{5370F404-3DA8-46CC-9243-F54C1B969A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490936"/>
            <a:ext cx="12194746" cy="122413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20">
            <a:extLst>
              <a:ext uri="{FF2B5EF4-FFF2-40B4-BE49-F238E27FC236}">
                <a16:creationId xmlns:a16="http://schemas.microsoft.com/office/drawing/2014/main" id="{72E7C94E-5C7A-4CD8-B64F-2B043902DC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5373" y="4797152"/>
            <a:ext cx="9144000" cy="42905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Book Antiqua" panose="02040602050305030304" pitchFamily="18" charset="0"/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6200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8607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223" y="217343"/>
            <a:ext cx="10515600" cy="456911"/>
          </a:xfrm>
        </p:spPr>
        <p:txBody>
          <a:bodyPr vert="horz"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225"/>
              </a:spcAft>
              <a:defRPr sz="2000" b="1">
                <a:solidFill>
                  <a:schemeClr val="tx2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223" y="1437793"/>
            <a:ext cx="5157787" cy="500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223" y="2006317"/>
            <a:ext cx="5157787" cy="36845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1pPr>
            <a:lvl2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2pPr>
            <a:lvl3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3pPr>
            <a:lvl4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4pPr>
            <a:lvl5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437793"/>
            <a:ext cx="5183188" cy="500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746466-397F-434C-92B2-D29690843F6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2853F8-F8EC-43A5-9C60-93D622F44FA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13" name="Content Placeholder 3"/>
          <p:cNvSpPr>
            <a:spLocks noGrp="1"/>
          </p:cNvSpPr>
          <p:nvPr>
            <p:ph sz="half" idx="13"/>
          </p:nvPr>
        </p:nvSpPr>
        <p:spPr>
          <a:xfrm>
            <a:off x="6184901" y="2006317"/>
            <a:ext cx="5157787" cy="36845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1pPr>
            <a:lvl2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2pPr>
            <a:lvl3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3pPr>
            <a:lvl4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4pPr>
            <a:lvl5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4" name="Content Placeholder 3"/>
          <p:cNvSpPr>
            <a:spLocks noGrp="1"/>
          </p:cNvSpPr>
          <p:nvPr>
            <p:ph sz="half" idx="14"/>
          </p:nvPr>
        </p:nvSpPr>
        <p:spPr>
          <a:xfrm>
            <a:off x="827087" y="5834355"/>
            <a:ext cx="10515600" cy="33996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 sz="750" i="1"/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3pPr>
            <a:lvl4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4pPr>
            <a:lvl5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442223" y="754941"/>
            <a:ext cx="10515600" cy="365125"/>
          </a:xfrm>
        </p:spPr>
        <p:txBody>
          <a:bodyPr>
            <a:noAutofit/>
          </a:bodyPr>
          <a:lstStyle>
            <a:lvl1pPr marL="0" indent="0">
              <a:buNone/>
              <a:defRPr sz="1500" b="1">
                <a:latin typeface="Book Antiqua" panose="02040602050305030304" pitchFamily="18" charset="0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cxnSp>
        <p:nvCxnSpPr>
          <p:cNvPr id="16" name="Straight Connector 7">
            <a:extLst>
              <a:ext uri="{FF2B5EF4-FFF2-40B4-BE49-F238E27FC236}">
                <a16:creationId xmlns:a16="http://schemas.microsoft.com/office/drawing/2014/main" id="{842E8E1D-20E4-4961-BC63-E7E988088C43}"/>
              </a:ext>
            </a:extLst>
          </p:cNvPr>
          <p:cNvCxnSpPr>
            <a:cxnSpLocks/>
          </p:cNvCxnSpPr>
          <p:nvPr/>
        </p:nvCxnSpPr>
        <p:spPr>
          <a:xfrm>
            <a:off x="442223" y="1938581"/>
            <a:ext cx="5157787" cy="0"/>
          </a:xfrm>
          <a:prstGeom prst="line">
            <a:avLst/>
          </a:prstGeom>
          <a:ln w="190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7">
            <a:extLst>
              <a:ext uri="{FF2B5EF4-FFF2-40B4-BE49-F238E27FC236}">
                <a16:creationId xmlns:a16="http://schemas.microsoft.com/office/drawing/2014/main" id="{5CC4EE2B-A234-4261-A28A-F0E3451B140B}"/>
              </a:ext>
            </a:extLst>
          </p:cNvPr>
          <p:cNvCxnSpPr>
            <a:cxnSpLocks/>
          </p:cNvCxnSpPr>
          <p:nvPr/>
        </p:nvCxnSpPr>
        <p:spPr>
          <a:xfrm>
            <a:off x="6194424" y="1938581"/>
            <a:ext cx="5159376" cy="0"/>
          </a:xfrm>
          <a:prstGeom prst="line">
            <a:avLst/>
          </a:prstGeom>
          <a:ln w="190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052" descr="OAlogo_Small">
            <a:extLst>
              <a:ext uri="{FF2B5EF4-FFF2-40B4-BE49-F238E27FC236}">
                <a16:creationId xmlns:a16="http://schemas.microsoft.com/office/drawing/2014/main" id="{FF86FE45-0661-42D8-A5B0-6D7AFEE3E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7" y="6383269"/>
            <a:ext cx="1374005" cy="31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0440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1342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223" y="543886"/>
            <a:ext cx="10515600" cy="456911"/>
          </a:xfrm>
        </p:spPr>
        <p:txBody>
          <a:bodyPr vert="horz"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225"/>
              </a:spcAft>
              <a:defRPr sz="2000" b="1">
                <a:solidFill>
                  <a:schemeClr val="tx2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37793"/>
            <a:ext cx="5157787" cy="500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006317"/>
            <a:ext cx="5157787" cy="36845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1pPr>
            <a:lvl2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2pPr>
            <a:lvl3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3pPr>
            <a:lvl4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4pPr>
            <a:lvl5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437793"/>
            <a:ext cx="5183188" cy="500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44577B-68F5-4BED-952A-0C1CF8E348EB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2853F8-F8EC-43A5-9C60-93D622F44FA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13" name="Content Placeholder 3"/>
          <p:cNvSpPr>
            <a:spLocks noGrp="1"/>
          </p:cNvSpPr>
          <p:nvPr>
            <p:ph sz="half" idx="13"/>
          </p:nvPr>
        </p:nvSpPr>
        <p:spPr>
          <a:xfrm>
            <a:off x="6184901" y="2006317"/>
            <a:ext cx="5157787" cy="36845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1pPr>
            <a:lvl2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2pPr>
            <a:lvl3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3pPr>
            <a:lvl4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4pPr>
            <a:lvl5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4" name="Content Placeholder 3"/>
          <p:cNvSpPr>
            <a:spLocks noGrp="1"/>
          </p:cNvSpPr>
          <p:nvPr>
            <p:ph sz="half" idx="14"/>
          </p:nvPr>
        </p:nvSpPr>
        <p:spPr>
          <a:xfrm>
            <a:off x="827087" y="5834355"/>
            <a:ext cx="10515600" cy="33996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 sz="750" i="1"/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3pPr>
            <a:lvl4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4pPr>
            <a:lvl5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pic>
        <p:nvPicPr>
          <p:cNvPr id="18" name="Picture 1052" descr="OAlogo_Small">
            <a:extLst>
              <a:ext uri="{FF2B5EF4-FFF2-40B4-BE49-F238E27FC236}">
                <a16:creationId xmlns:a16="http://schemas.microsoft.com/office/drawing/2014/main" id="{FF86FE45-0661-42D8-A5B0-6D7AFEE3E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7" y="6383269"/>
            <a:ext cx="1374005" cy="31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799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9782"/>
            <a:ext cx="10515600" cy="1728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defRPr sz="1050"/>
            </a:lvl1pPr>
            <a:lvl2pPr>
              <a:lnSpc>
                <a:spcPct val="100000"/>
              </a:lnSpc>
              <a:spcBef>
                <a:spcPts val="900"/>
              </a:spcBef>
              <a:defRPr sz="1050"/>
            </a:lvl2pPr>
            <a:lvl3pPr>
              <a:lnSpc>
                <a:spcPct val="100000"/>
              </a:lnSpc>
              <a:spcBef>
                <a:spcPts val="900"/>
              </a:spcBef>
              <a:defRPr sz="1050"/>
            </a:lvl3pPr>
            <a:lvl4pPr>
              <a:lnSpc>
                <a:spcPct val="100000"/>
              </a:lnSpc>
              <a:spcBef>
                <a:spcPts val="900"/>
              </a:spcBef>
              <a:defRPr sz="1050"/>
            </a:lvl4pPr>
            <a:lvl5pPr>
              <a:lnSpc>
                <a:spcPct val="10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09AA8-E81B-447B-8876-490AC55E2CE8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2853F8-F8EC-43A5-9C60-93D622F44FA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838200" y="1323976"/>
            <a:ext cx="10515600" cy="37394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827087" y="5834355"/>
            <a:ext cx="10515600" cy="339969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 sz="750" i="1"/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3pPr>
            <a:lvl4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4pPr>
            <a:lvl5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39788" y="217343"/>
            <a:ext cx="10515600" cy="45691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225"/>
              </a:spcAft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839788" y="754941"/>
            <a:ext cx="10515600" cy="365125"/>
          </a:xfrm>
        </p:spPr>
        <p:txBody>
          <a:bodyPr>
            <a:noAutofit/>
          </a:bodyPr>
          <a:lstStyle>
            <a:lvl1pPr marL="0" indent="0">
              <a:buNone/>
              <a:defRPr sz="1500" b="1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838200" y="4036548"/>
            <a:ext cx="10515600" cy="1728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defRPr sz="1050"/>
            </a:lvl1pPr>
            <a:lvl2pPr>
              <a:lnSpc>
                <a:spcPct val="100000"/>
              </a:lnSpc>
              <a:spcBef>
                <a:spcPts val="900"/>
              </a:spcBef>
              <a:defRPr sz="1050"/>
            </a:lvl2pPr>
            <a:lvl3pPr>
              <a:lnSpc>
                <a:spcPct val="100000"/>
              </a:lnSpc>
              <a:spcBef>
                <a:spcPts val="900"/>
              </a:spcBef>
              <a:defRPr sz="1050"/>
            </a:lvl3pPr>
            <a:lvl4pPr>
              <a:lnSpc>
                <a:spcPct val="100000"/>
              </a:lnSpc>
              <a:spcBef>
                <a:spcPts val="900"/>
              </a:spcBef>
              <a:defRPr sz="1050"/>
            </a:lvl4pPr>
            <a:lvl5pPr>
              <a:lnSpc>
                <a:spcPct val="10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7"/>
          </p:nvPr>
        </p:nvSpPr>
        <p:spPr>
          <a:xfrm>
            <a:off x="838200" y="3590739"/>
            <a:ext cx="10515600" cy="37394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cxnSp>
        <p:nvCxnSpPr>
          <p:cNvPr id="14" name="Straight Connector 7">
            <a:extLst>
              <a:ext uri="{FF2B5EF4-FFF2-40B4-BE49-F238E27FC236}">
                <a16:creationId xmlns:a16="http://schemas.microsoft.com/office/drawing/2014/main" id="{FCB08F5C-29D8-4431-95BF-73F2B5CA4FD6}"/>
              </a:ext>
            </a:extLst>
          </p:cNvPr>
          <p:cNvCxnSpPr>
            <a:cxnSpLocks/>
          </p:cNvCxnSpPr>
          <p:nvPr/>
        </p:nvCxnSpPr>
        <p:spPr>
          <a:xfrm>
            <a:off x="827089" y="1720107"/>
            <a:ext cx="10526713" cy="0"/>
          </a:xfrm>
          <a:prstGeom prst="line">
            <a:avLst/>
          </a:prstGeom>
          <a:ln w="190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7">
            <a:extLst>
              <a:ext uri="{FF2B5EF4-FFF2-40B4-BE49-F238E27FC236}">
                <a16:creationId xmlns:a16="http://schemas.microsoft.com/office/drawing/2014/main" id="{27621624-0AE5-4BD9-9C10-C1E1298ED484}"/>
              </a:ext>
            </a:extLst>
          </p:cNvPr>
          <p:cNvCxnSpPr>
            <a:cxnSpLocks/>
          </p:cNvCxnSpPr>
          <p:nvPr/>
        </p:nvCxnSpPr>
        <p:spPr>
          <a:xfrm>
            <a:off x="815976" y="3961259"/>
            <a:ext cx="10526713" cy="0"/>
          </a:xfrm>
          <a:prstGeom prst="line">
            <a:avLst/>
          </a:prstGeom>
          <a:ln w="1905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052" descr="OAlogo_Small">
            <a:extLst>
              <a:ext uri="{FF2B5EF4-FFF2-40B4-BE49-F238E27FC236}">
                <a16:creationId xmlns:a16="http://schemas.microsoft.com/office/drawing/2014/main" id="{FF86FE45-0661-42D8-A5B0-6D7AFEE3E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7" y="6383269"/>
            <a:ext cx="1374005" cy="31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0503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9782"/>
            <a:ext cx="5160000" cy="1728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/>
            </a:lvl1pPr>
            <a:lvl2pPr>
              <a:lnSpc>
                <a:spcPct val="100000"/>
              </a:lnSpc>
              <a:spcBef>
                <a:spcPts val="600"/>
              </a:spcBef>
              <a:defRPr sz="1050"/>
            </a:lvl2pPr>
            <a:lvl3pPr>
              <a:lnSpc>
                <a:spcPct val="100000"/>
              </a:lnSpc>
              <a:spcBef>
                <a:spcPts val="600"/>
              </a:spcBef>
              <a:defRPr sz="1050"/>
            </a:lvl3pPr>
            <a:lvl4pPr>
              <a:lnSpc>
                <a:spcPct val="100000"/>
              </a:lnSpc>
              <a:spcBef>
                <a:spcPts val="600"/>
              </a:spcBef>
              <a:defRPr sz="1050"/>
            </a:lvl4pPr>
            <a:lvl5pPr>
              <a:lnSpc>
                <a:spcPct val="100000"/>
              </a:lnSpc>
              <a:spcBef>
                <a:spcPts val="600"/>
              </a:spcBef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136140-F77E-41B1-A82B-CE9826801E4D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2853F8-F8EC-43A5-9C60-93D622F44FA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838200" y="1323976"/>
            <a:ext cx="5160000" cy="37394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827087" y="5834355"/>
            <a:ext cx="10515600" cy="339969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 sz="750" i="1"/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3pPr>
            <a:lvl4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4pPr>
            <a:lvl5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39788" y="217343"/>
            <a:ext cx="10515600" cy="45691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225"/>
              </a:spcAft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839788" y="754941"/>
            <a:ext cx="10515600" cy="365125"/>
          </a:xfrm>
        </p:spPr>
        <p:txBody>
          <a:bodyPr>
            <a:noAutofit/>
          </a:bodyPr>
          <a:lstStyle>
            <a:lvl1pPr marL="0" indent="0">
              <a:buNone/>
              <a:defRPr sz="1500" b="1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838200" y="4036548"/>
            <a:ext cx="5160000" cy="1728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/>
            </a:lvl1pPr>
            <a:lvl2pPr>
              <a:lnSpc>
                <a:spcPct val="100000"/>
              </a:lnSpc>
              <a:spcBef>
                <a:spcPts val="600"/>
              </a:spcBef>
              <a:defRPr sz="1050"/>
            </a:lvl2pPr>
            <a:lvl3pPr>
              <a:lnSpc>
                <a:spcPct val="100000"/>
              </a:lnSpc>
              <a:spcBef>
                <a:spcPts val="600"/>
              </a:spcBef>
              <a:defRPr sz="1050"/>
            </a:lvl3pPr>
            <a:lvl4pPr>
              <a:lnSpc>
                <a:spcPct val="100000"/>
              </a:lnSpc>
              <a:spcBef>
                <a:spcPts val="600"/>
              </a:spcBef>
              <a:defRPr sz="1050"/>
            </a:lvl4pPr>
            <a:lvl5pPr>
              <a:lnSpc>
                <a:spcPct val="100000"/>
              </a:lnSpc>
              <a:spcBef>
                <a:spcPts val="600"/>
              </a:spcBef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7"/>
          </p:nvPr>
        </p:nvSpPr>
        <p:spPr>
          <a:xfrm>
            <a:off x="838200" y="3590739"/>
            <a:ext cx="5160000" cy="37394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8"/>
          </p:nvPr>
        </p:nvSpPr>
        <p:spPr>
          <a:xfrm>
            <a:off x="6194424" y="1769782"/>
            <a:ext cx="5160000" cy="1728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/>
            </a:lvl1pPr>
            <a:lvl2pPr>
              <a:lnSpc>
                <a:spcPct val="100000"/>
              </a:lnSpc>
              <a:spcBef>
                <a:spcPts val="600"/>
              </a:spcBef>
              <a:defRPr sz="1050"/>
            </a:lvl2pPr>
            <a:lvl3pPr>
              <a:lnSpc>
                <a:spcPct val="100000"/>
              </a:lnSpc>
              <a:spcBef>
                <a:spcPts val="600"/>
              </a:spcBef>
              <a:defRPr sz="1050"/>
            </a:lvl3pPr>
            <a:lvl4pPr>
              <a:lnSpc>
                <a:spcPct val="100000"/>
              </a:lnSpc>
              <a:spcBef>
                <a:spcPts val="600"/>
              </a:spcBef>
              <a:defRPr sz="1050"/>
            </a:lvl4pPr>
            <a:lvl5pPr>
              <a:lnSpc>
                <a:spcPct val="100000"/>
              </a:lnSpc>
              <a:spcBef>
                <a:spcPts val="600"/>
              </a:spcBef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9"/>
          </p:nvPr>
        </p:nvSpPr>
        <p:spPr>
          <a:xfrm>
            <a:off x="6194424" y="1323976"/>
            <a:ext cx="5160000" cy="37394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20"/>
          </p:nvPr>
        </p:nvSpPr>
        <p:spPr>
          <a:xfrm>
            <a:off x="6194424" y="4036548"/>
            <a:ext cx="5160000" cy="1728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/>
            </a:lvl1pPr>
            <a:lvl2pPr>
              <a:lnSpc>
                <a:spcPct val="100000"/>
              </a:lnSpc>
              <a:spcBef>
                <a:spcPts val="600"/>
              </a:spcBef>
              <a:defRPr sz="1050"/>
            </a:lvl2pPr>
            <a:lvl3pPr>
              <a:lnSpc>
                <a:spcPct val="100000"/>
              </a:lnSpc>
              <a:spcBef>
                <a:spcPts val="600"/>
              </a:spcBef>
              <a:defRPr sz="1050"/>
            </a:lvl3pPr>
            <a:lvl4pPr>
              <a:lnSpc>
                <a:spcPct val="100000"/>
              </a:lnSpc>
              <a:spcBef>
                <a:spcPts val="600"/>
              </a:spcBef>
              <a:defRPr sz="1050"/>
            </a:lvl4pPr>
            <a:lvl5pPr>
              <a:lnSpc>
                <a:spcPct val="100000"/>
              </a:lnSpc>
              <a:spcBef>
                <a:spcPts val="600"/>
              </a:spcBef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21"/>
          </p:nvPr>
        </p:nvSpPr>
        <p:spPr>
          <a:xfrm>
            <a:off x="6194424" y="3590739"/>
            <a:ext cx="5160000" cy="37394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cxnSp>
        <p:nvCxnSpPr>
          <p:cNvPr id="20" name="Straight Connector 7">
            <a:extLst>
              <a:ext uri="{FF2B5EF4-FFF2-40B4-BE49-F238E27FC236}">
                <a16:creationId xmlns:a16="http://schemas.microsoft.com/office/drawing/2014/main" id="{4788367E-1610-4467-835D-F27133150522}"/>
              </a:ext>
            </a:extLst>
          </p:cNvPr>
          <p:cNvCxnSpPr>
            <a:cxnSpLocks/>
          </p:cNvCxnSpPr>
          <p:nvPr/>
        </p:nvCxnSpPr>
        <p:spPr>
          <a:xfrm>
            <a:off x="838200" y="1738161"/>
            <a:ext cx="515937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7">
            <a:extLst>
              <a:ext uri="{FF2B5EF4-FFF2-40B4-BE49-F238E27FC236}">
                <a16:creationId xmlns:a16="http://schemas.microsoft.com/office/drawing/2014/main" id="{309CC8DE-43E9-4D7B-9DE7-CCA33462280E}"/>
              </a:ext>
            </a:extLst>
          </p:cNvPr>
          <p:cNvCxnSpPr>
            <a:cxnSpLocks/>
          </p:cNvCxnSpPr>
          <p:nvPr/>
        </p:nvCxnSpPr>
        <p:spPr>
          <a:xfrm>
            <a:off x="6194424" y="1738161"/>
            <a:ext cx="515937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7">
            <a:extLst>
              <a:ext uri="{FF2B5EF4-FFF2-40B4-BE49-F238E27FC236}">
                <a16:creationId xmlns:a16="http://schemas.microsoft.com/office/drawing/2014/main" id="{C6A948D2-859A-45E0-AECE-868B689C88E3}"/>
              </a:ext>
            </a:extLst>
          </p:cNvPr>
          <p:cNvCxnSpPr>
            <a:cxnSpLocks/>
          </p:cNvCxnSpPr>
          <p:nvPr/>
        </p:nvCxnSpPr>
        <p:spPr>
          <a:xfrm>
            <a:off x="827087" y="3992967"/>
            <a:ext cx="515937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7">
            <a:extLst>
              <a:ext uri="{FF2B5EF4-FFF2-40B4-BE49-F238E27FC236}">
                <a16:creationId xmlns:a16="http://schemas.microsoft.com/office/drawing/2014/main" id="{B250CB2D-6135-4043-8AC0-FEAB17191B37}"/>
              </a:ext>
            </a:extLst>
          </p:cNvPr>
          <p:cNvCxnSpPr>
            <a:cxnSpLocks/>
          </p:cNvCxnSpPr>
          <p:nvPr/>
        </p:nvCxnSpPr>
        <p:spPr>
          <a:xfrm>
            <a:off x="6183311" y="3992967"/>
            <a:ext cx="515937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1052" descr="OAlogo_Small">
            <a:extLst>
              <a:ext uri="{FF2B5EF4-FFF2-40B4-BE49-F238E27FC236}">
                <a16:creationId xmlns:a16="http://schemas.microsoft.com/office/drawing/2014/main" id="{FF86FE45-0661-42D8-A5B0-6D7AFEE3E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7" y="6383269"/>
            <a:ext cx="1374005" cy="31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7104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9782"/>
            <a:ext cx="7440000" cy="1728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/>
            </a:lvl1pPr>
            <a:lvl2pPr>
              <a:lnSpc>
                <a:spcPct val="100000"/>
              </a:lnSpc>
              <a:spcBef>
                <a:spcPts val="600"/>
              </a:spcBef>
              <a:defRPr sz="1050"/>
            </a:lvl2pPr>
            <a:lvl3pPr>
              <a:lnSpc>
                <a:spcPct val="100000"/>
              </a:lnSpc>
              <a:spcBef>
                <a:spcPts val="600"/>
              </a:spcBef>
              <a:defRPr sz="1050"/>
            </a:lvl3pPr>
            <a:lvl4pPr>
              <a:lnSpc>
                <a:spcPct val="100000"/>
              </a:lnSpc>
              <a:spcBef>
                <a:spcPts val="600"/>
              </a:spcBef>
              <a:defRPr sz="1050"/>
            </a:lvl4pPr>
            <a:lvl5pPr>
              <a:lnSpc>
                <a:spcPct val="100000"/>
              </a:lnSpc>
              <a:spcBef>
                <a:spcPts val="600"/>
              </a:spcBef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0906FA-366B-409C-84AC-27746FF9B8C9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2853F8-F8EC-43A5-9C60-93D622F44FA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838200" y="1323976"/>
            <a:ext cx="7440000" cy="37394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827087" y="5834355"/>
            <a:ext cx="10515600" cy="339969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 sz="750" i="1"/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3pPr>
            <a:lvl4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4pPr>
            <a:lvl5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39788" y="217343"/>
            <a:ext cx="10515600" cy="45691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225"/>
              </a:spcAft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839788" y="754941"/>
            <a:ext cx="10515600" cy="365125"/>
          </a:xfrm>
        </p:spPr>
        <p:txBody>
          <a:bodyPr>
            <a:noAutofit/>
          </a:bodyPr>
          <a:lstStyle>
            <a:lvl1pPr marL="0" indent="0">
              <a:buNone/>
              <a:defRPr sz="1500" b="1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838200" y="4036548"/>
            <a:ext cx="7440000" cy="1728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/>
            </a:lvl1pPr>
            <a:lvl2pPr>
              <a:lnSpc>
                <a:spcPct val="100000"/>
              </a:lnSpc>
              <a:spcBef>
                <a:spcPts val="600"/>
              </a:spcBef>
              <a:defRPr sz="1050"/>
            </a:lvl2pPr>
            <a:lvl3pPr>
              <a:lnSpc>
                <a:spcPct val="100000"/>
              </a:lnSpc>
              <a:spcBef>
                <a:spcPts val="600"/>
              </a:spcBef>
              <a:defRPr sz="1050"/>
            </a:lvl3pPr>
            <a:lvl4pPr>
              <a:lnSpc>
                <a:spcPct val="100000"/>
              </a:lnSpc>
              <a:spcBef>
                <a:spcPts val="600"/>
              </a:spcBef>
              <a:defRPr sz="1050"/>
            </a:lvl4pPr>
            <a:lvl5pPr>
              <a:lnSpc>
                <a:spcPct val="100000"/>
              </a:lnSpc>
              <a:spcBef>
                <a:spcPts val="600"/>
              </a:spcBef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7"/>
          </p:nvPr>
        </p:nvSpPr>
        <p:spPr>
          <a:xfrm>
            <a:off x="838200" y="3590739"/>
            <a:ext cx="7440000" cy="37394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8" hasCustomPrompt="1"/>
          </p:nvPr>
        </p:nvSpPr>
        <p:spPr>
          <a:xfrm>
            <a:off x="8446416" y="1769782"/>
            <a:ext cx="2907384" cy="1728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altLang="zh-CN" dirty="0"/>
              <a:t>Edit Master text </a:t>
            </a:r>
            <a:r>
              <a:rPr lang="en-US" altLang="zh-CN" dirty="0" err="1"/>
              <a:t>stylesth</a:t>
            </a:r>
            <a:r>
              <a:rPr lang="en-US" altLang="zh-CN" dirty="0"/>
              <a:t> level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9"/>
          </p:nvPr>
        </p:nvSpPr>
        <p:spPr>
          <a:xfrm>
            <a:off x="8446416" y="1323976"/>
            <a:ext cx="2907384" cy="37394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20"/>
          </p:nvPr>
        </p:nvSpPr>
        <p:spPr>
          <a:xfrm>
            <a:off x="8446416" y="4036548"/>
            <a:ext cx="2907384" cy="1728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1"/>
          </p:nvPr>
        </p:nvSpPr>
        <p:spPr>
          <a:xfrm>
            <a:off x="8446416" y="3590739"/>
            <a:ext cx="2907384" cy="37394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cxnSp>
        <p:nvCxnSpPr>
          <p:cNvPr id="20" name="Straight Connector 7">
            <a:extLst>
              <a:ext uri="{FF2B5EF4-FFF2-40B4-BE49-F238E27FC236}">
                <a16:creationId xmlns:a16="http://schemas.microsoft.com/office/drawing/2014/main" id="{62127023-F653-446F-A9E6-D7BA8AAC169E}"/>
              </a:ext>
            </a:extLst>
          </p:cNvPr>
          <p:cNvCxnSpPr>
            <a:cxnSpLocks/>
          </p:cNvCxnSpPr>
          <p:nvPr/>
        </p:nvCxnSpPr>
        <p:spPr>
          <a:xfrm>
            <a:off x="838200" y="1738161"/>
            <a:ext cx="74400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7">
            <a:extLst>
              <a:ext uri="{FF2B5EF4-FFF2-40B4-BE49-F238E27FC236}">
                <a16:creationId xmlns:a16="http://schemas.microsoft.com/office/drawing/2014/main" id="{8B5DBCBD-F5FF-4186-81EB-5678EA4F9972}"/>
              </a:ext>
            </a:extLst>
          </p:cNvPr>
          <p:cNvCxnSpPr>
            <a:cxnSpLocks/>
          </p:cNvCxnSpPr>
          <p:nvPr/>
        </p:nvCxnSpPr>
        <p:spPr>
          <a:xfrm>
            <a:off x="8446415" y="1738161"/>
            <a:ext cx="29088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7">
            <a:extLst>
              <a:ext uri="{FF2B5EF4-FFF2-40B4-BE49-F238E27FC236}">
                <a16:creationId xmlns:a16="http://schemas.microsoft.com/office/drawing/2014/main" id="{919E0216-0CF0-4D1F-A2EE-D69999BE96B7}"/>
              </a:ext>
            </a:extLst>
          </p:cNvPr>
          <p:cNvCxnSpPr>
            <a:cxnSpLocks/>
          </p:cNvCxnSpPr>
          <p:nvPr/>
        </p:nvCxnSpPr>
        <p:spPr>
          <a:xfrm>
            <a:off x="827087" y="3992967"/>
            <a:ext cx="74400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7">
            <a:extLst>
              <a:ext uri="{FF2B5EF4-FFF2-40B4-BE49-F238E27FC236}">
                <a16:creationId xmlns:a16="http://schemas.microsoft.com/office/drawing/2014/main" id="{7952ADA6-082A-4D15-9741-618E476D5E17}"/>
              </a:ext>
            </a:extLst>
          </p:cNvPr>
          <p:cNvCxnSpPr>
            <a:cxnSpLocks/>
          </p:cNvCxnSpPr>
          <p:nvPr/>
        </p:nvCxnSpPr>
        <p:spPr>
          <a:xfrm>
            <a:off x="8446415" y="3992967"/>
            <a:ext cx="29088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1052" descr="OAlogo_Small">
            <a:extLst>
              <a:ext uri="{FF2B5EF4-FFF2-40B4-BE49-F238E27FC236}">
                <a16:creationId xmlns:a16="http://schemas.microsoft.com/office/drawing/2014/main" id="{FF86FE45-0661-42D8-A5B0-6D7AFEE3E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7" y="6383269"/>
            <a:ext cx="1374005" cy="31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19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18761"/>
            <a:ext cx="10515600" cy="369474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/>
            </a:lvl1pPr>
            <a:lvl2pPr>
              <a:lnSpc>
                <a:spcPct val="100000"/>
              </a:lnSpc>
              <a:spcBef>
                <a:spcPts val="600"/>
              </a:spcBef>
              <a:defRPr sz="1050"/>
            </a:lvl2pPr>
            <a:lvl3pPr>
              <a:lnSpc>
                <a:spcPct val="100000"/>
              </a:lnSpc>
              <a:spcBef>
                <a:spcPts val="600"/>
              </a:spcBef>
              <a:defRPr sz="1050"/>
            </a:lvl3pPr>
            <a:lvl4pPr>
              <a:lnSpc>
                <a:spcPct val="100000"/>
              </a:lnSpc>
              <a:spcBef>
                <a:spcPts val="600"/>
              </a:spcBef>
              <a:defRPr sz="1050"/>
            </a:lvl4pPr>
            <a:lvl5pPr>
              <a:lnSpc>
                <a:spcPct val="100000"/>
              </a:lnSpc>
              <a:spcBef>
                <a:spcPts val="600"/>
              </a:spcBef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62C8F7-09BE-499D-A4A6-0A53F791F4F0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2853F8-F8EC-43A5-9C60-93D622F44FA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838200" y="1323971"/>
            <a:ext cx="10515600" cy="504000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827087" y="5834355"/>
            <a:ext cx="10515600" cy="339969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 sz="750" i="1"/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3pPr>
            <a:lvl4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4pPr>
            <a:lvl5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839788" y="217343"/>
            <a:ext cx="10515600" cy="45691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225"/>
              </a:spcAft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839788" y="754941"/>
            <a:ext cx="10515600" cy="365125"/>
          </a:xfrm>
        </p:spPr>
        <p:txBody>
          <a:bodyPr>
            <a:noAutofit/>
          </a:bodyPr>
          <a:lstStyle>
            <a:lvl1pPr marL="0" indent="0">
              <a:buNone/>
              <a:defRPr sz="1500" b="1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pic>
        <p:nvPicPr>
          <p:cNvPr id="13" name="Picture 1052" descr="OAlogo_Small">
            <a:extLst>
              <a:ext uri="{FF2B5EF4-FFF2-40B4-BE49-F238E27FC236}">
                <a16:creationId xmlns:a16="http://schemas.microsoft.com/office/drawing/2014/main" id="{FF86FE45-0661-42D8-A5B0-6D7AFEE3E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7" y="6383269"/>
            <a:ext cx="1374005" cy="31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679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D70E3CAC-432D-4C64-9A76-06DE6E9EE4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60" imgH="360" progId="TCLayout.ActiveDocument.1">
                  <p:embed/>
                </p:oleObj>
              </mc:Choice>
              <mc:Fallback>
                <p:oleObj name="think-cell 幻灯片" r:id="rId3" imgW="360" imgH="360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D70E3CAC-432D-4C64-9A76-06DE6E9EE4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CCC71-0747-4F42-BDD5-C904DD7837D9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2853F8-F8EC-43A5-9C60-93D622F44FA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642533"/>
            <a:ext cx="10515600" cy="397097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050"/>
            </a:lvl1pPr>
            <a:lvl2pPr>
              <a:lnSpc>
                <a:spcPct val="100000"/>
              </a:lnSpc>
              <a:spcBef>
                <a:spcPts val="600"/>
              </a:spcBef>
              <a:defRPr sz="1050"/>
            </a:lvl2pPr>
            <a:lvl3pPr>
              <a:lnSpc>
                <a:spcPct val="100000"/>
              </a:lnSpc>
              <a:spcBef>
                <a:spcPts val="600"/>
              </a:spcBef>
              <a:defRPr sz="1050"/>
            </a:lvl3pPr>
            <a:lvl4pPr>
              <a:lnSpc>
                <a:spcPct val="100000"/>
              </a:lnSpc>
              <a:spcBef>
                <a:spcPts val="600"/>
              </a:spcBef>
              <a:defRPr sz="1050"/>
            </a:lvl4pPr>
            <a:lvl5pPr>
              <a:lnSpc>
                <a:spcPct val="100000"/>
              </a:lnSpc>
              <a:spcBef>
                <a:spcPts val="600"/>
              </a:spcBef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9788" y="217343"/>
            <a:ext cx="10515600" cy="456911"/>
          </a:xfrm>
        </p:spPr>
        <p:txBody>
          <a:bodyPr vert="horz"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225"/>
              </a:spcAft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839788" y="754941"/>
            <a:ext cx="10515600" cy="365125"/>
          </a:xfrm>
        </p:spPr>
        <p:txBody>
          <a:bodyPr>
            <a:noAutofit/>
          </a:bodyPr>
          <a:lstStyle>
            <a:lvl1pPr marL="0" indent="0">
              <a:buNone/>
              <a:defRPr sz="1500" b="1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827087" y="5834355"/>
            <a:ext cx="10515600" cy="339969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 sz="750" i="1"/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3pPr>
            <a:lvl4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4pPr>
            <a:lvl5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pic>
        <p:nvPicPr>
          <p:cNvPr id="11" name="Picture 1052" descr="OAlogo_Small">
            <a:extLst>
              <a:ext uri="{FF2B5EF4-FFF2-40B4-BE49-F238E27FC236}">
                <a16:creationId xmlns:a16="http://schemas.microsoft.com/office/drawing/2014/main" id="{FF86FE45-0661-42D8-A5B0-6D7AFEE3E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7" y="6383269"/>
            <a:ext cx="1374005" cy="31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9828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1956328"/>
          </a:xfrm>
        </p:spPr>
        <p:txBody>
          <a:bodyPr anchor="b">
            <a:norm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869E1-F7C8-4EDF-92A2-D4C77768DB24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2853F8-F8EC-43A5-9C60-93D622F44FA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pic>
        <p:nvPicPr>
          <p:cNvPr id="8" name="Picture 1052" descr="OAlogo_Small">
            <a:extLst>
              <a:ext uri="{FF2B5EF4-FFF2-40B4-BE49-F238E27FC236}">
                <a16:creationId xmlns:a16="http://schemas.microsoft.com/office/drawing/2014/main" id="{FF86FE45-0661-42D8-A5B0-6D7AFEE3E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7" y="6383269"/>
            <a:ext cx="1374005" cy="31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1647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50E6B-F8FE-4656-8568-16BE17887955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2853F8-F8EC-43A5-9C60-93D622F44FA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9788" y="217343"/>
            <a:ext cx="10515600" cy="45691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225"/>
              </a:spcAft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839788" y="754941"/>
            <a:ext cx="10515600" cy="365125"/>
          </a:xfrm>
        </p:spPr>
        <p:txBody>
          <a:bodyPr>
            <a:noAutofit/>
          </a:bodyPr>
          <a:lstStyle>
            <a:lvl1pPr marL="0" indent="0">
              <a:buNone/>
              <a:defRPr sz="1500" b="1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pic>
        <p:nvPicPr>
          <p:cNvPr id="9" name="Picture 1052" descr="OAlogo_Small">
            <a:extLst>
              <a:ext uri="{FF2B5EF4-FFF2-40B4-BE49-F238E27FC236}">
                <a16:creationId xmlns:a16="http://schemas.microsoft.com/office/drawing/2014/main" id="{FF86FE45-0661-42D8-A5B0-6D7AFEE3E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7" y="6383269"/>
            <a:ext cx="1374005" cy="31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868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>
          <a:xfrm>
            <a:off x="839788" y="217343"/>
            <a:ext cx="10515600" cy="45691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225"/>
              </a:spcAft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5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313283"/>
            <a:ext cx="6118411" cy="4032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04875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1672388"/>
            <a:ext cx="6118411" cy="424750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1pPr>
            <a:lvl2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2pPr>
            <a:lvl3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3pPr>
            <a:lvl4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4pPr>
            <a:lvl5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56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083571" y="1313283"/>
            <a:ext cx="4271820" cy="3924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04875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62362C-6FDE-419E-A96A-F79E01CF6B80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104875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104875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BF3A7B-2B3B-4F2E-96B4-EE69902B656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1048760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7096270" y="1657213"/>
            <a:ext cx="4246418" cy="19422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1pPr>
            <a:lvl2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2pPr>
            <a:lvl3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3pPr>
            <a:lvl4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4pPr>
            <a:lvl5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4876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827087" y="5930611"/>
            <a:ext cx="10515600" cy="33996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None/>
              <a:defRPr sz="750" i="1"/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3pPr>
            <a:lvl4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4pPr>
            <a:lvl5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05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762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839788" y="754941"/>
            <a:ext cx="10515600" cy="365125"/>
          </a:xfrm>
        </p:spPr>
        <p:txBody>
          <a:bodyPr>
            <a:noAutofit/>
          </a:bodyPr>
          <a:lstStyle>
            <a:lvl1pPr marL="0" indent="0">
              <a:buNone/>
              <a:defRPr sz="1500" b="1"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cxnSp>
        <p:nvCxnSpPr>
          <p:cNvPr id="3145740" name="Straight Connector 7"/>
          <p:cNvCxnSpPr>
            <a:cxnSpLocks/>
          </p:cNvCxnSpPr>
          <p:nvPr/>
        </p:nvCxnSpPr>
        <p:spPr>
          <a:xfrm>
            <a:off x="838200" y="1649637"/>
            <a:ext cx="61200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1" name="Straight Connector 7"/>
          <p:cNvCxnSpPr>
            <a:cxnSpLocks/>
          </p:cNvCxnSpPr>
          <p:nvPr/>
        </p:nvCxnSpPr>
        <p:spPr>
          <a:xfrm>
            <a:off x="7107382" y="1649637"/>
            <a:ext cx="4246418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63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7096269" y="3663625"/>
            <a:ext cx="4271819" cy="3924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048764" name="Content Placeholder 3"/>
          <p:cNvSpPr>
            <a:spLocks noGrp="1"/>
          </p:cNvSpPr>
          <p:nvPr>
            <p:ph sz="half" idx="17" hasCustomPrompt="1"/>
          </p:nvPr>
        </p:nvSpPr>
        <p:spPr>
          <a:xfrm>
            <a:off x="7096270" y="4023596"/>
            <a:ext cx="4259116" cy="191619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1pPr>
            <a:lvl2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2pPr>
            <a:lvl3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3pPr>
            <a:lvl4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4pPr>
            <a:lvl5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3145742" name="Straight Connector 7"/>
          <p:cNvCxnSpPr>
            <a:cxnSpLocks/>
          </p:cNvCxnSpPr>
          <p:nvPr userDrawn="1"/>
        </p:nvCxnSpPr>
        <p:spPr>
          <a:xfrm>
            <a:off x="7107382" y="4016021"/>
            <a:ext cx="42480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052" descr="OAlogo_Small">
            <a:extLst>
              <a:ext uri="{FF2B5EF4-FFF2-40B4-BE49-F238E27FC236}">
                <a16:creationId xmlns:a16="http://schemas.microsoft.com/office/drawing/2014/main" id="{FF86FE45-0661-42D8-A5B0-6D7AFEE3EC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7" y="6383269"/>
            <a:ext cx="1374005" cy="31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0089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2ACE69E-E4E3-2702-EFCE-19D6115DAB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49742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60" imgH="360" progId="TCLayout.ActiveDocument.1">
                  <p:embed/>
                </p:oleObj>
              </mc:Choice>
              <mc:Fallback>
                <p:oleObj name="think-cell 幻灯片" r:id="rId3" imgW="360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200" y="365127"/>
            <a:ext cx="10076400" cy="720000"/>
          </a:xfrm>
        </p:spPr>
        <p:txBody>
          <a:bodyPr vert="horz">
            <a:normAutofit/>
          </a:bodyPr>
          <a:lstStyle>
            <a:lvl1pPr>
              <a:defRPr sz="2400" b="1">
                <a:solidFill>
                  <a:schemeClr val="tx2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055404-14F2-4D3A-ADAC-560E49068BB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20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>
            <a:extLst>
              <a:ext uri="{FF2B5EF4-FFF2-40B4-BE49-F238E27FC236}">
                <a16:creationId xmlns:a16="http://schemas.microsoft.com/office/drawing/2014/main" id="{71765387-29C5-4A2D-BD57-711963B38BD0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395" imgH="394" progId="TCLayout.ActiveDocument.1">
                  <p:embed/>
                </p:oleObj>
              </mc:Choice>
              <mc:Fallback>
                <p:oleObj name="think-cell 幻灯片" r:id="rId15" imgW="395" imgH="394" progId="TCLayout.ActiveDocument.1">
                  <p:embed/>
                  <p:pic>
                    <p:nvPicPr>
                      <p:cNvPr id="7" name="对象 6" hidden="1">
                        <a:extLst>
                          <a:ext uri="{FF2B5EF4-FFF2-40B4-BE49-F238E27FC236}">
                            <a16:creationId xmlns:a16="http://schemas.microsoft.com/office/drawing/2014/main" id="{71765387-29C5-4A2D-BD57-711963B38B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F3513-DF48-4EB6-963B-21E18D715D4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5/13/2026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t>内部资料，严格保密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09964"/>
            <a:ext cx="121920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264707"/>
            <a:ext cx="1219200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40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9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90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0070C0"/>
        </a:buClr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70C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70C0"/>
        </a:buClr>
        <a:buFont typeface="Arial" panose="020B0604020202020204" pitchFamily="34" charset="0"/>
        <a:buChar char="̶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70C0"/>
        </a:buClr>
        <a:buFont typeface="Arial" panose="020B0604020202020204" pitchFamily="34" charset="0"/>
        <a:buChar char="-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5" Type="http://schemas.openxmlformats.org/officeDocument/2006/relationships/chart" Target="../charts/chart1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5" Type="http://schemas.openxmlformats.org/officeDocument/2006/relationships/chart" Target="../charts/chart2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tags" Target="../tags/tag37.xml"/><Relationship Id="rId39" Type="http://schemas.openxmlformats.org/officeDocument/2006/relationships/tags" Target="../tags/tag50.xml"/><Relationship Id="rId21" Type="http://schemas.openxmlformats.org/officeDocument/2006/relationships/tags" Target="../tags/tag32.xml"/><Relationship Id="rId34" Type="http://schemas.openxmlformats.org/officeDocument/2006/relationships/tags" Target="../tags/tag45.xml"/><Relationship Id="rId42" Type="http://schemas.openxmlformats.org/officeDocument/2006/relationships/slideLayout" Target="../slideLayouts/slideLayout12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9" Type="http://schemas.openxmlformats.org/officeDocument/2006/relationships/tags" Target="../tags/tag40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32" Type="http://schemas.openxmlformats.org/officeDocument/2006/relationships/tags" Target="../tags/tag43.xml"/><Relationship Id="rId37" Type="http://schemas.openxmlformats.org/officeDocument/2006/relationships/tags" Target="../tags/tag48.xml"/><Relationship Id="rId40" Type="http://schemas.openxmlformats.org/officeDocument/2006/relationships/tags" Target="../tags/tag51.xml"/><Relationship Id="rId45" Type="http://schemas.openxmlformats.org/officeDocument/2006/relationships/chart" Target="../charts/chart3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28" Type="http://schemas.openxmlformats.org/officeDocument/2006/relationships/tags" Target="../tags/tag39.xml"/><Relationship Id="rId36" Type="http://schemas.openxmlformats.org/officeDocument/2006/relationships/tags" Target="../tags/tag47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31" Type="http://schemas.openxmlformats.org/officeDocument/2006/relationships/tags" Target="../tags/tag42.xml"/><Relationship Id="rId44" Type="http://schemas.openxmlformats.org/officeDocument/2006/relationships/image" Target="../media/image3.emf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tags" Target="../tags/tag38.xml"/><Relationship Id="rId30" Type="http://schemas.openxmlformats.org/officeDocument/2006/relationships/tags" Target="../tags/tag41.xml"/><Relationship Id="rId35" Type="http://schemas.openxmlformats.org/officeDocument/2006/relationships/tags" Target="../tags/tag46.xml"/><Relationship Id="rId43" Type="http://schemas.openxmlformats.org/officeDocument/2006/relationships/oleObject" Target="../embeddings/oleObject10.bin"/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33" Type="http://schemas.openxmlformats.org/officeDocument/2006/relationships/tags" Target="../tags/tag44.xml"/><Relationship Id="rId38" Type="http://schemas.openxmlformats.org/officeDocument/2006/relationships/tags" Target="../tags/tag49.xml"/><Relationship Id="rId20" Type="http://schemas.openxmlformats.org/officeDocument/2006/relationships/tags" Target="../tags/tag31.xml"/><Relationship Id="rId41" Type="http://schemas.openxmlformats.org/officeDocument/2006/relationships/tags" Target="../tags/tag5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3.xml"/><Relationship Id="rId5" Type="http://schemas.openxmlformats.org/officeDocument/2006/relationships/chart" Target="../charts/chart4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4.xml"/><Relationship Id="rId5" Type="http://schemas.openxmlformats.org/officeDocument/2006/relationships/chart" Target="../charts/chart5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5.xml"/><Relationship Id="rId5" Type="http://schemas.openxmlformats.org/officeDocument/2006/relationships/image" Target="../media/image6.jpg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6.xml"/><Relationship Id="rId5" Type="http://schemas.openxmlformats.org/officeDocument/2006/relationships/chart" Target="../charts/chart6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26" Type="http://schemas.openxmlformats.org/officeDocument/2006/relationships/tags" Target="../tags/tag82.xml"/><Relationship Id="rId39" Type="http://schemas.openxmlformats.org/officeDocument/2006/relationships/tags" Target="../tags/tag95.xml"/><Relationship Id="rId21" Type="http://schemas.openxmlformats.org/officeDocument/2006/relationships/tags" Target="../tags/tag77.xml"/><Relationship Id="rId34" Type="http://schemas.openxmlformats.org/officeDocument/2006/relationships/tags" Target="../tags/tag90.xml"/><Relationship Id="rId42" Type="http://schemas.openxmlformats.org/officeDocument/2006/relationships/tags" Target="../tags/tag98.xml"/><Relationship Id="rId47" Type="http://schemas.openxmlformats.org/officeDocument/2006/relationships/tags" Target="../tags/tag103.xml"/><Relationship Id="rId50" Type="http://schemas.openxmlformats.org/officeDocument/2006/relationships/tags" Target="../tags/tag106.xml"/><Relationship Id="rId55" Type="http://schemas.openxmlformats.org/officeDocument/2006/relationships/tags" Target="../tags/tag111.xml"/><Relationship Id="rId7" Type="http://schemas.openxmlformats.org/officeDocument/2006/relationships/tags" Target="../tags/tag6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9" Type="http://schemas.openxmlformats.org/officeDocument/2006/relationships/tags" Target="../tags/tag85.xml"/><Relationship Id="rId11" Type="http://schemas.openxmlformats.org/officeDocument/2006/relationships/tags" Target="../tags/tag67.xml"/><Relationship Id="rId24" Type="http://schemas.openxmlformats.org/officeDocument/2006/relationships/tags" Target="../tags/tag80.xml"/><Relationship Id="rId32" Type="http://schemas.openxmlformats.org/officeDocument/2006/relationships/tags" Target="../tags/tag88.xml"/><Relationship Id="rId37" Type="http://schemas.openxmlformats.org/officeDocument/2006/relationships/tags" Target="../tags/tag93.xml"/><Relationship Id="rId40" Type="http://schemas.openxmlformats.org/officeDocument/2006/relationships/tags" Target="../tags/tag96.xml"/><Relationship Id="rId45" Type="http://schemas.openxmlformats.org/officeDocument/2006/relationships/tags" Target="../tags/tag101.xml"/><Relationship Id="rId53" Type="http://schemas.openxmlformats.org/officeDocument/2006/relationships/tags" Target="../tags/tag109.xml"/><Relationship Id="rId58" Type="http://schemas.openxmlformats.org/officeDocument/2006/relationships/slideLayout" Target="../slideLayouts/slideLayout12.xml"/><Relationship Id="rId5" Type="http://schemas.openxmlformats.org/officeDocument/2006/relationships/tags" Target="../tags/tag61.xml"/><Relationship Id="rId61" Type="http://schemas.openxmlformats.org/officeDocument/2006/relationships/chart" Target="../charts/chart8.xml"/><Relationship Id="rId19" Type="http://schemas.openxmlformats.org/officeDocument/2006/relationships/tags" Target="../tags/tag75.xml"/><Relationship Id="rId14" Type="http://schemas.openxmlformats.org/officeDocument/2006/relationships/tags" Target="../tags/tag70.xml"/><Relationship Id="rId22" Type="http://schemas.openxmlformats.org/officeDocument/2006/relationships/tags" Target="../tags/tag78.xml"/><Relationship Id="rId27" Type="http://schemas.openxmlformats.org/officeDocument/2006/relationships/tags" Target="../tags/tag83.xml"/><Relationship Id="rId30" Type="http://schemas.openxmlformats.org/officeDocument/2006/relationships/tags" Target="../tags/tag86.xml"/><Relationship Id="rId35" Type="http://schemas.openxmlformats.org/officeDocument/2006/relationships/tags" Target="../tags/tag91.xml"/><Relationship Id="rId43" Type="http://schemas.openxmlformats.org/officeDocument/2006/relationships/tags" Target="../tags/tag99.xml"/><Relationship Id="rId48" Type="http://schemas.openxmlformats.org/officeDocument/2006/relationships/tags" Target="../tags/tag104.xml"/><Relationship Id="rId56" Type="http://schemas.openxmlformats.org/officeDocument/2006/relationships/tags" Target="../tags/tag112.xml"/><Relationship Id="rId8" Type="http://schemas.openxmlformats.org/officeDocument/2006/relationships/tags" Target="../tags/tag64.xml"/><Relationship Id="rId51" Type="http://schemas.openxmlformats.org/officeDocument/2006/relationships/tags" Target="../tags/tag107.xml"/><Relationship Id="rId3" Type="http://schemas.openxmlformats.org/officeDocument/2006/relationships/tags" Target="../tags/tag59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5" Type="http://schemas.openxmlformats.org/officeDocument/2006/relationships/tags" Target="../tags/tag81.xml"/><Relationship Id="rId33" Type="http://schemas.openxmlformats.org/officeDocument/2006/relationships/tags" Target="../tags/tag89.xml"/><Relationship Id="rId38" Type="http://schemas.openxmlformats.org/officeDocument/2006/relationships/tags" Target="../tags/tag94.xml"/><Relationship Id="rId46" Type="http://schemas.openxmlformats.org/officeDocument/2006/relationships/tags" Target="../tags/tag102.xml"/><Relationship Id="rId59" Type="http://schemas.openxmlformats.org/officeDocument/2006/relationships/oleObject" Target="../embeddings/oleObject15.bin"/><Relationship Id="rId20" Type="http://schemas.openxmlformats.org/officeDocument/2006/relationships/tags" Target="../tags/tag76.xml"/><Relationship Id="rId41" Type="http://schemas.openxmlformats.org/officeDocument/2006/relationships/tags" Target="../tags/tag97.xml"/><Relationship Id="rId54" Type="http://schemas.openxmlformats.org/officeDocument/2006/relationships/tags" Target="../tags/tag110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5" Type="http://schemas.openxmlformats.org/officeDocument/2006/relationships/tags" Target="../tags/tag71.xml"/><Relationship Id="rId23" Type="http://schemas.openxmlformats.org/officeDocument/2006/relationships/tags" Target="../tags/tag79.xml"/><Relationship Id="rId28" Type="http://schemas.openxmlformats.org/officeDocument/2006/relationships/tags" Target="../tags/tag84.xml"/><Relationship Id="rId36" Type="http://schemas.openxmlformats.org/officeDocument/2006/relationships/tags" Target="../tags/tag92.xml"/><Relationship Id="rId49" Type="http://schemas.openxmlformats.org/officeDocument/2006/relationships/tags" Target="../tags/tag105.xml"/><Relationship Id="rId57" Type="http://schemas.openxmlformats.org/officeDocument/2006/relationships/tags" Target="../tags/tag113.xml"/><Relationship Id="rId10" Type="http://schemas.openxmlformats.org/officeDocument/2006/relationships/tags" Target="../tags/tag66.xml"/><Relationship Id="rId31" Type="http://schemas.openxmlformats.org/officeDocument/2006/relationships/tags" Target="../tags/tag87.xml"/><Relationship Id="rId44" Type="http://schemas.openxmlformats.org/officeDocument/2006/relationships/tags" Target="../tags/tag100.xml"/><Relationship Id="rId52" Type="http://schemas.openxmlformats.org/officeDocument/2006/relationships/tags" Target="../tags/tag108.xml"/><Relationship Id="rId60" Type="http://schemas.openxmlformats.org/officeDocument/2006/relationships/image" Target="../media/image3.emf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4.xml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5.xml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6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image" Target="../media/image3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7.xml"/><Relationship Id="rId5" Type="http://schemas.openxmlformats.org/officeDocument/2006/relationships/chart" Target="../charts/chart19.xml"/><Relationship Id="rId4" Type="http://schemas.openxmlformats.org/officeDocument/2006/relationships/image" Target="../media/image3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8.xml"/><Relationship Id="rId5" Type="http://schemas.openxmlformats.org/officeDocument/2006/relationships/image" Target="../media/image16.jpg"/><Relationship Id="rId4" Type="http://schemas.openxmlformats.org/officeDocument/2006/relationships/image" Target="../media/image3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9.xml"/><Relationship Id="rId5" Type="http://schemas.openxmlformats.org/officeDocument/2006/relationships/chart" Target="../charts/chart21.xml"/><Relationship Id="rId4" Type="http://schemas.openxmlformats.org/officeDocument/2006/relationships/image" Target="../media/image3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0.xml"/><Relationship Id="rId4" Type="http://schemas.openxmlformats.org/officeDocument/2006/relationships/image" Target="../media/image3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3600" b="1" dirty="0" err="1">
                <a:latin typeface="Book Antiqua"/>
              </a:rPr>
              <a:t>全球高压输变电设备</a:t>
            </a:r>
            <a:r>
              <a:rPr lang="zh-CN" altLang="en-US" sz="3600" b="1" dirty="0">
                <a:latin typeface="Book Antiqua"/>
              </a:rPr>
              <a:t>行业研究</a:t>
            </a:r>
            <a:endParaRPr sz="3600" b="1" dirty="0">
              <a:latin typeface="Book Antiqu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ctr"/>
            <a:r>
              <a:rPr sz="1400" dirty="0">
                <a:latin typeface="Book Antiqua"/>
              </a:rPr>
              <a:t>March 2026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2983735-D3E0-ADC2-2D15-53A0C553EA9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983735-D3E0-ADC2-2D15-53A0C553EA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>
            <a:normAutofit/>
          </a:bodyPr>
          <a:lstStyle/>
          <a:p>
            <a:r>
              <a:rPr lang="en-US" sz="1800" b="1" dirty="0">
                <a:solidFill>
                  <a:srgbClr val="00355F"/>
                </a:solidFill>
                <a:latin typeface="Book Antiqua"/>
              </a:rPr>
              <a:t>E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xecutive </a:t>
            </a:r>
            <a:r>
              <a:rPr lang="en-US" sz="1800" b="1" dirty="0">
                <a:solidFill>
                  <a:srgbClr val="00355F"/>
                </a:solidFill>
                <a:latin typeface="Book Antiqua"/>
              </a:rPr>
              <a:t>S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ummary 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（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1</a:t>
            </a:r>
            <a:r>
              <a:rPr lang="en-US" altLang="zh-CN" sz="1800" dirty="0">
                <a:solidFill>
                  <a:srgbClr val="00355F"/>
                </a:solidFill>
                <a:latin typeface="Book Antiqua"/>
              </a:rPr>
              <a:t>/2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）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IEA 2024; Wood Mackenzie 2025; Citi Research March 2026; Hitachi/Siemens/TBEA IR; Metro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1" y="1422520"/>
            <a:ext cx="1102972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355F"/>
                </a:solidFill>
                <a:latin typeface="Book Antiqua"/>
              </a:rPr>
              <a:t>需求端：三重驱动同时爆发，2019-2030年变压器有效需求翻3倍</a:t>
            </a:r>
          </a:p>
          <a:p>
            <a:pPr marL="228600" indent="-114300">
              <a:buFont typeface="Arial"/>
              <a:buChar char="•"/>
            </a:pPr>
            <a:r>
              <a:rPr sz="1200" b="1" dirty="0">
                <a:solidFill>
                  <a:srgbClr val="303030"/>
                </a:solidFill>
                <a:latin typeface="Book Antiqua"/>
              </a:rPr>
              <a:t>电网老化替换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（占美国HV需求45%）：美国55%住宅变压器超龄运行，需求自2019年+116%，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与宏观周期完全脱钩的结构性底座</a:t>
            </a:r>
            <a:endParaRPr sz="1200" dirty="0">
              <a:solidFill>
                <a:srgbClr val="303030"/>
              </a:solidFill>
              <a:latin typeface="Book Antiqua"/>
            </a:endParaRPr>
          </a:p>
          <a:p>
            <a:pPr marL="228600" indent="-114300">
              <a:buFont typeface="Arial"/>
              <a:buChar char="•"/>
            </a:pPr>
            <a:r>
              <a:rPr sz="1200" b="1" dirty="0">
                <a:solidFill>
                  <a:srgbClr val="303030"/>
                </a:solidFill>
                <a:latin typeface="Book Antiqua"/>
              </a:rPr>
              <a:t>新能源并网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：全球1,650GW+可再生能源排队等接入，年新增突破500GW，每GW需~50M升压变容量</a:t>
            </a:r>
          </a:p>
          <a:p>
            <a:pPr marL="228600" indent="-114300">
              <a:buFont typeface="Arial"/>
              <a:buChar char="•"/>
            </a:pPr>
            <a:r>
              <a:rPr sz="1200" b="1" dirty="0">
                <a:solidFill>
                  <a:srgbClr val="303030"/>
                </a:solidFill>
                <a:latin typeface="Book Antiqua"/>
              </a:rPr>
              <a:t>AI数据中心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：每100MW算力需1座110kV专属变电站，M7 2025 Capex +45% YoY，</a:t>
            </a:r>
            <a:r>
              <a:rPr lang="en-US" sz="1200" dirty="0">
                <a:solidFill>
                  <a:srgbClr val="303030"/>
                </a:solidFill>
                <a:latin typeface="Book Antiqua"/>
              </a:rPr>
              <a:t>2026E C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apex guide 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激进，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物理电力瓶颈先于芯片瓶颈触发</a:t>
            </a:r>
            <a:endParaRPr sz="1200" dirty="0">
              <a:solidFill>
                <a:srgbClr val="303030"/>
              </a:solidFill>
              <a:latin typeface="Book Antiqua"/>
            </a:endParaRPr>
          </a:p>
          <a:p>
            <a:endParaRPr lang="en-US" sz="600" dirty="0">
              <a:solidFill>
                <a:srgbClr val="00355F"/>
              </a:solidFill>
              <a:latin typeface="Book Antiqua"/>
            </a:endParaRPr>
          </a:p>
          <a:p>
            <a:endParaRPr lang="en-US" sz="600" dirty="0">
              <a:solidFill>
                <a:srgbClr val="00355F"/>
              </a:solidFill>
              <a:latin typeface="Book Antiqua"/>
            </a:endParaRPr>
          </a:p>
          <a:p>
            <a:r>
              <a:rPr sz="1200" b="1" dirty="0">
                <a:solidFill>
                  <a:srgbClr val="00355F"/>
                </a:solidFill>
                <a:latin typeface="Book Antiqua"/>
              </a:rPr>
              <a:t>供给端：结构性刚性，2027年前缺口无法弥补</a:t>
            </a:r>
          </a:p>
          <a:p>
            <a:pPr marL="228600" indent="-114300">
              <a:buFont typeface="Arial"/>
              <a:buChar char="•"/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全球产能缺口达</a:t>
            </a:r>
            <a:r>
              <a:rPr sz="1200" b="1" dirty="0">
                <a:solidFill>
                  <a:srgbClr val="AC0000"/>
                </a:solidFill>
                <a:latin typeface="Book Antiqua"/>
              </a:rPr>
              <a:t>-707 GVA（30%）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，2028E累计积压峰值1,699 GVA；大型主变交期100-143周，GSU缺口接近100%</a:t>
            </a:r>
          </a:p>
          <a:p>
            <a:pPr marL="228600" indent="-114300">
              <a:buFont typeface="Arial"/>
              <a:buChar char="•"/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扩产三重约束锁死：取向硅钢（中国控制60-70%产能）、技术工人（培养周期3-5年）、资本密集度（新厂盈亏平衡期20+年）</a:t>
            </a:r>
          </a:p>
          <a:p>
            <a:pPr marL="228600" indent="-114300">
              <a:buFont typeface="Arial"/>
              <a:buChar char="•"/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定价权已被验证：日立收购ABB电网后ROIC从10.9%飙至25.7%（目标仅15%），</a:t>
            </a:r>
            <a:r>
              <a:rPr lang="en-US" sz="1200" dirty="0">
                <a:solidFill>
                  <a:srgbClr val="303030"/>
                </a:solidFill>
                <a:latin typeface="Book Antiqua"/>
              </a:rPr>
              <a:t>G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oldman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最新报告显示，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US</a:t>
            </a:r>
            <a:r>
              <a:rPr lang="en-US" sz="1200" dirty="0">
                <a:solidFill>
                  <a:srgbClr val="303030"/>
                </a:solidFill>
                <a:latin typeface="Book Antiqua"/>
              </a:rPr>
              <a:t> 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高压变压器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 PPI翻倍，中国出口ASP +53% YoY</a:t>
            </a:r>
          </a:p>
          <a:p>
            <a:pPr>
              <a:buNone/>
            </a:pPr>
            <a:endParaRPr lang="en-US" sz="600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endParaRPr lang="en-US" sz="600" dirty="0">
              <a:solidFill>
                <a:srgbClr val="00355F"/>
              </a:solidFill>
              <a:latin typeface="Book Antiqua"/>
            </a:endParaRPr>
          </a:p>
          <a:p>
            <a:r>
              <a:rPr sz="1200" b="1" dirty="0" err="1">
                <a:solidFill>
                  <a:srgbClr val="00355F"/>
                </a:solidFill>
                <a:latin typeface="Book Antiqua"/>
              </a:rPr>
              <a:t>中国厂商出海：成本×交期×产能三维优势叠加，中东已突破、欧洲渗透中、美国直接出口受关税封堵（转口路径存在）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 marL="228600" indent="-114300">
              <a:buFont typeface="Arial"/>
              <a:buChar char="•"/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核心竞争力不止价格：成本低40-45%（$80-120K vs $400-600K（中低压配电变压器）），交期缩短50%（15-24月 vs 36月），TBEA单基地500GVA ≈ GE全球产能3x</a:t>
            </a:r>
          </a:p>
          <a:p>
            <a:pPr marL="228600" indent="-114300">
              <a:buFont typeface="Arial"/>
              <a:buChar char="•"/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中东是最优出海市场：毛利</a:t>
            </a:r>
            <a:r>
              <a:rPr sz="1200" b="1" dirty="0">
                <a:solidFill>
                  <a:srgbClr val="AC0000"/>
                </a:solidFill>
                <a:latin typeface="Book Antiqua"/>
              </a:rPr>
              <a:t>30-40%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且GIS占比最高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（沙漠高温环境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GIS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需求更大）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，TBEA沙特SEC 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164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亿大单已验证；欧洲渗透中（思源IEC+CE认证完成、70+国覆盖）；美国~100%关税封死，由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日韩企业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主导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（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北美市场运营利润率最高可达 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35%+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）</a:t>
            </a:r>
          </a:p>
          <a:p>
            <a:pPr marL="228600" indent="-114300">
              <a:buFont typeface="Arial"/>
              <a:buChar char="•"/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产品线差异化：GIS交期6-12月、标准化程度高，思源凭GIS（收入占44%、毛利率最高）和750kV突破已打破国企垄断；主变/换流变重资产长周期，中国西电唯一跑通±1100kV UHVDC，技术壁垒不可复制</a:t>
            </a:r>
          </a:p>
          <a:p>
            <a:pPr>
              <a:buNone/>
            </a:pPr>
            <a:endParaRPr lang="en-US" sz="600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endParaRPr lang="en-US" sz="600" dirty="0">
              <a:solidFill>
                <a:srgbClr val="00355F"/>
              </a:solidFill>
              <a:latin typeface="Book Antiqua"/>
            </a:endParaRPr>
          </a:p>
          <a:p>
            <a:r>
              <a:rPr sz="1200" b="1" dirty="0">
                <a:solidFill>
                  <a:srgbClr val="00355F"/>
                </a:solidFill>
                <a:latin typeface="Book Antiqua"/>
              </a:rPr>
              <a:t>窗口期2024-2028：三条件均成立但核心看点不在需求，而在供给恢复的节奏</a:t>
            </a:r>
          </a:p>
          <a:p>
            <a:pPr marL="228600" indent="-114300">
              <a:buFont typeface="Arial"/>
              <a:buChar char="•"/>
            </a:pPr>
            <a:r>
              <a:rPr sz="1200" b="1" dirty="0">
                <a:solidFill>
                  <a:srgbClr val="303030"/>
                </a:solidFill>
                <a:latin typeface="Book Antiqua"/>
              </a:rPr>
              <a:t>需求端确定性极高：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IEA/Wood Mackenzie/Citi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等多家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机构数据均支持需求持续增长至2030+，老化替换与宏观脱钩、新能源并网受政策驱动、</a:t>
            </a:r>
            <a:r>
              <a:rPr lang="en-US" sz="1200" dirty="0">
                <a:solidFill>
                  <a:srgbClr val="303030"/>
                </a:solidFill>
                <a:latin typeface="Book Antiqua"/>
              </a:rPr>
              <a:t>M7 26 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AI capex</a:t>
            </a:r>
            <a:r>
              <a:rPr lang="en-US" sz="1200" dirty="0">
                <a:solidFill>
                  <a:srgbClr val="303030"/>
                </a:solidFill>
                <a:latin typeface="Book Antiqua"/>
              </a:rPr>
              <a:t> 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guide 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仍在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大幅度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加速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——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三年内需求端塌缩的概率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不高（但考虑当当前板块极高的预期，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AI capex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任何放缓迹象都会引发大幅度回调）</a:t>
            </a:r>
            <a:endParaRPr sz="1200" dirty="0">
              <a:solidFill>
                <a:srgbClr val="303030"/>
              </a:solidFill>
              <a:latin typeface="Book Antiqua"/>
            </a:endParaRPr>
          </a:p>
          <a:p>
            <a:pPr marL="228600" indent="-114300">
              <a:buFont typeface="Arial"/>
              <a:buChar char="•"/>
            </a:pPr>
            <a:r>
              <a:rPr sz="1200" b="1" dirty="0" err="1">
                <a:solidFill>
                  <a:schemeClr val="accent3"/>
                </a:solidFill>
                <a:latin typeface="Book Antiqua"/>
              </a:rPr>
              <a:t>真正决定窗口期长短的是供给侧恢复速度。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目前日立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全球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$60亿扩产计划（$30亿投向北美）、西门子Charlotte新厂、GE越南基地均在推进，但受制于建设周期和人才瓶颈，</a:t>
            </a:r>
            <a:r>
              <a:rPr sz="1200" b="1" dirty="0">
                <a:solidFill>
                  <a:srgbClr val="AC0000"/>
                </a:solidFill>
                <a:latin typeface="Book Antiqua"/>
              </a:rPr>
              <a:t>2027年前不会显著释放产能</a:t>
            </a:r>
          </a:p>
          <a:p>
            <a:pPr marL="228600" indent="-114300">
              <a:buFont typeface="Arial"/>
              <a:buChar char="•"/>
            </a:pPr>
            <a:r>
              <a:rPr sz="1200" b="1" dirty="0">
                <a:solidFill>
                  <a:schemeClr val="accent3"/>
                </a:solidFill>
                <a:latin typeface="Book Antiqua"/>
              </a:rPr>
              <a:t>2028是真实拐点</a:t>
            </a:r>
            <a:r>
              <a:rPr sz="1200" dirty="0">
                <a:solidFill>
                  <a:schemeClr val="accent3"/>
                </a:solidFill>
                <a:latin typeface="Book Antiqua"/>
              </a:rPr>
              <a:t>：日立VA工厂(+50GVA)+孝星HVDC专厂(+20GVA)+GE越南(+15GVA)同步落地，欧美本土产能恢复将实质缓解缺口。届时中国厂商的交期和产能优势将被稀释——认证壁垒也非永久性，新进入者2-3年可追赶</a:t>
            </a:r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650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0829D-7DA6-2DB6-60FA-9FDA6232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58D8FA4-2789-E9AE-B712-078D848B745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8D8FA4-2789-E9AE-B712-078D848B7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2003616-A966-EDFA-699F-917EA30CF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>
            <a:normAutofit/>
          </a:bodyPr>
          <a:lstStyle/>
          <a:p>
            <a:r>
              <a:rPr lang="en-US" sz="1800" b="1" dirty="0">
                <a:solidFill>
                  <a:srgbClr val="00355F"/>
                </a:solidFill>
                <a:latin typeface="Book Antiqua"/>
              </a:rPr>
              <a:t>E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xecutive </a:t>
            </a:r>
            <a:r>
              <a:rPr lang="en-US" sz="1800" b="1" dirty="0">
                <a:solidFill>
                  <a:srgbClr val="00355F"/>
                </a:solidFill>
                <a:latin typeface="Book Antiqua"/>
              </a:rPr>
              <a:t>S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ummary 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（</a:t>
            </a:r>
            <a:r>
              <a:rPr lang="en-US" altLang="zh-CN" sz="1800" dirty="0">
                <a:solidFill>
                  <a:srgbClr val="00355F"/>
                </a:solidFill>
                <a:latin typeface="Book Antiqua"/>
              </a:rPr>
              <a:t>2/2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）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E8CC20-4C11-0C73-D3F8-C3F26E9014A8}"/>
              </a:ext>
            </a:extLst>
          </p:cNvPr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2943E-4CEB-786F-6279-432E79F1BA95}"/>
              </a:ext>
            </a:extLst>
          </p:cNvPr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IEA 2024; Wood Mackenzie 2025; Citi Research March 2026; Hitachi/Siemens/TBEA IR; Metro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C575D-254F-22E6-E4B0-A33EFA64ABF8}"/>
              </a:ext>
            </a:extLst>
          </p:cNvPr>
          <p:cNvSpPr txBox="1"/>
          <p:nvPr/>
        </p:nvSpPr>
        <p:spPr>
          <a:xfrm>
            <a:off x="402336" y="1454753"/>
            <a:ext cx="1120796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估值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：</a:t>
            </a: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当前处于</a:t>
            </a:r>
            <a:r>
              <a:rPr sz="1200" b="1" dirty="0" err="1">
                <a:solidFill>
                  <a:srgbClr val="00355F"/>
                </a:solidFill>
                <a:latin typeface="Book Antiqua"/>
              </a:rPr>
              <a:t>共识泛滥期，PE扩张已透支，未来回报依</a:t>
            </a:r>
            <a:r>
              <a:rPr lang="en-US" altLang="zh-CN" sz="1200" b="1" dirty="0" err="1">
                <a:solidFill>
                  <a:srgbClr val="00355F"/>
                </a:solidFill>
                <a:latin typeface="Book Antiqua"/>
              </a:rPr>
              <a:t>EPS</a:t>
            </a: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兑现，</a:t>
            </a:r>
            <a:r>
              <a:rPr lang="en-US" altLang="zh-CN" sz="1200" b="1" dirty="0">
                <a:solidFill>
                  <a:srgbClr val="00355F"/>
                </a:solidFill>
                <a:latin typeface="Book Antiqua"/>
              </a:rPr>
              <a:t>PE</a:t>
            </a: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下行风险显著</a:t>
            </a:r>
          </a:p>
          <a:p>
            <a:pPr marL="228600" indent="-114300">
              <a:buFont typeface="Arial"/>
              <a:buChar char="•"/>
            </a:pP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A股输变电板块PE处于历史高位（近4年90+th pct）（33.5x），高于10年均值22x约1.54倍。过去涨幅中PE扩张贡献60%，EPS增长40%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，</a:t>
            </a:r>
            <a:r>
              <a:rPr lang="en-US" altLang="zh-CN" sz="1200" dirty="0" err="1">
                <a:solidFill>
                  <a:srgbClr val="303030"/>
                </a:solidFill>
                <a:latin typeface="Book Antiqua"/>
              </a:rPr>
              <a:t>估值继续扩张的空间小</a:t>
            </a:r>
            <a:endParaRPr lang="en-US" altLang="zh-CN" sz="1200" dirty="0">
              <a:solidFill>
                <a:srgbClr val="303030"/>
              </a:solidFill>
              <a:latin typeface="Book Antiqua"/>
            </a:endParaRPr>
          </a:p>
          <a:p>
            <a:pPr marL="228600" indent="-114300">
              <a:buFont typeface="Arial"/>
              <a:buChar char="•"/>
            </a:pP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结构性分化是关键：海外收入占比高的标的（思源33.7%全球海外，其中中东&lt;15%）业绩支撑扎实，纯内需概念标的PE涨幅贡献更大，回调压力更大</a:t>
            </a:r>
          </a:p>
          <a:p>
            <a:pPr marL="228600" indent="-114300">
              <a:buFont typeface="Arial"/>
              <a:buChar char="•"/>
            </a:pP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赔率存在但需择时，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PE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回调至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30x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以下是较安全入场区间</a:t>
            </a:r>
          </a:p>
          <a:p>
            <a:pPr>
              <a:buNone/>
            </a:pPr>
            <a:endParaRPr lang="en-US" sz="1200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endParaRPr lang="en-US" sz="1200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潜在风险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：关税和供给恢复是最高优先级</a:t>
            </a:r>
          </a:p>
          <a:p>
            <a:pPr marL="228600" indent="-114300">
              <a:buFont typeface="Arial"/>
              <a:buChar char="•"/>
            </a:pP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中东地缘升级（伊朗冲突），伊朗导弹集中数据中心导致服务断链新闻频发，可能拖延数据中心建设节奏，</a:t>
            </a:r>
            <a:r>
              <a:rPr lang="zh-CN" altLang="en-US" sz="1200" b="1" dirty="0">
                <a:solidFill>
                  <a:schemeClr val="accent3"/>
                </a:solidFill>
                <a:latin typeface="Book Antiqua"/>
              </a:rPr>
              <a:t>战争是否会动摇投入意愿需要留意</a:t>
            </a:r>
          </a:p>
          <a:p>
            <a:pPr marL="228600" indent="-114300">
              <a:buFont typeface="Arial"/>
              <a:buChar char="•"/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美国~100%关税</a:t>
            </a:r>
            <a:r>
              <a:rPr lang="en-US" sz="1200" dirty="0">
                <a:solidFill>
                  <a:srgbClr val="303030"/>
                </a:solidFill>
                <a:latin typeface="Book Antiqua"/>
              </a:rPr>
              <a:t>+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认证门槛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已封死中国直接出口（占比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&lt;5%），2026年USTR对16国新Section 301调查可能进一步波及转口路径</a:t>
            </a:r>
          </a:p>
          <a:p>
            <a:pPr marL="228600" indent="-114300">
              <a:buFont typeface="Arial"/>
              <a:buChar char="•"/>
            </a:pPr>
            <a:r>
              <a:rPr lang="en-US" sz="1200" b="1" dirty="0">
                <a:solidFill>
                  <a:schemeClr val="accent3"/>
                </a:solidFill>
                <a:latin typeface="Book Antiqua"/>
              </a:rPr>
              <a:t>2028</a:t>
            </a:r>
            <a:r>
              <a:rPr lang="zh-CN" altLang="en-US" sz="1200" b="1" dirty="0">
                <a:solidFill>
                  <a:schemeClr val="accent3"/>
                </a:solidFill>
                <a:latin typeface="Book Antiqua"/>
              </a:rPr>
              <a:t>供给短缺实质性环节</a:t>
            </a:r>
            <a:r>
              <a:rPr sz="1200" b="1" dirty="0">
                <a:solidFill>
                  <a:schemeClr val="accent3"/>
                </a:solidFill>
                <a:latin typeface="Book Antiqua"/>
              </a:rPr>
              <a:t>：</a:t>
            </a:r>
            <a:r>
              <a:rPr sz="1200" dirty="0">
                <a:latin typeface="Book Antiqua"/>
              </a:rPr>
              <a:t>西门子Backlog €1,230亿创新高，GE目标翻倍至$600亿，HD现代利润率三年6.3%→24.4%——但2028年日立+180 GVA/西门子Charlotte新厂上线后缺口将实质缓解</a:t>
            </a:r>
          </a:p>
          <a:p>
            <a:pPr>
              <a:buNone/>
            </a:pPr>
            <a:endParaRPr lang="en-US" sz="1200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endParaRPr lang="en-US" sz="1200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建议标的：出海纯度和技术壁垒是筛选核心维度</a:t>
            </a:r>
          </a:p>
          <a:p>
            <a:pPr marL="228600" indent="-114300">
              <a:buFont typeface="Arial"/>
              <a:buChar char="•"/>
            </a:pPr>
            <a:r>
              <a:rPr sz="1200" b="1" dirty="0">
                <a:solidFill>
                  <a:schemeClr val="tx2"/>
                </a:solidFill>
                <a:latin typeface="Book Antiqua"/>
              </a:rPr>
              <a:t>思源电气（首选）：</a:t>
            </a:r>
            <a:r>
              <a:rPr sz="1200" dirty="0">
                <a:latin typeface="Book Antiqua"/>
              </a:rPr>
              <a:t>海外增速+89%、</a:t>
            </a:r>
            <a:r>
              <a:rPr lang="en-US" sz="1200" dirty="0">
                <a:latin typeface="Book Antiqua"/>
              </a:rPr>
              <a:t>GPM ~40</a:t>
            </a:r>
            <a:r>
              <a:rPr sz="1200" dirty="0">
                <a:latin typeface="Book Antiqua"/>
              </a:rPr>
              <a:t>%</a:t>
            </a:r>
            <a:r>
              <a:rPr lang="zh-CN" altLang="en-US" sz="1200" dirty="0">
                <a:latin typeface="Book Antiqua"/>
              </a:rPr>
              <a:t>，</a:t>
            </a:r>
            <a:r>
              <a:rPr lang="en-US" altLang="zh-CN" sz="1200" dirty="0">
                <a:latin typeface="Book Antiqua"/>
              </a:rPr>
              <a:t>NPM ~15%, ROIC ~20%, </a:t>
            </a:r>
            <a:r>
              <a:rPr sz="1200" dirty="0">
                <a:latin typeface="Book Antiqua"/>
              </a:rPr>
              <a:t>GIS+主变产品线完整、750kV/IEC+CE认证最全、~31x Fwd PE, PEG 0.85x。民企机制灵活，出海纯度最高</a:t>
            </a:r>
          </a:p>
          <a:p>
            <a:pPr marL="228600" indent="-114300">
              <a:buFont typeface="Arial"/>
              <a:buChar char="•"/>
            </a:pPr>
            <a:r>
              <a:rPr sz="1200" b="1" dirty="0">
                <a:solidFill>
                  <a:schemeClr val="tx2"/>
                </a:solidFill>
                <a:latin typeface="Book Antiqua"/>
              </a:rPr>
              <a:t>特变电工：</a:t>
            </a:r>
            <a:r>
              <a:rPr sz="1200" dirty="0">
                <a:latin typeface="Book Antiqua"/>
              </a:rPr>
              <a:t>全球最大产能500GVA（→750扩张中），沙特SEC 164亿大单+EPC能力验证。Fwd PE ~21x板块最便宜，但多晶硅亏损拖累</a:t>
            </a:r>
            <a:r>
              <a:rPr lang="en-US" sz="1200" dirty="0">
                <a:latin typeface="Book Antiqua"/>
              </a:rPr>
              <a:t>, 25E NPM~ </a:t>
            </a:r>
            <a:r>
              <a:rPr sz="1200" dirty="0">
                <a:latin typeface="Book Antiqua"/>
              </a:rPr>
              <a:t>3.7%，</a:t>
            </a:r>
            <a:r>
              <a:rPr lang="en-US" sz="1200" dirty="0">
                <a:latin typeface="Book Antiqua"/>
              </a:rPr>
              <a:t>ROIC ~5%</a:t>
            </a:r>
            <a:r>
              <a:rPr lang="zh-CN" altLang="en-US" sz="1200" dirty="0">
                <a:latin typeface="Book Antiqua"/>
              </a:rPr>
              <a:t>，</a:t>
            </a:r>
            <a:r>
              <a:rPr sz="1200" dirty="0" err="1">
                <a:latin typeface="Book Antiqua"/>
              </a:rPr>
              <a:t>且煤炭业务也处于底部，需看到止血信号</a:t>
            </a:r>
            <a:endParaRPr sz="1200" dirty="0">
              <a:latin typeface="Book Antiqua"/>
            </a:endParaRPr>
          </a:p>
          <a:p>
            <a:pPr marL="228600" indent="-114300">
              <a:buFont typeface="Arial"/>
              <a:buChar char="•"/>
            </a:pPr>
            <a:r>
              <a:rPr sz="1200" b="1" dirty="0">
                <a:solidFill>
                  <a:schemeClr val="tx2"/>
                </a:solidFill>
                <a:latin typeface="Book Antiqua"/>
              </a:rPr>
              <a:t>中国西电：</a:t>
            </a:r>
            <a:r>
              <a:rPr sz="1200" dirty="0">
                <a:latin typeface="Book Antiqua"/>
              </a:rPr>
              <a:t>唯一±1100kV UHVDC、换流变份额27%第一，西安产业园2025.10投产。</a:t>
            </a:r>
            <a:r>
              <a:rPr lang="zh-CN" altLang="en-US" sz="1200" dirty="0">
                <a:latin typeface="Book Antiqua"/>
              </a:rPr>
              <a:t>国企本身效率较低，利润率</a:t>
            </a:r>
            <a:r>
              <a:rPr lang="en-US" altLang="zh-CN" sz="1200" dirty="0">
                <a:latin typeface="Book Antiqua"/>
              </a:rPr>
              <a:t>~5%</a:t>
            </a:r>
            <a:r>
              <a:rPr lang="zh-CN" altLang="en-US" sz="1200" dirty="0">
                <a:latin typeface="Book Antiqua"/>
              </a:rPr>
              <a:t>，</a:t>
            </a:r>
            <a:r>
              <a:rPr lang="en-US" altLang="zh-CN" sz="1200" dirty="0">
                <a:latin typeface="Book Antiqua"/>
              </a:rPr>
              <a:t>ROIC ~6%</a:t>
            </a:r>
            <a:r>
              <a:rPr lang="zh-CN" altLang="en-US" sz="1200" dirty="0">
                <a:latin typeface="Book Antiqua"/>
              </a:rPr>
              <a:t>，</a:t>
            </a:r>
            <a:r>
              <a:rPr lang="en-US" altLang="zh-CN" sz="1200" dirty="0" err="1">
                <a:latin typeface="Book Antiqua"/>
              </a:rPr>
              <a:t>Fwd</a:t>
            </a:r>
            <a:r>
              <a:rPr lang="en-US" altLang="zh-CN" sz="1200" dirty="0">
                <a:latin typeface="Book Antiqua"/>
              </a:rPr>
              <a:t> PE 70x+, </a:t>
            </a:r>
            <a:r>
              <a:rPr lang="zh-CN" altLang="en-US" sz="1200" dirty="0">
                <a:latin typeface="Book Antiqua"/>
              </a:rPr>
              <a:t>但</a:t>
            </a:r>
            <a:r>
              <a:rPr sz="1200" dirty="0">
                <a:latin typeface="Book Antiqua"/>
              </a:rPr>
              <a:t>技术壁垒不可复制，股价较2025年低点已涨200%</a:t>
            </a:r>
            <a:r>
              <a:rPr lang="en-US" sz="1200" dirty="0">
                <a:latin typeface="Book Antiqua"/>
              </a:rPr>
              <a:t>+</a:t>
            </a:r>
            <a:r>
              <a:rPr sz="1200" dirty="0">
                <a:latin typeface="Book Antiqua"/>
              </a:rPr>
              <a:t>，</a:t>
            </a:r>
            <a:r>
              <a:rPr lang="zh-CN" altLang="en-US" sz="1200" dirty="0">
                <a:latin typeface="Book Antiqua"/>
              </a:rPr>
              <a:t>参与性价比不高</a:t>
            </a:r>
            <a:endParaRPr sz="1200" dirty="0">
              <a:latin typeface="Book Antiqua"/>
            </a:endParaRPr>
          </a:p>
          <a:p>
            <a:pPr>
              <a:buNone/>
            </a:pPr>
            <a:endParaRPr lang="en-US" sz="1200" b="1" dirty="0">
              <a:solidFill>
                <a:schemeClr val="accent3"/>
              </a:solidFill>
              <a:latin typeface="Book Antiqua"/>
            </a:endParaRPr>
          </a:p>
          <a:p>
            <a:pPr>
              <a:buNone/>
            </a:pPr>
            <a:r>
              <a:rPr sz="1200" b="1" dirty="0" err="1">
                <a:solidFill>
                  <a:schemeClr val="tx2"/>
                </a:solidFill>
                <a:latin typeface="Book Antiqua"/>
              </a:rPr>
              <a:t>持续监控：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日立VA工厂投产进度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 | USTR Section 301扩围 | AI capex可持续性 | 板块PE回调至30x以下（入场信号）</a:t>
            </a:r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6C040DE3-DB0F-25DA-DBD1-ADABAF6F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98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CFCCCD4-407F-75D5-F20B-FA21EAC76F5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88562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>
            <a:normAutofit fontScale="90000"/>
          </a:bodyPr>
          <a:lstStyle/>
          <a:p>
            <a:pPr algn="l"/>
            <a:r>
              <a:rPr lang="en-US" sz="1800" b="1" dirty="0">
                <a:solidFill>
                  <a:srgbClr val="00355F"/>
                </a:solidFill>
                <a:latin typeface="Book Antiqua"/>
              </a:rPr>
              <a:t>2025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年</a:t>
            </a:r>
            <a:r>
              <a:rPr sz="1800" b="1" dirty="0" err="1">
                <a:solidFill>
                  <a:srgbClr val="00355F"/>
                </a:solidFill>
                <a:latin typeface="Book Antiqua"/>
              </a:rPr>
              <a:t>全球</a:t>
            </a:r>
            <a:r>
              <a:rPr lang="en-US" sz="1800" b="1" dirty="0" err="1">
                <a:solidFill>
                  <a:srgbClr val="00355F"/>
                </a:solidFill>
                <a:latin typeface="Book Antiqua"/>
              </a:rPr>
              <a:t>高压输电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（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HV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）变压器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供需缺口达707.5 GVA（30%），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预计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2029-2030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年缺口才会迎来实质性逆转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II | 供给侧结构性短缺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Citi Research Global Power Transformers Report, March 2026; Wood Mackenzie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全球HV变压器（≥100kV）供需平衡（GVA/year）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506940"/>
              </p:ext>
            </p:extLst>
          </p:nvPr>
        </p:nvGraphicFramePr>
        <p:xfrm>
          <a:off x="438912" y="1600200"/>
          <a:ext cx="7443216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6448" y="1371600"/>
            <a:ext cx="354787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Key insights</a:t>
            </a:r>
          </a:p>
          <a:p>
            <a:r>
              <a:rPr lang="zh-CN" altLang="en-US" sz="1200" b="1" u="sng" dirty="0">
                <a:solidFill>
                  <a:srgbClr val="20396D"/>
                </a:solidFill>
                <a:latin typeface="Book Antiqua"/>
              </a:rPr>
              <a:t>缺口量级与分布</a:t>
            </a:r>
          </a:p>
          <a:p>
            <a:pPr marL="180000" indent="-90000">
              <a:buFont typeface="Arial"/>
              <a:buChar char="•"/>
            </a:pP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Citi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测算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2025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年全球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HV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变压器供给为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2,358.5 GVA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、需求为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3,066 GVA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，当期缺口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707.5 GVA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（约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30%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）。如左图所示，缺口在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2028E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累计积压达到峰值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1,699 GVA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，即使产能逐步释放，积压订单仍需数年方可消化</a:t>
            </a:r>
          </a:p>
          <a:p>
            <a:pPr marL="180000" indent="-90000">
              <a:buFont typeface="Arial"/>
              <a:buChar char="•"/>
            </a:pP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美国缺口约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30%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，为全球最为严重（每年约短缺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7,500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台），本土产能仅能满足约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20%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需求，高度依赖亚洲进口。由于中国受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~100%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关税限制出口受阻，韩国成为最大受益者</a:t>
            </a:r>
          </a:p>
          <a:p>
            <a:endParaRPr lang="zh-CN" altLang="en-US" sz="1200" b="1" u="sng" dirty="0">
              <a:solidFill>
                <a:srgbClr val="20396D"/>
              </a:solidFill>
              <a:latin typeface="Book Antiqua"/>
            </a:endParaRPr>
          </a:p>
          <a:p>
            <a:r>
              <a:rPr lang="zh-CN" altLang="en-US" sz="1200" b="1" u="sng" dirty="0">
                <a:solidFill>
                  <a:srgbClr val="20396D"/>
                </a:solidFill>
                <a:latin typeface="Book Antiqua"/>
              </a:rPr>
              <a:t>品类差异与溢价逻辑</a:t>
            </a:r>
          </a:p>
          <a:p>
            <a:pPr marL="180000" indent="-90000">
              <a:buFont typeface="Arial"/>
              <a:buChar char="•"/>
            </a:pP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电力主变交期128–143周，缺口约30%；GSU升压变交期150周以上，缺口约100%；GIS交期6–12个月，缺口约5%。</a:t>
            </a:r>
            <a:endParaRPr lang="en-US" altLang="zh-CN" sz="120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价格溢价能力与供需缺口程度高度正相关，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GSU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价格自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2019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年以来累计上涨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77%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（</a:t>
            </a:r>
            <a:r>
              <a:rPr lang="en-US" altLang="zh-CN" sz="1200" dirty="0" err="1">
                <a:solidFill>
                  <a:srgbClr val="303030"/>
                </a:solidFill>
                <a:latin typeface="Book Antiqua"/>
              </a:rPr>
              <a:t>PowerMag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数据）</a:t>
            </a:r>
          </a:p>
          <a:p>
            <a:endParaRPr lang="zh-CN" altLang="en-US" sz="1200" b="1" u="sng" dirty="0">
              <a:solidFill>
                <a:srgbClr val="20396D"/>
              </a:solidFill>
              <a:latin typeface="Book Antiqua"/>
            </a:endParaRPr>
          </a:p>
          <a:p>
            <a:r>
              <a:rPr lang="zh-CN" altLang="en-US" sz="1200" b="1" u="sng" dirty="0">
                <a:solidFill>
                  <a:srgbClr val="20396D"/>
                </a:solidFill>
                <a:latin typeface="Book Antiqua"/>
              </a:rPr>
              <a:t>平衡时间表</a:t>
            </a:r>
          </a:p>
          <a:p>
            <a:pPr marL="180000" indent="-90000">
              <a:buFont typeface="Arial"/>
              <a:buChar char="•"/>
            </a:pP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Citi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预测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2030E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行业供需差将转正（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+93 GVA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），但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GSU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供需缺口仍约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14%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。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2025–2027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年将是缺口绝对值最大、中国厂商议价能力最强的关键窗口期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656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4CE9BBB-F3B9-5713-31A4-05A1C6C49CD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18309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/>
          <a:lstStyle/>
          <a:p>
            <a:pPr algn="l"/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聚焦美国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三重需求共振：2019-2030年变压器有效需求翻3倍，GSU缺口接近100%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 | 需求侧三重叠加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Wood Mackenzie 2025; IEA World Energy Outlook 2024; US DOE Grid Study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355F"/>
                </a:solidFill>
                <a:latin typeface="Book Antiqua"/>
              </a:rPr>
              <a:t>美国高压变压器需求增速分解（2019=100</a:t>
            </a:r>
            <a:r>
              <a:rPr lang="en-US" sz="1200" b="1" dirty="0">
                <a:solidFill>
                  <a:srgbClr val="00355F"/>
                </a:solidFill>
                <a:latin typeface="Book Antiqua"/>
              </a:rPr>
              <a:t> </a:t>
            </a:r>
            <a:r>
              <a:rPr lang="en-US" altLang="zh-CN" sz="1200" b="1" dirty="0">
                <a:solidFill>
                  <a:srgbClr val="00355F"/>
                </a:solidFill>
                <a:latin typeface="Book Antiqua"/>
              </a:rPr>
              <a:t>indexed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358761"/>
              </p:ext>
            </p:extLst>
          </p:nvPr>
        </p:nvGraphicFramePr>
        <p:xfrm>
          <a:off x="438912" y="1600200"/>
          <a:ext cx="7443216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440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三重共振的逻辑意义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叠加效应的不可替代性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dirty="0">
                <a:solidFill>
                  <a:srgbClr val="20396D"/>
                </a:solidFill>
                <a:latin typeface="Book Antiqua"/>
              </a:rPr>
              <a:t>2019-2030年变压器有效需求翻3倍：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老化+新能源+AI三条需求曲线独立上升且互不替代——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即使AI放缓，老化替换+新能源并网足以维持缺口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GSU缺口100%是全球任何单一产品类别从未出现过的紧张程度，因为它同时受三大驱动力拉动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与历史窗口的对比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2008-12风电大基地→国内厂商出海黄金期（但仅限中国内需驱动）；</a:t>
            </a:r>
            <a:endParaRPr lang="en-US" sz="1200" b="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2015-18一带一路EPC爆发（但仅限新兴市场）</a:t>
            </a:r>
            <a:endParaRPr lang="en-US" sz="1200" b="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本轮2023-27是全球性+所有市场+多驱动力，影响尺度、持续时间、进入壁垒均创新高</a:t>
            </a:r>
          </a:p>
          <a:p>
            <a:pPr marL="90000"/>
            <a:endParaRPr lang="en-US" sz="1200" b="1" dirty="0">
              <a:solidFill>
                <a:srgbClr val="20396D"/>
              </a:solidFill>
              <a:latin typeface="Book Antiqua"/>
            </a:endParaRPr>
          </a:p>
          <a:p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关键差异</a:t>
            </a:r>
            <a:r>
              <a:rPr sz="1200" b="1" u="sng" dirty="0">
                <a:solidFill>
                  <a:srgbClr val="20396D"/>
                </a:solidFill>
                <a:latin typeface="Book Antiqua"/>
              </a:rPr>
              <a:t>：</a:t>
            </a: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261450" indent="-171450">
              <a:buFont typeface="Arial" panose="020B0604020202020204" pitchFamily="34" charset="0"/>
              <a:buChar char="•"/>
            </a:pPr>
            <a:r>
              <a:rPr sz="1200" b="0" dirty="0" err="1">
                <a:solidFill>
                  <a:srgbClr val="303030"/>
                </a:solidFill>
                <a:latin typeface="Book Antiqua"/>
              </a:rPr>
              <a:t>前两轮是需求侧单一驱动，本轮是需求×供给刚性双重锁定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——即使需求增速放缓，供给侧3-5年的扩产约束也保证了缺口的持续性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301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9747CD9-3701-2F17-C0C0-BA30AF60854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40676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3" imgW="329" imgH="329" progId="TCLayout.ActiveDocument.1">
                  <p:embed/>
                </p:oleObj>
              </mc:Choice>
              <mc:Fallback>
                <p:oleObj name="think-cell 幻灯片" r:id="rId4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1" y="576072"/>
            <a:ext cx="10746389" cy="402336"/>
          </a:xfrm>
        </p:spPr>
        <p:txBody>
          <a:bodyPr vert="horz" rIns="91440">
            <a:normAutofit fontScale="90000"/>
          </a:bodyPr>
          <a:lstStyle/>
          <a:p>
            <a:pPr algn="l"/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老龄化周期：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全球55%住宅变压器超龄运行，老化替换占美国HV需求45%，</a:t>
            </a:r>
            <a:r>
              <a:rPr sz="1800" b="1" dirty="0" err="1">
                <a:solidFill>
                  <a:srgbClr val="00355F"/>
                </a:solidFill>
                <a:latin typeface="Book Antiqua"/>
              </a:rPr>
              <a:t>与宏观周期完全脱钩的结构性底座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 | 需求侧三重叠加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Wood Mackenzie 2025; US DOE Grid Study 2024; IEA World Energy Outlook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美国大型变压器需求驱动分解（GVA，按需求来源估算）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0727" y="1325880"/>
            <a:ext cx="3737833" cy="489364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6448" y="1371600"/>
            <a:ext cx="3547872" cy="43396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老化替换驱动解读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超龄资产规模与刚需属性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约55%美国住宅变压器已超使用寿命（多数&gt;40年），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是全国变压器存量最大的单一替换来源。该需求基于物理折旧曲线，与GDP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/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利率周期完全脱钩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自2019年美国HV变压器需求+116%，GSU升压变需求+274%。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增速远超任何宏观指标的变动幅度，说明驱动力是结构性而非周期性的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>
                <a:solidFill>
                  <a:srgbClr val="20396D"/>
                </a:solidFill>
                <a:latin typeface="Book Antiqua"/>
              </a:rPr>
              <a:t>老化占比45%构成需求底座</a:t>
            </a: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老化替换贡献美国HV需求的4</a:t>
            </a:r>
            <a:r>
              <a:rPr lang="en-US" sz="1200" b="0" dirty="0">
                <a:solidFill>
                  <a:srgbClr val="303030"/>
                </a:solidFill>
                <a:latin typeface="Book Antiqua"/>
              </a:rPr>
              <a:t>3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%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，是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最稳定的组成部分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。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新能源和AI是额外增量叠加在这个底座之上，三者独立且不可替代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 err="1">
                <a:solidFill>
                  <a:srgbClr val="303030"/>
                </a:solidFill>
                <a:latin typeface="Book Antiqua"/>
              </a:rPr>
              <a:t>联邦IRA法案+电网现代化拨款加速替换节奏，但即使无政策刺激，物理老化本身已构成不可推迟的刚需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物理运输瓶颈放大交期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大型变压器重100-400吨，全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美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Schnabel专用铁路车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极度短期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——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即便产能充裕，换装速度也受限于运输物流这一独立瓶颈。这使得交期问题不仅是产能问题，更是基础设施约束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6" name="Chart 3">
            <a:extLst>
              <a:ext uri="{FF2B5EF4-FFF2-40B4-BE49-F238E27FC236}">
                <a16:creationId xmlns:a16="http://schemas.microsoft.com/office/drawing/2014/main" id="{5B87D4A2-7779-3A5D-9CDB-CB7AE2B0599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84946065"/>
              </p:ext>
            </p:extLst>
          </p:nvPr>
        </p:nvGraphicFramePr>
        <p:xfrm>
          <a:off x="319088" y="1636713"/>
          <a:ext cx="6937375" cy="4581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FC506F8C-C929-B50B-86B3-A1A84D4DD05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19400" y="1352550"/>
            <a:ext cx="3870325" cy="22955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BDF15C1-13B5-4C3E-9EF5-0F1338BE91E1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686050" y="6035675"/>
            <a:ext cx="2667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38AA2D2-2CED-43FF-B325-0F488E25C5E1}" type="datetime'''''2''''''''''0''''''''''''''''21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2021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A0D9684-2A87-4E4E-8516-89512779D333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803275" y="4159250"/>
            <a:ext cx="1619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A4D6BCB-90F6-4AF8-B7F7-56210EE79B81}" type="datetime'''''''''''''''''''''''''''''''''''1''''''0''''''''''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D6BF84C-D1C8-4FDE-81B6-4DAD51D3E699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1770063" y="4240213"/>
            <a:ext cx="1619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3500182-36A0-4633-BDCA-3E296D2A441C}" type="datetime'''1''''''''0''''''''''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87A18964-F157-469B-AED3-8EA15CE711BE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738438" y="3995738"/>
            <a:ext cx="1619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1DB2003-C3D4-4753-BDA1-4D34B20C2FD3}" type="datetime'''''''''''''''''''''''''''''''''''''1''''1''''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856E3B4-2146-EC74-DD89-6E89DA08562D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652838" y="6035675"/>
            <a:ext cx="2667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44193B1-3CFD-48DD-87F7-B725156488F1}" type="datetime'''''''''''''''''''''''''''''''''2''''''''''''''''0''2''2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2022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443D103-6962-89F6-A15A-8CE034FC57B9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621213" y="6035675"/>
            <a:ext cx="2667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6CFB52B-F6D7-4A52-8762-36C60142A1B9}" type="datetime'''''''2''''''''''''''''''''''''02''''''''''3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2023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219B8E5-5184-0E92-5375-2C677912AD3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5588000" y="6035675"/>
            <a:ext cx="2667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000" dirty="0">
                <a:latin typeface="Book Antiqua" panose="02040602050305030304" pitchFamily="18" charset="0"/>
                <a:sym typeface="Book Antiqua" panose="02040602050305030304" pitchFamily="18" charset="0"/>
              </a:rPr>
              <a:t>2024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5FD0101-353D-B3B7-4607-CC75F3929AD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518275" y="6035675"/>
            <a:ext cx="3444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6838F5D-4278-4452-B064-38E94C7BEDD9}" type="datetime'2''''''''''''0''''''''''''''''''2''5''''''''E''''''''''''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2025E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35C2876D-56CC-80D6-83E0-054591C4EB58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3705225" y="3224213"/>
            <a:ext cx="1619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621DF11-C20A-4F94-9422-FFECFF15E1BA}" type="datetime'''''''''''''''''''''''''1''6''''''''''''''''''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16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320C188-E8AF-03FD-B1BA-1CC3F078F47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673600" y="3011488"/>
            <a:ext cx="1619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7FB21D3-D371-4D05-A48C-BA71F23E7E91}" type="datetime'''''''''''''''''''''''''''''''''''''''''''''''''''1''7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17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CBFCF46-DF8C-5663-7738-8C7B637FD75C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5640388" y="2290763"/>
            <a:ext cx="1619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C83B178-5FCF-4E8B-91B2-713348CFD923}" type="datetime'''2''''''''''''''''''''''''''''''''''''''''''2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22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1844DED-9211-C130-3F8A-BA37BC00927D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6608763" y="1700213"/>
            <a:ext cx="1619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DED0BF5-EF1D-4017-A3FE-77204A837093}" type="datetime'''''''''''''''''''''''''''''''''2''''''''''''''''5''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25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C45D48AE-FF0B-49BB-B881-8876DB5FC5C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701675" y="4465638"/>
            <a:ext cx="98425" cy="13652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104E0B1-4834-4A3E-B54D-AD618712E4DB}" type="datetime'''''''''0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altLang="zh-CN" sz="10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5FA53E5-B7EC-4FA7-8555-C13B8169037B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1668463" y="4530725"/>
            <a:ext cx="98425" cy="13652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298A8D3-6D55-487D-8AEF-915E3B00F30A}" type="datetime'''''''''''''''''''''''''''''''''''''''''0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altLang="zh-CN" sz="10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5BB339EC-1412-4F8C-97D7-5214F1100AFD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2636838" y="4318000"/>
            <a:ext cx="98425" cy="13652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D172E23-1527-4D44-B6A4-1D6BF9A18F31}" type="datetime'''''''''0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altLang="zh-CN" sz="10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2D019F5-C343-4ADC-925A-A1BB239C047E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3736975" y="3662363"/>
            <a:ext cx="98425" cy="13652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BB2E2BC-D86C-499B-818A-CFB7113D4E26}" type="datetime'''''''''''''''''''''0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altLang="zh-CN" sz="10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95A39D99-C1D5-4487-9AF4-68F9D988F6B4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4705350" y="3489325"/>
            <a:ext cx="98425" cy="13652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0409064-C5E4-4394-A7F0-F59459954CE4}" type="datetime'''''''''''''''1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</a:t>
            </a:fld>
            <a:endParaRPr lang="en-US" altLang="zh-CN" sz="10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674A46C9-9630-494A-8634-17DE0184ADAE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708025" y="5446713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2FB6AFF-BE5F-481D-B975-69ED239E34F8}" type="datetime'''''''''''''''''''''''''''''''''''''''''''''''''5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E7088CB3-94AD-4D4E-9220-D66D23F3F1A7}" type="datetime'''''''''''4''9''''''''''''''''''''%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49%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550E0D2-C1BC-42D6-A96D-0E9EE3B321DE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750888" y="6035675"/>
            <a:ext cx="2667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EFF602C-44FD-4313-96BF-41E2A93A2B6D}" type="datetime'''''''''''''''''''2''''''0''19''''''''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2019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B71E8737-9FB4-4FAA-B8EA-70FE04AC4D30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2643188" y="5405438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2B1042C-7D02-4119-91E7-40210E048B09}" type="datetime'''''''''''6''''''''''''''''''''''''''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3D96D8AF-BE09-42ED-A7A8-2D5DF77C5028}" type="datetime'''''''''''''''''''''''''4''''''''''''''''''''9%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49%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4BE283E4-496D-4173-9352-3C2A65493CAD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3609975" y="5224463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3A9A667-A45B-4E19-859F-12D63F5B3B62}" type="datetime'''''''''''8''''''''''''''''''''''''''''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2ADA44C1-CB42-4F14-B366-0EDD333A2979}" type="datetime'''4''''''''''''''''''''''''''''''''''8''''%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48%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CDC16FF2-0170-48E1-B7AF-B7540E5EF979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578350" y="5183188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AE870C0-EDB5-4190-B324-6ED17922ED09}" type="datetime'''''''''''''''''''''''''''''''''''''''''''8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1D051B08-EBE6-4C71-8677-5FCF50A93D24}" type="datetime'''''''''''''''''''''''''4''''''''''8''''%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48%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A4DC6306-B0FE-4FA8-8033-310072787E39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5545138" y="5060950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6EC9D7A-44BE-44D1-9486-432CE31F0442}" type="datetime'''''''''''''''''''''1''''''0''''''''''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D9E3A0F0-C615-488E-A419-4575BA17DAA4}" type="datetime'''4''''5''''''''''''%''''''''''''''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45%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C6D84A27-3872-46D2-8479-99DF1C65ECDC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6513513" y="4970463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DD6E95E-7264-44AD-9F4A-BB91D7FBF2EB}" type="datetime'''''1''''''''''''1''''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16FFD8F3-D609-4097-8FD2-51EEDC0E3CA0}" type="datetime'''''''''''4''''''3''''''''''''''%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43%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5D6E038F-F82B-490B-8EC7-9B986921D848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708025" y="4716463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2B69946-AB4E-4E70-97B4-E872632EBE34}" type="datetime'''''''''''4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ACA1C6D4-58E4-4384-8ABB-F64A3C8B66FA}" type="datetime'''''''''''''3''''''''''''''8''''''''''''''''''%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38%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470B5BE8-E681-449D-A308-B0F665A85F5F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1674813" y="4765675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E97770D-A56C-469D-8C57-0C834FC4F893}" type="datetime'''''4''''''''''''''''''''''''''''''''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ADB84B68-CC25-43AC-934A-8CADE922394E}" type="datetime'3''''''''''8''%''''''''''''''''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38%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0450D207-5E66-4FFB-9A3F-C344CAE5CF98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2643188" y="4602163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DCA7B58-8809-4827-8DC1-F3DD04F9AE5B}" type="datetime'''''''''''''4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br>
              <a:rPr lang="en-US" altLang="en-US" sz="1000" dirty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 dirty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470C0F2F-8B3D-44F1-889B-3F056E1CF3AC}" type="datetime'''''''''''''''''''''''3''''8''''''''%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38%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1E121050-7B95-43D5-B44B-9CAD72AED78D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3609975" y="4102100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2FE8DD6-C87B-43C6-A5B9-FDD11638A3A6}" type="datetime'''6''''''''''''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4B0F2798-FAF7-416D-AA76-50C09FD54329}" type="datetime'''''''''''3''''''''''''''''8''''''''''''''''''''''''''%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38%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4E8698D0-DD35-4A53-BF9F-9C42D94BAB20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4578350" y="3986213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CC306E1-F916-4C46-AB0D-FB044E3E90C2}" type="datetime'''''''''''''''''6''''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2638EB75-EB0C-4BB5-BDAD-5ED07C39364E}" type="datetime'''''''''''3''''''''''7''''''''''''%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37%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AFAFF161-2FBA-4AE6-BD85-F5F2EDC9A425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45138" y="3643313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620A26F-0524-4C2F-AB2A-4A8B3EEAFE78}" type="datetime'''''''''8''''''''''''''''''''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C2A72842-AE95-41BD-BB78-4E2F902D1CE5}" type="datetime'''''''35''''''''''''''''''''''''''''''''''''''%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35%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37404D78-738A-459E-BCCC-0E240D65BC2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6513513" y="3397250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A80E99E-E2E8-4625-893B-076B6246F97C}" type="datetime'''''''''''''''''''''''8''''''''''''''''''''''''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C73F0C4E-B2DA-41A1-9269-8C8FFA86BF44}" type="datetime'''''''''''''''''''''''''''''''''''3''''''''''''''3''''''''%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33%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F2D3FFF-FB6E-928D-2618-928AE901C0FC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7061200" y="2089150"/>
            <a:ext cx="5080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9BBFBB4C-40BA-47A9-B3B2-498492E76433}" type="datetime'其''''他''''''''''''''''''''''''''''新''''''''''''建''''''''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其他新建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87DD4F1-F27F-4411-B515-60DDD3948E42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7061200" y="2581275"/>
            <a:ext cx="7254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BBC37A8C-C675-4DA1-B82C-11DFE91D24A9}" type="datetime'AI''/''''''数据''''''''''''''''''''中''''''心''''''''''''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AI/数据中心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712DCF-3713-4856-A616-58758C7C217F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7061200" y="3465513"/>
            <a:ext cx="6350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D9E2380E-0D95-440B-9C6F-D78F835527BA}" type="datetime'''''''''''''''''''''''''''''''''''新''''能''''''''''源''''''并''网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新能源并网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49883E4-C601-41D6-9E6F-7BB4974D4318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7061200" y="5038725"/>
            <a:ext cx="5080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EFBA845F-FC11-48CF-82AB-AE990854197D}" type="datetime'''''''''''''''''''''''''''''''''''老''化替''''''''''''''''换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老化替换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751855A-428E-4EFA-821B-B057291B5C69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auto">
          <a:xfrm>
            <a:off x="1717675" y="6035675"/>
            <a:ext cx="2667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A310DF1-CFE3-4888-B0D5-3F3A79BEE55D}" type="datetime'''''''''''''''''''2''''0''''''20'''''''''''''''''''''''''''''">
              <a:rPr lang="en-US" altLang="en-US" sz="1000" smtClean="0"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2020</a:t>
            </a:fld>
            <a:endParaRPr lang="en-US" altLang="zh-CN" sz="10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E69C891F-317B-4555-B6C1-C550DBCCADD9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gray">
          <a:xfrm>
            <a:off x="1674813" y="5462588"/>
            <a:ext cx="3540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737DC0C-89D6-4890-B282-5B40DE75B6AC}" type="datetime'''''5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b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</a:br>
            <a:r>
              <a:rPr lang="en-US" altLang="en-US" sz="100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t>(</a:t>
            </a:r>
            <a:fld id="{8A7B5365-C686-4613-BEB6-EC3E9C7E00C5}" type="datetime'''''''''''49''''''''''''''''''''''''''%'''''''">
              <a:rPr lang="en-US" altLang="en-US" sz="10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49%</a:t>
            </a:fld>
            <a:r>
              <a:rPr lang="en-US" altLang="zh-CN" sz="1000" dirty="0">
                <a:solidFill>
                  <a:schemeClr val="bg1"/>
                </a:solidFill>
                <a:latin typeface="Book Antiqua" panose="02040602050305030304" pitchFamily="18" charset="0"/>
                <a:sym typeface="Book Antiqua" panose="02040602050305030304" pitchFamily="18" charset="0"/>
              </a:rPr>
              <a:t>)</a:t>
            </a:r>
          </a:p>
        </p:txBody>
      </p:sp>
      <p:sp>
        <p:nvSpPr>
          <p:cNvPr id="97" name="Text Placeholder 2">
            <a:extLst>
              <a:ext uri="{FF2B5EF4-FFF2-40B4-BE49-F238E27FC236}">
                <a16:creationId xmlns:a16="http://schemas.microsoft.com/office/drawing/2014/main" id="{651DF47A-2704-4D37-942F-B205C826DE1E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4364038" y="2403475"/>
            <a:ext cx="782638" cy="19367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E314B37-3452-4E43-8038-3531E58A3189}" type="datetime'+''''''''''''''2''''''''''''''''''''''''''''2''''''''%'''">
              <a:rPr lang="en-US" altLang="en-US" sz="1000" b="1" smtClean="0"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+22%</a:t>
            </a:fld>
            <a:r>
              <a:rPr lang="en-US" altLang="zh-CN" sz="1000" b="1">
                <a:latin typeface="Book Antiqua" panose="02040602050305030304" pitchFamily="18" charset="0"/>
                <a:sym typeface="Book Antiqua" panose="02040602050305030304" pitchFamily="18" charset="0"/>
              </a:rPr>
              <a:t>p.a.</a:t>
            </a:r>
            <a:endParaRPr lang="en-US" altLang="zh-CN" sz="1000" b="1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28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DB812D-75ED-B1FF-E1D5-D0D9CBED6A9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05410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>
            <a:normAutofit/>
          </a:bodyPr>
          <a:lstStyle/>
          <a:p>
            <a:pPr algn="l"/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新能源并网：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1,650GW可再生能源等待并网，全球年新增突破500GW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，并网压力与需求确定性高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 | 需求侧三重叠加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IEA World Energy Outlook 2024; BloombergNEF 2025; Wood Mackenzie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全球可再生能源年新增装机 &amp; 累计等待并网容量（GW）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01959"/>
              </p:ext>
            </p:extLst>
          </p:nvPr>
        </p:nvGraphicFramePr>
        <p:xfrm>
          <a:off x="438912" y="1600200"/>
          <a:ext cx="7443216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6448" y="1371600"/>
            <a:ext cx="35935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新能源并网驱动解读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排队规模空前且仍在加速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全球1,650GW+可再生能源等待并网，年新增突破500GW。每GW新增装机约需50M升压变容量</a:t>
            </a:r>
            <a:endParaRPr lang="en-US" sz="120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endParaRPr lang="en-US" sz="1200" b="1" dirty="0">
              <a:solidFill>
                <a:srgbClr val="303030"/>
              </a:solidFill>
              <a:latin typeface="Book Antiqua"/>
            </a:endParaRPr>
          </a:p>
          <a:p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并网需求的确定性高于电价波动</a:t>
            </a:r>
            <a:r>
              <a:rPr sz="1200" b="1" u="sng" dirty="0">
                <a:solidFill>
                  <a:srgbClr val="20396D"/>
                </a:solidFill>
                <a:latin typeface="Book Antiqua"/>
              </a:rPr>
              <a:t>：</a:t>
            </a: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 err="1">
                <a:solidFill>
                  <a:srgbClr val="303030"/>
                </a:solidFill>
                <a:latin typeface="Book Antiqua"/>
              </a:rPr>
              <a:t>即使电价下跌，已审批的风光项目仍需要变压器和输电走廊来物理接入电网，需求刚性强于传统电力投资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GSU升压变是最紧张的单品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GSU缺口接近100%（Wood Mackenzie</a:t>
            </a:r>
            <a:r>
              <a:rPr lang="en-US" sz="1200" b="0" dirty="0">
                <a:solidFill>
                  <a:srgbClr val="303030"/>
                </a:solidFill>
                <a:latin typeface="Book Antiqua"/>
              </a:rPr>
              <a:t> 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data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），交期3年+，溢价30%+。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每座风电场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/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光伏电站的并网都必须经过GSU升压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——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这是无法绕过的物理节点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中国十五五特高压6直5交在建，国内外新能源并网需求形成共振，对高压设备的拉动效应在2026-2030年将持续放大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>
                <a:solidFill>
                  <a:srgbClr val="20396D"/>
                </a:solidFill>
                <a:latin typeface="Book Antiqua"/>
              </a:rPr>
              <a:t>政策叠加提供3-5年可见度</a:t>
            </a: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美国IRA补贴+联邦电网现代化拨款、欧盟REPowerEU跨境输电投资计划、中国十五五电网投资4万亿元（+40%）——三大经济体同步加码，政策支撑使需求增量具有3-5年的高能见度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068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09D97FB3-8915-041A-F310-F5278482B2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D97FB3-8915-041A-F310-F5278482B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/>
          <a:lstStyle/>
          <a:p>
            <a:pPr algn="l"/>
            <a:r>
              <a:rPr sz="1800" b="1" dirty="0">
                <a:solidFill>
                  <a:srgbClr val="00355F"/>
                </a:solidFill>
                <a:latin typeface="Book Antiqua"/>
              </a:rPr>
              <a:t>AI数据中心：需求量2030年翻倍，单台服务器功率十年增十倍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 | 需求侧三重叠加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IEA Energy and AI Report 2024; Citi Research 2026; Company disclosures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全球数据中心电力需求预测（TWh/year）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569497"/>
              </p:ext>
            </p:extLst>
          </p:nvPr>
        </p:nvGraphicFramePr>
        <p:xfrm>
          <a:off x="438912" y="1600200"/>
          <a:ext cx="7443216" cy="2039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912" y="3639956"/>
            <a:ext cx="7443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355F"/>
                </a:solidFill>
                <a:latin typeface="Book Antiqua"/>
              </a:rPr>
              <a:t>超大规模云厂商2025年Capex（</a:t>
            </a:r>
            <a:r>
              <a:rPr lang="en-US" sz="1200" b="1" dirty="0">
                <a:solidFill>
                  <a:srgbClr val="00355F"/>
                </a:solidFill>
                <a:latin typeface="Book Antiqua"/>
              </a:rPr>
              <a:t>Bn USD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958508"/>
              </p:ext>
            </p:extLst>
          </p:nvPr>
        </p:nvGraphicFramePr>
        <p:xfrm>
          <a:off x="438912" y="3931920"/>
          <a:ext cx="7346363" cy="2133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4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5186">
                  <a:extLst>
                    <a:ext uri="{9D8B030D-6E8A-4147-A177-3AD203B41FA5}">
                      <a16:colId xmlns:a16="http://schemas.microsoft.com/office/drawing/2014/main" val="1031658030"/>
                    </a:ext>
                  </a:extLst>
                </a:gridCol>
              </a:tblGrid>
              <a:tr h="392868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厂商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2023A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2024A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2025A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2026E</a:t>
                      </a:r>
                    </a:p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(公司指引)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53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Google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32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53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91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175-185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3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53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Meta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39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72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115-135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53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537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合计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140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225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359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~700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56448" y="1371600"/>
            <a:ext cx="354787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AI电力需求逻辑链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物理电力瓶颈先于芯片瓶颈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2030年全球数据中心电力需求翻倍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，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单台服务器功率10年增10倍（5kW→50kW+），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电力消耗的增速远快于算力的增速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每100MW算力需1座110kV专属变电站——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物理电力瓶颈将先于芯片供应瓶颈触发，HV设备是AI基础设施的'硬门票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'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对变压器的直接拉动量化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每座大型DC需3-5台大型变压器；美国已有400+GW 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DC供电申请待批。Citi假设超大规模DC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 capex 28% CAGR (2025-30E)，将延长变压器缺口至2029年后</a:t>
            </a:r>
          </a:p>
          <a:p>
            <a:pPr marL="180000" indent="-90000">
              <a:buFont typeface="Arial"/>
              <a:buChar char="•"/>
            </a:pPr>
            <a:r>
              <a:rPr sz="1200" b="0" dirty="0" err="1">
                <a:solidFill>
                  <a:srgbClr val="303030"/>
                </a:solidFill>
                <a:latin typeface="Book Antiqua"/>
              </a:rPr>
              <a:t>AI变压器细分CAGR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 59%（23-30年），虽然2023年仅占市场1%，但到2030年预计达10%——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目前处于从边际增量向主要驱动过渡的拐点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AI客户交期敏感度最高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Google/Meta/Amazon/Microsoft 2025年合计capex 3,590亿美元，每月交付延迟=巨额机会成本。这类客户更愿支付30%+溢价换取确定交期——有利于能快速交付的日韩厂商</a:t>
            </a:r>
            <a:endParaRPr sz="1200" b="1" dirty="0">
              <a:solidFill>
                <a:schemeClr val="accent3"/>
              </a:solidFill>
              <a:latin typeface="Book Antiqua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86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7A59926-1CE7-7170-2175-BA268E8D65B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324718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>
            <a:normAutofit fontScale="90000"/>
          </a:bodyPr>
          <a:lstStyle/>
          <a:p>
            <a:pPr algn="l"/>
            <a:r>
              <a:rPr sz="1800" b="1" dirty="0" err="1">
                <a:solidFill>
                  <a:srgbClr val="00355F"/>
                </a:solidFill>
                <a:latin typeface="Book Antiqua"/>
              </a:rPr>
              <a:t>AI数据中心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：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每100MW算力需1座110kV专属变电站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，</a:t>
            </a:r>
            <a:r>
              <a:rPr sz="1800" b="1" dirty="0" err="1">
                <a:solidFill>
                  <a:srgbClr val="00355F"/>
                </a:solidFill>
                <a:latin typeface="Book Antiqua"/>
              </a:rPr>
              <a:t>物理电力瓶颈先于芯片瓶颈触发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，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高压输电（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HV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）</a:t>
            </a:r>
            <a:r>
              <a:rPr sz="1800" b="1" dirty="0" err="1">
                <a:solidFill>
                  <a:srgbClr val="00355F"/>
                </a:solidFill>
                <a:latin typeface="Book Antiqua"/>
              </a:rPr>
              <a:t>设备是AI基础设施硬门票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 | 需求侧三重叠加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IEA Electricity 2024; EPRI Data Center Report 2025; BloombergNEF; Metro Analysis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9768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355F"/>
                </a:solidFill>
                <a:latin typeface="Book Antiqua"/>
              </a:rPr>
              <a:t>超大规模AI数据中心园区电力基础设施架构（100MW级）</a:t>
            </a:r>
          </a:p>
        </p:txBody>
      </p:sp>
      <p:pic>
        <p:nvPicPr>
          <p:cNvPr id="8" name="Picture 7" descr="ai_datacenter_substat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1645920"/>
            <a:ext cx="7443216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371600"/>
            <a:ext cx="354787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dirty="0">
                <a:solidFill>
                  <a:srgbClr val="20396D"/>
                </a:solidFill>
                <a:latin typeface="Book Antiqua"/>
              </a:rPr>
              <a:t>Key insights: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单园区变电站规模: 100MW AI数据中心园区需配套110kV/220kV专属变电站，含2-4台大型主变（单台50-100MVA），总设备价值$15-30M，且每个大模型训练集群需独立供电回路。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需求增速远超预期: 2023年AI服务器功耗密度10-20kW/rack，2025E已达60-100kW/rack（Blackwell/GB200），整园区电力需求5年增5×，变压器容量需求同步放大。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绑定效应: 数据中心一旦选址，HV变电站随之锁定20-30年生命周期，是最稳定的长期需求来源之一。微软/谷歌/Meta 2025年Capex共$200B+，70%与电力基础设施直接挂钩。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中国出海机会: 东南亚（新加坡、马来西亚）、中东（沙特NEOM、阿联酋）正在新建超大规模数据中心园区，均需大量HV变压器。中国厂商交期优势（18个月 vs 欧美36个月）是关键差异点。</a:t>
            </a: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6173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40466493-1AD7-4E7C-0E2D-DEF2C6CCF7D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5285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>
            <a:normAutofit fontScale="90000"/>
          </a:bodyPr>
          <a:lstStyle/>
          <a:p>
            <a:pPr algn="l"/>
            <a:r>
              <a:rPr lang="en-US" sz="1800" b="1" dirty="0">
                <a:solidFill>
                  <a:srgbClr val="00355F"/>
                </a:solidFill>
                <a:latin typeface="Book Antiqua"/>
              </a:rPr>
              <a:t>US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体量全球第一，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CN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紧随其后，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中东数据中心存量占全球~1%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，但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主权AI国策×超大规模资本2026-28集中引爆，</a:t>
            </a:r>
            <a:r>
              <a:rPr lang="zh-CN" altLang="en-US" sz="1800" dirty="0">
                <a:solidFill>
                  <a:srgbClr val="00355F"/>
                </a:solidFill>
                <a:latin typeface="Book Antiqua"/>
              </a:rPr>
              <a:t>激进产能规划</a:t>
            </a:r>
            <a:r>
              <a:rPr sz="1800" b="1" dirty="0" err="1">
                <a:solidFill>
                  <a:srgbClr val="00355F"/>
                </a:solidFill>
                <a:latin typeface="Book Antiqua"/>
              </a:rPr>
              <a:t>已落地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298448"/>
            <a:ext cx="74432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00355F"/>
                </a:solidFill>
                <a:latin typeface="Book Antiqua"/>
              </a:rPr>
              <a:t>AI Data Center Installed Capacity — 10 Key Markets Ranked by 2030E Total (GW IT Load, Power-Based)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471476"/>
              </p:ext>
            </p:extLst>
          </p:nvPr>
        </p:nvGraphicFramePr>
        <p:xfrm>
          <a:off x="438912" y="1572768"/>
          <a:ext cx="7443216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110727" y="1325880"/>
            <a:ext cx="3866625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56448" y="1371600"/>
            <a:ext cx="3593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Middle East — Spotlight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691640"/>
            <a:ext cx="363931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 dirty="0" err="1">
                <a:solidFill>
                  <a:srgbClr val="20396D"/>
                </a:solidFill>
                <a:latin typeface="Book Antiqua"/>
              </a:rPr>
              <a:t>当前概况： 存量~0.57 GW (2025E)，占全球~1%。UAE（迪拜/阿布扎比，~350 MW）为区域龙头；沙特（~222 MW）基数小但增速最猛。两国合并&gt;90% ME总量，卡塔尔等其余市场合计&lt;10%</a:t>
            </a:r>
            <a:endParaRPr lang="zh-CN" altLang="en-US" sz="1100" dirty="0">
              <a:solidFill>
                <a:srgbClr val="303030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b="1" dirty="0">
              <a:solidFill>
                <a:srgbClr val="20396D"/>
              </a:solidFill>
              <a:latin typeface="Book Antiqua" panose="020406020503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20396D"/>
                </a:solidFill>
                <a:latin typeface="Book Antiqua" panose="02040602050305030304" pitchFamily="18" charset="0"/>
              </a:rPr>
              <a:t>未来5年大项目：</a:t>
            </a:r>
            <a:endParaRPr lang="en-US" altLang="zh-CN" sz="1100" b="1" dirty="0">
              <a:solidFill>
                <a:srgbClr val="20396D"/>
              </a:solidFill>
              <a:latin typeface="Book Antiqua" panose="0204060205030503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AWS $5.3B </a:t>
            </a: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沙特区</a:t>
            </a:r>
            <a:r>
              <a:rPr lang="en-US" altLang="zh-CN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(2026</a:t>
            </a: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上线</a:t>
            </a:r>
            <a:r>
              <a:rPr lang="en-US" altLang="zh-CN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) ·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Microsoft Azure SA East Q4 2026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SDAIA Hexagon DC 480 MW政府超算中心</a:t>
            </a:r>
            <a:endParaRPr lang="en-US" altLang="zh-CN" sz="1100" dirty="0">
              <a:solidFill>
                <a:srgbClr val="303030"/>
              </a:solidFill>
              <a:latin typeface="Book Antiqua" panose="0204060205030503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G42×Microsoft UAE 200 MW扩容</a:t>
            </a:r>
            <a:endParaRPr lang="en-US" altLang="zh-CN" sz="1100" dirty="0">
              <a:solidFill>
                <a:srgbClr val="303030"/>
              </a:solidFill>
              <a:latin typeface="Book Antiqua" panose="0204060205030503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Center3</a:t>
            </a: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目标</a:t>
            </a:r>
            <a:r>
              <a:rPr lang="en-US" altLang="zh-CN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1.0 </a:t>
            </a:r>
            <a:r>
              <a:rPr 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GW by 2030；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2026–27</a:t>
            </a: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为建设高峰，新增</a:t>
            </a:r>
            <a:r>
              <a:rPr lang="en-US" altLang="zh-CN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&gt;1 </a:t>
            </a:r>
            <a:r>
              <a:rPr 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GW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b="1" dirty="0">
              <a:solidFill>
                <a:srgbClr val="20396D"/>
              </a:solidFill>
              <a:latin typeface="Book Antiqua" panose="020406020503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1" dirty="0">
                <a:solidFill>
                  <a:srgbClr val="20396D"/>
                </a:solidFill>
                <a:latin typeface="Book Antiqua" panose="02040602050305030304" pitchFamily="18" charset="0"/>
              </a:rPr>
              <a:t>Trend Drivers：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主权</a:t>
            </a:r>
            <a:r>
              <a:rPr lang="en-US" altLang="zh-CN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AI</a:t>
            </a: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国策 </a:t>
            </a:r>
            <a:r>
              <a:rPr lang="en-US" altLang="zh-CN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— HUMAIN/PIF $100B+</a:t>
            </a: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承诺</a:t>
            </a:r>
            <a:endParaRPr lang="en-US" altLang="zh-CN" sz="1100" dirty="0">
              <a:solidFill>
                <a:srgbClr val="303030"/>
              </a:solidFill>
              <a:latin typeface="Book Antiqua" panose="0204060205030503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超大规模运营商卡位 </a:t>
            </a:r>
            <a:r>
              <a:rPr lang="en-US" altLang="zh-CN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— AWS/MS/Google</a:t>
            </a: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三大云同步入场</a:t>
            </a:r>
            <a:endParaRPr lang="en-US" altLang="zh-CN" sz="1100" dirty="0">
              <a:solidFill>
                <a:srgbClr val="303030"/>
              </a:solidFill>
              <a:latin typeface="Book Antiqua" panose="0204060205030503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电价优势 </a:t>
            </a:r>
            <a:r>
              <a:rPr lang="en-US" altLang="zh-CN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— SA $0.03-0.05/kWh</a:t>
            </a: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全球最低区间</a:t>
            </a:r>
            <a:endParaRPr lang="en-US" altLang="zh-CN" sz="1100" dirty="0">
              <a:solidFill>
                <a:srgbClr val="303030"/>
              </a:solidFill>
              <a:latin typeface="Book Antiqua" panose="0204060205030503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枢纽地位 </a:t>
            </a:r>
            <a:r>
              <a:rPr lang="en-US" altLang="zh-CN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— </a:t>
            </a: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欧亚非流量节点，时延</a:t>
            </a:r>
            <a:r>
              <a:rPr lang="en-US" altLang="zh-CN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&lt;80ms</a:t>
            </a: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覆盖</a:t>
            </a:r>
            <a:r>
              <a:rPr lang="en-US" altLang="zh-CN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30</a:t>
            </a:r>
            <a:r>
              <a:rPr lang="zh-CN" altLang="en-US" sz="1100" dirty="0">
                <a:solidFill>
                  <a:srgbClr val="303030"/>
                </a:solidFill>
                <a:latin typeface="Book Antiqua" panose="02040602050305030304" pitchFamily="18" charset="0"/>
              </a:rPr>
              <a:t>亿人口</a:t>
            </a:r>
            <a:endParaRPr sz="1100" dirty="0">
              <a:solidFill>
                <a:srgbClr val="303030"/>
              </a:solidFill>
              <a:latin typeface="Book Antiqua" panose="0204060205030503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Arizton UAE DC Market 2025; S&amp;P Global Saudi Arabia DC Market 2025; ResearchAndMarkets Middle East DC Report 2026; AWS/Microsoft press releases; SDAIA / Vision 2030; CBRE &amp; JLL Global DC Outlook 2025; Metro Analysis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15777399-150D-3923-21F9-E3759B58D52F}"/>
              </a:ext>
            </a:extLst>
          </p:cNvPr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 | 需求侧三重叠加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EEC4849-172B-14C9-8DE1-4ABC9BEB00DB}"/>
              </a:ext>
            </a:extLst>
          </p:cNvPr>
          <p:cNvSpPr/>
          <p:nvPr/>
        </p:nvSpPr>
        <p:spPr>
          <a:xfrm>
            <a:off x="475488" y="4797379"/>
            <a:ext cx="1546495" cy="708338"/>
          </a:xfrm>
          <a:prstGeom prst="rect">
            <a:avLst/>
          </a:prstGeom>
          <a:noFill/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海外扩产3-5年才兑现：取向硅钢、技术工人、资本密集度三重锁死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II | 供给侧结构性短缺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Company announcements; Citi Research 2026; Wood Mackenzie 2025; Industry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全球主要制造商扩产计划与实际落地时间线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644474"/>
              </p:ext>
            </p:extLst>
          </p:nvPr>
        </p:nvGraphicFramePr>
        <p:xfrm>
          <a:off x="438912" y="1600200"/>
          <a:ext cx="7443212" cy="458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2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厂商</a:t>
                      </a:r>
                      <a:endParaRPr sz="11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投资额</a:t>
                      </a:r>
                      <a:endParaRPr sz="11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Book Antiqua"/>
                        </a:rPr>
                        <a:t>新增产能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投产时间</a:t>
                      </a:r>
                      <a:endParaRPr sz="11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主要制约</a:t>
                      </a:r>
                      <a:endParaRPr sz="11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日立能源</a:t>
                      </a:r>
                      <a:endParaRPr sz="11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$1.66亿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北美高压专厂+VA扩建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2027E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工厂建设18-24月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西门子能源</a:t>
                      </a:r>
                      <a:endParaRPr sz="11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€2.2亿+$10亿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德国+Charlotte 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2027E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美国劳工稀缺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303030"/>
                          </a:solidFill>
                          <a:latin typeface="Book Antiqua"/>
                        </a:rPr>
                        <a:t>GE </a:t>
                      </a:r>
                      <a:r>
                        <a:rPr sz="11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Vernova</a:t>
                      </a:r>
                      <a:endParaRPr sz="11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~$6亿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整合</a:t>
                      </a:r>
                      <a:r>
                        <a:rPr lang="en-US" altLang="zh-CN" sz="11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Prolec</a:t>
                      </a:r>
                      <a:r>
                        <a:rPr lang="en-US" altLang="zh-CN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 GE, </a:t>
                      </a:r>
                      <a:r>
                        <a:rPr lang="zh-CN" alt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计划</a:t>
                      </a:r>
                      <a:r>
                        <a:rPr sz="11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北美产量翻倍</a:t>
                      </a:r>
                      <a:endParaRPr sz="11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2028E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取向硅钢供给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三菱电机</a:t>
                      </a:r>
                      <a:endParaRPr sz="11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$1.93亿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+50%</a:t>
                      </a:r>
                      <a:r>
                        <a:rPr lang="zh-CN" alt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精密产能</a:t>
                      </a:r>
                      <a:endParaRPr sz="11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2028E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高技能工人培养3-5年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HD现代电气</a:t>
                      </a:r>
                      <a:endParaRPr sz="11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$4.93亿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美国年产能</a:t>
                      </a:r>
                      <a:endParaRPr lang="en-US" altLang="zh-CN" sz="11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  <a:p>
                      <a:pPr algn="l"/>
                      <a:r>
                        <a:rPr lang="en-US" altLang="zh-CN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100</a:t>
                      </a:r>
                      <a:r>
                        <a:rPr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→150台/年</a:t>
                      </a:r>
                      <a:r>
                        <a:rPr lang="zh-CN" alt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，新增</a:t>
                      </a:r>
                      <a:r>
                        <a:rPr lang="en-US" altLang="zh-CN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765KV</a:t>
                      </a:r>
                      <a:r>
                        <a:rPr lang="zh-CN" alt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认证线</a:t>
                      </a:r>
                      <a:endParaRPr sz="11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2027E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765kV认证周期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孝星重工</a:t>
                      </a:r>
                      <a:endParaRPr sz="11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~$2.2B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+</a:t>
                      </a:r>
                      <a:r>
                        <a:rPr 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50</a:t>
                      </a:r>
                      <a:r>
                        <a:rPr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%</a:t>
                      </a:r>
                      <a:r>
                        <a:rPr 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 M</a:t>
                      </a:r>
                      <a:r>
                        <a:rPr lang="en-US" altLang="zh-CN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emphis </a:t>
                      </a:r>
                      <a:r>
                        <a:rPr lang="zh-CN" alt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工厂新投</a:t>
                      </a:r>
                      <a:r>
                        <a:rPr lang="en-US" altLang="zh-CN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1.6</a:t>
                      </a:r>
                      <a:r>
                        <a:rPr lang="zh-CN" alt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亿</a:t>
                      </a:r>
                      <a:r>
                        <a:rPr lang="en-US" altLang="zh-CN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USD</a:t>
                      </a:r>
                    </a:p>
                    <a:p>
                      <a:pPr algn="l"/>
                      <a:r>
                        <a:rPr 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+20% HVDC </a:t>
                      </a:r>
                      <a:r>
                        <a:rPr lang="zh-CN" altLang="en-US"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工厂增产</a:t>
                      </a:r>
                      <a:endParaRPr sz="11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2028E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HVDC技术验证</a:t>
                      </a:r>
                      <a:endParaRPr sz="11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特变电工</a:t>
                      </a:r>
                      <a:endParaRPr sz="11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持续内部扩产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03030"/>
                          </a:solidFill>
                          <a:latin typeface="Book Antiqua"/>
                        </a:rPr>
                        <a:t>500→750 GVA by 2030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逐步</a:t>
                      </a:r>
                      <a:endParaRPr sz="11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国内为主，出海认证</a:t>
                      </a:r>
                      <a:endParaRPr sz="11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757154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7" y="1371600"/>
            <a:ext cx="36393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扩产缓慢的深层原因</a:t>
            </a:r>
            <a:r>
              <a:rPr sz="1200" b="1" u="none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三重约束的不可逆性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none" dirty="0">
                <a:solidFill>
                  <a:srgbClr val="20396D"/>
                </a:solidFill>
                <a:latin typeface="Book Antiqua"/>
              </a:rPr>
              <a:t>取向硅钢：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中国控制全球60-70%高端取向硅钢产能（新日铁/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POSCO仅占余量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），西方扩产在原材料源头即受制。硅钢+绝缘油占变压器材料成本50%+</a:t>
            </a:r>
          </a:p>
          <a:p>
            <a:pPr marL="180000" indent="-90000">
              <a:buFont typeface="Arial"/>
              <a:buChar char="•"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技术工人：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变压器绕线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/绝缘处理高度依赖经验工人（培养3-5年），欧美制造业空心化30年，短期无法逆转。如左表"主要制约"栏所示，美国劳工稀缺、高技能工人培养3-5年是各厂共同瓶颈</a:t>
            </a:r>
          </a:p>
          <a:p>
            <a:pPr marL="180000" indent="-90000">
              <a:buFont typeface="Arial"/>
              <a:buChar char="•"/>
            </a:pPr>
            <a:r>
              <a:rPr sz="1200" b="1" u="none" dirty="0">
                <a:solidFill>
                  <a:srgbClr val="20396D"/>
                </a:solidFill>
                <a:latin typeface="Book Antiqua"/>
              </a:rPr>
              <a:t>资本密集度：</a:t>
            </a:r>
            <a:r>
              <a:rPr sz="1200" b="0" u="none" dirty="0">
                <a:solidFill>
                  <a:schemeClr val="accent3"/>
                </a:solidFill>
                <a:latin typeface="Book Antiqua"/>
              </a:rPr>
              <a:t>变压器产能投资盈亏平衡期20+年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，历经数十年行业洗牌后管理层极为审慎——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这解释了为何即使需求暴增，也只敢渐进式扩产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对中国厂商的时间窗含义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日立$1.66亿北美专厂2027E、西门子€2.2亿+$10亿德/美双线2027E、GE~$6亿北美翻倍2028E、HD $4.93亿Alabama 2027E。产能释放集中在2027-28年，2025-2027年全球缺口确定存在</a:t>
            </a: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即便扩产全部按期落地，新产能的爬坡也需1-2年，实际供需平衡可能推迟至2030年后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46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中国产能占全球30%+，特变/西电规模遥遥领先，北美售价利润率是国内3-4倍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II | 供给侧结构性短缺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Citi Research Global Power Transformers, March 2026;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全球前10大HV变压器制造商产能分布（GVA，2025E）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331607"/>
              </p:ext>
            </p:extLst>
          </p:nvPr>
        </p:nvGraphicFramePr>
        <p:xfrm>
          <a:off x="438912" y="1600200"/>
          <a:ext cx="7443212" cy="4334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47872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100" b="1" u="none" dirty="0" err="1">
                <a:solidFill>
                  <a:srgbClr val="20396D"/>
                </a:solidFill>
                <a:latin typeface="Book Antiqua"/>
              </a:rPr>
              <a:t>中国制造优势的深度解读</a:t>
            </a:r>
            <a:r>
              <a:rPr sz="1100" b="1" u="none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r>
              <a:rPr sz="1100" b="1" u="sng" dirty="0" err="1">
                <a:solidFill>
                  <a:srgbClr val="20396D"/>
                </a:solidFill>
                <a:latin typeface="Book Antiqua"/>
              </a:rPr>
              <a:t>规模优势已形成护城河</a:t>
            </a:r>
            <a:endParaRPr sz="11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100" b="0" u="none" dirty="0">
                <a:solidFill>
                  <a:srgbClr val="303030"/>
                </a:solidFill>
                <a:latin typeface="Book Antiqua"/>
              </a:rPr>
              <a:t>TBEA以500 </a:t>
            </a:r>
            <a:r>
              <a:rPr sz="1100" b="0" u="none" dirty="0" err="1">
                <a:solidFill>
                  <a:srgbClr val="303030"/>
                </a:solidFill>
                <a:latin typeface="Book Antiqua"/>
              </a:rPr>
              <a:t>GVA位居全球第一</a:t>
            </a:r>
            <a:r>
              <a:rPr sz="1100" b="0" u="none" dirty="0">
                <a:solidFill>
                  <a:srgbClr val="303030"/>
                </a:solidFill>
                <a:latin typeface="Book Antiqua"/>
              </a:rPr>
              <a:t>（=GE Vernova全部产能的近3倍），中国西电200 GVA排名前列。中国厂商合计产能占全球30%+，</a:t>
            </a:r>
            <a:r>
              <a:rPr sz="1100" b="0" u="none" dirty="0" err="1">
                <a:solidFill>
                  <a:srgbClr val="303030"/>
                </a:solidFill>
                <a:latin typeface="Book Antiqua"/>
              </a:rPr>
              <a:t>形成了江苏</a:t>
            </a:r>
            <a:r>
              <a:rPr sz="1100" b="0" u="none" dirty="0">
                <a:solidFill>
                  <a:srgbClr val="303030"/>
                </a:solidFill>
                <a:latin typeface="Book Antiqua"/>
              </a:rPr>
              <a:t>/</a:t>
            </a:r>
            <a:r>
              <a:rPr sz="1100" b="0" u="none" dirty="0" err="1">
                <a:solidFill>
                  <a:srgbClr val="303030"/>
                </a:solidFill>
                <a:latin typeface="Book Antiqua"/>
              </a:rPr>
              <a:t>陕西两大产业集群效应</a:t>
            </a:r>
            <a:endParaRPr sz="1100" b="0" u="none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100" b="1" u="none" dirty="0">
                <a:solidFill>
                  <a:srgbClr val="20396D"/>
                </a:solidFill>
                <a:latin typeface="Book Antiqua"/>
              </a:rPr>
              <a:t>成本差异核心在劳动力而非设备：</a:t>
            </a:r>
            <a:r>
              <a:rPr sz="1100" b="0" u="none" dirty="0">
                <a:solidFill>
                  <a:srgbClr val="303030"/>
                </a:solidFill>
                <a:latin typeface="Book Antiqua"/>
              </a:rPr>
              <a:t>韩国比美国便宜35%，中国比韩国再便宜10-15%。同一产品卖到美国利润率是卖到中国的3-4倍——</a:t>
            </a:r>
            <a:r>
              <a:rPr sz="1100" b="0" u="none" dirty="0" err="1">
                <a:solidFill>
                  <a:srgbClr val="303030"/>
                </a:solidFill>
                <a:latin typeface="Book Antiqua"/>
              </a:rPr>
              <a:t>北美定价权是全行业最重要的Alpha来源</a:t>
            </a:r>
            <a:endParaRPr sz="1100" b="0" u="none" dirty="0">
              <a:solidFill>
                <a:srgbClr val="303030"/>
              </a:solidFill>
              <a:latin typeface="Book Antiqua"/>
            </a:endParaRPr>
          </a:p>
          <a:p>
            <a:pPr marL="0" indent="0">
              <a:buNone/>
            </a:pPr>
            <a:endParaRPr lang="en-US" sz="11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100" b="1" u="sng" dirty="0" err="1">
                <a:solidFill>
                  <a:srgbClr val="20396D"/>
                </a:solidFill>
                <a:latin typeface="Book Antiqua"/>
              </a:rPr>
              <a:t>出海突破正在加速</a:t>
            </a:r>
            <a:endParaRPr sz="11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100" b="0" u="none" dirty="0" err="1">
                <a:solidFill>
                  <a:srgbClr val="303030"/>
                </a:solidFill>
                <a:latin typeface="Book Antiqua"/>
              </a:rPr>
              <a:t>中国厂商（TBEA</a:t>
            </a:r>
            <a:r>
              <a:rPr sz="1100" b="0" u="none" dirty="0">
                <a:solidFill>
                  <a:srgbClr val="303030"/>
                </a:solidFill>
                <a:latin typeface="Book Antiqua"/>
              </a:rPr>
              <a:t>/</a:t>
            </a:r>
            <a:r>
              <a:rPr sz="1100" b="0" u="none" dirty="0" err="1">
                <a:solidFill>
                  <a:srgbClr val="303030"/>
                </a:solidFill>
                <a:latin typeface="Book Antiqua"/>
              </a:rPr>
              <a:t>西电</a:t>
            </a:r>
            <a:r>
              <a:rPr sz="1100" b="0" u="none" dirty="0">
                <a:solidFill>
                  <a:srgbClr val="303030"/>
                </a:solidFill>
                <a:latin typeface="Book Antiqua"/>
              </a:rPr>
              <a:t>/思源）合计产能远超任何单一海外竞争对手，</a:t>
            </a:r>
            <a:r>
              <a:rPr sz="1100" b="1" u="none" dirty="0">
                <a:solidFill>
                  <a:schemeClr val="accent3"/>
                </a:solidFill>
                <a:latin typeface="Book Antiqua"/>
              </a:rPr>
              <a:t>但全球HV出口市占率仅3%——</a:t>
            </a:r>
            <a:r>
              <a:rPr sz="1100" b="1" u="none" dirty="0" err="1">
                <a:solidFill>
                  <a:schemeClr val="accent3"/>
                </a:solidFill>
                <a:latin typeface="Book Antiqua"/>
              </a:rPr>
              <a:t>产能优势尚未转化为出海收入，增长空间大</a:t>
            </a:r>
            <a:endParaRPr sz="1100" b="1" u="none" dirty="0">
              <a:solidFill>
                <a:schemeClr val="accent3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100" b="0" u="none" dirty="0" err="1">
                <a:solidFill>
                  <a:srgbClr val="303030"/>
                </a:solidFill>
                <a:latin typeface="Book Antiqua"/>
              </a:rPr>
              <a:t>TBEA中标沙特SEC</a:t>
            </a:r>
            <a:r>
              <a:rPr sz="1100" b="0" u="none" dirty="0">
                <a:solidFill>
                  <a:srgbClr val="303030"/>
                </a:solidFill>
                <a:latin typeface="Book Antiqua"/>
              </a:rPr>
              <a:t> 164亿元大单+沙特建厂计划；思源2025H1海外收入+89%，已在70+国家获认证；五大区域均衡分布降低了单一市场风险</a:t>
            </a:r>
          </a:p>
          <a:p>
            <a:pPr>
              <a:spcBef>
                <a:spcPts val="600"/>
              </a:spcBef>
            </a:pPr>
            <a:endParaRPr lang="en-US" sz="11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600"/>
              </a:spcBef>
            </a:pPr>
            <a:r>
              <a:rPr sz="1100" b="1" dirty="0" err="1">
                <a:solidFill>
                  <a:srgbClr val="00355F"/>
                </a:solidFill>
                <a:latin typeface="Book Antiqua"/>
              </a:rPr>
              <a:t>思源电气的差异化定位</a:t>
            </a:r>
            <a:endParaRPr sz="1100" b="1" dirty="0">
              <a:solidFill>
                <a:srgbClr val="00355F"/>
              </a:solidFill>
              <a:latin typeface="Book Antiqua"/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100" b="0" dirty="0" err="1">
                <a:solidFill>
                  <a:srgbClr val="303030"/>
                </a:solidFill>
                <a:latin typeface="Book Antiqua"/>
              </a:rPr>
              <a:t>思源核心是GIS</a:t>
            </a:r>
            <a:r>
              <a:rPr sz="1100" b="0" dirty="0">
                <a:solidFill>
                  <a:srgbClr val="303030"/>
                </a:solidFill>
                <a:latin typeface="Book Antiqua"/>
              </a:rPr>
              <a:t>/</a:t>
            </a:r>
            <a:r>
              <a:rPr sz="1100" b="0" dirty="0" err="1">
                <a:solidFill>
                  <a:srgbClr val="303030"/>
                </a:solidFill>
                <a:latin typeface="Book Antiqua"/>
              </a:rPr>
              <a:t>高压开关而非变压器产量</a:t>
            </a:r>
            <a:r>
              <a:rPr lang="zh-CN" altLang="en-US" sz="1100" b="0" dirty="0">
                <a:solidFill>
                  <a:srgbClr val="303030"/>
                </a:solidFill>
                <a:latin typeface="Book Antiqua"/>
              </a:rPr>
              <a:t>，</a:t>
            </a:r>
            <a:r>
              <a:rPr sz="1100" b="0" dirty="0">
                <a:solidFill>
                  <a:srgbClr val="303030"/>
                </a:solidFill>
                <a:latin typeface="Book Antiqua"/>
              </a:rPr>
              <a:t>但正通过南通+无锡扩产进入500kV变压器市场。</a:t>
            </a:r>
            <a:endParaRPr lang="en-US" sz="1100" b="0" dirty="0">
              <a:solidFill>
                <a:srgbClr val="303030"/>
              </a:solidFill>
              <a:latin typeface="Book Antiqua"/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100" b="0" dirty="0">
                <a:solidFill>
                  <a:srgbClr val="303030"/>
                </a:solidFill>
                <a:latin typeface="Book Antiqua"/>
              </a:rPr>
              <a:t>GIS交货期6-12个月（海外100+周），2025H1海外收入+89%，70+国认证。民企机制灵活+研发效率高，是中国输变电出海的“轻骑兵”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912" y="6025896"/>
            <a:ext cx="744321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707070"/>
                </a:solidFill>
                <a:latin typeface="Book Antiqua"/>
              </a:rPr>
              <a:t>* </a:t>
            </a:r>
            <a:r>
              <a:rPr sz="750" b="0" dirty="0" err="1">
                <a:solidFill>
                  <a:srgbClr val="707070"/>
                </a:solidFill>
                <a:latin typeface="Book Antiqua"/>
              </a:rPr>
              <a:t>思源电气产能为估算值，含GIS产线</a:t>
            </a:r>
            <a:r>
              <a:rPr sz="750" b="0" dirty="0">
                <a:solidFill>
                  <a:srgbClr val="707070"/>
                </a:solidFill>
                <a:latin typeface="Book Antiqua"/>
              </a:rPr>
              <a:t> + </a:t>
            </a:r>
            <a:r>
              <a:rPr sz="750" b="0" dirty="0" err="1">
                <a:solidFill>
                  <a:srgbClr val="707070"/>
                </a:solidFill>
                <a:latin typeface="Book Antiqua"/>
              </a:rPr>
              <a:t>思源东芝变压器Phase</a:t>
            </a:r>
            <a:r>
              <a:rPr sz="750" b="0" dirty="0">
                <a:solidFill>
                  <a:srgbClr val="707070"/>
                </a:solidFill>
                <a:latin typeface="Book Antiqua"/>
              </a:rPr>
              <a:t> II（~100 GVA，400台/年）</a:t>
            </a:r>
          </a:p>
        </p:txBody>
      </p:sp>
    </p:spTree>
    <p:extLst>
      <p:ext uri="{BB962C8B-B14F-4D97-AF65-F5344CB8AC3E}">
        <p14:creationId xmlns:p14="http://schemas.microsoft.com/office/powerpoint/2010/main" val="1438154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hink-cell data - do not delete" hidden="1">
            <a:extLst>
              <a:ext uri="{FF2B5EF4-FFF2-40B4-BE49-F238E27FC236}">
                <a16:creationId xmlns:a16="http://schemas.microsoft.com/office/drawing/2014/main" id="{29607A6E-2C1B-D35E-F5FC-EF4FDAD8F5D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2660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9" imgW="329" imgH="329" progId="TCLayout.ActiveDocument.1">
                  <p:embed/>
                </p:oleObj>
              </mc:Choice>
              <mc:Fallback>
                <p:oleObj name="think-cell 幻灯片" r:id="rId59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扩产时间差至少3年：TBEA主导增量，2028年日立VA+孝星HVDC落地才是真实拐点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II | 供给侧结构性短缺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53312"/>
            <a:ext cx="7443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0355F"/>
                </a:solidFill>
                <a:latin typeface="Book Antiqua"/>
              </a:rPr>
              <a:t>全球HV变压器产能扩张路线图（GVA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/年）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973568" y="1325880"/>
            <a:ext cx="0" cy="3593592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10727" y="1325880"/>
            <a:ext cx="3639311" cy="35935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56448" y="1380744"/>
            <a:ext cx="35935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0355F"/>
                </a:solidFill>
                <a:latin typeface="Book Antiqua"/>
              </a:rPr>
              <a:t>关键时间节点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56448" y="1709928"/>
            <a:ext cx="3593591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20396D"/>
                </a:solidFill>
                <a:latin typeface="Book Antiqua"/>
              </a:rPr>
              <a:t>2025现状: 供给2,359 GVA vs 需求3,066 GVA，缺口−707（−30%）。交期36+月，卖方市场充分验证</a:t>
            </a:r>
            <a:endParaRPr lang="en-US" altLang="zh-CN" sz="1100" b="1" dirty="0">
              <a:solidFill>
                <a:srgbClr val="20396D"/>
              </a:solidFill>
              <a:latin typeface="Book Antiqua" panose="020406020503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1" dirty="0">
                <a:solidFill>
                  <a:srgbClr val="20396D"/>
                </a:solidFill>
                <a:latin typeface="Book Antiqua" panose="02040602050305030304" pitchFamily="18" charset="0"/>
              </a:rPr>
              <a:t>2027拐点A: 西门子Charlotte+HD Alabama落地，但合计释放仅~50 GVA，对-500 GVA缺口影响&lt;10%——格局未变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b="1" dirty="0">
                <a:solidFill>
                  <a:srgbClr val="20396D"/>
                </a:solidFill>
                <a:latin typeface="Book Antiqua" panose="02040602050305030304" pitchFamily="18" charset="0"/>
              </a:rPr>
              <a:t>2028真实拐点: 日立VA工厂(+50%)、孝星Memphis(+50%), HVDC专厂(+20%)、GE越南(+15%)同步落地；TBEA 500→750 （2025-2030E）扩张中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b="1" dirty="0">
              <a:solidFill>
                <a:srgbClr val="20396D"/>
              </a:solidFill>
              <a:latin typeface="Book Antiqua" panose="020406020503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20396D"/>
                </a:solidFill>
                <a:latin typeface="Book Antiqua" panose="02040602050305030304" pitchFamily="18" charset="0"/>
              </a:rPr>
              <a:t>中国其他上量激进但基本不出口: 保变/沈变/上变等数十家中型制造商受国网4万亿驱动集体扩产，2028年单年贡献+255 GVA，主要还是在国内；出口比例估计约5-10%（~15-30 GVA）</a:t>
            </a:r>
            <a:endParaRPr lang="en-US" altLang="zh-CN" sz="1100" dirty="0">
              <a:solidFill>
                <a:srgbClr val="303030"/>
              </a:solidFill>
              <a:latin typeface="Book Antiqua" panose="020406020503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b="1" dirty="0">
              <a:solidFill>
                <a:srgbClr val="20396D"/>
              </a:solidFill>
              <a:latin typeface="Book Antiqua" panose="020406020503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b="1" dirty="0">
                <a:solidFill>
                  <a:srgbClr val="20396D"/>
                </a:solidFill>
                <a:latin typeface="Book Antiqua" panose="02040602050305030304" pitchFamily="18" charset="0"/>
              </a:rPr>
              <a:t>新兴市场加速: 印度25%+ CAGR(ABB India/Crompton/Voltamp)；土耳其Aupave/ENPAS；巴西WEG；2028贡献+135 GVA</a:t>
            </a:r>
            <a:endParaRPr sz="1100" dirty="0">
              <a:solidFill>
                <a:srgbClr val="303030"/>
              </a:solidFill>
              <a:latin typeface="Book Antiqua" panose="0204060205030503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8912" y="5029200"/>
            <a:ext cx="11311128" cy="1170432"/>
          </a:xfrm>
          <a:prstGeom prst="rect">
            <a:avLst/>
          </a:prstGeom>
          <a:solidFill>
            <a:srgbClr val="E8EFF8"/>
          </a:solidFill>
          <a:ln w="9525"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" y="5029200"/>
            <a:ext cx="45720" cy="1170432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5331" y="5102352"/>
            <a:ext cx="18288" cy="1024128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55184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55F"/>
                </a:solidFill>
                <a:latin typeface="Book Antiqua"/>
              </a:rPr>
              <a:t>◆ 预计需求规模（Citi Research，GVA/年）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4203" y="5074920"/>
            <a:ext cx="55184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355F"/>
                </a:solidFill>
                <a:latin typeface="Book Antiqua"/>
              </a:rPr>
              <a:t>◆ 供需缺口（缺口率 = 缺口/供给，Citi Base Case）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03520"/>
            <a:ext cx="1264953" cy="201168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" y="5321807"/>
            <a:ext cx="121923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ook Antiqua"/>
              </a:rPr>
              <a:t>年份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13593" y="5303520"/>
            <a:ext cx="2414910" cy="201168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41025" y="5321807"/>
            <a:ext cx="236919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ook Antiqua"/>
              </a:rPr>
              <a:t>需求 (GVA)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8503" y="5303520"/>
            <a:ext cx="1609940" cy="201168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55935" y="5321807"/>
            <a:ext cx="15642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ook Antiqua"/>
              </a:rPr>
              <a:t>YoY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22976"/>
            <a:ext cx="1264953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" y="5541264"/>
            <a:ext cx="121923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2025A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13593" y="5522976"/>
            <a:ext cx="241491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41025" y="5541264"/>
            <a:ext cx="236919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3,066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8503" y="5522976"/>
            <a:ext cx="16099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55935" y="5541264"/>
            <a:ext cx="15642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基准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42432"/>
            <a:ext cx="1264953" cy="201168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6072" y="5760720"/>
            <a:ext cx="121923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2027E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13593" y="5742432"/>
            <a:ext cx="2414910" cy="201168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41025" y="5760720"/>
            <a:ext cx="236919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3,600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28503" y="5742432"/>
            <a:ext cx="1609940" cy="201168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55935" y="5760720"/>
            <a:ext cx="15642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9966"/>
                </a:solidFill>
                <a:latin typeface="Book Antiqua"/>
              </a:rPr>
              <a:t>+18%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961888"/>
            <a:ext cx="1264953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6072" y="5980175"/>
            <a:ext cx="121923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2030E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13593" y="5961888"/>
            <a:ext cx="241491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41025" y="5980175"/>
            <a:ext cx="236919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4,500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28503" y="5961888"/>
            <a:ext cx="16099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55935" y="5980175"/>
            <a:ext cx="15642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9966"/>
                </a:solidFill>
                <a:latin typeface="Book Antiqua"/>
              </a:rPr>
              <a:t>+25%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04203" y="5303520"/>
            <a:ext cx="868475" cy="201168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31636" y="5321807"/>
            <a:ext cx="82275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ook Antiqua"/>
              </a:rPr>
              <a:t>年份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72679" y="5303520"/>
            <a:ext cx="1579045" cy="201168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47" name="TextBox 46"/>
          <p:cNvSpPr txBox="1"/>
          <p:nvPr/>
        </p:nvSpPr>
        <p:spPr>
          <a:xfrm>
            <a:off x="7100111" y="5321807"/>
            <a:ext cx="1533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ook Antiqua"/>
              </a:rPr>
              <a:t>供给 (GVA)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1725" y="5303520"/>
            <a:ext cx="1657998" cy="201168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49" name="TextBox 48"/>
          <p:cNvSpPr txBox="1"/>
          <p:nvPr/>
        </p:nvSpPr>
        <p:spPr>
          <a:xfrm>
            <a:off x="8679157" y="5321807"/>
            <a:ext cx="16122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ook Antiqua"/>
              </a:rPr>
              <a:t>缺口 (GVA)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09723" y="5303520"/>
            <a:ext cx="1184284" cy="201168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51" name="TextBox 50"/>
          <p:cNvSpPr txBox="1"/>
          <p:nvPr/>
        </p:nvSpPr>
        <p:spPr>
          <a:xfrm>
            <a:off x="10337155" y="5321807"/>
            <a:ext cx="1138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Book Antiqua"/>
              </a:rPr>
              <a:t>缺口率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04203" y="5522976"/>
            <a:ext cx="868475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1636" y="5541264"/>
            <a:ext cx="82275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2025A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72679" y="5522976"/>
            <a:ext cx="1579045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55" name="TextBox 54"/>
          <p:cNvSpPr txBox="1"/>
          <p:nvPr/>
        </p:nvSpPr>
        <p:spPr>
          <a:xfrm>
            <a:off x="7100111" y="5541264"/>
            <a:ext cx="1533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2,359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51725" y="5522976"/>
            <a:ext cx="165799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57" name="TextBox 56"/>
          <p:cNvSpPr txBox="1"/>
          <p:nvPr/>
        </p:nvSpPr>
        <p:spPr>
          <a:xfrm>
            <a:off x="8679157" y="5541264"/>
            <a:ext cx="16122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C0000"/>
                </a:solidFill>
                <a:latin typeface="Book Antiqua"/>
              </a:rPr>
              <a:t>−707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309723" y="5522976"/>
            <a:ext cx="118428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59" name="TextBox 58"/>
          <p:cNvSpPr txBox="1"/>
          <p:nvPr/>
        </p:nvSpPr>
        <p:spPr>
          <a:xfrm>
            <a:off x="10337155" y="5541264"/>
            <a:ext cx="1138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C0000"/>
                </a:solidFill>
                <a:latin typeface="Book Antiqua"/>
              </a:rPr>
              <a:t>−30%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04203" y="5742432"/>
            <a:ext cx="868475" cy="201168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31636" y="5760720"/>
            <a:ext cx="82275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2027E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72679" y="5742432"/>
            <a:ext cx="1579045" cy="201168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63" name="TextBox 62"/>
          <p:cNvSpPr txBox="1"/>
          <p:nvPr/>
        </p:nvSpPr>
        <p:spPr>
          <a:xfrm>
            <a:off x="7100111" y="5760720"/>
            <a:ext cx="1533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3,100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51725" y="5742432"/>
            <a:ext cx="1657998" cy="201168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65" name="TextBox 64"/>
          <p:cNvSpPr txBox="1"/>
          <p:nvPr/>
        </p:nvSpPr>
        <p:spPr>
          <a:xfrm>
            <a:off x="8679157" y="5760720"/>
            <a:ext cx="16122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C0000"/>
                </a:solidFill>
                <a:latin typeface="Book Antiqua"/>
              </a:rPr>
              <a:t>−500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309723" y="5742432"/>
            <a:ext cx="1184284" cy="201168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67" name="TextBox 66"/>
          <p:cNvSpPr txBox="1"/>
          <p:nvPr/>
        </p:nvSpPr>
        <p:spPr>
          <a:xfrm>
            <a:off x="10337155" y="5760720"/>
            <a:ext cx="1138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C0000"/>
                </a:solidFill>
                <a:latin typeface="Book Antiqua"/>
              </a:rPr>
              <a:t>−16%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04203" y="5961888"/>
            <a:ext cx="868475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231636" y="5980175"/>
            <a:ext cx="822755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2030E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72679" y="5961888"/>
            <a:ext cx="1579045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1" name="TextBox 70"/>
          <p:cNvSpPr txBox="1"/>
          <p:nvPr/>
        </p:nvSpPr>
        <p:spPr>
          <a:xfrm>
            <a:off x="7100111" y="5980175"/>
            <a:ext cx="1533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03030"/>
                </a:solidFill>
                <a:latin typeface="Book Antiqua"/>
              </a:rPr>
              <a:t>4,593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51725" y="5961888"/>
            <a:ext cx="165799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3" name="TextBox 72"/>
          <p:cNvSpPr txBox="1"/>
          <p:nvPr/>
        </p:nvSpPr>
        <p:spPr>
          <a:xfrm>
            <a:off x="8679157" y="5980175"/>
            <a:ext cx="16122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9966"/>
                </a:solidFill>
                <a:latin typeface="Book Antiqua"/>
              </a:rPr>
              <a:t>+93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09723" y="5961888"/>
            <a:ext cx="1184284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5" name="TextBox 74"/>
          <p:cNvSpPr txBox="1"/>
          <p:nvPr/>
        </p:nvSpPr>
        <p:spPr>
          <a:xfrm>
            <a:off x="10337155" y="5980175"/>
            <a:ext cx="1138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9966"/>
                </a:solidFill>
                <a:latin typeface="Book Antiqua"/>
              </a:rPr>
              <a:t>+2%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0040" y="6364224"/>
            <a:ext cx="9756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707070"/>
                </a:solidFill>
                <a:latin typeface="Book Antiqua"/>
              </a:rPr>
              <a:t>Source: Citi Research Global Power Transformers Mar-2026 (supply/demand curve); Wood Mackenzie 2025; Company announcements (TBEA/Hitachi/Siemens/GE/HD/Hyosung/Mitsubishi); 保变电气/沈阳变压器/上海电气变压器等中国中型制造商估算; CG Power (40 GVA) + ABB India/Crompton/Voltamp + Aupave/WEG; 思源东芝官方资料; Metro Analysis</a:t>
            </a:r>
          </a:p>
        </p:txBody>
      </p: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CAAB3E87-F2EF-52F4-43A1-3C78E7305408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244600" y="3165475"/>
            <a:ext cx="4683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C4382939-7503-5EC5-FAE0-2B4E417834B7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298700" y="2960688"/>
            <a:ext cx="4683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8A0A11B9-7C72-97BE-E4C0-65DE4A0DFB07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352800" y="2720975"/>
            <a:ext cx="4683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AF8F0E9D-445E-759F-9201-82B493F22704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408488" y="2360613"/>
            <a:ext cx="4683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14BA05BA-6EA3-BC6B-1613-342A325976F2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462588" y="2060575"/>
            <a:ext cx="4683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42955D87-B758-E603-1222-60FE4FAC36F2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516688" y="1825625"/>
            <a:ext cx="4683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67" name="Chart 3">
            <a:extLst>
              <a:ext uri="{FF2B5EF4-FFF2-40B4-BE49-F238E27FC236}">
                <a16:creationId xmlns:a16="http://schemas.microsoft.com/office/drawing/2014/main" id="{B38D8C65-189F-B428-E82A-E367E4249580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419299084"/>
              </p:ext>
            </p:extLst>
          </p:nvPr>
        </p:nvGraphicFramePr>
        <p:xfrm>
          <a:off x="342900" y="1639888"/>
          <a:ext cx="7545388" cy="3125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1"/>
          </a:graphicData>
        </a:graphic>
      </p:graphicFrame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F4991EBF-A3BF-9942-93CB-AA84BF30FA6A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 flipH="1" flipV="1">
            <a:off x="2224088" y="3100388"/>
            <a:ext cx="87312" cy="492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478F8154-12AF-B6CB-3EC4-6AC209C8B038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 flipH="1" flipV="1">
            <a:off x="2224088" y="3149600"/>
            <a:ext cx="87312" cy="555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DECE8691-21DD-9881-2164-ACB5E61DF0AF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H="1">
            <a:off x="2224088" y="3040063"/>
            <a:ext cx="87312" cy="63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Text Placeholder 2">
            <a:extLst>
              <a:ext uri="{FF2B5EF4-FFF2-40B4-BE49-F238E27FC236}">
                <a16:creationId xmlns:a16="http://schemas.microsoft.com/office/drawing/2014/main" id="{CE946305-C96A-5E6A-1F07-0C72B50FBDA3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41363" y="4613275"/>
            <a:ext cx="41910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A4B1588-B578-4ECD-B00A-8D3D4A009638}" type="datetime'2025''A''''''''''''''''''&#10;''基''''''础''''''产''能''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2025A
基础产能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83" name="Text Placeholder 2">
            <a:extLst>
              <a:ext uri="{FF2B5EF4-FFF2-40B4-BE49-F238E27FC236}">
                <a16:creationId xmlns:a16="http://schemas.microsoft.com/office/drawing/2014/main" id="{63248198-7D24-6CFA-B253-C0E5D8AEC321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5030788" y="4613275"/>
            <a:ext cx="277813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C8B5940-11F7-4815-A634-76A214AF9E15}" type="datetime'''''''''''''20''29''E''''''''&#10;''''''''''增''''''量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2029E
增量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86" name="Text Placeholder 2">
            <a:extLst>
              <a:ext uri="{FF2B5EF4-FFF2-40B4-BE49-F238E27FC236}">
                <a16:creationId xmlns:a16="http://schemas.microsoft.com/office/drawing/2014/main" id="{EAB0A935-0AF5-7FEA-DF58-1B561ED22DC8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6011863" y="2000250"/>
            <a:ext cx="130175" cy="10953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38FB962-86A3-4B04-BBEA-F86329B5B0BA}" type="datetime'''''''''''2''''''0'''''''''''''''''''''''''''''">
              <a:rPr lang="en-US" altLang="en-US" sz="800" smtClean="0">
                <a:effectLst/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71" name="Text Placeholder 2">
            <a:extLst>
              <a:ext uri="{FF2B5EF4-FFF2-40B4-BE49-F238E27FC236}">
                <a16:creationId xmlns:a16="http://schemas.microsoft.com/office/drawing/2014/main" id="{096F9F40-527A-06C1-912E-3F6363D63EB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6084888" y="4613275"/>
            <a:ext cx="277813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E39AA09-CE58-4BA0-9F1B-6B9B9FD40117}" type="datetime'2''''''''''''''''''03''''0E''&#10;''''增''''量''''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2030E
增量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75" name="Text Placeholder 2">
            <a:extLst>
              <a:ext uri="{FF2B5EF4-FFF2-40B4-BE49-F238E27FC236}">
                <a16:creationId xmlns:a16="http://schemas.microsoft.com/office/drawing/2014/main" id="{BEACCA91-28D9-52FF-74F5-4369A5CCB2BD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7138988" y="4613275"/>
            <a:ext cx="277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3080C18-6521-4CD7-9C28-ECDF3E931BE0}" type="datetime'''''''''''''''2''''0''''''3''''''''0''''''''''''''E''''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2030E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76" name="Text Placeholder 2">
            <a:extLst>
              <a:ext uri="{FF2B5EF4-FFF2-40B4-BE49-F238E27FC236}">
                <a16:creationId xmlns:a16="http://schemas.microsoft.com/office/drawing/2014/main" id="{77C864DF-6694-7BE3-7094-5D853CFC3D3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976688" y="4613275"/>
            <a:ext cx="277813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841BB9C-B607-4AD0-AE44-76A678F965DD}" type="datetime'''''''20''''''''''''''''''2''8''''''E''''&#10;增量''''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2028E
增量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65" name="Text Placeholder 2">
            <a:extLst>
              <a:ext uri="{FF2B5EF4-FFF2-40B4-BE49-F238E27FC236}">
                <a16:creationId xmlns:a16="http://schemas.microsoft.com/office/drawing/2014/main" id="{CAC4BF15-D40E-5621-5215-98B5C9A6B996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822325" y="3030538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E4AB4FF-C7A7-443D-AF1A-43E42E53F976}" type="datetime'''2'''''''''''''''',''3''5''''''''''''9''''''''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2,359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66" name="Text Placeholder 2">
            <a:extLst>
              <a:ext uri="{FF2B5EF4-FFF2-40B4-BE49-F238E27FC236}">
                <a16:creationId xmlns:a16="http://schemas.microsoft.com/office/drawing/2014/main" id="{701505A7-0F2D-04AB-8179-D940650DDE75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1914525" y="2817813"/>
            <a:ext cx="1809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D05B813-B42D-4957-97DC-CF19930B2086}" type="datetime'''''''''''''''''''''''''''''''3''''''''''''''''4''''''''1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341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67" name="Text Placeholder 2">
            <a:extLst>
              <a:ext uri="{FF2B5EF4-FFF2-40B4-BE49-F238E27FC236}">
                <a16:creationId xmlns:a16="http://schemas.microsoft.com/office/drawing/2014/main" id="{91E18FC8-8222-DD69-04F2-99877266F5CD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2968625" y="2578100"/>
            <a:ext cx="1809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182CD35-9B55-48CE-A443-F43A7BA26418}" type="datetime'''''4''''''''''''''''''''0''''''''''''''0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400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68" name="Text Placeholder 2">
            <a:extLst>
              <a:ext uri="{FF2B5EF4-FFF2-40B4-BE49-F238E27FC236}">
                <a16:creationId xmlns:a16="http://schemas.microsoft.com/office/drawing/2014/main" id="{E687AD73-0C60-5390-A341-A7B4789F701E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024313" y="2225675"/>
            <a:ext cx="1809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33F27BA-AD00-4622-86BD-6427BFD1E1A4}" type="datetime'''''60''''''''''0''''''''''''''''''''''''''''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600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69" name="Text Placeholder 2">
            <a:extLst>
              <a:ext uri="{FF2B5EF4-FFF2-40B4-BE49-F238E27FC236}">
                <a16:creationId xmlns:a16="http://schemas.microsoft.com/office/drawing/2014/main" id="{0834E631-86EB-B84D-32B9-9BD9FCC0A20D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5078413" y="1925638"/>
            <a:ext cx="1809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E93E51E-9EFD-46E7-B398-4942DDC061A6}" type="datetime'''''''''''''''''''''''''5''''''''''''''''''''''0''''''''0''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500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70" name="Text Placeholder 2">
            <a:extLst>
              <a:ext uri="{FF2B5EF4-FFF2-40B4-BE49-F238E27FC236}">
                <a16:creationId xmlns:a16="http://schemas.microsoft.com/office/drawing/2014/main" id="{53A40C82-AED5-65CC-35C4-FD49DDC5855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6132513" y="1690688"/>
            <a:ext cx="1809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EA02357-831F-499F-BD00-39A9E0C891E7}" type="datetime'''''''''''''''3''''''''''''''''''''9''''''''''''3''''''''''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393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77" name="Text Placeholder 2">
            <a:extLst>
              <a:ext uri="{FF2B5EF4-FFF2-40B4-BE49-F238E27FC236}">
                <a16:creationId xmlns:a16="http://schemas.microsoft.com/office/drawing/2014/main" id="{AA4C4276-6655-48D0-DC93-AFAA1253C00C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7148513" y="1690688"/>
            <a:ext cx="2571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05A9A8C-AFE8-4A2E-87FB-9C61393AB648}" type="datetime'''''''''4'''''',''''5''''''''''''''''''''''''''''9''''''''3''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4,593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07" name="Text Placeholder 2">
            <a:extLst>
              <a:ext uri="{FF2B5EF4-FFF2-40B4-BE49-F238E27FC236}">
                <a16:creationId xmlns:a16="http://schemas.microsoft.com/office/drawing/2014/main" id="{D2CBC264-6196-8F3E-F831-9A1932DBB06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5078413" y="2043113"/>
            <a:ext cx="180975" cy="109538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84D2E3B-61F8-4310-BD34-872E4D80481B}" type="datetime'1''''''''''''''''''''''2''''''''''''''''''''''''''''''''0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120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10" name="Text Placeholder 2">
            <a:extLst>
              <a:ext uri="{FF2B5EF4-FFF2-40B4-BE49-F238E27FC236}">
                <a16:creationId xmlns:a16="http://schemas.microsoft.com/office/drawing/2014/main" id="{67373FD7-F343-EAC5-8F2A-E90F537756E2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4024313" y="2346325"/>
            <a:ext cx="180975" cy="109538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6C0A18F-7C45-4A4D-AECF-72E13EB9F5F6}" type="datetime'1''''''''''''''3''''5''''''''''''''''''''''''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135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12" name="Text Placeholder 2">
            <a:extLst>
              <a:ext uri="{FF2B5EF4-FFF2-40B4-BE49-F238E27FC236}">
                <a16:creationId xmlns:a16="http://schemas.microsoft.com/office/drawing/2014/main" id="{8B4F6DD7-4255-172D-831A-0A6055BA5D3C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6132513" y="1811338"/>
            <a:ext cx="180975" cy="109538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E5BF17B-65E0-4332-8580-7D675AFC8FA5}" type="datetime'''''''1''''''''''''''''''''''''3''''3''''''''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133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15" name="Text Placeholder 2">
            <a:extLst>
              <a:ext uri="{FF2B5EF4-FFF2-40B4-BE49-F238E27FC236}">
                <a16:creationId xmlns:a16="http://schemas.microsoft.com/office/drawing/2014/main" id="{B341F96A-89A1-B529-1DF4-B55E7C0BBD35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2847975" y="2832100"/>
            <a:ext cx="130175" cy="1095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5955807-CC8D-4831-AD8E-329E0E77AC01}" type="datetime'3''''5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35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18" name="Text Placeholder 2">
            <a:extLst>
              <a:ext uri="{FF2B5EF4-FFF2-40B4-BE49-F238E27FC236}">
                <a16:creationId xmlns:a16="http://schemas.microsoft.com/office/drawing/2014/main" id="{D8A62917-5DFD-EB98-D7B8-56307420EAFE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3141663" y="2808288"/>
            <a:ext cx="130175" cy="10953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2E61503-E9EA-45BC-BFCF-F349A34904B8}" type="datetime'''''''''''''''''''''''''''''''''''''''''''4''''5'''''''''">
              <a:rPr lang="en-US" altLang="en-US" sz="800" smtClean="0"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45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23" name="Text Placeholder 2">
            <a:extLst>
              <a:ext uri="{FF2B5EF4-FFF2-40B4-BE49-F238E27FC236}">
                <a16:creationId xmlns:a16="http://schemas.microsoft.com/office/drawing/2014/main" id="{C31929B5-D86B-EF9D-38AD-914D8A6B3E49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2847975" y="2886075"/>
            <a:ext cx="130175" cy="1095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20A22BE-CA15-4937-8537-3327535BF479}" type="datetime'''''''''''''''''7''0''''''''''''''''''''''''''''''''''''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70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31" name="Text Placeholder 2">
            <a:extLst>
              <a:ext uri="{FF2B5EF4-FFF2-40B4-BE49-F238E27FC236}">
                <a16:creationId xmlns:a16="http://schemas.microsoft.com/office/drawing/2014/main" id="{B90BDF26-C3FB-C9DA-0C42-2B69BC07742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3141663" y="2854325"/>
            <a:ext cx="130175" cy="10953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4C18FEE-0F66-4AC7-94B5-0785C47CEE03}" type="datetime'''''''''''''''3''''''''''5''''''''''''''''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35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33" name="Text Placeholder 2">
            <a:extLst>
              <a:ext uri="{FF2B5EF4-FFF2-40B4-BE49-F238E27FC236}">
                <a16:creationId xmlns:a16="http://schemas.microsoft.com/office/drawing/2014/main" id="{A51DCE1C-8908-3A17-297D-9170A8E2181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4957763" y="2255838"/>
            <a:ext cx="130175" cy="1095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10B6864-AA37-4EFA-9863-14B5C6B43F71}" type="datetime'''''''''''''''''''''''''2''''''''''''0''''''''''''''''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37" name="Text Placeholder 2">
            <a:extLst>
              <a:ext uri="{FF2B5EF4-FFF2-40B4-BE49-F238E27FC236}">
                <a16:creationId xmlns:a16="http://schemas.microsoft.com/office/drawing/2014/main" id="{B9D3DF11-1015-ACD8-19F7-5DC61F1EB53E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251450" y="2236788"/>
            <a:ext cx="130175" cy="10953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1FCB2F9-044C-4F63-8F82-6F39FC6EA582}" type="datetime'''''''''''''''''''''''''''''''''''''''''40'''''''''''''''''">
              <a:rPr lang="en-US" altLang="en-US" sz="800" smtClean="0"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41" name="Text Placeholder 2">
            <a:extLst>
              <a:ext uri="{FF2B5EF4-FFF2-40B4-BE49-F238E27FC236}">
                <a16:creationId xmlns:a16="http://schemas.microsoft.com/office/drawing/2014/main" id="{A2936B3A-A011-2167-47A8-44D5850034E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4197350" y="2551113"/>
            <a:ext cx="130175" cy="10953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98BD6D8-9A1F-4B79-AF21-9D5BE8A435DB}" type="datetime'''''''3''''''''''''''5'''''''''''''''''''''''''''''''''''''">
              <a:rPr lang="en-US" altLang="en-US" sz="800" smtClean="0"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35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80" name="Text Placeholder 2">
            <a:extLst>
              <a:ext uri="{FF2B5EF4-FFF2-40B4-BE49-F238E27FC236}">
                <a16:creationId xmlns:a16="http://schemas.microsoft.com/office/drawing/2014/main" id="{E371A448-8B41-9B57-DF5E-0EF72524CA1B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939925" y="2927350"/>
            <a:ext cx="130175" cy="109538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E95DF6E-F87D-4819-9BD6-55749E3EAFB1}" type="datetime'''''''''''''''''''''7''''''''''''''''''''''''''''0''''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70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48" name="Text Placeholder 2">
            <a:extLst>
              <a:ext uri="{FF2B5EF4-FFF2-40B4-BE49-F238E27FC236}">
                <a16:creationId xmlns:a16="http://schemas.microsoft.com/office/drawing/2014/main" id="{66195837-132F-8DF6-6BF5-49792F0C4AC3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4197350" y="2598738"/>
            <a:ext cx="130175" cy="10953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F2F53CC-4F82-4030-9A49-7C8D3A820162}" type="datetime'''''6''''''''''''''''''''''''''''5''''''''''''''''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65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51" name="Text Placeholder 2">
            <a:extLst>
              <a:ext uri="{FF2B5EF4-FFF2-40B4-BE49-F238E27FC236}">
                <a16:creationId xmlns:a16="http://schemas.microsoft.com/office/drawing/2014/main" id="{770A88B3-A5CB-02C9-433A-41618FC2A9F4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3903663" y="2643188"/>
            <a:ext cx="130175" cy="1095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B2786B6-6046-4101-9C12-65459C794896}" type="datetime'''''''''''''''''''''''''''''''''''''''8''0''''''''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54" name="Text Placeholder 2">
            <a:extLst>
              <a:ext uri="{FF2B5EF4-FFF2-40B4-BE49-F238E27FC236}">
                <a16:creationId xmlns:a16="http://schemas.microsoft.com/office/drawing/2014/main" id="{ABCF477A-3AB9-CBEE-2365-79D70C971372}"/>
              </a:ext>
            </a:extLst>
          </p:cNvPr>
          <p:cNvSpPr>
            <a:spLocks/>
          </p:cNvSpPr>
          <p:nvPr>
            <p:custDataLst>
              <p:tags r:id="rId38"/>
            </p:custDataLst>
          </p:nvPr>
        </p:nvSpPr>
        <p:spPr bwMode="gray">
          <a:xfrm>
            <a:off x="2087563" y="3062288"/>
            <a:ext cx="130175" cy="1095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F265DE1-B270-4491-9A8C-F4E0608A3FB4}" type="datetime'''''1''''''''''''''''''''''''''''''''''''''''''''''''5''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15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73" name="Text Placeholder 2">
            <a:extLst>
              <a:ext uri="{FF2B5EF4-FFF2-40B4-BE49-F238E27FC236}">
                <a16:creationId xmlns:a16="http://schemas.microsoft.com/office/drawing/2014/main" id="{732B43BF-5B14-F2B5-DB3B-C07F4D3A40E3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auto">
          <a:xfrm>
            <a:off x="1866900" y="4613275"/>
            <a:ext cx="277813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D5194C1-569B-4590-875D-0C2B0F51FED7}" type="datetime'202''''''''6''''''''''''''''E''''''''&#10;''''''''''''''''''''增量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2026E
增量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44" name="Text Placeholder 2">
            <a:extLst>
              <a:ext uri="{FF2B5EF4-FFF2-40B4-BE49-F238E27FC236}">
                <a16:creationId xmlns:a16="http://schemas.microsoft.com/office/drawing/2014/main" id="{F1B3CB97-E860-3142-2741-DE9C4B262B5E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gray">
          <a:xfrm>
            <a:off x="3903663" y="2570163"/>
            <a:ext cx="130175" cy="1095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B653145-5275-46C2-A555-1E5A5E27F97A}" type="datetime'''''''''''''''''''''''3''''''''''''''''''''''''''''0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30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82" name="Text Placeholder 2">
            <a:extLst>
              <a:ext uri="{FF2B5EF4-FFF2-40B4-BE49-F238E27FC236}">
                <a16:creationId xmlns:a16="http://schemas.microsoft.com/office/drawing/2014/main" id="{F08718CE-D00A-C58C-2237-4EA7704F95C5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gray">
          <a:xfrm>
            <a:off x="3141663" y="2687638"/>
            <a:ext cx="130175" cy="109538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FA8E02F-BE78-42BA-BAFC-D6043A9DC78C}" type="datetime'''''''''7''''''''''''''''''''0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70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74" name="Text Placeholder 2">
            <a:extLst>
              <a:ext uri="{FF2B5EF4-FFF2-40B4-BE49-F238E27FC236}">
                <a16:creationId xmlns:a16="http://schemas.microsoft.com/office/drawing/2014/main" id="{086C0F07-F230-FC2F-44E9-6163E629DE9D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921000" y="4613275"/>
            <a:ext cx="277813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B1CDB7C-8F43-4DFA-B936-19DB17DCA903}" type="datetime'''''''''2''027''E''''&#10;增''''''''量'''''''''''''''">
              <a:rPr lang="en-US" altLang="en-US" sz="800" smtClean="0">
                <a:latin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2027E
增量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63" name="Text Placeholder 2">
            <a:extLst>
              <a:ext uri="{FF2B5EF4-FFF2-40B4-BE49-F238E27FC236}">
                <a16:creationId xmlns:a16="http://schemas.microsoft.com/office/drawing/2014/main" id="{32DDBA3C-8656-5047-7B68-6853831AC00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gray">
          <a:xfrm>
            <a:off x="5251450" y="2268538"/>
            <a:ext cx="130175" cy="10953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F499FFF-3170-4D6F-8E79-A81B1E66EF95}" type="datetime'''''''''''''2''''''''5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25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65" name="Text Placeholder 2">
            <a:extLst>
              <a:ext uri="{FF2B5EF4-FFF2-40B4-BE49-F238E27FC236}">
                <a16:creationId xmlns:a16="http://schemas.microsoft.com/office/drawing/2014/main" id="{725362E8-A822-A6DD-E4CD-8019EA568718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gray">
          <a:xfrm>
            <a:off x="4957763" y="2290763"/>
            <a:ext cx="130175" cy="1095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16F63BA-65DB-497E-B036-D53F26621B01}" type="datetime'''''''''''''''''''''''''''5''''''''''0''''''''''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50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58" name="Text Placeholder 2">
            <a:extLst>
              <a:ext uri="{FF2B5EF4-FFF2-40B4-BE49-F238E27FC236}">
                <a16:creationId xmlns:a16="http://schemas.microsoft.com/office/drawing/2014/main" id="{16100C4D-A1EF-7684-2540-5A20FA3CDDBD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gray">
          <a:xfrm>
            <a:off x="1793875" y="3073400"/>
            <a:ext cx="130175" cy="10953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EDBDA96-1820-4E61-9ED9-AFA8F374A0C0}" type="datetime'2''''''''''''''''''''''''''''''''''''5'''''">
              <a:rPr lang="en-US" altLang="en-US" sz="800" smtClean="0">
                <a:solidFill>
                  <a:schemeClr val="bg1"/>
                </a:solidFill>
                <a:effectLst/>
                <a:latin typeface="Book Antiqua" panose="02040602050305030304" pitchFamily="18" charset="0"/>
                <a:sym typeface="Book Antiqua" panose="02040602050305030304" pitchFamily="18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25</a:t>
            </a:fld>
            <a:endParaRPr lang="en-US" altLang="zh-CN" sz="800" dirty="0">
              <a:solidFill>
                <a:schemeClr val="bg1"/>
              </a:solidFill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DB696558-97C7-E4DC-B444-A821B4C80FAF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31813" y="1741488"/>
            <a:ext cx="142875" cy="1063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43845FB1-84BD-1D08-2FF2-B1A231BCB12B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531813" y="1906588"/>
            <a:ext cx="142875" cy="106363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EAE16F5B-23D6-E730-2F1A-FC79FE1F6E26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531813" y="2071688"/>
            <a:ext cx="142875" cy="106363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630A8574-0194-3077-4BAB-7F28FECD67BE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531813" y="2236788"/>
            <a:ext cx="142875" cy="106363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DB19767B-D720-BAF3-5C3F-CAC9261FB22D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531813" y="2401888"/>
            <a:ext cx="142875" cy="106363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5197617F-D048-3243-E9FA-86039A4E02EC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31813" y="2566988"/>
            <a:ext cx="142875" cy="106363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  <p:sp>
        <p:nvSpPr>
          <p:cNvPr id="189" name="Text Placeholder 2">
            <a:extLst>
              <a:ext uri="{FF2B5EF4-FFF2-40B4-BE49-F238E27FC236}">
                <a16:creationId xmlns:a16="http://schemas.microsoft.com/office/drawing/2014/main" id="{23C6B1AD-BD1E-E759-2D99-1375D1E90C54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725488" y="2571750"/>
            <a:ext cx="14097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7BC30317-DD96-44DE-852B-DA94A42533B6}" type="datetime'''新''兴市''场+''''其''他''(''''印''度''''/土耳其''''''''''''''''等'')'">
              <a:rPr lang="en-US" altLang="en-US" sz="800" smtClean="0">
                <a:latin typeface="Book Antiqua" panose="02040602050305030304" pitchFamily="18" charset="0"/>
              </a:rPr>
              <a:pPr/>
              <a:t>新兴市场+其他(印度/土耳其等)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92" name="Text Placeholder 2">
            <a:extLst>
              <a:ext uri="{FF2B5EF4-FFF2-40B4-BE49-F238E27FC236}">
                <a16:creationId xmlns:a16="http://schemas.microsoft.com/office/drawing/2014/main" id="{712471D9-B350-F7A6-C0CC-885AC7AFAD53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auto">
          <a:xfrm>
            <a:off x="725488" y="2076450"/>
            <a:ext cx="17081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C502948C-9A97-4AC8-BFA7-DE0590FEB835}" type="datetime'''''韩国+日''''''本(HD''''''/''Hy''os''''u''ng/三''''''''''菱/''东芝)'">
              <a:rPr lang="en-US" altLang="en-US" sz="800" smtClean="0">
                <a:latin typeface="Book Antiqua" panose="02040602050305030304" pitchFamily="18" charset="0"/>
              </a:rPr>
              <a:pPr/>
              <a:t>韩国+日本(HD/Hyosung/三菱/东芝)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90" name="Text Placeholder 2">
            <a:extLst>
              <a:ext uri="{FF2B5EF4-FFF2-40B4-BE49-F238E27FC236}">
                <a16:creationId xmlns:a16="http://schemas.microsoft.com/office/drawing/2014/main" id="{31FA1C96-25C6-80AA-01F1-BD7B52446777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>
            <a:off x="725488" y="2406650"/>
            <a:ext cx="7112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FCE0FFF6-9125-44B1-A7F8-2B7DC905C3ED}" type="datetime'''''中''''''''''国''''''''''其''他制造''''''商'''''''''">
              <a:rPr lang="en-US" altLang="en-US" sz="800" smtClean="0">
                <a:latin typeface="Book Antiqua" panose="02040602050305030304" pitchFamily="18" charset="0"/>
              </a:rPr>
              <a:pPr/>
              <a:t>中国其他制造商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91" name="Text Placeholder 2">
            <a:extLst>
              <a:ext uri="{FF2B5EF4-FFF2-40B4-BE49-F238E27FC236}">
                <a16:creationId xmlns:a16="http://schemas.microsoft.com/office/drawing/2014/main" id="{BAFDD17C-15EE-0469-FCB3-318C1318D084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725488" y="2241550"/>
            <a:ext cx="8747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CBA89BD4-6279-4316-B0BA-25D1092DC04C}" type="datetime'''''''中''国''''西''''''''''电''''+''''''''思''''源电''''''''''气'">
              <a:rPr lang="en-US" altLang="en-US" sz="800" smtClean="0">
                <a:latin typeface="Book Antiqua" panose="02040602050305030304" pitchFamily="18" charset="0"/>
              </a:rPr>
              <a:pPr/>
              <a:t>中国西电+思源电气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63" name="Text Placeholder 2">
            <a:extLst>
              <a:ext uri="{FF2B5EF4-FFF2-40B4-BE49-F238E27FC236}">
                <a16:creationId xmlns:a16="http://schemas.microsoft.com/office/drawing/2014/main" id="{F2E89590-57D1-9E06-3350-A25423BE2DBF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725488" y="1911350"/>
            <a:ext cx="12446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D5FE0835-0830-4209-B162-3F6299742065}" type="datetime'''欧''美三强(''日''''''立''''''''''''''''''/西''''''''门''子/GE'''''')'">
              <a:rPr lang="en-US" altLang="en-US" sz="800" smtClean="0">
                <a:latin typeface="Book Antiqua" panose="02040602050305030304" pitchFamily="18" charset="0"/>
              </a:rPr>
              <a:pPr/>
              <a:t>欧美三强(日立/西门子/GE)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164" name="Text Placeholder 2">
            <a:extLst>
              <a:ext uri="{FF2B5EF4-FFF2-40B4-BE49-F238E27FC236}">
                <a16:creationId xmlns:a16="http://schemas.microsoft.com/office/drawing/2014/main" id="{01E544B3-5095-5EA4-BA8A-2920075C3034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725488" y="1746250"/>
            <a:ext cx="6715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0070C0"/>
              </a:buClr>
              <a:buFont typeface="Wingdings" panose="05000000000000000000" pitchFamily="2" charset="2"/>
              <a:buChar char="§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̶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0070C0"/>
              </a:buClr>
              <a:buFont typeface="Arial" panose="020B0604020202020204" pitchFamily="34" charset="0"/>
              <a:buChar char="-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096A793D-1E7D-40B7-99D9-03285A2E84BC}" type="datetime'''T''B''''''E''''''A''''''特''''''''''''''''变''''电''''工'">
              <a:rPr lang="en-US" altLang="en-US" sz="800" smtClean="0">
                <a:latin typeface="Book Antiqua" panose="02040602050305030304" pitchFamily="18" charset="0"/>
              </a:rPr>
              <a:pPr/>
              <a:t>TBEA特变电工</a:t>
            </a:fld>
            <a:endParaRPr lang="en-US" altLang="zh-CN" sz="800" dirty="0">
              <a:latin typeface="Book Antiqua" panose="02040602050305030304" pitchFamily="18" charset="0"/>
              <a:sym typeface="Book Antiqua" panose="02040602050305030304" pitchFamily="18" charset="0"/>
            </a:endParaRPr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A179C160-CF46-F05D-F61E-5F102ED03F06}"/>
              </a:ext>
            </a:extLst>
          </p:cNvPr>
          <p:cNvSpPr/>
          <p:nvPr/>
        </p:nvSpPr>
        <p:spPr>
          <a:xfrm>
            <a:off x="3612525" y="1794903"/>
            <a:ext cx="1011310" cy="3080500"/>
          </a:xfrm>
          <a:prstGeom prst="rect">
            <a:avLst/>
          </a:prstGeom>
          <a:noFill/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665823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核心术语解析：高压输变电行业四大基础概念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IEC 60076; IEEE C57.12; IEC 62271; IEC 62477; Metro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371600"/>
            <a:ext cx="5591555" cy="3657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426464"/>
            <a:ext cx="55915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55F"/>
                </a:solidFill>
                <a:latin typeface="Book Antiqua"/>
              </a:rPr>
              <a:t>HV | High Voltage 高压</a:t>
            </a:r>
          </a:p>
        </p:txBody>
      </p:sp>
      <p:pic>
        <p:nvPicPr>
          <p:cNvPr id="8" name="Picture 7" descr="hv.jpg"/>
          <p:cNvPicPr>
            <a:picLocks noChangeAspect="1"/>
          </p:cNvPicPr>
          <p:nvPr/>
        </p:nvPicPr>
        <p:blipFill>
          <a:blip r:embed="rId2"/>
          <a:srcRect l="1" t="10806" r="1" b="8226"/>
          <a:stretch>
            <a:fillRect/>
          </a:stretch>
        </p:blipFill>
        <p:spPr>
          <a:xfrm>
            <a:off x="457200" y="1707507"/>
            <a:ext cx="3438659" cy="155522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005330" y="1707507"/>
            <a:ext cx="2025137" cy="1555227"/>
          </a:xfrm>
          <a:prstGeom prst="rect">
            <a:avLst/>
          </a:prstGeom>
          <a:solidFill>
            <a:srgbClr val="E8EFF8"/>
          </a:solidFill>
          <a:ln>
            <a:solidFill>
              <a:srgbClr val="00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r>
              <a:rPr sz="1200" dirty="0" err="1">
                <a:solidFill>
                  <a:srgbClr val="303030"/>
                </a:solidFill>
                <a:latin typeface="Book Antiqua"/>
              </a:rPr>
              <a:t>泛指电压等级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 ≥100kV 的电力设备。涵盖高压主变、GIS开关柜、超高压输电线路。2025年全球缺口 −707 GVA（−30%），大型主变交期100-143周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8483" y="1371599"/>
            <a:ext cx="5832009" cy="45719"/>
          </a:xfrm>
          <a:prstGeom prst="rect">
            <a:avLst/>
          </a:prstGeom>
          <a:solidFill>
            <a:srgbClr val="33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58483" y="1426464"/>
            <a:ext cx="55915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9966"/>
                </a:solidFill>
                <a:latin typeface="Book Antiqua"/>
              </a:rPr>
              <a:t>GSU | Generator Step-Up 升压变压器</a:t>
            </a:r>
          </a:p>
        </p:txBody>
      </p:sp>
      <p:pic>
        <p:nvPicPr>
          <p:cNvPr id="12" name="Picture 11" descr="gsu.jpg"/>
          <p:cNvPicPr>
            <a:picLocks noChangeAspect="1"/>
          </p:cNvPicPr>
          <p:nvPr/>
        </p:nvPicPr>
        <p:blipFill>
          <a:blip r:embed="rId3"/>
          <a:srcRect t="9085" b="17777"/>
          <a:stretch>
            <a:fillRect/>
          </a:stretch>
        </p:blipFill>
        <p:spPr>
          <a:xfrm>
            <a:off x="6158483" y="1707507"/>
            <a:ext cx="3806872" cy="155522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965355" y="1707507"/>
            <a:ext cx="2025137" cy="1555227"/>
          </a:xfrm>
          <a:prstGeom prst="rect">
            <a:avLst/>
          </a:prstGeom>
          <a:solidFill>
            <a:srgbClr val="E8F5EE"/>
          </a:solidFill>
          <a:ln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spAutoFit/>
          </a:bodyPr>
          <a:lstStyle/>
          <a:p>
            <a:r>
              <a:rPr sz="1200" dirty="0">
                <a:solidFill>
                  <a:srgbClr val="303030"/>
                </a:solidFill>
                <a:latin typeface="Book Antiqua"/>
              </a:rPr>
              <a:t>安装于发电机出口侧，将机端低压（13.8kV）升至500kV超高压后并入输电网。每GW新能源需约50M升压变容量；三重需求驱动下GSU缺口接近100%，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是全行业最稀缺单品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790188"/>
            <a:ext cx="5591555" cy="36576"/>
          </a:xfrm>
          <a:prstGeom prst="rect">
            <a:avLst/>
          </a:prstGeom>
          <a:solidFill>
            <a:srgbClr val="F48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3845052"/>
            <a:ext cx="55915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8A20"/>
                </a:solidFill>
                <a:latin typeface="Book Antiqua"/>
              </a:rPr>
              <a:t>GIS | Gas Insulated Switchgear 气体绝缘开关柜</a:t>
            </a:r>
          </a:p>
        </p:txBody>
      </p:sp>
      <p:pic>
        <p:nvPicPr>
          <p:cNvPr id="16" name="Picture 15" descr="gis.jpg"/>
          <p:cNvPicPr>
            <a:picLocks noChangeAspect="1"/>
          </p:cNvPicPr>
          <p:nvPr/>
        </p:nvPicPr>
        <p:blipFill>
          <a:blip r:embed="rId4"/>
          <a:srcRect l="2630" t="15615" r="2475" b="4899"/>
          <a:stretch>
            <a:fillRect/>
          </a:stretch>
        </p:blipFill>
        <p:spPr>
          <a:xfrm>
            <a:off x="438912" y="4181332"/>
            <a:ext cx="3438659" cy="160886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005330" y="4181332"/>
            <a:ext cx="2025137" cy="1608867"/>
          </a:xfrm>
          <a:prstGeom prst="rect">
            <a:avLst/>
          </a:prstGeom>
          <a:solidFill>
            <a:srgbClr val="FFF5E8"/>
          </a:solidFill>
          <a:ln>
            <a:solidFill>
              <a:srgbClr val="F48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r>
              <a:rPr sz="1200" dirty="0">
                <a:solidFill>
                  <a:srgbClr val="303030"/>
                </a:solidFill>
                <a:latin typeface="Book Antiqua"/>
              </a:rPr>
              <a:t>SF₆气体绝缘（0.4-0.5MPa），体积仅为空气绝缘设备1/10，适用沙漠/海洋高腐蚀环境。占中东500kV变电站EPC价值25-32%；思源GIS交期6个月（欧美12-24个月）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8483" y="3790188"/>
            <a:ext cx="5832009" cy="36576"/>
          </a:xfrm>
          <a:prstGeom prst="rect">
            <a:avLst/>
          </a:prstGeom>
          <a:solidFill>
            <a:srgbClr val="A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8483" y="3845052"/>
            <a:ext cx="55915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C0000"/>
                </a:solidFill>
                <a:latin typeface="Book Antiqua"/>
              </a:rPr>
              <a:t>HVDC | High Voltage Direct Current 高压直流输电</a:t>
            </a:r>
          </a:p>
        </p:txBody>
      </p:sp>
      <p:pic>
        <p:nvPicPr>
          <p:cNvPr id="20" name="Picture 19" descr="hvdc.jpg"/>
          <p:cNvPicPr>
            <a:picLocks noChangeAspect="1"/>
          </p:cNvPicPr>
          <p:nvPr/>
        </p:nvPicPr>
        <p:blipFill>
          <a:blip r:embed="rId5"/>
          <a:srcRect t="21675" b="24017"/>
          <a:stretch>
            <a:fillRect/>
          </a:stretch>
        </p:blipFill>
        <p:spPr>
          <a:xfrm>
            <a:off x="6158483" y="4408353"/>
            <a:ext cx="3806872" cy="115482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965355" y="4208152"/>
            <a:ext cx="2025137" cy="1555227"/>
          </a:xfrm>
          <a:prstGeom prst="rect">
            <a:avLst/>
          </a:prstGeom>
          <a:solidFill>
            <a:srgbClr val="FFF0F0"/>
          </a:solidFill>
          <a:ln>
            <a:solidFill>
              <a:srgbClr val="A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r>
              <a:rPr sz="1200" dirty="0" err="1">
                <a:solidFill>
                  <a:srgbClr val="303030"/>
                </a:solidFill>
                <a:latin typeface="Book Antiqua"/>
              </a:rPr>
              <a:t>超长距离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（&gt;800km）输电首选方案，线路损耗仅3-5%/千公里（HVAC约6-10%）。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换流变是HVDC系统核心设备，全球生产商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&lt;5家。孝星Memphis专厂2028年落地是下一轮供给拐点。</a:t>
            </a: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2FDD7264-8B6A-2053-7D53-96AFF0D09F18}"/>
              </a:ext>
            </a:extLst>
          </p:cNvPr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 dirty="0">
                <a:solidFill>
                  <a:srgbClr val="707070"/>
                </a:solidFill>
                <a:latin typeface="Book Antiqua"/>
              </a:rPr>
              <a:t>PART III | 价值链：物理世界与经济学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HV输变电系统：发电→升压→500kV输电→GIS变电→配电四段物理链条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III | 价值链：物理世界与经济学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IEC Standards; IEEE Std C57.12; Industry research; Metro Analysis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高压输变电系统全景等距图（发电侧至用户侧完整路径）</a:t>
            </a:r>
          </a:p>
        </p:txBody>
      </p:sp>
      <p:pic>
        <p:nvPicPr>
          <p:cNvPr id="8" name="Picture 7" descr="Gemini_Generated_Image_jzuwdljzuwdljzu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00200"/>
            <a:ext cx="7443216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10727" y="1325880"/>
            <a:ext cx="3873065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371600"/>
            <a:ext cx="382734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dirty="0">
                <a:solidFill>
                  <a:srgbClr val="20396D"/>
                </a:solidFill>
                <a:latin typeface="Book Antiqua"/>
              </a:rPr>
              <a:t>Key insights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四大物理环节: 发电侧GSU升压（13.8kV→500kV）→ 超高压输电（HVAC/HVDC）→ 区域GIS变电站（开关+保护）→ 配电变压器降压至用户侧（380V）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0396D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利润密度排序: 高压主变（特高压）&gt; GIS &gt; 高压电缆 &gt; 换流阀 &gt; 配电变 &gt; 中低压开关柜。前两者合计占一座500kV变电站设备价值50%+。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0396D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出海成熟度: 智能电表&gt;30%全球市占→配电变15-20%→高压主变3%→GIS 1-2%→特高压/HVDC接近0%。利润越高，出海渗透率越低，增长空间越大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0396D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变电站单体价值: 500kV新建变电站设备价值约 $70-100M（CN），主变+GIS占设备总价30-50%+且技术壁垒最高，是中国出海附加值最高的核心赛道。</a:t>
            </a: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8446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变压器铁芯+GIS气室内部结构：高定制化决定高壁垒、高利润、长交期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III | 价值链：物理世界与经济学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IEC 60076; IEEE C57.12; Hitachi Energy Technical Specs; Metro Analysis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高压设备内部结构剖面图（变压器铁芯·GIS气室·CT·避雷器）</a:t>
            </a:r>
          </a:p>
        </p:txBody>
      </p:sp>
      <p:pic>
        <p:nvPicPr>
          <p:cNvPr id="8" name="Picture 7" descr="Gemini_Generated_Image_msiem4msiem4ms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00200"/>
            <a:ext cx="7443216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371600"/>
            <a:ext cx="354787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技术壁垒分解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变压器铁芯: 取向硅钢片逐层叠片（±45°工艺），铁耗控制&lt;0.9W/kg，任何细节失误都会导致空载损耗超标。全球能做500kV+1000MVA的厂商不超过20家。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0396D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GIS气室: SF6气体绝缘，充气压力0.4-0.5MPa，密封泄漏率&lt;0.1%/年。生产环境洁净度要求1000级，比一般半导体厂更严格。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0396D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认证复杂度: 一台500kV变压器需通过ANSI/IEEE C57.12系列+IEC 60076系列+用户特殊规格约80,000+组合验证。新进入者认证积累需3-5年，是最硬的护城河。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0396D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逐台定制: 不同电网频率（50/60Hz）、电压等级、冷却方式（ONAN/ONAF/OFAF）、海拔高度、极端气候规格……每台变压器实际上都是定制品，无法批量流水线生产。</a:t>
            </a: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0712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52347592-084B-F13A-585D-BC864E3DE54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347592-084B-F13A-585D-BC864E3DE5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>
            <a:normAutofit/>
          </a:bodyPr>
          <a:lstStyle/>
          <a:p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建站全成本拆解：七类费用三市场EPC造价对比（</a:t>
            </a:r>
            <a:r>
              <a:rPr lang="zh-CN" altLang="en-US" sz="1800" dirty="0">
                <a:solidFill>
                  <a:srgbClr val="00355F"/>
                </a:solidFill>
                <a:latin typeface="Book Antiqua"/>
              </a:rPr>
              <a:t>中美溢价三重锁定，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设备差价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3-7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×）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III | 价值链：物理世界与经济学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dirty="0">
                <a:solidFill>
                  <a:schemeClr val="bg1">
                    <a:lumMod val="50000"/>
                  </a:schemeClr>
                </a:solidFill>
              </a:rPr>
              <a:t>注：典型站型参数：3台主变 + ~25间隔GIS + ~50km 500kV输电线路；总EPC造价与实际招标数据吻合（美国线路造价参考MISO 2024: $2.55-3.17M/km）</a:t>
            </a:r>
          </a:p>
          <a:p>
            <a:pPr algn="l"/>
            <a:r>
              <a:rPr sz="800" b="0" dirty="0">
                <a:solidFill>
                  <a:schemeClr val="bg1">
                    <a:lumMod val="50000"/>
                  </a:schemeClr>
                </a:solidFill>
                <a:latin typeface="Book Antiqua"/>
              </a:rPr>
              <a:t>Source: Industry research 2025 price basis; Sieyuan Electric 2024 Annual Report;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新建500kV变电站（3×500MVA主变）三市场EPC造价对比（USD 2025价格）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844104"/>
              </p:ext>
            </p:extLst>
          </p:nvPr>
        </p:nvGraphicFramePr>
        <p:xfrm>
          <a:off x="438912" y="1600200"/>
          <a:ext cx="7443212" cy="457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7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5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5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设备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/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板块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中国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中东（沙特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）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美国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美/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中倍数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1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主变（</a:t>
                      </a:r>
                      <a:r>
                        <a:rPr lang="en-US" altLang="zh-CN" sz="1000" b="1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500</a:t>
                      </a:r>
                      <a:r>
                        <a:rPr lang="en-US" sz="1000" b="1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MVA）/</a:t>
                      </a:r>
                      <a:r>
                        <a:rPr lang="zh-CN" altLang="en-US" sz="1000" b="1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台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$3.5-6M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$5-9M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$10-18M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3-4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×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GIS（500kV）/间隔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$0.3-0.6M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$0.8-2.0M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$1.5-3.0M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5×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高压电缆（500kV）/km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$0.5-1.2M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$0.6-1.5M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$2.0-4.0M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3-7×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保护控制（全站）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$5-12M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$12-20M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$15-30M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2-3×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latin typeface="Book Antiqua" panose="02040602050305030304" pitchFamily="18" charset="0"/>
                          <a:ea typeface="+mn-ea"/>
                        </a:rPr>
                        <a:t>土建</a:t>
                      </a:r>
                      <a:r>
                        <a:rPr sz="1000" b="1" dirty="0">
                          <a:latin typeface="Book Antiqua" panose="02040602050305030304" pitchFamily="18" charset="0"/>
                          <a:ea typeface="+mn-ea"/>
                        </a:rPr>
                        <a:t>/</a:t>
                      </a:r>
                      <a:r>
                        <a:rPr sz="1000" b="1" dirty="0" err="1">
                          <a:latin typeface="Book Antiqua" panose="02040602050305030304" pitchFamily="18" charset="0"/>
                          <a:ea typeface="+mn-ea"/>
                        </a:rPr>
                        <a:t>基础</a:t>
                      </a:r>
                      <a:endParaRPr sz="1000" b="1" dirty="0">
                        <a:latin typeface="Book Antiqua" panose="02040602050305030304" pitchFamily="18" charset="0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Book Antiqua" panose="02040602050305030304" pitchFamily="18" charset="0"/>
                          <a:ea typeface="+mn-ea"/>
                        </a:rPr>
                        <a:t>$15-25M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latin typeface="Book Antiqua" panose="02040602050305030304" pitchFamily="18" charset="0"/>
                          <a:ea typeface="+mn-ea"/>
                        </a:rPr>
                        <a:t>$25-45M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Book Antiqua" panose="02040602050305030304" pitchFamily="18" charset="0"/>
                          <a:ea typeface="+mn-ea"/>
                        </a:rPr>
                        <a:t>$35-80M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latin typeface="Book Antiqua" panose="02040602050305030304" pitchFamily="18" charset="0"/>
                          <a:ea typeface="+mn-ea"/>
                        </a:rPr>
                        <a:t>2-3×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0014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latin typeface="Book Antiqua" panose="02040602050305030304" pitchFamily="18" charset="0"/>
                          <a:ea typeface="+mn-ea"/>
                        </a:rPr>
                        <a:t>EPC管理+调试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latin typeface="Book Antiqua" panose="02040602050305030304" pitchFamily="18" charset="0"/>
                          <a:ea typeface="+mn-ea"/>
                        </a:rPr>
                        <a:t>$8-15M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latin typeface="Book Antiqua" panose="02040602050305030304" pitchFamily="18" charset="0"/>
                          <a:ea typeface="+mn-ea"/>
                        </a:rPr>
                        <a:t>$15-30M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latin typeface="Book Antiqua" panose="02040602050305030304" pitchFamily="18" charset="0"/>
                          <a:ea typeface="+mn-ea"/>
                        </a:rPr>
                        <a:t>$25-60M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latin typeface="Book Antiqua" panose="02040602050305030304" pitchFamily="18" charset="0"/>
                          <a:ea typeface="+mn-ea"/>
                        </a:rPr>
                        <a:t>3-4×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88775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监管</a:t>
                      </a:r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/</a:t>
                      </a:r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环评许可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 panose="02040602050305030304" pitchFamily="18" charset="0"/>
                        <a:ea typeface="+mn-ea"/>
                      </a:endParaRP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$1-3M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$2-5M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$10-40M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10-20×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2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总EPC造价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 panose="02040602050305030304" pitchFamily="18" charset="0"/>
                        <a:ea typeface="+mn-ea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</a:t>
                      </a:r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80-150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M*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$165-275M*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$230-490M*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2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-</a:t>
                      </a:r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4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 panose="02040602050305030304" pitchFamily="18" charset="0"/>
                          <a:ea typeface="+mn-ea"/>
                        </a:rPr>
                        <a:t>×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67865"/>
            <a:ext cx="354787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u="none" dirty="0">
                <a:solidFill>
                  <a:srgbClr val="20396D"/>
                </a:solidFill>
                <a:latin typeface="Book Antiqua"/>
              </a:rPr>
              <a:t>Key Insights: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成本差异的结构性来源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u="none" dirty="0">
                <a:latin typeface="Book Antiqua"/>
              </a:rPr>
              <a:t>同一座500kV变电站（3×500MVA主变），</a:t>
            </a:r>
            <a:r>
              <a:rPr sz="1200" b="1" u="none" dirty="0">
                <a:solidFill>
                  <a:schemeClr val="tx2"/>
                </a:solidFill>
                <a:latin typeface="Book Antiqua"/>
              </a:rPr>
              <a:t>总EPC造价中国$125-185M vs 美国$230-490M</a:t>
            </a:r>
            <a:r>
              <a:rPr sz="1200" u="none" dirty="0">
                <a:latin typeface="Book Antiqua"/>
              </a:rPr>
              <a:t>，美/中倍数</a:t>
            </a:r>
            <a:r>
              <a:rPr lang="en-US" sz="1200" u="none" dirty="0">
                <a:latin typeface="Book Antiqua"/>
              </a:rPr>
              <a:t>2-4</a:t>
            </a:r>
            <a:r>
              <a:rPr sz="1200" u="none" dirty="0">
                <a:latin typeface="Book Antiqua"/>
              </a:rPr>
              <a:t>×</a:t>
            </a:r>
            <a:endParaRPr lang="en-US" sz="1200" u="none" dirty="0"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u="none" dirty="0" err="1">
                <a:latin typeface="Book Antiqua"/>
              </a:rPr>
              <a:t>但单项设备差异更大：主变美</a:t>
            </a:r>
            <a:r>
              <a:rPr sz="1200" u="none" dirty="0">
                <a:latin typeface="Book Antiqua"/>
              </a:rPr>
              <a:t>/中价差</a:t>
            </a:r>
            <a:r>
              <a:rPr lang="en-US" sz="1200" u="none" dirty="0">
                <a:latin typeface="Book Antiqua"/>
              </a:rPr>
              <a:t>3-4</a:t>
            </a:r>
            <a:r>
              <a:rPr sz="1200" u="none" dirty="0">
                <a:latin typeface="Book Antiqua"/>
              </a:rPr>
              <a:t>×，GIS间隔5×，监管许可更是高达10-20×</a:t>
            </a:r>
          </a:p>
          <a:p>
            <a:pPr marL="180000" indent="-90000">
              <a:buFont typeface="Arial"/>
              <a:buChar char="•"/>
            </a:pPr>
            <a:endParaRPr lang="en-US" sz="1200" b="0" u="none" dirty="0">
              <a:solidFill>
                <a:srgbClr val="303030"/>
              </a:solidFill>
              <a:latin typeface="Book Antiqua"/>
            </a:endParaRPr>
          </a:p>
          <a:p>
            <a:pPr marL="90000"/>
            <a:r>
              <a:rPr lang="zh-CN" altLang="en-US" sz="1200" b="1" u="none" dirty="0">
                <a:solidFill>
                  <a:schemeClr val="tx2"/>
                </a:solidFill>
                <a:latin typeface="Book Antiqua"/>
              </a:rPr>
              <a:t>美国溢价三重锁定：</a:t>
            </a:r>
            <a:endParaRPr lang="zh-CN" altLang="en-US" sz="1200" b="1" dirty="0">
              <a:solidFill>
                <a:schemeClr val="tx2"/>
              </a:solidFill>
              <a:latin typeface="Book Antiqua"/>
            </a:endParaRPr>
          </a:p>
          <a:p>
            <a:pPr marL="261450" indent="-171450">
              <a:buFont typeface="Arial" panose="020B0604020202020204" pitchFamily="34" charset="0"/>
              <a:buChar char="•"/>
            </a:pPr>
            <a:r>
              <a:rPr lang="zh-CN" altLang="en-US" sz="1200" b="0" u="none" dirty="0">
                <a:solidFill>
                  <a:srgbClr val="303030"/>
                </a:solidFill>
                <a:latin typeface="Book Antiqua"/>
              </a:rPr>
              <a:t>供给缺口（主变</a:t>
            </a:r>
            <a:r>
              <a:rPr lang="en-US" altLang="zh-CN" sz="1200" b="0" u="none" dirty="0">
                <a:solidFill>
                  <a:srgbClr val="303030"/>
                </a:solidFill>
                <a:latin typeface="Book Antiqua"/>
              </a:rPr>
              <a:t>30%</a:t>
            </a:r>
            <a:r>
              <a:rPr lang="zh-CN" altLang="en-US" sz="1200" b="0" u="none" dirty="0">
                <a:solidFill>
                  <a:srgbClr val="303030"/>
                </a:solidFill>
                <a:latin typeface="Book Antiqua"/>
              </a:rPr>
              <a:t>短缺，卖方定价权）</a:t>
            </a:r>
          </a:p>
          <a:p>
            <a:pPr marL="261450" indent="-171450">
              <a:buFont typeface="Arial" panose="020B0604020202020204" pitchFamily="34" charset="0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运输瓶颈（100-400吨重件，全美仅~10辆专用超重铁路车厢，运输成本$2-5M/台）</a:t>
            </a:r>
            <a:endParaRPr lang="en-US" sz="1200" b="0" u="none" dirty="0">
              <a:solidFill>
                <a:srgbClr val="303030"/>
              </a:solidFill>
              <a:latin typeface="Book Antiqua"/>
            </a:endParaRPr>
          </a:p>
          <a:p>
            <a:pPr marL="261450" indent="-171450">
              <a:buFont typeface="Arial" panose="020B0604020202020204" pitchFamily="34" charset="0"/>
              <a:buChar char="•"/>
            </a:pP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关税</a:t>
            </a:r>
            <a:r>
              <a:rPr lang="en-US" sz="1200" b="0" u="none" dirty="0">
                <a:solidFill>
                  <a:srgbClr val="303030"/>
                </a:solidFill>
                <a:latin typeface="Book Antiqua"/>
              </a:rPr>
              <a:t>+</a:t>
            </a:r>
            <a:r>
              <a:rPr lang="zh-CN" altLang="en-US" sz="1200" b="0" u="none" dirty="0">
                <a:solidFill>
                  <a:srgbClr val="303030"/>
                </a:solidFill>
                <a:latin typeface="Book Antiqua"/>
              </a:rPr>
              <a:t>认证准入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制裁（中国变压器100%关税，封堵直接出口路径，转口短期仍存）。中国成本优势来源：取向硅钢全球60%产能+全链国产化，成本结构性低30%+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出海市场优先级排序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中东（沙特</a:t>
            </a:r>
            <a:r>
              <a:rPr sz="1200" b="1" u="none" dirty="0">
                <a:solidFill>
                  <a:srgbClr val="20396D"/>
                </a:solidFill>
                <a:latin typeface="Book Antiqua"/>
              </a:rPr>
              <a:t>/GCC）：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EPC整包$165-275M，毛利30-40%，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中国成本优势</a:t>
            </a:r>
            <a:r>
              <a:rPr lang="zh-CN" altLang="en-US" sz="1200" b="0" u="none" dirty="0">
                <a:solidFill>
                  <a:srgbClr val="303030"/>
                </a:solidFill>
                <a:latin typeface="Book Antiqua"/>
              </a:rPr>
              <a:t>显著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，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且关税壁垒极低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——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最优先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none" dirty="0">
                <a:solidFill>
                  <a:srgbClr val="20396D"/>
                </a:solidFill>
                <a:latin typeface="Book Antiqua"/>
              </a:rPr>
              <a:t>美国：</a:t>
            </a:r>
            <a:r>
              <a:rPr sz="1200" u="none" dirty="0">
                <a:latin typeface="Book Antiqua"/>
              </a:rPr>
              <a:t>主变单台$10-18M，利润空间最大，但100%关税+ANSI认证实质封死直接出口。间接出口（韩国</a:t>
            </a:r>
            <a:r>
              <a:rPr lang="en-US" sz="1200" u="none" dirty="0">
                <a:latin typeface="Book Antiqua"/>
              </a:rPr>
              <a:t>/</a:t>
            </a:r>
            <a:r>
              <a:rPr lang="zh-CN" altLang="en-US" sz="1200" u="none" dirty="0">
                <a:latin typeface="Book Antiqua"/>
              </a:rPr>
              <a:t>东南亚</a:t>
            </a:r>
            <a:r>
              <a:rPr sz="1200" u="none" dirty="0" err="1">
                <a:latin typeface="Book Antiqua"/>
              </a:rPr>
              <a:t>组装）是唯一路径</a:t>
            </a:r>
            <a:endParaRPr sz="1200" u="none" dirty="0">
              <a:latin typeface="Book Antiqua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55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Book Antiqua"/>
              </a:rPr>
              <a:t>PART III | 价值链：物理世界与经济学</a:t>
            </a:r>
          </a:p>
        </p:txBody>
      </p:sp>
      <p:sp>
        <p:nvSpPr>
          <p:cNvPr id="3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/>
          <p:cNvSpPr txBox="1"/>
          <p:nvPr/>
        </p:nvSpPr>
        <p:spPr>
          <a:xfrm>
            <a:off x="438912" y="576072"/>
            <a:ext cx="10122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solidFill>
                  <a:schemeClr val="tx2"/>
                </a:solidFill>
                <a:latin typeface="Book Antiqua"/>
              </a:rPr>
              <a:t>硬件成本拆解</a:t>
            </a:r>
            <a:r>
              <a:rPr b="1" dirty="0">
                <a:solidFill>
                  <a:schemeClr val="tx2"/>
                </a:solidFill>
                <a:latin typeface="Book Antiqua"/>
              </a:rPr>
              <a:t>：</a:t>
            </a:r>
            <a:r>
              <a:rPr lang="zh-CN" altLang="en-US" b="1" dirty="0">
                <a:solidFill>
                  <a:schemeClr val="tx2"/>
                </a:solidFill>
                <a:latin typeface="Book Antiqua"/>
              </a:rPr>
              <a:t>中国企业拥有明显的成本优势，日韩企业占据最佳高利润市场</a:t>
            </a:r>
            <a:endParaRPr b="1" dirty="0">
              <a:solidFill>
                <a:schemeClr val="tx2"/>
              </a:solidFill>
              <a:latin typeface="Book Antiqua"/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445132" y="1366236"/>
            <a:ext cx="109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dirty="0" err="1">
                <a:solidFill>
                  <a:schemeClr val="tx2"/>
                </a:solidFill>
                <a:latin typeface="Book Antiqua"/>
              </a:rPr>
              <a:t>中国</a:t>
            </a:r>
            <a:r>
              <a:rPr sz="1050" b="1" dirty="0">
                <a:solidFill>
                  <a:schemeClr val="tx2"/>
                </a:solidFill>
                <a:latin typeface="Book Antiqua"/>
              </a:rPr>
              <a:t> vs </a:t>
            </a:r>
            <a:r>
              <a:rPr sz="1050" b="1" dirty="0" err="1">
                <a:solidFill>
                  <a:schemeClr val="tx2"/>
                </a:solidFill>
                <a:latin typeface="Book Antiqua"/>
              </a:rPr>
              <a:t>韩国</a:t>
            </a:r>
            <a:r>
              <a:rPr sz="1050" b="1" dirty="0">
                <a:solidFill>
                  <a:schemeClr val="tx2"/>
                </a:solidFill>
                <a:latin typeface="Book Antiqua"/>
              </a:rPr>
              <a:t> vs </a:t>
            </a:r>
            <a:r>
              <a:rPr sz="1050" b="1" dirty="0" err="1">
                <a:solidFill>
                  <a:schemeClr val="tx2"/>
                </a:solidFill>
                <a:latin typeface="Book Antiqua"/>
              </a:rPr>
              <a:t>美国单台变压器Unit</a:t>
            </a:r>
            <a:r>
              <a:rPr sz="1050" b="1" dirty="0">
                <a:solidFill>
                  <a:schemeClr val="tx2"/>
                </a:solidFill>
                <a:latin typeface="Book Antiqua"/>
              </a:rPr>
              <a:t> Economics对比（500kV主变，单位：USD）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070851"/>
              </p:ext>
            </p:extLst>
          </p:nvPr>
        </p:nvGraphicFramePr>
        <p:xfrm>
          <a:off x="438912" y="1645128"/>
          <a:ext cx="7399998" cy="4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指标</a:t>
                      </a:r>
                      <a:endParaRPr sz="9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Book Antiqua"/>
                        </a:rPr>
                        <a:t>中国（思源/特变）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Book Antiqua"/>
                        </a:rPr>
                        <a:t>韩国（HD现代/孝星）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Book Antiqua"/>
                        </a:rPr>
                        <a:t>美国（GE/日立）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单台售价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(500kV)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$3.5-6M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</a:t>
                      </a:r>
                      <a:r>
                        <a:rPr lang="en-US"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5-10</a:t>
                      </a:r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$10-18M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03030"/>
                          </a:solidFill>
                          <a:latin typeface="Book Antiqua"/>
                        </a:rPr>
                        <a:t>原材料成本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$0.8-1.2M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$0.9-1.4M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$1.5-2.2M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劳动力成本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$0.10-0.15M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$0.30-0.50M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$1.2-2.0M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制造成本合计（含制造费用）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$1.2-1.8M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$1.5-2.5M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$3.5-6.0M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毛利率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30-40%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45-55%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60-75%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净利率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15-22%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22-35%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35-50%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单台毛利额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$1.2-3.0M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$1.2-3.5M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$6-14M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HV</a:t>
                      </a:r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交货期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12-18个月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18-24个月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30-52个月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GIS交货期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6-12个月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12-18个月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24-36个月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供货商议价权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低</a:t>
                      </a:r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 (</a:t>
                      </a:r>
                      <a:r>
                        <a:rPr lang="zh-CN" altLang="en-US"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供给充沛</a:t>
                      </a:r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中</a:t>
                      </a:r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北美订单</a:t>
                      </a:r>
                      <a:r>
                        <a:rPr lang="en-US" altLang="zh-CN" sz="9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alpha</a:t>
                      </a:r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极高</a:t>
                      </a:r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(</a:t>
                      </a:r>
                      <a:r>
                        <a:rPr lang="zh-CN" altLang="en-US"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极度短期，</a:t>
                      </a:r>
                      <a:r>
                        <a:rPr sz="9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定价权</a:t>
                      </a:r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9525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15"/>
          <p:cNvSpPr txBox="1"/>
          <p:nvPr/>
        </p:nvSpPr>
        <p:spPr>
          <a:xfrm>
            <a:off x="8156448" y="1371600"/>
            <a:ext cx="354787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00355F"/>
                </a:solidFill>
                <a:latin typeface="Book Antiqua"/>
              </a:rPr>
              <a:t>Key</a:t>
            </a: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 </a:t>
            </a:r>
            <a:r>
              <a:rPr lang="en-US" altLang="zh-CN" sz="1200" b="1" dirty="0">
                <a:solidFill>
                  <a:srgbClr val="00355F"/>
                </a:solidFill>
                <a:latin typeface="Book Antiqua"/>
              </a:rPr>
              <a:t>insights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:</a:t>
            </a: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355F"/>
                </a:solidFill>
                <a:latin typeface="Book Antiqua"/>
              </a:rPr>
              <a:t>中国成本低于日韩</a:t>
            </a:r>
            <a:r>
              <a:rPr lang="en-US" altLang="zh-CN" sz="1200" b="1" dirty="0">
                <a:solidFill>
                  <a:srgbClr val="00355F"/>
                </a:solidFill>
                <a:latin typeface="Book Antiqua"/>
              </a:rPr>
              <a:t>~20%</a:t>
            </a: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，低于美国</a:t>
            </a:r>
            <a:r>
              <a:rPr lang="en-US" altLang="zh-CN" sz="1200" b="1" dirty="0">
                <a:solidFill>
                  <a:srgbClr val="00355F"/>
                </a:solidFill>
                <a:latin typeface="Book Antiqua"/>
              </a:rPr>
              <a:t>60%+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原材料：中国控制60-70%全球取向硅钢产能，采购价较欧美低20-30%⇒ 劳动力：韩国比美国便宜35%，中国比韩国再便宜10-15%⇒ 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规模效应：TBEA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 500GVA产线抨固定成本，单台边际成本极低</a:t>
            </a:r>
          </a:p>
          <a:p>
            <a:pPr>
              <a:spcBef>
                <a:spcPts val="400"/>
              </a:spcBef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卖到美国利润翻倍</a:t>
            </a: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：</a:t>
            </a:r>
            <a:r>
              <a:rPr sz="1200" dirty="0">
                <a:latin typeface="Book Antiqua"/>
              </a:rPr>
              <a:t>同一台500kV变压器，中国卖$3.5-6M，北美卖$10-18M。出海到美国的毛利率可达65%+（vs 国内~40%）。HD现代Alabama工厂+Hyosung </a:t>
            </a:r>
            <a:r>
              <a:rPr sz="1200" dirty="0" err="1">
                <a:latin typeface="Book Antiqua"/>
              </a:rPr>
              <a:t>Memphis工厂</a:t>
            </a:r>
            <a:r>
              <a:rPr lang="zh-CN" altLang="en-US" sz="1200" dirty="0">
                <a:latin typeface="Book Antiqua"/>
              </a:rPr>
              <a:t>带来巨大的</a:t>
            </a:r>
            <a:r>
              <a:rPr lang="en-US" altLang="zh-CN" sz="1200" dirty="0">
                <a:latin typeface="Book Antiqua"/>
              </a:rPr>
              <a:t>ROIC </a:t>
            </a:r>
            <a:r>
              <a:rPr lang="zh-CN" altLang="en-US" sz="1200" dirty="0">
                <a:latin typeface="Book Antiqua"/>
              </a:rPr>
              <a:t>增长的核心逻辑</a:t>
            </a:r>
            <a:endParaRPr sz="1200" dirty="0">
              <a:latin typeface="Book Antiqua"/>
            </a:endParaRPr>
          </a:p>
          <a:p>
            <a:pPr>
              <a:spcBef>
                <a:spcPts val="400"/>
              </a:spcBef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交货期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=隐性定价权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当海外交货期30-52个月，中国12-18个月，客户愿意为“早拿到”付溢价。数据中心、可再生能源并网等时效敏感场景下，交期优势=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订单优势。思源GIS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 6个月交付是最极端的例子。</a:t>
            </a:r>
          </a:p>
          <a:p>
            <a:pPr>
              <a:spcBef>
                <a:spcPts val="400"/>
              </a:spcBef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核心结论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中国厂商“低成本制造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+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快交货期优势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+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海外高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溢价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”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的利润弹性是本轮投资最重要的Alpha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</p:txBody>
      </p:sp>
      <p:sp>
        <p:nvSpPr>
          <p:cNvPr id="10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07070"/>
                </a:solidFill>
                <a:latin typeface="Book Antiqua"/>
              </a:rPr>
              <a:t>Source: Citi Research; Wood Mackenzie; Company reports; Metro Analysis</a:t>
            </a: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053C230B-CE6B-924D-BF1A-F12EDC0C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722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D6B2EEAF-65AE-4F73-2BBB-D01BF9DBE3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00772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>
            <a:normAutofit/>
          </a:bodyPr>
          <a:lstStyle/>
          <a:p>
            <a:pPr algn="l"/>
            <a:r>
              <a:rPr sz="1800" b="1" dirty="0" err="1">
                <a:solidFill>
                  <a:srgbClr val="00355F"/>
                </a:solidFill>
                <a:latin typeface="Book Antiqua"/>
              </a:rPr>
              <a:t>中东是</a:t>
            </a:r>
            <a:r>
              <a:rPr lang="en-US" sz="1800" b="1" dirty="0" err="1">
                <a:solidFill>
                  <a:srgbClr val="00355F"/>
                </a:solidFill>
                <a:latin typeface="Book Antiqua"/>
              </a:rPr>
              <a:t>GIS</a:t>
            </a:r>
            <a:r>
              <a:rPr sz="1800" b="1" dirty="0" err="1">
                <a:solidFill>
                  <a:srgbClr val="00355F"/>
                </a:solidFill>
                <a:latin typeface="Book Antiqua"/>
              </a:rPr>
              <a:t>最优出海市场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：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思源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GIS</a:t>
            </a:r>
            <a:r>
              <a:rPr lang="zh-CN" altLang="en-US" sz="1800" dirty="0">
                <a:solidFill>
                  <a:srgbClr val="00355F"/>
                </a:solidFill>
                <a:latin typeface="Book Antiqua"/>
              </a:rPr>
              <a:t>占比最高，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毛利30-40%，美国关税100%封死直接出口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III | 价值链：物理世界与经济学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思源电气年报 2024; Citi Research March 2026; Metro Analysis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92885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三市场毛利率矩阵与竞争要素对比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19300"/>
              </p:ext>
            </p:extLst>
          </p:nvPr>
        </p:nvGraphicFramePr>
        <p:xfrm>
          <a:off x="438912" y="1600200"/>
          <a:ext cx="7443215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6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0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维度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中国市场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中东市场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美国市场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中国厂商毛利率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20-25%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30-40%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~0% (关税封锁)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思源实际毛利率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37.1% (2024海外)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N/A (&lt;5%依赖)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03030"/>
                          </a:solidFill>
                          <a:latin typeface="Book Antiqua"/>
                        </a:rPr>
                        <a:t>竞争烈度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高 (平高/西电/特变)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中 (认证壁垒保护)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低 (</a:t>
                      </a:r>
                      <a:r>
                        <a:rPr lang="zh-CN" alt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中国</a:t>
                      </a:r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无法进入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03030"/>
                          </a:solidFill>
                          <a:latin typeface="Book Antiqua"/>
                        </a:rPr>
                        <a:t>采购模式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国网招标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EPC整包交钥匙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分拆采购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GIS占EPC比重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22-28%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25-32% (强制GIS)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18-24%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主变占EPC比重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7-10%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9-13%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12-18%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进入壁垒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品牌+价格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认证+项目经验+EPC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关税+认证+本地化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56448" y="1371600"/>
            <a:ext cx="354787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出海路径选择的底层逻辑:</a:t>
            </a:r>
          </a:p>
          <a:p>
            <a:pPr>
              <a:spcBef>
                <a:spcPts val="400"/>
              </a:spcBef>
            </a:pPr>
            <a:endParaRPr lang="en-US" sz="1200" b="1" u="none" dirty="0">
              <a:solidFill>
                <a:srgbClr val="20396D"/>
              </a:solidFill>
              <a:latin typeface="Book Antiqua"/>
            </a:endParaRPr>
          </a:p>
          <a:p>
            <a:pPr>
              <a:spcBef>
                <a:spcPts val="400"/>
              </a:spcBef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中东最优: 中东毛利率30-40%（思源实际37.1%），GIS占EPC 25-32%（沙漠环境强制全封闭GIS方案），竞争烈度"中"且受认证壁垒保护——整包采购模式最匹配中国厂商EPC能力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  <a:p>
            <a:pPr>
              <a:spcBef>
                <a:spcPts val="400"/>
              </a:spcBef>
            </a:pPr>
            <a:endParaRPr lang="en-US" sz="1200" b="1" u="none" dirty="0">
              <a:solidFill>
                <a:srgbClr val="20396D"/>
              </a:solidFill>
              <a:latin typeface="Book Antiqua"/>
            </a:endParaRPr>
          </a:p>
          <a:p>
            <a:pPr>
              <a:spcBef>
                <a:spcPts val="400"/>
              </a:spcBef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中国市场利润率天花板: 如左表"中国市场"列，毛利率仅20-25%、竞争激烈度"高"、以国网招标为主——内需增长确定但利润空间有限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  <a:p>
            <a:pPr>
              <a:spcBef>
                <a:spcPts val="400"/>
              </a:spcBef>
            </a:pPr>
            <a:endParaRPr lang="en-US" sz="1200" b="1" u="none" dirty="0">
              <a:solidFill>
                <a:srgbClr val="20396D"/>
              </a:solidFill>
              <a:latin typeface="Book Antiqua"/>
            </a:endParaRPr>
          </a:p>
          <a:p>
            <a:pPr>
              <a:spcBef>
                <a:spcPts val="400"/>
              </a:spcBef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美国市场高壁垒: 直接出口关税100%（毛利率~0%），三重壁垒（关税+认证+本地化）。但2026年1-2月对美出口+182% YoY（体量仍小，主要通过转口）。</a:t>
            </a:r>
          </a:p>
          <a:p>
            <a:pPr>
              <a:spcBef>
                <a:spcPts val="400"/>
              </a:spcBef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>
              <a:spcBef>
                <a:spcPts val="400"/>
              </a:spcBef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海外毛利率持续性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>
              <a:spcBef>
                <a:spcPts val="400"/>
              </a:spcBef>
            </a:pP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中东竞争烈度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较低处于日韩企业临时退出的真空期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且受认证壁垒保护，海外毛利率将维持35-37%持续3-5年（认证壁垒+全球产能缺口至2029年）</a:t>
            </a:r>
          </a:p>
        </p:txBody>
      </p:sp>
    </p:spTree>
    <p:extLst>
      <p:ext uri="{BB962C8B-B14F-4D97-AF65-F5344CB8AC3E}">
        <p14:creationId xmlns:p14="http://schemas.microsoft.com/office/powerpoint/2010/main" val="1645576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全球竞争格局：欧美日韩垄断高端，中国凭成本和交期快速渗透新兴市场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注：特变含多晶硅，变压器板块$31亿</a:t>
            </a:r>
          </a:p>
          <a:p>
            <a:pPr algn="l"/>
            <a:r>
              <a:rPr sz="800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Source: Company 2024 Annual Reports; Citi Research March 2026;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0355F"/>
                </a:solidFill>
                <a:latin typeface="Book Antiqua"/>
              </a:rPr>
              <a:t>全球HV输变电设备主要竞争对手综合对比矩阵</a:t>
            </a: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（</a:t>
            </a:r>
            <a:r>
              <a:rPr lang="en-US" altLang="zh-CN" sz="1200" b="1" dirty="0">
                <a:solidFill>
                  <a:srgbClr val="00355F"/>
                </a:solidFill>
                <a:latin typeface="Book Antiqua"/>
              </a:rPr>
              <a:t>2025</a:t>
            </a: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）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983119"/>
              </p:ext>
            </p:extLst>
          </p:nvPr>
        </p:nvGraphicFramePr>
        <p:xfrm>
          <a:off x="438912" y="1600200"/>
          <a:ext cx="74432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94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3850">
                  <a:extLst>
                    <a:ext uri="{9D8B030D-6E8A-4147-A177-3AD203B41FA5}">
                      <a16:colId xmlns:a16="http://schemas.microsoft.com/office/drawing/2014/main" val="237521138"/>
                    </a:ext>
                  </a:extLst>
                </a:gridCol>
                <a:gridCol w="10627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厂商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lnB w="38100" cmpd="sng">
                      <a:solidFill>
                        <a:schemeClr val="lt1"/>
                      </a:solidFill>
                    </a:lnB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国家</a:t>
                      </a:r>
                    </a:p>
                  </a:txBody>
                  <a:tcPr anchor="ctr">
                    <a:lnB w="38100" cmpd="sng">
                      <a:solidFill>
                        <a:schemeClr val="lt1"/>
                      </a:solidFill>
                    </a:lnB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营收规模</a:t>
                      </a:r>
                    </a:p>
                  </a:txBody>
                  <a:tcPr anchor="ctr">
                    <a:lnB w="38100" cmpd="sng">
                      <a:solidFill>
                        <a:schemeClr val="lt1"/>
                      </a:solidFill>
                    </a:lnB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产能GVA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lnB w="38100" cmpd="sng">
                      <a:solidFill>
                        <a:schemeClr val="lt1"/>
                      </a:solidFill>
                    </a:lnB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Backlog</a:t>
                      </a:r>
                    </a:p>
                    <a:p>
                      <a:pPr 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排单情况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lnB w="38100" cmpd="sng">
                      <a:solidFill>
                        <a:schemeClr val="lt1"/>
                      </a:solidFill>
                    </a:lnB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核心市场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lnB w="38100" cmpd="sng">
                      <a:solidFill>
                        <a:schemeClr val="lt1"/>
                      </a:solidFill>
                    </a:lnB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FY25</a:t>
                      </a:r>
                    </a:p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GPM,</a:t>
                      </a: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 </a:t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%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lnB w="381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FY25</a:t>
                      </a:r>
                    </a:p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OPM, %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lnB w="38100" cmpd="sng">
                      <a:solidFill>
                        <a:schemeClr val="lt1"/>
                      </a:solidFill>
                    </a:lnB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西门子能源GT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DE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~€110亿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~219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超100周交期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欧洲主导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-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15.8%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381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/>
                        </a:rPr>
                        <a:t>GE </a:t>
                      </a:r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Vernova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US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$75亿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~184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产量翻倍中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北美主导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-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G</a:t>
                      </a:r>
                      <a:r>
                        <a:rPr lang="en-US" altLang="zh-CN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uide </a:t>
                      </a:r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11-13%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日立能源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JP/CH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$160亿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~290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8.9T JPY（3年）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北美30%/欧洲33%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28.8%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</a:t>
                      </a:r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12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%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00892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HD现代电气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KR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$24亿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~116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13.85T KRW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北美47%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30%+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</a:t>
                      </a:r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3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%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孝星重工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KR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$36亿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~99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排单至2031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北美+HVDC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27%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~17%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特变电工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CN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$137亿*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500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沙特164亿元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中国+一带一路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30%+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-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中国西电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CN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$31亿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~200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中国+土耳其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~20%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7-10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%</a:t>
                      </a:r>
                    </a:p>
                  </a:txBody>
                  <a:tcPr anchor="ctr">
                    <a:lnL w="12700" cmpd="sng">
                      <a:solidFill>
                        <a:schemeClr val="lt1"/>
                      </a:solidFill>
                    </a:lnL>
                    <a:lnR w="12700" cmpd="sng">
                      <a:solidFill>
                        <a:schemeClr val="lt1"/>
                      </a:solidFill>
                    </a:lnR>
                    <a:lnT w="12700" cmpd="sng">
                      <a:solidFill>
                        <a:schemeClr val="lt1"/>
                      </a:solidFill>
                    </a:lnT>
                    <a:lnB w="12700" cmpd="sng">
                      <a:solidFill>
                        <a:schemeClr val="lt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思源电气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T w="12700" cmpd="sng">
                      <a:solidFill>
                        <a:schemeClr val="lt1"/>
                      </a:solidFill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CN</a:t>
                      </a:r>
                    </a:p>
                  </a:txBody>
                  <a:tcPr anchor="ctr">
                    <a:lnT w="12700" cmpd="sng">
                      <a:solidFill>
                        <a:schemeClr val="lt1"/>
                      </a:solidFill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$21亿</a:t>
                      </a:r>
                    </a:p>
                  </a:txBody>
                  <a:tcPr anchor="ctr">
                    <a:lnT w="12700" cmpd="sng">
                      <a:solidFill>
                        <a:schemeClr val="lt1"/>
                      </a:solidFill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非公开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T w="12700" cmpd="sng">
                      <a:solidFill>
                        <a:schemeClr val="lt1"/>
                      </a:solidFill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268亿E（25年）</a:t>
                      </a:r>
                    </a:p>
                  </a:txBody>
                  <a:tcPr anchor="ctr">
                    <a:lnT w="12700" cmpd="sng">
                      <a:solidFill>
                        <a:schemeClr val="lt1"/>
                      </a:solidFill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70+国家</a:t>
                      </a:r>
                    </a:p>
                  </a:txBody>
                  <a:tcPr anchor="ctr">
                    <a:lnT w="12700" cmpd="sng">
                      <a:solidFill>
                        <a:schemeClr val="lt1"/>
                      </a:solidFill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37%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16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%</a:t>
                      </a:r>
                    </a:p>
                  </a:txBody>
                  <a:tcPr anchor="ctr">
                    <a:lnT w="12700" cmpd="sng">
                      <a:solidFill>
                        <a:schemeClr val="lt1"/>
                      </a:solidFill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776464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9664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竞争动态与格局演变</a:t>
            </a:r>
            <a:r>
              <a:rPr sz="1200" b="1" u="none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Tier分层的定价权逻辑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Tier1(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日立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/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西门子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/GE ~45%)产能合计693 GVA，backlog均超100周——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垄断定价权。日立EBITA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 12.6%、西门子15.8%、GE 14-15%，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利润率均处历史高位，是卖方市场的直接体现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sng" dirty="0">
                <a:solidFill>
                  <a:srgbClr val="20396D"/>
                </a:solidFill>
                <a:latin typeface="Book Antiqua"/>
              </a:rPr>
              <a:t>Tier2韩国(~20%)</a:t>
            </a: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正蚕食欧美份额</a:t>
            </a:r>
            <a:r>
              <a:rPr lang="zh-CN" altLang="en-US" sz="1200" b="1" u="sng" dirty="0">
                <a:solidFill>
                  <a:srgbClr val="20396D"/>
                </a:solidFill>
                <a:latin typeface="Book Antiqua"/>
              </a:rPr>
              <a:t>，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HD现代利润率24.4%（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史高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），北美47%收入结构；孝星排单至2031年，押注HVDC。两家合计产能215 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GVA，核心战场在北美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sng" dirty="0">
                <a:solidFill>
                  <a:srgbClr val="20396D"/>
                </a:solidFill>
                <a:latin typeface="Book Antiqua"/>
              </a:rPr>
              <a:t>中国Tier3→Tier2的升级路径</a:t>
            </a:r>
            <a:r>
              <a:rPr lang="zh-CN" altLang="en-US" sz="1200" b="1" u="sng" dirty="0">
                <a:solidFill>
                  <a:srgbClr val="20396D"/>
                </a:solidFill>
                <a:latin typeface="Book Antiqua"/>
              </a:rPr>
              <a:t>，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中国三强（TBEA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 500 GVA/西电200 GVA/思源非公开）产能全球领先，但出海市占率仅3%。TBEA沙特164亿大单、思源70+国认证说明突破正在加速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842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西门子/GE：欧美本土主导地位稳固，扩产谨慎，盈亏平衡期长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Siemens Energy FY2025 Annual Report; GE Vernova FY2024;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西门子能源 vs GE Vernova 关键指标对比（2024/FY2025）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390053"/>
              </p:ext>
            </p:extLst>
          </p:nvPr>
        </p:nvGraphicFramePr>
        <p:xfrm>
          <a:off x="438912" y="1600200"/>
          <a:ext cx="74432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4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指标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西门子能源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 Grid Tech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GE 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Vernova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 Electrification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营收规模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~€110亿（Grid全部门）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~$75亿（Electrification部门）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当前产能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250 GVA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170+ GVA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核心扩产投资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$1.5亿 Charlotte NC（2027投产）+€2.35亿纽伦堡+50%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$6亿 北美扩产 2025-26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303030"/>
                          </a:solidFill>
                          <a:latin typeface="Book Antiqua"/>
                        </a:rPr>
                        <a:t>FY2025 </a:t>
                      </a:r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运营利润率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15.8%（FY2025实际，同比+530bps）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~14-15%（Grid Solutions分部EBITDA）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/>
                        </a:rPr>
                        <a:t>FY2026目标利润率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16-18%（</a:t>
                      </a:r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上调指引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）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26E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持续改善中</a:t>
                      </a:r>
                      <a:r>
                        <a:rPr lang="zh-CN" alt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，没披露具体数字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变压器交货期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&gt;100周（超100周等待）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&gt;100周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核心市场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欧洲主导+北美次之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北美绝对主导（合计占US开关设备60%）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战略差异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高端技术+欧洲品牌溢价，扩产谨慎，盈亏平衡优先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北美本土制造+EPC能力，产量翻倍计划2024-2028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478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竞争格局含义</a:t>
            </a:r>
            <a:r>
              <a:rPr sz="1200" b="1" u="none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扩产谨慎背后的逻辑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西门子Grid Tech产能250 GVA，投资€2.35亿纽伦堡扩产+$1.5亿Charlotte NC新厂；</a:t>
            </a:r>
            <a:endParaRPr lang="en-US" sz="1200" b="0" u="none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GE Vernova投资$6亿北美扩产，计划产量翻倍。但两者实际投产均在2027-28年——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短期内产能增量极为有限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none" dirty="0">
                <a:solidFill>
                  <a:srgbClr val="20396D"/>
                </a:solidFill>
                <a:latin typeface="Book Antiqua"/>
              </a:rPr>
              <a:t>核心原因是历史教训：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变压器产能投资盈亏平衡期20+年，上一轮产能过剩让Tier1巨头巨亏。管理层宁可维持高价+长交期（均&gt;100周），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也不愿冒大规模扩产的财务风险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订单能见度与定价权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none" dirty="0">
                <a:solidFill>
                  <a:srgbClr val="20396D"/>
                </a:solidFill>
                <a:latin typeface="Book Antiqua"/>
              </a:rPr>
              <a:t>如左表利润率对比：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西门子15.8%（+530bps YoY）、GE 14-15%——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在交期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&gt;100周、卖方市场格局下，Tier1享受定价权红利。Charlotte新厂$150M仅增加有限产能，产能每扩1GVA需投入$800K+</a:t>
            </a:r>
          </a:p>
          <a:p>
            <a:pPr marL="180000" indent="-90000">
              <a:buFont typeface="Arial"/>
              <a:buChar char="•"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对中国厂商的含义：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欧美扩产谨慎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=中国出海窗口更长。真正的竞争压力要到2028年才出现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600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A3AA324-AC45-292E-1481-6749A77F491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6358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>
            <a:normAutofit fontScale="90000"/>
          </a:bodyPr>
          <a:lstStyle/>
          <a:p>
            <a:pPr algn="l"/>
            <a:r>
              <a:rPr sz="1800" b="1" dirty="0">
                <a:solidFill>
                  <a:srgbClr val="00355F"/>
                </a:solidFill>
                <a:latin typeface="Book Antiqua"/>
              </a:rPr>
              <a:t>日立能源：全球技术龙头，产能3年翻倍，</a:t>
            </a:r>
            <a:r>
              <a:rPr lang="en-US" sz="1800" b="1" dirty="0">
                <a:solidFill>
                  <a:srgbClr val="00355F"/>
                </a:solidFill>
                <a:latin typeface="Book Antiqua"/>
              </a:rPr>
              <a:t>2021-2024 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ROIC从10.9%飙至25.7%</a:t>
            </a:r>
            <a:r>
              <a:rPr lang="zh-CN" altLang="en-US" sz="1800" dirty="0">
                <a:solidFill>
                  <a:srgbClr val="00355F"/>
                </a:solidFill>
                <a:latin typeface="Book Antiqua"/>
              </a:rPr>
              <a:t>，量价齐升充分体现定价权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Hitachi Energy IR 2024; Hitachi Annual Report FY2024;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日立能源 ROIC 与 Backlog 扩张（2021–2027E）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03101"/>
              </p:ext>
            </p:extLst>
          </p:nvPr>
        </p:nvGraphicFramePr>
        <p:xfrm>
          <a:off x="438911" y="1600200"/>
          <a:ext cx="7320609" cy="2173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4787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日立的战略含义</a:t>
            </a:r>
            <a:r>
              <a:rPr sz="1200" b="1" u="none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全球龙头的核心指标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ROIC从2021年10.9%→2024年25.7%，同期Backlog积压从~$26B→$56B，两条曲线同步上行。这说明日立不是靠压缩利润换订单，而是利用框架协议+预付款模式实现"量价齐升"——供需失衡下的卖方定价权得到充分验证</a:t>
            </a: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订单积压$56B=3年产能，意味着日立在2027年前几乎没有空闲产能。北美占销售30%，欧洲33-35%，采取"本土生产本土销售"策略——这是应对地缘风险的标杆做法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对中国厂商的窗口含义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日立ROIC翻倍证明行业利润率有结构性提升空间（非暂时性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），中国厂商出海如果能复制这一路径，ROE提升空间巨大。但日立的产能扩张计划（2024-27投资$6.0B）意味着2028年后竞争将加剧</a:t>
            </a:r>
          </a:p>
          <a:p>
            <a:pPr marL="180000" indent="-90000">
              <a:buFont typeface="Arial"/>
              <a:buChar char="•"/>
            </a:pPr>
            <a:r>
              <a:rPr sz="1200" b="0" dirty="0" err="1">
                <a:solidFill>
                  <a:srgbClr val="303030"/>
                </a:solidFill>
                <a:latin typeface="Book Antiqua"/>
              </a:rPr>
              <a:t>日立的高ROIC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(25.7%)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证明行业定价权真实存在且可持续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——中国厂商以低30-40%的价格切入，仍能获得远高于国内的利润率。日立的成功是中国出海thesis的反面验证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har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882750"/>
              </p:ext>
            </p:extLst>
          </p:nvPr>
        </p:nvGraphicFramePr>
        <p:xfrm>
          <a:off x="438912" y="3953340"/>
          <a:ext cx="7320605" cy="2173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0355" y="1746504"/>
            <a:ext cx="76014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444444"/>
                </a:solidFill>
                <a:latin typeface="Book Antiqua" panose="02040602050305030304" pitchFamily="18" charset="0"/>
              </a:rPr>
              <a:t>ROIC (%)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55" y="4072266"/>
            <a:ext cx="92204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>
                <a:solidFill>
                  <a:srgbClr val="444444"/>
                </a:solidFill>
                <a:latin typeface="Book Antiqua" panose="02040602050305030304" pitchFamily="18" charset="0"/>
              </a:rPr>
              <a:t>Backlog ($B)</a:t>
            </a:r>
          </a:p>
        </p:txBody>
      </p:sp>
    </p:spTree>
    <p:extLst>
      <p:ext uri="{BB962C8B-B14F-4D97-AF65-F5344CB8AC3E}">
        <p14:creationId xmlns:p14="http://schemas.microsoft.com/office/powerpoint/2010/main" val="3246998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日立能源：$94亿收购ABB电网，EBITA从6.1%→11.1%，$60亿扩产锁定2028年产能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707070"/>
                </a:solidFill>
                <a:latin typeface="Book Antiqua"/>
              </a:rPr>
              <a:t>Source: Hitachi Energy IR 2024; Hitachi Annual Report FY2024; Hitachi Integrated Report 2024;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日立能源关键财务指标（FY2021-FY2024）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8912" y="1600200"/>
          <a:ext cx="744320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8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指标</a:t>
                      </a:r>
                    </a:p>
                  </a:txBody>
                  <a:tcPr marL="45720" marR="45720" marT="27432" marB="27432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FY2021</a:t>
                      </a:r>
                    </a:p>
                  </a:txBody>
                  <a:tcPr marL="45720" marR="45720" marT="27432" marB="27432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FY2022</a:t>
                      </a:r>
                    </a:p>
                  </a:txBody>
                  <a:tcPr marL="45720" marR="45720" marT="27432" marB="27432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FY2023</a:t>
                      </a:r>
                    </a:p>
                  </a:txBody>
                  <a:tcPr marL="45720" marR="45720" marT="27432" marB="27432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FY2024</a:t>
                      </a:r>
                    </a:p>
                  </a:txBody>
                  <a:tcPr marL="45720" marR="45720" marT="27432" marB="27432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396D"/>
                          </a:solidFill>
                          <a:latin typeface="Book Antiqua"/>
                        </a:rPr>
                        <a:t>Power Grid收入(¥B)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~1,500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~1,650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1,870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303030"/>
                          </a:solidFill>
                          <a:latin typeface="Book Antiqua"/>
                        </a:rPr>
                        <a:t>~2,100E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396D"/>
                          </a:solidFill>
                          <a:latin typeface="Book Antiqua"/>
                        </a:rPr>
                        <a:t>EBITA Margin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6.1%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7.5%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9.2%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303030"/>
                          </a:solidFill>
                          <a:latin typeface="Book Antiqua"/>
                        </a:rPr>
                        <a:t>11.1%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396D"/>
                          </a:solidFill>
                          <a:latin typeface="Book Antiqua"/>
                        </a:rPr>
                        <a:t>ROIC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10.9%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14.2%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19.5%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25.7%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396D"/>
                          </a:solidFill>
                          <a:latin typeface="Book Antiqua"/>
                        </a:rPr>
                        <a:t>订单积压(¥T)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~4.0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~4.5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~5.5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4.7(=$43B)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396D"/>
                          </a:solidFill>
                          <a:latin typeface="Book Antiqua"/>
                        </a:rPr>
                        <a:t>北美收入占比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303030"/>
                          </a:solidFill>
                          <a:latin typeface="Book Antiqua"/>
                        </a:rPr>
                        <a:t>~25%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~27%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~29%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~30%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396D"/>
                          </a:solidFill>
                          <a:latin typeface="Book Antiqua"/>
                        </a:rPr>
                        <a:t>欧洲收入占比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~35%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~34%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~34%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~33%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396D"/>
                          </a:solidFill>
                          <a:latin typeface="Book Antiqua"/>
                        </a:rPr>
                        <a:t>亚太收入占比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~22%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~23%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~22%</a:t>
                      </a:r>
                    </a:p>
                  </a:txBody>
                  <a:tcPr marL="45720" marR="45720" marT="27432" marB="2743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~22%</a:t>
                      </a:r>
                    </a:p>
                  </a:txBody>
                  <a:tcPr marL="45720" marR="45720" marT="27432" marB="2743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396D"/>
                          </a:solidFill>
                          <a:latin typeface="Book Antiqua"/>
                        </a:rPr>
                        <a:t>扩产投资(累计)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$1.5B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  <a:latin typeface="Book Antiqua"/>
                        </a:rPr>
                        <a:t>$3.0B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303030"/>
                          </a:solidFill>
                          <a:latin typeface="Book Antiqua"/>
                        </a:rPr>
                        <a:t>$6.0B(至2027)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4787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20396D"/>
                </a:solidFill>
                <a:latin typeface="Book Antiqua"/>
              </a:rPr>
              <a:t>收购ABB电网的战略逻辑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从家电集团到能源巨头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r>
              <a:rPr sz="1200" b="1" dirty="0">
                <a:solidFill>
                  <a:srgbClr val="20396D"/>
                </a:solidFill>
                <a:latin typeface="Book Antiqua"/>
              </a:rPr>
              <a:t>2018年12月宣布：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日立以$94亿收购ABB Power Grids 80.1%股权（总估值$110亿），2020年7月交割，2022年12月全资控股。日立"社会创新"战略核心——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放弃消费电子，All-in能源基础设施</a:t>
            </a:r>
            <a:endParaRPr sz="1200" dirty="0">
              <a:solidFill>
                <a:srgbClr val="303030"/>
              </a:solidFill>
              <a:latin typeface="Book Antiqua"/>
            </a:endParaRPr>
          </a:p>
          <a:p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收入与利润率双升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r>
              <a:rPr sz="1200" b="1" dirty="0">
                <a:solidFill>
                  <a:srgbClr val="20396D"/>
                </a:solidFill>
                <a:latin typeface="Book Antiqua"/>
              </a:rPr>
              <a:t>EBITA从6.1%→FY2024 11.1%：</a:t>
            </a:r>
            <a:r>
              <a:rPr sz="1200" dirty="0">
                <a:latin typeface="Book Antiqua"/>
              </a:rPr>
              <a:t>通过Lumada数字化+日本精益管理提升运营。ROIC从10.9%飙升至25.7%（目标仅15%），资本效率远超预期</a:t>
            </a:r>
          </a:p>
          <a:p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r>
              <a:rPr sz="1200" b="1" u="sng" dirty="0">
                <a:solidFill>
                  <a:srgbClr val="20396D"/>
                </a:solidFill>
                <a:latin typeface="Book Antiqua"/>
              </a:rPr>
              <a:t>$60亿扩产计划(2024-2027)</a:t>
            </a:r>
          </a:p>
          <a:p>
            <a:r>
              <a:rPr sz="1200" b="1" dirty="0">
                <a:solidFill>
                  <a:srgbClr val="20396D"/>
                </a:solidFill>
                <a:latin typeface="Book Antiqua"/>
              </a:rPr>
              <a:t>$30亿投向北美：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$4.55亿瑞典，$2.5亿印度，$2亿巴西。$15亿专门用于全球变压器产能扩张——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行业最大单一投资计划</a:t>
            </a:r>
            <a:endParaRPr sz="1200" dirty="0">
              <a:solidFill>
                <a:srgbClr val="303030"/>
              </a:solidFill>
              <a:latin typeface="Book Antiqua"/>
            </a:endParaRPr>
          </a:p>
          <a:p>
            <a:r>
              <a:rPr sz="1200" dirty="0" err="1">
                <a:solidFill>
                  <a:srgbClr val="303030"/>
                </a:solidFill>
                <a:latin typeface="Book Antiqua"/>
              </a:rPr>
              <a:t>日立高ROIC(25.7%)证明行业定价权真实存在——中国厂商低30-40%价格切入仍远高于国内利润率。但$60亿扩产意味着2028年后竞争加剧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463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韩国双雄：HD现代靠北美47%收入利润翻4倍，孝星重工押注HVDC差异化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HD Hyundai Electric 2024 Annual Report; Hyosung Heavy 2024; LS Electric 2024;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韩国三强营业利润率爬坡（2022-2025E）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875701"/>
              </p:ext>
            </p:extLst>
          </p:nvPr>
        </p:nvGraphicFramePr>
        <p:xfrm>
          <a:off x="438912" y="1600200"/>
          <a:ext cx="7443216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478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韩国</a:t>
            </a:r>
            <a:r>
              <a:rPr lang="en-US" altLang="zh-CN" sz="1200" b="1" u="none" dirty="0" err="1">
                <a:solidFill>
                  <a:srgbClr val="20396D"/>
                </a:solidFill>
                <a:latin typeface="Book Antiqua"/>
              </a:rPr>
              <a:t>Peers</a:t>
            </a:r>
            <a:r>
              <a:rPr sz="1200" b="1" u="none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HD现代：利润率爬坡最陡峭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u="none" dirty="0">
                <a:latin typeface="Book Antiqua"/>
              </a:rPr>
              <a:t>HD现代营业利润率从2022年6.3%→2024年24.4%，</a:t>
            </a:r>
            <a:r>
              <a:rPr sz="1200" u="none" dirty="0" err="1">
                <a:latin typeface="Book Antiqua"/>
              </a:rPr>
              <a:t>是三家中爬坡最快的</a:t>
            </a:r>
            <a:r>
              <a:rPr sz="1200" u="none" dirty="0">
                <a:latin typeface="Book Antiqua"/>
              </a:rPr>
              <a:t>。</a:t>
            </a:r>
            <a:endParaRPr lang="en-US" sz="1200" u="none" dirty="0"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u="none" dirty="0" err="1">
                <a:latin typeface="Book Antiqua"/>
              </a:rPr>
              <a:t>利润率</a:t>
            </a:r>
            <a:r>
              <a:rPr lang="zh-CN" altLang="en-US" sz="1200" u="none" dirty="0">
                <a:latin typeface="Book Antiqua"/>
              </a:rPr>
              <a:t>爬坡</a:t>
            </a:r>
            <a:r>
              <a:rPr sz="1200" u="none" dirty="0">
                <a:latin typeface="Book Antiqua"/>
              </a:rPr>
              <a:t>的实现路径：北美收入占47%×美国主变溢价5-8倍×Alabama工厂本地化生产——"本地化生产→高溢价"的出海模式已被充分验证</a:t>
            </a:r>
            <a:endParaRPr lang="en-US" sz="1200" dirty="0">
              <a:latin typeface="Book Antiqua"/>
            </a:endParaRPr>
          </a:p>
          <a:p>
            <a:pPr marL="90000"/>
            <a:endParaRPr lang="en-US" sz="1200" b="1" u="sng" dirty="0">
              <a:solidFill>
                <a:srgbClr val="303030"/>
              </a:solidFill>
              <a:latin typeface="Book Antiqua"/>
            </a:endParaRPr>
          </a:p>
          <a:p>
            <a:pPr marL="90000"/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孝星重工：HVDC差异化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孝星从亏损翻转至正盈利（HICO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），</a:t>
            </a:r>
            <a:r>
              <a:rPr sz="1200" dirty="0">
                <a:latin typeface="Book Antiqua"/>
              </a:rPr>
              <a:t>选择了不同于HD现代的路径：押注HVDC差异化（Memphis工厂是美国唯一765kV本土产能），排单至2031年。其利润率爬坡节奏慢于HD现代——</a:t>
            </a:r>
            <a:r>
              <a:rPr sz="1200" dirty="0" err="1">
                <a:latin typeface="Book Antiqua"/>
              </a:rPr>
              <a:t>HVDC技术认证周期更长是主因</a:t>
            </a:r>
            <a:endParaRPr sz="1200" dirty="0">
              <a:latin typeface="Book Antiqua"/>
            </a:endParaRPr>
          </a:p>
          <a:p>
            <a:pPr marL="180000" indent="-90000">
              <a:buFont typeface="Arial"/>
              <a:buChar char="•"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sng" dirty="0">
                <a:solidFill>
                  <a:srgbClr val="20396D"/>
                </a:solidFill>
                <a:latin typeface="Book Antiqua"/>
              </a:rPr>
              <a:t>LS </a:t>
            </a: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Electric：产品线最宽但利润率偏低</a:t>
            </a:r>
            <a:r>
              <a:rPr lang="zh-CN" altLang="en-US" sz="1200" b="1" u="sng" dirty="0">
                <a:solidFill>
                  <a:srgbClr val="20396D"/>
                </a:solidFill>
                <a:latin typeface="Book Antiqua"/>
              </a:rPr>
              <a:t>：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三家中利润率最低，因为产品线覆盖从中低压到高压，平均ASP被稀释。但宽产品线使其在EPC整包竞标中更有优势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043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中国出海玩家矩阵：特变规模最大，中国西电技术最强，思源海外增速最快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41251"/>
            <a:ext cx="9756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dirty="0" err="1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注：特变受多晶硅拖累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,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 所有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PE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均为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2026E Bloomberg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共识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Forward PE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；股价来源</a:t>
            </a:r>
            <a:r>
              <a:rPr lang="en-US" altLang="zh-CN" sz="800" i="1" dirty="0" err="1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yfinance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截至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2026-03-31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收盘价；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EPS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来源：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Bloomberg/</a:t>
            </a:r>
            <a:r>
              <a:rPr lang="en-US" altLang="zh-CN" sz="800" i="1" dirty="0" err="1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yfinance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 consensus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。思源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2025A EPS=3.52(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已公告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)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，</a:t>
            </a:r>
            <a:r>
              <a:rPr lang="en-US" altLang="zh-CN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2026E EPS=6.45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。</a:t>
            </a:r>
            <a:endParaRPr sz="800" dirty="0">
              <a:solidFill>
                <a:schemeClr val="bg1">
                  <a:lumMod val="50000"/>
                </a:schemeClr>
              </a:solidFill>
              <a:latin typeface="Book Antiqua" panose="02040602050305030304" pitchFamily="18" charset="0"/>
            </a:endParaRPr>
          </a:p>
          <a:p>
            <a:pPr algn="l"/>
            <a:r>
              <a:rPr sz="800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Source: Company Reports; Bloomberg 2025E Consensus; Goldman Sachs (Mar-2026);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355F"/>
                </a:solidFill>
                <a:latin typeface="Book Antiqua"/>
              </a:rPr>
              <a:t>中国主要HV输变电设备出海企业综合矩阵（2025E数据）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817307"/>
              </p:ext>
            </p:extLst>
          </p:nvPr>
        </p:nvGraphicFramePr>
        <p:xfrm>
          <a:off x="438912" y="1600200"/>
          <a:ext cx="7443211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7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24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公司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/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代码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营收/YoY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综合毛利率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海外占比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海外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毛利率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核心出海市场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Fwd PE (26E)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思源电气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
002028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~200亿E/+30%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~32%(GIS 36%)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~25-30%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37%+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70+国/中东/US DC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~31x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特变电工
600089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~1,050亿E/+7%*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~17%(变压器~18%)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沙特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/</a:t>
                      </a:r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中亚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/</a:t>
                      </a:r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中东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~21x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中国西电
601179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~250亿E/+13%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~22%(开关27%)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~36%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土耳其/意大利/中东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~41x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平高电气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
600312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~145亿E/+17%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~25%(高压&gt;26%)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快速增长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意大利/墨西哥/非洲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~18x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保变电气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
600550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~70亿E/中高增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13-17%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极低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国内为主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35819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478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出海玩家深度评估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chemeClr val="tx2"/>
                </a:solidFill>
                <a:latin typeface="Book Antiqua"/>
              </a:rPr>
              <a:t>一梯队： 思源电气</a:t>
            </a:r>
            <a:endParaRPr sz="1200" b="1" dirty="0">
              <a:solidFill>
                <a:schemeClr val="tx2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海外收</a:t>
            </a:r>
            <a:r>
              <a:rPr lang="en-US" sz="1200" b="0" dirty="0">
                <a:solidFill>
                  <a:srgbClr val="303030"/>
                </a:solidFill>
                <a:latin typeface="Book Antiqua"/>
              </a:rPr>
              <a:t>入占比第一且快速提升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，毛利率37.06%，PEG 0.85。GIS交期6-12个月（vs全球120周），是交期竞争力最强的标的。已在70+国家获认证，五大区域均衡分布降低地缘风险</a:t>
            </a:r>
          </a:p>
          <a:p>
            <a:pPr marL="180000" indent="-90000">
              <a:buFont typeface="Arial"/>
              <a:buChar char="•"/>
            </a:pPr>
            <a:r>
              <a:rPr sz="1200" b="1" dirty="0">
                <a:solidFill>
                  <a:srgbClr val="20396D"/>
                </a:solidFill>
                <a:latin typeface="Book Antiqua"/>
              </a:rPr>
              <a:t>管理层系统性保守：</a:t>
            </a:r>
            <a:r>
              <a:rPr sz="1200" dirty="0">
                <a:latin typeface="Book Antiqua"/>
              </a:rPr>
              <a:t>过去5年订单/营收目标兑现率100-110%，Street共识持续被动追赶。Citi TP 260 CNY (+29%上行)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chemeClr val="tx2"/>
                </a:solidFill>
                <a:latin typeface="Book Antiqua"/>
              </a:rPr>
              <a:t>二梯队： TBEA / 中国西电</a:t>
            </a:r>
            <a:endParaRPr sz="1200" b="1" u="sng" dirty="0">
              <a:solidFill>
                <a:schemeClr val="tx2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TBEA：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全球最大产能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(500 GVA)，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沙特SEC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 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164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亿元大单+沙特建厂计划。EPC总承包能力无人能及，但整体毛利被多晶硅业务拖累(变压器板块本身+21%/毛利率+1.93pct)</a:t>
            </a:r>
          </a:p>
          <a:p>
            <a:pPr marL="180000" indent="-90000">
              <a:buFont typeface="Arial"/>
              <a:buChar char="•"/>
            </a:pPr>
            <a:r>
              <a:rPr sz="1200" b="1" dirty="0">
                <a:solidFill>
                  <a:srgbClr val="20396D"/>
                </a:solidFill>
                <a:latin typeface="Book Antiqua"/>
              </a:rPr>
              <a:t>中国西电：</a:t>
            </a:r>
            <a:r>
              <a:rPr sz="1200" dirty="0">
                <a:latin typeface="Book Antiqua"/>
              </a:rPr>
              <a:t>特高压换流变份额27%全国第一，唯一跑通±1100kV最高电压等级。Fwd PE已重估至~41x(26E)，技术壁垒最强，HVDC出海突破是重要催化剂，西安产业园2025.10已投产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548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出海路径：中东已突破，欧洲逐步渗透，美国关税实质封闭，认证是最硬门槛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USTR Section 301 tariff schedules; IEC/ANSI certification requirements; Metro Analysis; 思源电气年报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中国HV输变电设备出海市场可进入性矩阵（2026年3月）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926415"/>
              </p:ext>
            </p:extLst>
          </p:nvPr>
        </p:nvGraphicFramePr>
        <p:xfrm>
          <a:off x="438912" y="1600200"/>
          <a:ext cx="74432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6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目标市场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关税壁垒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认证周期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当前渗透率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代表案例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短期（1-2年）机会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中东（沙特/卡塔尔）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基本无关税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相对简单（IEC为主）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中</a:t>
                      </a:r>
                      <a:endParaRPr lang="en-US"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（</a:t>
                      </a:r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快速增长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）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特变164亿沙特大单；思源沙特设厂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★★★★（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但</a:t>
                      </a:r>
                      <a:r>
                        <a:rPr lang="zh-CN" alt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有</a:t>
                      </a:r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战争风险</a:t>
                      </a:r>
                      <a:r>
                        <a:rPr lang="zh-CN" altLang="en-US"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）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东南亚/南亚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低关税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IEC认证，12-18月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中高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越南/印度电网建设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★★★★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非洲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低/无关税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宽松，18-24月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较高（早期进入）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中非、东非电网项目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★★★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欧洲（西欧）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无关税（WTO）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IEC/CE认证，18-36月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低（增长中）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思源进入英/意/科威特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★★★（</a:t>
                      </a:r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长期看好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美国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接近100%关税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ANSI/IEEE，3-5年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极低（&lt;5%）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网络安全+NERC壁垒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★（</a:t>
                      </a:r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短期封死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）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日本/韩国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贸易壁垒+JIS标准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5-7年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接近0%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★（</a:t>
                      </a:r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战略性不关注</a:t>
                      </a:r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1371600"/>
            <a:ext cx="35478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认证壁垒与市场选择</a:t>
            </a:r>
            <a:r>
              <a:rPr sz="1200" b="1" u="none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市场可进入性决定出海节奏</a:t>
            </a:r>
            <a:r>
              <a:rPr lang="zh-CN" altLang="en-US" sz="1200" b="1" u="sng" dirty="0">
                <a:solidFill>
                  <a:srgbClr val="20396D"/>
                </a:solidFill>
                <a:latin typeface="Book Antiqua"/>
              </a:rPr>
              <a:t>：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六大目标市场可进入性呈梯度分布：中东 IEC认证+低关税+EPC模式匹配 → 东南亚IEC认证12-18月→ 非洲→ 欧洲 长期看好但认证18-36月→ 美国100%关税封堵直接出口（转口路径存在）→ 日韩 JIS标准5-7年</a:t>
            </a:r>
          </a:p>
          <a:p>
            <a:pPr marL="180000" indent="-90000">
              <a:buFont typeface="Arial"/>
              <a:buChar char="•"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认证是最硬门槛</a:t>
            </a:r>
            <a:r>
              <a:rPr lang="zh-CN" altLang="en-US" sz="1200" b="1" u="sng" dirty="0">
                <a:solidFill>
                  <a:srgbClr val="20396D"/>
                </a:solidFill>
                <a:latin typeface="Book Antiqua"/>
              </a:rPr>
              <a:t>：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思源已获IEC+70国认证，TBEA通过沙特SEC认证，2023-25年欧洲/中东客户认证速度明显加快。认证一旦获得，客户转换成本极高（重新认证1-3年）——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先发认证优势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=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长期护城河</a:t>
            </a:r>
            <a:endParaRPr lang="en-US" sz="120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endParaRPr lang="en-US" sz="1200" b="1" u="sng" dirty="0">
              <a:solidFill>
                <a:srgbClr val="303030"/>
              </a:solidFill>
              <a:latin typeface="Book Antiqua"/>
            </a:endParaRPr>
          </a:p>
          <a:p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市场准入</a:t>
            </a:r>
            <a:r>
              <a:rPr lang="zh-CN" altLang="en-US" sz="1200" b="1" u="sng" dirty="0">
                <a:solidFill>
                  <a:srgbClr val="20396D"/>
                </a:solidFill>
                <a:latin typeface="Book Antiqua"/>
              </a:rPr>
              <a:t>情况：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none" dirty="0">
                <a:solidFill>
                  <a:srgbClr val="20396D"/>
                </a:solidFill>
                <a:latin typeface="Book Antiqua"/>
              </a:rPr>
              <a:t>美国：100%关税+ANSI/IEEE认证3-5年+NERC审查=三重高壁垒。直接出口受阻，但转口路径（越南/墨西哥组装）短期仍存，2026 1-2月对美出口+182% YoY（体量仍小）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欧洲：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IEC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/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CE认证互认度高，思源已进入英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/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意市场，但竞争激烈度高于中东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740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思源股份：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GIS第一大收入来源（44%）且毛利率最高（36%），750kV突破打破国企垄断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思源电气2024年报; Citi Research模型; 国网招标数据; Metro Analysis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8912" y="1298448"/>
            <a:ext cx="109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3030"/>
                </a:solidFill>
                <a:latin typeface="Book Antiqua"/>
              </a:rPr>
              <a:t>思源电气收入结构拆分及关键指标 (USD M)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28520"/>
              </p:ext>
            </p:extLst>
          </p:nvPr>
        </p:nvGraphicFramePr>
        <p:xfrm>
          <a:off x="438912" y="1554480"/>
          <a:ext cx="7400000" cy="2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437831"/>
              </p:ext>
            </p:extLst>
          </p:nvPr>
        </p:nvGraphicFramePr>
        <p:xfrm>
          <a:off x="438912" y="3900000"/>
          <a:ext cx="7399997" cy="2272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246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2022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2023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2024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2025E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总收入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(USD M)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1,395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1,743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2,161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2,837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核心业务增速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+18%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+25%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+24%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+31%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运营利润率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~14%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~15%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~16%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~17%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毛利率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~28%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~29%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31.2%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~32%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净利率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~11%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~12%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~14%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ROIC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~14%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~16%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~18%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~20%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Backlog (USD M)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~3,500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~4,50</a:t>
                      </a:r>
                      <a:r>
                        <a:rPr lang="en-US" altLang="zh-CN"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0</a:t>
                      </a:r>
                      <a:endParaRPr sz="9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Note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750kV GIS首中标国网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4" name="Connector 13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371600"/>
            <a:ext cx="3547872" cy="225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00355F"/>
                </a:solidFill>
                <a:latin typeface="Book Antiqua"/>
              </a:rPr>
              <a:t>GIS核心投资逻辑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: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收入结构: GIS占思源44%收入，毛利率36%为全产品线最高——GIS是利润引擎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750kV突破: 2024H2首次中标国网超高压GIS（3个间隔），2025H1成功交付，打破国企垄断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中东拉动: 沙漠环境强制采用全封闭GIS方案，GIS占中东EPC总价25-32%，远高于中国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b="0" dirty="0" err="1">
                <a:solidFill>
                  <a:srgbClr val="303030"/>
                </a:solidFill>
                <a:latin typeface="Book Antiqua"/>
              </a:rPr>
              <a:t>整包vs.单品逻辑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EPC交钥匙: 中东/非洲/拉美采购整套变电站，GIS+变压器+保护一体交付，思源是少数具备完整EPC能力的中国厂商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5802199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 dirty="0">
                <a:solidFill>
                  <a:srgbClr val="00355F"/>
                </a:solidFill>
                <a:latin typeface="Book Antiqua"/>
              </a:rPr>
              <a:t>特变电工：全球最大产能500GVA，沙特SEC 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164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亿大单，多晶硅亏损拖累净利率3.7%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707070"/>
                </a:solidFill>
                <a:latin typeface="Book Antiqua"/>
              </a:rPr>
              <a:t>Source: TBEA 2024 Annual Report; Wind数据; Saudi Gulf Projects;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109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3030"/>
                </a:solidFill>
                <a:latin typeface="Book Antiqua"/>
              </a:rPr>
              <a:t>特变电工收入结构拆分及关键指标 (USD M)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575993"/>
              </p:ext>
            </p:extLst>
          </p:nvPr>
        </p:nvGraphicFramePr>
        <p:xfrm>
          <a:off x="438912" y="1554480"/>
          <a:ext cx="7400000" cy="2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280499"/>
              </p:ext>
            </p:extLst>
          </p:nvPr>
        </p:nvGraphicFramePr>
        <p:xfrm>
          <a:off x="438912" y="3822200"/>
          <a:ext cx="7399997" cy="2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11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2022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2023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2024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2025E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总收入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(USD M)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15,245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13,720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13,692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~14,643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输变电收入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(USD M)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3,906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5,168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6,012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~6,920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输变电增速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+32%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+16%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+15%E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整体毛利率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27.3%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18.1%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18.1%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~19%E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整体净利率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14.4%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10.7%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3.7%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~5%E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ROIC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~12%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~7%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3.67%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~5%E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变压器产能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(GVA)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500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112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沙特SEC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EPC(USD M)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~2,294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1371600"/>
            <a:ext cx="3547872" cy="36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00355F"/>
                </a:solidFill>
                <a:latin typeface="Book Antiqua"/>
              </a:rPr>
              <a:t>特变电工全景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:</a:t>
            </a:r>
          </a:p>
          <a:p>
            <a:pPr>
              <a:spcBef>
                <a:spcPts val="200"/>
              </a:spcBef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新疆变压器厂到全球巨头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latin typeface="Book Antiqua"/>
              </a:rPr>
              <a:t>1949年起步：1993年改制，2007年上交所。从10-35kV→500kV</a:t>
            </a:r>
          </a:p>
          <a:p>
            <a:pPr>
              <a:spcBef>
                <a:spcPts val="200"/>
              </a:spcBef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收入结构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：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输变电~44% vs 多晶硅~25%：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变压器+21%/毛利率+1.93pct表现优秀。</a:t>
            </a:r>
            <a:endParaRPr lang="en-US" sz="1200" dirty="0">
              <a:solidFill>
                <a:srgbClr val="303030"/>
              </a:solidFill>
              <a:latin typeface="Book Antiqua"/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多晶硅（成本¥5.1万&gt;售价¥3.9万/吨）拖累净利率14.4%→3.7%</a:t>
            </a:r>
          </a:p>
          <a:p>
            <a:pPr>
              <a:spcBef>
                <a:spcPts val="200"/>
              </a:spcBef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出海：沙特核心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SEC </a:t>
            </a:r>
            <a:r>
              <a:rPr lang="en-US" altLang="zh-CN" sz="1200" b="1" dirty="0">
                <a:solidFill>
                  <a:srgbClr val="00355F"/>
                </a:solidFill>
                <a:latin typeface="Book Antiqua"/>
              </a:rPr>
              <a:t>164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亿380kV变电站EPC：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沙特首个EPC项目锚定Vision 2030。沙特建厂推进中。EPC能力中国厂商无人能及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ROIC 3.67%=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周期低点。多晶硅减亏或剥离后变压器盈利将释放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——"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多晶硅折价"可能过度</a:t>
            </a:r>
            <a:endParaRPr sz="1200" dirty="0">
              <a:solidFill>
                <a:srgbClr val="303030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641316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西门子能源Grid Tech：收入增长34%，利润率10.5%→15.8%，Backlog €1230亿创新高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707070"/>
                </a:solidFill>
                <a:latin typeface="Book Antiqua"/>
              </a:rPr>
              <a:t>Source: Siemens Energy Annual Report FY2024/FY2025; Earnings Release Q2 FY2025;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109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3030"/>
                </a:solidFill>
                <a:latin typeface="Book Antiqua"/>
              </a:rPr>
              <a:t>Siemens Energy Grid Technologies收入拆分及关键指标 (USD M)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554876"/>
              </p:ext>
            </p:extLst>
          </p:nvPr>
        </p:nvGraphicFramePr>
        <p:xfrm>
          <a:off x="438912" y="1554480"/>
          <a:ext cx="7400000" cy="2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463708"/>
              </p:ext>
            </p:extLst>
          </p:nvPr>
        </p:nvGraphicFramePr>
        <p:xfrm>
          <a:off x="438912" y="3900000"/>
          <a:ext cx="7399997" cy="2272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246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FY2023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FY2024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FY2025 H1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FY2025E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GT收入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(USD M)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~7,600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~10,200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~12,600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GT收入增速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+34%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+25.4%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+23-25%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GT运营利润率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10.5%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15.8%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10-12%指引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总Backlog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(USD M)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~121,000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~133,000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~146,000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Book-to-Bill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2.0x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&gt;1.5x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纽伦堡扩产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€2.2亿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+50%产能,2028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Charlotte </a:t>
                      </a:r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NC新厂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$1.5亿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+$4.21亿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2027投产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Note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2020年从Siemens AG分拆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1371600"/>
            <a:ext cx="3547872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00355F"/>
                </a:solidFill>
                <a:latin typeface="Book Antiqua"/>
              </a:rPr>
              <a:t>西门子能源的转型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: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背景：2020年从Siemens </a:t>
            </a:r>
            <a:r>
              <a:rPr sz="1200" b="1" dirty="0" err="1">
                <a:solidFill>
                  <a:srgbClr val="00355F"/>
                </a:solidFill>
                <a:latin typeface="Book Antiqua"/>
              </a:rPr>
              <a:t>AG分拆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2020年9月分拆上市：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Siemens AG将55%股权分配给股东。初期受Gamesa风电亏损拖累（FY2024亏€17.8亿），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但Grid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 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Tech成为利润引擎</a:t>
            </a:r>
            <a:endParaRPr sz="1200" dirty="0">
              <a:solidFill>
                <a:srgbClr val="303030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Grid </a:t>
            </a:r>
            <a:r>
              <a:rPr sz="1200" b="1" dirty="0" err="1">
                <a:solidFill>
                  <a:srgbClr val="00355F"/>
                </a:solidFill>
                <a:latin typeface="Book Antiqua"/>
              </a:rPr>
              <a:t>Tech：利润率飙升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FY2024利润率10.5%→FY2025 H1 15.8%（+530bps）：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Q2 FY2025订单€52亿（+41.6%），收入€28.6亿（+33.7%），Book-to-Bill 2.0x</a:t>
            </a:r>
          </a:p>
          <a:p>
            <a:pPr>
              <a:spcBef>
                <a:spcPts val="200"/>
              </a:spcBef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扩产：谨慎但加速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纽伦堡（运营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&gt;110年）：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€2.2亿+50%产能，2028投产。Charlotte NC：$1.5亿+$4.21亿追加，500新岗位。增量2027-2028释放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Grid Tech若独立ROIC应15%+，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被风电拖累形成估值折价。扩产谨慎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=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中国出海窗口更长</a:t>
            </a:r>
            <a:endParaRPr sz="1200" dirty="0">
              <a:solidFill>
                <a:srgbClr val="303030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009955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GE Vernova Electrification：收入$75亿+18%，Backlog $300→$600亿翻倍目标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707070"/>
                </a:solidFill>
                <a:latin typeface="Book Antiqua"/>
              </a:rPr>
              <a:t>Source: GE Vernova FY2024 Annual Report; Q4 2024 Earnings; Investor Day 2025;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109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3030"/>
                </a:solidFill>
                <a:latin typeface="Book Antiqua"/>
              </a:rPr>
              <a:t>GE Vernova Electrification收入拆分及关键指标 (USD M)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545606"/>
              </p:ext>
            </p:extLst>
          </p:nvPr>
        </p:nvGraphicFramePr>
        <p:xfrm>
          <a:off x="438912" y="1554480"/>
          <a:ext cx="7400000" cy="2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346226"/>
              </p:ext>
            </p:extLst>
          </p:nvPr>
        </p:nvGraphicFramePr>
        <p:xfrm>
          <a:off x="438912" y="3900000"/>
          <a:ext cx="7399997" cy="2088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11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FY2023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FY2024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FY2025E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FY2028E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Elect.收入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(USD M)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6,400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7,500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~13,500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收入增速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+17%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+80%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EBITDA利润率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~3.5%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9.0%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11-13%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22%目标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Backlog (USD M)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~30,000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~60,000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Book-to-Bill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2.5x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Grid Q4 EBITDA%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13.0%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11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Note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2024年4月从GE分拆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1371600"/>
            <a:ext cx="359359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355F"/>
                </a:solidFill>
                <a:latin typeface="Book Antiqua"/>
              </a:rPr>
              <a:t>GE </a:t>
            </a:r>
            <a:r>
              <a:rPr sz="1200" b="1" dirty="0" err="1">
                <a:solidFill>
                  <a:srgbClr val="00355F"/>
                </a:solidFill>
                <a:latin typeface="Book Antiqua"/>
              </a:rPr>
              <a:t>Vernova的定位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: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背景：2024年4月从GE分拆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2024年4月NYSE上市(GEV)：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三大业务Power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($181亿)、Wind(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亏损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)、Electrification($75亿)。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Electrification增长最快</a:t>
            </a:r>
            <a:endParaRPr sz="1200" dirty="0">
              <a:solidFill>
                <a:srgbClr val="303030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Electrification利润率爆发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EBITDA从~3.5%→9.0%（+530bps）：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Q4 Grid Solutions达13%。目标FY2028 22%。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收购Prolec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 GE+$30亿年增收入。Backlog翻倍$600亿</a:t>
            </a:r>
          </a:p>
          <a:p>
            <a:pPr>
              <a:spcBef>
                <a:spcPts val="200"/>
              </a:spcBef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HVDC + </a:t>
            </a:r>
            <a:r>
              <a:rPr sz="1200" b="1" dirty="0" err="1">
                <a:solidFill>
                  <a:srgbClr val="00355F"/>
                </a:solidFill>
                <a:latin typeface="Book Antiqua"/>
              </a:rPr>
              <a:t>数字电网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2024 Q4德国+韩国两个HVDC大单：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HVDC开关可靠性是传统5倍。$90亿2028累计投资。北美$6亿以Gas Power为主，电网仅$2000万——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选择性扩产</a:t>
            </a:r>
            <a:endParaRPr sz="1200" dirty="0">
              <a:solidFill>
                <a:srgbClr val="303030"/>
              </a:solidFill>
              <a:latin typeface="Book Antiqua"/>
            </a:endParaRP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Book-to-Bill 2.5x全行业最高——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HVDC和数字电网订单能见度极强。风险：Wind持续亏损拖累</a:t>
            </a:r>
            <a:endParaRPr sz="1200" dirty="0">
              <a:solidFill>
                <a:srgbClr val="303030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4046915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HD现代电气：收入3年+58%，营业利润率6.3%→24.4%，北美收入$17.8亿占47%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707070"/>
                </a:solidFill>
                <a:latin typeface="Book Antiqua"/>
              </a:rPr>
              <a:t>Source: HD Hyundai Electric 2024 Annual Report; Company IR; Business Korea;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109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3030"/>
                </a:solidFill>
                <a:latin typeface="Book Antiqua"/>
              </a:rPr>
              <a:t>HD现代电气收入结构拆分及关键指标 (USD M)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10204"/>
              </p:ext>
            </p:extLst>
          </p:nvPr>
        </p:nvGraphicFramePr>
        <p:xfrm>
          <a:off x="438912" y="1554480"/>
          <a:ext cx="7400000" cy="2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015707"/>
              </p:ext>
            </p:extLst>
          </p:nvPr>
        </p:nvGraphicFramePr>
        <p:xfrm>
          <a:off x="438912" y="3900000"/>
          <a:ext cx="7399997" cy="2272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246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2022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2023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2024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2025E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总收入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(USD M)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1,556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2,000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2,459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~3,111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收入增速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+29%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+23%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+27%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营业利润率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6.3%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11.7%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24.4%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~25%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03030"/>
                          </a:solidFill>
                          <a:latin typeface="Book Antiqua"/>
                        </a:rPr>
                        <a:t>北美收入 (USD M)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390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1,100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1,780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~2,30</a:t>
                      </a:r>
                      <a:r>
                        <a:rPr lang="en-US" altLang="zh-CN"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0</a:t>
                      </a:r>
                      <a:endParaRPr sz="9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北美占比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~20%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~38%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~47%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~50%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订单积压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(USD M)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~7,400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~9,244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排至2031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67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Alabama二厂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规划中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开工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2028投产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6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Notes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2017年从现代重工独立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1371600"/>
            <a:ext cx="354787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355F"/>
                </a:solidFill>
                <a:latin typeface="Book Antiqua"/>
              </a:rPr>
              <a:t>HD现代电气深度: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背景与历程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1977年成立：</a:t>
            </a:r>
            <a:r>
              <a:rPr sz="1200">
                <a:solidFill>
                  <a:srgbClr val="303030"/>
                </a:solidFill>
                <a:latin typeface="Book Antiqua"/>
              </a:rPr>
              <a:t>现代重工电气事业部，2017年独立上市。累计70+国家交付120+万kVA变压器。隶属HD现代集团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利润率爆发路径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6.3%→20.1%驱动力：北美占比20%→47%，美国主变价格5-8倍。Alabama唯一765kV本土产能。利润+407%远超收入+58%——产品组合升级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核心优势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765kV壁垒+美国本土：</a:t>
            </a:r>
            <a:r>
              <a:rPr sz="1200">
                <a:solidFill>
                  <a:srgbClr val="303030"/>
                </a:solidFill>
                <a:latin typeface="Book Antiqua"/>
              </a:rPr>
              <a:t>Alabama二厂(312,000sqft)2028投产+50%产能。订单排至2031——6年能见度极为罕见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03030"/>
                </a:solidFill>
                <a:latin typeface="Book Antiqua"/>
              </a:rPr>
              <a:t>风险：北美47%过度集中，关税政策或本土产能释放可能收窄溢价</a:t>
            </a:r>
          </a:p>
        </p:txBody>
      </p:sp>
    </p:spTree>
    <p:extLst>
      <p:ext uri="{BB962C8B-B14F-4D97-AF65-F5344CB8AC3E}">
        <p14:creationId xmlns:p14="http://schemas.microsoft.com/office/powerpoint/2010/main" val="512504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孝星重工：HVDC差异化，Memphis 765kV本土产能，HICO北美扭亏至~$30M盈利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707070"/>
                </a:solidFill>
                <a:latin typeface="Book Antiqua"/>
              </a:rPr>
              <a:t>Source: Hyosung Heavy 2024 Annual Report; KED Global; Transformer Magazine;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109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3030"/>
                </a:solidFill>
                <a:latin typeface="Book Antiqua"/>
              </a:rPr>
              <a:t>孝星重工收入结构拆分及关键指标 (USD M)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62925"/>
              </p:ext>
            </p:extLst>
          </p:nvPr>
        </p:nvGraphicFramePr>
        <p:xfrm>
          <a:off x="438912" y="1554480"/>
          <a:ext cx="7400000" cy="2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801636"/>
              </p:ext>
            </p:extLst>
          </p:nvPr>
        </p:nvGraphicFramePr>
        <p:xfrm>
          <a:off x="438912" y="3772416"/>
          <a:ext cx="7399997" cy="239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11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2022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2023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2024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2025E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总收入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(USD M)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2,815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3,164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3,603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~4,418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收入增速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+12%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+14%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+23%E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03030"/>
                          </a:solidFill>
                          <a:latin typeface="Book Antiqua"/>
                        </a:rPr>
                        <a:t>营业利润率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亏损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~4.2%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~5.3%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~7%E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HICO北美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(USD M)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亏损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-8.7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+30.4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持续盈利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Memphis 765kV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运营中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扩产规划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$157M投资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产能翻倍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HVDC昌原工厂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~$217M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2027完工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净利率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(TTM)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~3%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~9%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~10%E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11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Notes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1969年154kV首台超高压变压器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1371600"/>
            <a:ext cx="354787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355F"/>
                </a:solidFill>
                <a:latin typeface="Book Antiqua"/>
              </a:rPr>
              <a:t>孝星重工的差异化: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60年电力设备历史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1969年韩国首台154kV超高压变压器：累计超$6.6B。与HD现代走不同路径——不追量，追HVDC技术差异化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HVDC押注与Memphis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Memphis 765kV本土产能排单至2031：$1.57亿产能翻倍。昌原HVDC厂~$217M（2027完工）。200MW HVDC变压器已开发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利润率爬坡较慢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0355F"/>
                </a:solidFill>
                <a:latin typeface="Book Antiqua"/>
              </a:rPr>
              <a:t>5.3% vs HD现代20.1%：HVDC认证周期3-5年前期投入大。但HICO从亏~$8M→盈~$27M拐点已确认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03030"/>
                </a:solidFill>
                <a:latin typeface="Book Antiqua"/>
              </a:rPr>
              <a:t>还布局氢能（100%氢气发电机2024完成）、ESS、STATCOM——可能"重电+氢能"双轮驱动</a:t>
            </a:r>
          </a:p>
        </p:txBody>
      </p:sp>
    </p:spTree>
    <p:extLst>
      <p:ext uri="{BB962C8B-B14F-4D97-AF65-F5344CB8AC3E}">
        <p14:creationId xmlns:p14="http://schemas.microsoft.com/office/powerpoint/2010/main" val="3883937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中国西电：特高压换流变份额27%第一，唯一±1100kV，西安产业园2025年10月投产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707070"/>
                </a:solidFill>
                <a:latin typeface="Book Antiqua"/>
              </a:rPr>
              <a:t>Source: 中国西电2024年报; Wind数据; CIGRE 2024; 国家电网招标数据;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109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3030"/>
                </a:solidFill>
                <a:latin typeface="Book Antiqua"/>
              </a:rPr>
              <a:t>中国西电收入结构拆分及关键指标 (USD M)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345247"/>
              </p:ext>
            </p:extLst>
          </p:nvPr>
        </p:nvGraphicFramePr>
        <p:xfrm>
          <a:off x="438912" y="1554480"/>
          <a:ext cx="7400000" cy="2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939207"/>
              </p:ext>
            </p:extLst>
          </p:nvPr>
        </p:nvGraphicFramePr>
        <p:xfrm>
          <a:off x="438913" y="3822200"/>
          <a:ext cx="7397497" cy="2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1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1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3750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指标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2022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2023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2024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2025E</a:t>
                      </a:r>
                    </a:p>
                  </a:txBody>
                  <a:tcPr marL="45720" marR="45720" marT="18288" marB="18288"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总收入</a:t>
                      </a:r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(USD M)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2,769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2,965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3,101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~3,357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收入增速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+7.1%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+5.6%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+7.6%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毛利率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~20%</a:t>
                      </a:r>
                    </a:p>
                  </a:txBody>
                  <a:tcPr marL="45720" marR="45720" marT="18288" marB="1828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~21%</a:t>
                      </a:r>
                    </a:p>
                  </a:txBody>
                  <a:tcPr marL="45720" marR="45720" marT="18288" marB="1828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22.4%</a:t>
                      </a:r>
                    </a:p>
                  </a:txBody>
                  <a:tcPr marL="45720" marR="45720" marT="18288" marB="1828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~22%</a:t>
                      </a:r>
                    </a:p>
                  </a:txBody>
                  <a:tcPr marL="45720" marR="45720" marT="18288" marB="1828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净利率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~4.2%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~4.7%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~5%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303030"/>
                          </a:solidFill>
                          <a:latin typeface="Book Antiqua"/>
                        </a:rPr>
                        <a:t>ROIC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~5%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~5.3%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5.6%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~6%</a:t>
                      </a:r>
                    </a:p>
                  </a:txBody>
                  <a:tcPr marL="45720" marR="45720" marT="18288" marB="1828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换流变份额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27%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全国第一</a:t>
                      </a:r>
                    </a:p>
                  </a:txBody>
                  <a:tcPr marL="45720" marR="45720" marT="18288" marB="1828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750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西安产业园</a:t>
                      </a:r>
                      <a:endParaRPr sz="9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规划中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03030"/>
                          </a:solidFill>
                          <a:latin typeface="Book Antiqua"/>
                        </a:rPr>
                        <a:t>在建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2025.10投产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1371600"/>
            <a:ext cx="354787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00355F"/>
                </a:solidFill>
                <a:latin typeface="Book Antiqua"/>
              </a:rPr>
              <a:t>中国西电技术护城河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: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156工程到央企独苗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1959年建厂（一五计划）：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2003年国务院确定为输配电唯一央企。60+子公司，~18,000员工。产品出口~40国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±1100kV全球最高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唯一跑通±1100kV的中国厂商：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换流变+换流阀全球仅三家（ABB/Siemens/</a:t>
            </a:r>
            <a:r>
              <a:rPr sz="1200" dirty="0" err="1">
                <a:solidFill>
                  <a:srgbClr val="303030"/>
                </a:solidFill>
                <a:latin typeface="Book Antiqua"/>
              </a:rPr>
              <a:t>西电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）。国网招标27%第一。昌吉-古泉已商业化运行</a:t>
            </a: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西安产业园2025.10</a:t>
            </a:r>
          </a:p>
          <a:p>
            <a:pPr>
              <a:spcBef>
                <a:spcPts val="200"/>
              </a:spcBef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设计年产值</a:t>
            </a:r>
            <a:r>
              <a:rPr sz="1200" b="1" dirty="0">
                <a:solidFill>
                  <a:srgbClr val="00355F"/>
                </a:solidFill>
                <a:latin typeface="Book Antiqua"/>
              </a:rPr>
              <a:t>&gt;100亿元（现有收入~45%）：</a:t>
            </a:r>
            <a:r>
              <a:rPr sz="1200" dirty="0">
                <a:solidFill>
                  <a:srgbClr val="303030"/>
                </a:solidFill>
                <a:latin typeface="Book Antiqua"/>
              </a:rPr>
              <a:t>高端开关+变压器+电容器。投产后"技术+规模双强"。80,000MVA覆盖110kV至±1100kV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303030"/>
                </a:solidFill>
                <a:latin typeface="Book Antiqua"/>
              </a:rPr>
              <a:t>Fwd PE ~41x（2026E），换流变壁垒最高份额第一。催化：西安产业园已投产+海外HVDC突破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10528"/>
            <a:ext cx="1164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i="1" dirty="0">
                <a:solidFill>
                  <a:srgbClr val="808080"/>
                </a:solidFill>
              </a:rPr>
              <a:t>注：所有PE均为2026E Bloomberg</a:t>
            </a:r>
            <a:r>
              <a:rPr lang="zh-CN" altLang="en-US" sz="650" i="1" dirty="0">
                <a:solidFill>
                  <a:srgbClr val="808080"/>
                </a:solidFill>
              </a:rPr>
              <a:t>共识</a:t>
            </a:r>
            <a:r>
              <a:rPr lang="en-US" sz="650" i="1" dirty="0">
                <a:solidFill>
                  <a:srgbClr val="808080"/>
                </a:solidFill>
              </a:rPr>
              <a:t>Forward</a:t>
            </a:r>
            <a:r>
              <a:rPr sz="650" i="1" dirty="0">
                <a:solidFill>
                  <a:srgbClr val="808080"/>
                </a:solidFill>
              </a:rPr>
              <a:t> PE；股价来源yfinance截至2026-03-31收盘价；EPS来源：Bloomberg/</a:t>
            </a:r>
            <a:r>
              <a:rPr sz="650" i="1" dirty="0" err="1">
                <a:solidFill>
                  <a:srgbClr val="808080"/>
                </a:solidFill>
              </a:rPr>
              <a:t>yfinance</a:t>
            </a:r>
            <a:r>
              <a:rPr sz="650" i="1" dirty="0">
                <a:solidFill>
                  <a:srgbClr val="808080"/>
                </a:solidFill>
              </a:rPr>
              <a:t> consensus。思源2025A EPS=3.52(</a:t>
            </a:r>
            <a:r>
              <a:rPr sz="650" i="1" dirty="0" err="1">
                <a:solidFill>
                  <a:srgbClr val="808080"/>
                </a:solidFill>
              </a:rPr>
              <a:t>已公告</a:t>
            </a:r>
            <a:r>
              <a:rPr sz="650" i="1" dirty="0">
                <a:solidFill>
                  <a:srgbClr val="808080"/>
                </a:solidFill>
              </a:rPr>
              <a:t>)，2026E EPS=6.45。</a:t>
            </a:r>
          </a:p>
        </p:txBody>
      </p:sp>
    </p:spTree>
    <p:extLst>
      <p:ext uri="{BB962C8B-B14F-4D97-AF65-F5344CB8AC3E}">
        <p14:creationId xmlns:p14="http://schemas.microsoft.com/office/powerpoint/2010/main" val="2996492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3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/>
          <p:cNvSpPr txBox="1"/>
          <p:nvPr/>
        </p:nvSpPr>
        <p:spPr>
          <a:xfrm>
            <a:off x="438912" y="576072"/>
            <a:ext cx="10122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chemeClr val="tx2"/>
                </a:solidFill>
                <a:latin typeface="Book Antiqua"/>
              </a:rPr>
              <a:t>思源电气750kV GIS突破+6个月交付周期：中国民企正以技术追赶速度重定义全球高压开关市场</a:t>
            </a:r>
          </a:p>
        </p:txBody>
      </p:sp>
      <p:sp>
        <p:nvSpPr>
          <p:cNvPr id="5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3030"/>
                </a:solidFill>
                <a:latin typeface="Book Antiqua"/>
              </a:rPr>
              <a:t>思源电气核心产品竞争力全景（GIS / 变压器 / SVG / 智能设备）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15"/>
          <p:cNvSpPr txBox="1"/>
          <p:nvPr/>
        </p:nvSpPr>
        <p:spPr>
          <a:xfrm>
            <a:off x="8156448" y="1371600"/>
            <a:ext cx="3547872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00355F"/>
                </a:solidFill>
                <a:latin typeface="Book Antiqua"/>
              </a:rPr>
              <a:t>思源电气核心竞争力解析:</a:t>
            </a: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750kV GIS突破: 2024H2首获国网3间隔750kV GIS订单并于2025H1完成交付，成为继西电、平高之后第三家获得国网特高压GIS认证的企业。规划2-3年内升级至1000kV级别，与ABB/西门子同台竞技。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全球最短交付周期: GIS交货期仅6-12个月，变压器1-2年，而海外同类产品平均100+周（2.5年+）。在2024-2028数据中心+电网扩容窗口期，交付速度=订单溢价，思源具备结构性错配优势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成本结构不可复制: 中国制造成本较韩国低10-15%，较美国低35%+。思源变压器毛利率20-25%但净利率极高（运营/管理费用远低于国际对手）。原材料价格上涨可通过调价机制传导，利润弹性显著。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2025-2027催化剂: ①国网十五五4万亿CapEx（民企龙头直接受益）②港股H股上市融资加速研发③中东/东南亚海外订单突破④100kV+高压产品订单增速25%+⑤750kV GIS放量→毛利率中枢上移。2025前三季度新订单同比+25%，在手订单充沛。</a:t>
            </a:r>
          </a:p>
        </p:txBody>
      </p:sp>
      <p:sp>
        <p:nvSpPr>
          <p:cNvPr id="10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07070"/>
                </a:solidFill>
                <a:latin typeface="Book Antiqua"/>
              </a:rPr>
              <a:t>Source: 思源电气2024年报; 投资者关系材料; 国家电网招标公告; Wood Mackenzie; Metro Analysis</a:t>
            </a:r>
          </a:p>
        </p:txBody>
      </p:sp>
      <p:pic>
        <p:nvPicPr>
          <p:cNvPr id="11" name="Picture 10" descr="gemini_P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00200"/>
            <a:ext cx="7443216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97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>
            <a:normAutofit fontScale="90000"/>
          </a:bodyPr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TBEA西变基地500GVA年产能是GE Vernova全部产能~3×：中国制造规模优势已形成不可逆的成本护城河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TBEA 2024年报; 特变电工投资者关系材料; Wood Mackenzie Transformer Supply Report 2025; Metro Analysis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特变电工（TBEA）西安变压器制造基地全景（全球最大单体变压器工厂）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371600"/>
            <a:ext cx="354787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0396D"/>
                </a:solidFill>
                <a:latin typeface="Book Antiqua"/>
              </a:rPr>
              <a:t>中国制造规模优势解析:</a:t>
            </a:r>
          </a:p>
          <a:p>
            <a:pPr marL="0" indent="0">
              <a:buNone/>
            </a:pPr>
            <a:r>
              <a:rPr sz="1200" b="1">
                <a:solidFill>
                  <a:srgbClr val="20396D"/>
                </a:solidFill>
                <a:latin typeface="Book Antiqua"/>
              </a:rPr>
              <a:t>TBEA西变基地: 占地2,000亩，年产能500 GVA，是全球最大单体变压器制造基地。产线覆盖35kV-1000kV全电压等级，单台最大变压器达1,500MVA，可同时生产100+台大型变压器。</a:t>
            </a:r>
          </a:p>
          <a:p>
            <a:pPr marL="0" indent="0">
              <a:buNone/>
            </a:pPr>
            <a:r>
              <a:rPr sz="1200" b="1">
                <a:solidFill>
                  <a:srgbClr val="20396D"/>
                </a:solidFill>
                <a:latin typeface="Book Antiqua"/>
              </a:rPr>
              <a:t>规模经济壁垒: TBEA变压器原材料采购规模全球第一，取向硅钢年用量超50万吨，采购价较欧美厂商低20-30%。叠加劳动力成本优势，综合制造成本仅为ABB/日立的1/7-1/10。</a:t>
            </a:r>
          </a:p>
          <a:p>
            <a:pPr marL="0" indent="0">
              <a:buNone/>
            </a:pPr>
            <a:r>
              <a:rPr sz="1200" b="1">
                <a:solidFill>
                  <a:srgbClr val="20396D"/>
                </a:solidFill>
                <a:latin typeface="Book Antiqua"/>
              </a:rPr>
              <a:t>交货期优势来自流程: 中国工厂流水线化生产+模块化设计，平均交货期18-24个月，欧美同类产品36-52个月。在2024-2028年供给紧缺窗口期，交货期优势直接等于订单溢价。</a:t>
            </a:r>
          </a:p>
          <a:p>
            <a:pPr marL="0" indent="0">
              <a:buNone/>
            </a:pPr>
            <a:r>
              <a:rPr sz="1200" b="1">
                <a:solidFill>
                  <a:srgbClr val="20396D"/>
                </a:solidFill>
                <a:latin typeface="Book Antiqua"/>
              </a:rPr>
              <a:t>投资壁垒不可复制: 新建一座同等规模工厂需要$3-5B资本投入+5年建设期。美国IRA本地化补贴政策虽然激励新建，但2027年前不会有实质性产能释放，中国的规模优势窗口还有3年以上。</a:t>
            </a: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pic>
        <p:nvPicPr>
          <p:cNvPr id="8" name="Picture 7" descr="tbea_manufactur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00200"/>
            <a:ext cx="7443216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5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>
            <a:normAutofit fontScale="90000"/>
          </a:bodyPr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±800kV HVDC换流站：换流变+换流阀全球仅三家掌握，中国西电是唯一以国产技术跑通±1100kV最高等级的厂商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IV | 竞争格局（深度）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CIGRE 2024; 中国西电年报 2024; ABB Grid Integration White Paper; 国家电网公司; Metro Analysis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±800kV HVDC换流站系统架构（换流变→换流阀→直流滤波→输电塔）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1371600"/>
            <a:ext cx="354787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>
                <a:solidFill>
                  <a:srgbClr val="20396D"/>
                </a:solidFill>
                <a:latin typeface="Book Antiqua"/>
              </a:rPr>
              <a:t>HVDC技术壁垒解析:</a:t>
            </a:r>
          </a:p>
          <a:p>
            <a:pPr marL="0" indent="0">
              <a:buNone/>
            </a:pPr>
            <a:r>
              <a:rPr sz="1200" b="1">
                <a:solidFill>
                  <a:srgbClr val="20396D"/>
                </a:solidFill>
                <a:latin typeface="Book Antiqua"/>
              </a:rPr>
              <a:t>唯一门票技术: ±800kV换流阀需耐受极端电压梯度和热循环，全球仅ABB/日立、西门子能源、中国西电三家完整掌握换流变+换流阀全套技术。单站换流变价值量$40-80M，毛利率35%+，远高于普通变压器。</a:t>
            </a:r>
          </a:p>
          <a:p>
            <a:pPr marL="0" indent="0">
              <a:buNone/>
            </a:pPr>
            <a:r>
              <a:rPr sz="1200" b="1">
                <a:solidFill>
                  <a:srgbClr val="20396D"/>
                </a:solidFill>
                <a:latin typeface="Book Antiqua"/>
              </a:rPr>
              <a:t>中国西电定位: 国家电网特高压工程唯一国产换流变供应商（2009年起），±1100kV全球最高电压等级换流变已投运（昌吉-古泉工程，3,324km）。技术认证=市场准入，不可复制。</a:t>
            </a:r>
          </a:p>
          <a:p>
            <a:pPr marL="0" indent="0">
              <a:buNone/>
            </a:pPr>
            <a:r>
              <a:rPr sz="1200" b="1">
                <a:solidFill>
                  <a:srgbClr val="20396D"/>
                </a:solidFill>
                <a:latin typeface="Book Antiqua"/>
              </a:rPr>
              <a:t>海外市场空间: 巴西、印度、沙特、埃及均在规划±500-800kV HVDC工程，2025-2030年全球HVDC新增市场规模$120B+。中国西电凭国家电网出海，联动系统输出，报价较ABB低30-40%。</a:t>
            </a:r>
          </a:p>
          <a:p>
            <a:pPr marL="0" indent="0">
              <a:buNone/>
            </a:pPr>
            <a:r>
              <a:rPr sz="1200" b="1">
                <a:solidFill>
                  <a:srgbClr val="20396D"/>
                </a:solidFill>
                <a:latin typeface="Book Antiqua"/>
              </a:rPr>
              <a:t>vs 普通变压器差异: HVDC换流变毛利率35%+ vs 普通主变20-25%，ASP高5-8×，且每个工程长期备品备件合同绑定，形成20年+现金流尾巴。是中国西电最核心的估值重塑逻辑。</a:t>
            </a: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pic>
        <p:nvPicPr>
          <p:cNvPr id="8" name="Picture 7" descr="hvdc_converter_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00200"/>
            <a:ext cx="7443216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246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窗口期成立三条件：需求爆发×供给刚性×认证壁垒——当前均成立，但有裂缝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 | 窗口期压力测试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800" b="1" dirty="0">
                <a:solidFill>
                  <a:srgbClr val="303030"/>
                </a:solidFill>
                <a:latin typeface="Book Antiqua"/>
              </a:rPr>
              <a:t>Source: IEA 2024; Wood Mackenzie 2025; Citi Research March 2026; Metro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71600"/>
            <a:ext cx="113111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窗口期定义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 marL="274638" indent="-137319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核心假设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 2024-2028年全球HV输变电设备供需持续失衡，中国厂商凭借成本优势</a:t>
            </a: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，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产能碾压、交期优势50%（15-24月 vs 36月）加速填补海外产能真空。</a:t>
            </a:r>
          </a:p>
          <a:p>
            <a:pPr marL="274638" indent="-137319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三重条件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①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需求侧爆发（老化替换+新能源+AI三叠加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）× ②供给侧刚性（海外扩产3-5年才兑现）× ③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认证壁垒（先发者认证锁定市场准入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）——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三者同时成立，窗口才存在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。</a:t>
            </a:r>
          </a:p>
          <a:p>
            <a:pPr>
              <a:buNone/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当前窗口状态评估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 marL="274638" indent="-137319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需求侧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成立多重因素叠加需求旺盛。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IEA/Wood Mackenzie/Citi三机构数据均支持需求持续增长至2030+。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AI数据中心capex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 2025年+45% 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YoY是最新确认信号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。</a:t>
            </a:r>
          </a:p>
          <a:p>
            <a:pPr marL="274638" indent="-137319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供给侧: 成立但边际减弱。Hitachi/西门子/GE产能扩张正在推进，但2027年前不会显著释放。关键检验点：日立弗吉尼亚工厂2028年投产是否准时。</a:t>
            </a:r>
          </a:p>
          <a:p>
            <a:pPr marL="274638" indent="-137319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认证壁垒: 成立但并非永久。思源70+国家认证、特变沙特SEC资质……先行者已在关键市场建立护城河。但认证不是永久壁垒，新进入者在2-3年内可以追赶。</a:t>
            </a:r>
          </a:p>
          <a:p>
            <a:pPr marL="548640" indent="-274320">
              <a:buFont typeface="Arial"/>
              <a:buChar char="–"/>
            </a:pPr>
            <a:r>
              <a:rPr sz="1200" b="1" dirty="0" err="1">
                <a:solidFill>
                  <a:srgbClr val="707070"/>
                </a:solidFill>
                <a:latin typeface="Book Antiqua"/>
              </a:rPr>
              <a:t>新增风险</a:t>
            </a:r>
            <a:r>
              <a:rPr sz="1200" b="1" dirty="0">
                <a:solidFill>
                  <a:srgbClr val="707070"/>
                </a:solidFill>
                <a:latin typeface="Book Antiqua"/>
              </a:rPr>
              <a:t>: 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中东地缘政治（伊朗冲突升级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）→ 新增地缘风险溢价；美国关税升级（2026年3月USTR对16国新Section 301调查）→ 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韩国出口成本上升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。</a:t>
            </a:r>
          </a:p>
          <a:p>
            <a:pPr>
              <a:buNone/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r>
              <a:rPr sz="1200" b="1" dirty="0" err="1">
                <a:solidFill>
                  <a:srgbClr val="00355F"/>
                </a:solidFill>
                <a:latin typeface="Book Antiqua"/>
              </a:rPr>
              <a:t>最核心的三个压力测试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 marL="274638" indent="-137319">
              <a:buFont typeface="Arial"/>
              <a:buChar char="•"/>
            </a:pPr>
            <a:r>
              <a:rPr sz="1200" b="1" dirty="0">
                <a:solidFill>
                  <a:srgbClr val="20396D"/>
                </a:solidFill>
                <a:latin typeface="Book Antiqua"/>
              </a:rPr>
              <a:t>PT①: 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AI数据中心需求是否过热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？——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需求端最大不确定性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274638" indent="-137319">
              <a:buFont typeface="Arial"/>
              <a:buChar char="•"/>
            </a:pPr>
            <a:r>
              <a:rPr sz="1200" b="1" dirty="0">
                <a:solidFill>
                  <a:srgbClr val="20396D"/>
                </a:solidFill>
                <a:latin typeface="Book Antiqua"/>
              </a:rPr>
              <a:t>PT②: 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日韩欧美产能回流速度是否比预期快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？——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供给端最大不确定性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274638" indent="-137319">
              <a:buFont typeface="Arial"/>
              <a:buChar char="•"/>
            </a:pPr>
            <a:r>
              <a:rPr sz="1200" b="1" dirty="0">
                <a:solidFill>
                  <a:srgbClr val="20396D"/>
                </a:solidFill>
                <a:latin typeface="Book Antiqua"/>
              </a:rPr>
              <a:t>PT③: 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中国厂商面临关税升级+认证壁垒，实际能拿到多少海外市场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？——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竞争端最大不确定性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5DB20D3-8C3B-B2A5-D3DF-73889C88303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063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/>
          <a:lstStyle/>
          <a:p>
            <a:pPr algn="l"/>
            <a:r>
              <a:rPr sz="1800" b="1" dirty="0">
                <a:solidFill>
                  <a:srgbClr val="00355F"/>
                </a:solidFill>
                <a:latin typeface="Book Antiqua"/>
              </a:rPr>
              <a:t>PT①：AI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电力需求真实存在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——</a:t>
            </a:r>
            <a:r>
              <a:rPr sz="1800" b="1" dirty="0" err="1">
                <a:solidFill>
                  <a:srgbClr val="00355F"/>
                </a:solidFill>
                <a:latin typeface="Book Antiqua"/>
              </a:rPr>
              <a:t>物理电力瓶颈先于算力过热发生，刚需属性显著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 | 窗口期压力测试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Company capex disclosures; IEA Energy and AI 2024; Wood Mackenzie 2025;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超大规模厂商Capex承诺 vs 实际变压器交货能力缺口（GW功率估算）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69601"/>
              </p:ext>
            </p:extLst>
          </p:nvPr>
        </p:nvGraphicFramePr>
        <p:xfrm>
          <a:off x="438912" y="1600200"/>
          <a:ext cx="7443216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4787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AI</a:t>
            </a: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需求压力测试结论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r>
              <a:rPr lang="en-US" altLang="zh-CN" sz="1200" b="1" u="sng" dirty="0">
                <a:solidFill>
                  <a:srgbClr val="20396D"/>
                </a:solidFill>
                <a:latin typeface="Book Antiqua"/>
              </a:rPr>
              <a:t>Bear case</a:t>
            </a:r>
            <a:r>
              <a:rPr lang="zh-CN" altLang="en-US" sz="1200" b="1" u="sng" dirty="0">
                <a:solidFill>
                  <a:srgbClr val="20396D"/>
                </a:solidFill>
                <a:latin typeface="Book Antiqua"/>
              </a:rPr>
              <a:t>仍刚需充足</a:t>
            </a:r>
          </a:p>
          <a:p>
            <a:pPr marL="180000" indent="-90000">
              <a:buFont typeface="Arial"/>
              <a:buChar char="•"/>
            </a:pP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多家分析报告显示即使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Bear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 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case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（极端缓慢增速），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2030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年数据中心电力需求仍达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600TWh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，对应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75,000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台大型变压器（年均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7,500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台）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——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这个量级已经足以维持供需紧张</a:t>
            </a:r>
          </a:p>
          <a:p>
            <a:pPr marL="180000" indent="-90000">
              <a:buFont typeface="Arial"/>
              <a:buChar char="•"/>
            </a:pP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AI</a:t>
            </a: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需求与传统金融泡沫的本质区别：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电力是物理刚需而非杠杆融资，不存在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'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泡沫破裂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'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机制。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Google/Meta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等已签署长期购电协议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(PPA)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，需求锁定在前，不可逆转</a:t>
            </a:r>
          </a:p>
          <a:p>
            <a:pPr marL="0" indent="0">
              <a:buNone/>
            </a:pPr>
            <a:endParaRPr lang="zh-CN" alt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lang="zh-CN" altLang="en-US" sz="1200" b="1" u="sng" dirty="0">
                <a:solidFill>
                  <a:srgbClr val="20396D"/>
                </a:solidFill>
                <a:latin typeface="Book Antiqua"/>
              </a:rPr>
              <a:t>破裂概率评估</a:t>
            </a:r>
          </a:p>
          <a:p>
            <a:pPr marL="180000" indent="-90000">
              <a:buFont typeface="Arial"/>
              <a:buChar char="•"/>
            </a:pP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AI</a:t>
            </a: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需求过热的破裂概率较低：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(1)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物理电力瓶颈先于算力过热发生 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(2)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 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DC capex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已签约锁定 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(3)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单机柜功率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10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年增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10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倍趋势不可逆</a:t>
            </a:r>
          </a:p>
          <a:p>
            <a:pPr marL="180000" indent="-90000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更大的风险反而在供给侧：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如果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AI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需求持续超预期（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Bull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 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case 1,300TWh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），供需缺口反而会进一步扩大，中国厂商受益更大</a:t>
            </a:r>
            <a:endParaRPr lang="en-US" altLang="zh-CN" sz="1200" b="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endParaRPr lang="en-US" sz="1200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endParaRPr lang="en-US" sz="1200" b="0" dirty="0">
              <a:solidFill>
                <a:srgbClr val="303030"/>
              </a:solidFill>
              <a:latin typeface="Book Antiqua"/>
            </a:endParaRPr>
          </a:p>
          <a:p>
            <a:pPr marL="90000"/>
            <a:r>
              <a:rPr lang="zh-CN" altLang="en-US" sz="1200" b="1" dirty="0">
                <a:solidFill>
                  <a:schemeClr val="accent3"/>
                </a:solidFill>
                <a:latin typeface="Book Antiqua"/>
              </a:rPr>
              <a:t>但最近几年及其激进的</a:t>
            </a:r>
            <a:r>
              <a:rPr lang="en-US" altLang="zh-CN" sz="1200" b="1" dirty="0">
                <a:solidFill>
                  <a:schemeClr val="accent3"/>
                </a:solidFill>
                <a:latin typeface="Book Antiqua"/>
              </a:rPr>
              <a:t>AI CAPEX </a:t>
            </a:r>
            <a:r>
              <a:rPr lang="zh-CN" altLang="en-US" sz="1200" b="1" dirty="0">
                <a:solidFill>
                  <a:schemeClr val="accent3"/>
                </a:solidFill>
                <a:latin typeface="Book Antiqua"/>
              </a:rPr>
              <a:t>投入已经对</a:t>
            </a:r>
            <a:r>
              <a:rPr lang="en-US" altLang="zh-CN" sz="1200" b="1" dirty="0">
                <a:solidFill>
                  <a:schemeClr val="accent3"/>
                </a:solidFill>
                <a:latin typeface="Book Antiqua"/>
              </a:rPr>
              <a:t>M7</a:t>
            </a:r>
            <a:r>
              <a:rPr lang="zh-CN" altLang="en-US" sz="1200" b="1" dirty="0">
                <a:solidFill>
                  <a:schemeClr val="accent3"/>
                </a:solidFill>
                <a:latin typeface="Book Antiqua"/>
              </a:rPr>
              <a:t>的</a:t>
            </a:r>
            <a:r>
              <a:rPr lang="en-US" altLang="zh-CN" sz="1200" b="1" dirty="0">
                <a:solidFill>
                  <a:schemeClr val="accent3"/>
                </a:solidFill>
                <a:latin typeface="Book Antiqua"/>
              </a:rPr>
              <a:t>FCF</a:t>
            </a:r>
            <a:r>
              <a:rPr lang="zh-CN" altLang="en-US" sz="1200" b="1" dirty="0">
                <a:solidFill>
                  <a:schemeClr val="accent3"/>
                </a:solidFill>
                <a:latin typeface="Book Antiqua"/>
              </a:rPr>
              <a:t>产生了巨大的压力，需要留意未来</a:t>
            </a:r>
            <a:r>
              <a:rPr lang="en-US" altLang="zh-CN" sz="1200" b="1" dirty="0">
                <a:solidFill>
                  <a:schemeClr val="accent3"/>
                </a:solidFill>
                <a:latin typeface="Book Antiqua"/>
              </a:rPr>
              <a:t>AI capex </a:t>
            </a:r>
            <a:r>
              <a:rPr lang="zh-CN" altLang="en-US" sz="1200" b="1" dirty="0">
                <a:solidFill>
                  <a:schemeClr val="accent3"/>
                </a:solidFill>
                <a:latin typeface="Book Antiqua"/>
              </a:rPr>
              <a:t>退潮的</a:t>
            </a:r>
            <a:r>
              <a:rPr lang="en-US" altLang="zh-CN" sz="1200" b="1" dirty="0">
                <a:solidFill>
                  <a:schemeClr val="accent3"/>
                </a:solidFill>
                <a:latin typeface="Book Antiqua"/>
              </a:rPr>
              <a:t>Tail risk</a:t>
            </a:r>
            <a:endParaRPr sz="1200" b="1" dirty="0">
              <a:solidFill>
                <a:schemeClr val="accent3"/>
              </a:solidFill>
              <a:latin typeface="Book Antiqua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5645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30159975-01D4-0E0C-2B4D-215D622431D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159975-01D4-0E0C-2B4D-215D622431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559646" cy="402336"/>
          </a:xfrm>
        </p:spPr>
        <p:txBody>
          <a:bodyPr vert="horz" rIns="91440">
            <a:normAutofit fontScale="90000"/>
          </a:bodyPr>
          <a:lstStyle/>
          <a:p>
            <a:pPr algn="l"/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T</a:t>
            </a:r>
            <a:r>
              <a:rPr lang="en-US" altLang="zh-CN" sz="1800" dirty="0">
                <a:solidFill>
                  <a:srgbClr val="00355F"/>
                </a:solidFill>
                <a:latin typeface="Book Antiqua"/>
              </a:rPr>
              <a:t>ail risk</a:t>
            </a:r>
            <a:r>
              <a:rPr lang="zh-CN" altLang="en-US" sz="1800" dirty="0">
                <a:solidFill>
                  <a:srgbClr val="00355F"/>
                </a:solidFill>
                <a:latin typeface="Book Antiqua"/>
              </a:rPr>
              <a:t>评估</a:t>
            </a:r>
            <a:r>
              <a:rPr lang="en-US" altLang="zh-CN" sz="1800" dirty="0">
                <a:solidFill>
                  <a:srgbClr val="00355F"/>
                </a:solidFill>
                <a:latin typeface="Book Antiqua"/>
              </a:rPr>
              <a:t>: 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过去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3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年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超算5巨头AI </a:t>
            </a:r>
            <a:r>
              <a:rPr sz="1800" b="1" dirty="0" err="1">
                <a:solidFill>
                  <a:srgbClr val="00355F"/>
                </a:solidFill>
                <a:latin typeface="Book Antiqua"/>
              </a:rPr>
              <a:t>CapE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增长激进拖累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FCF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，未来持续性存疑，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26-28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一旦 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AI capex</a:t>
            </a:r>
            <a:r>
              <a:rPr lang="zh-CN" altLang="en-US" sz="1800" dirty="0">
                <a:solidFill>
                  <a:srgbClr val="00355F"/>
                </a:solidFill>
                <a:latin typeface="Book Antiqua"/>
              </a:rPr>
              <a:t>出现放缓迹象，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压力必然传到至电力板块，导致估值压缩，即便是对业绩的实质性影响还需要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2-3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年落地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Source: Amazon Q4'25 (Feb-5-2026); Alphabet Q4'25 (Feb-4-2026); Meta Q4'25 (Jan-28-2026); Microsoft Q1 FY26; Oracle Q2 FY26. † MSFT FY ends Jun-30, 2026E incl. finance leases ($34.9B Q1 FY26 run-rate). ‡ ORCL FY ends May-31, FY26 raised from $35B to $50B.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92460" y="1325880"/>
            <a:ext cx="5584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55F"/>
                </a:solidFill>
                <a:latin typeface="Book Antiqua"/>
              </a:rPr>
              <a:t>年度CapEx ($bn) | 2022–2025 均为已披露实际数 | 2026E = 各公司Q4 2025财报指引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652320"/>
              </p:ext>
            </p:extLst>
          </p:nvPr>
        </p:nvGraphicFramePr>
        <p:xfrm>
          <a:off x="5692460" y="1645635"/>
          <a:ext cx="6057578" cy="1874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7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276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公司</a:t>
                      </a:r>
                      <a:endParaRPr sz="10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2022A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2023A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2024A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Book Antiqua"/>
                        </a:rPr>
                        <a:t>2025A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2026E
(公司指引)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CAGR
'22→'25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4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Amazon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$64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$53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$77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$131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~$200B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+27%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4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Alphabet/Google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$175-185B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+42%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4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Meta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$32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$27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$39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$72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$115-135B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+31%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460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~$145B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+39%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460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Oracle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$6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$14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~$50B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+52%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4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合计 /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$373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~$700B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+34%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92461" y="3680163"/>
            <a:ext cx="6057576" cy="236430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8563" y="3725883"/>
            <a:ext cx="59814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Key Observations: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8563" y="4045923"/>
            <a:ext cx="59814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规模爆炸（超预期）: 2025A合计$373B（已超Sept-2025分析师预期$338B约10%）；2026E公司指引~$700B，较Exhibit 8 $581B再超20%+</a:t>
            </a:r>
            <a:endParaRPr lang="zh-CN" altLang="en-US" sz="1200" dirty="0">
              <a:solidFill>
                <a:srgbClr val="303030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0396D"/>
              </a:solidFill>
              <a:latin typeface="Book Antiqua" panose="020406020503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0396D"/>
                </a:solidFill>
                <a:latin typeface="Book Antiqua" panose="02040602050305030304" pitchFamily="18" charset="0"/>
              </a:rPr>
              <a:t>Google最激进 2x: Alphabet 2026E指引$175-185B是2025A $91B近2倍，远超之前$127B市场预期；AMZN指引$200B同样大幅上修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20396D"/>
              </a:solidFill>
              <a:latin typeface="Book Antiqua" panose="020406020503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20396D"/>
                </a:solidFill>
                <a:latin typeface="Book Antiqua" panose="02040602050305030304" pitchFamily="18" charset="0"/>
              </a:rPr>
              <a:t>FCF剪刀差加速: CapEx CAGR ‘22-’25全线30-52% vs 营收增速10-20%。ORCL单季CapEx $12B(vs预期$8.3B)已直接拖累FCF转负</a:t>
            </a:r>
            <a:endParaRPr lang="en-US" altLang="zh-CN" sz="1200" dirty="0">
              <a:solidFill>
                <a:srgbClr val="303030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TextBox 11" hidden="1"/>
          <p:cNvSpPr txBox="1"/>
          <p:nvPr/>
        </p:nvSpPr>
        <p:spPr>
          <a:xfrm>
            <a:off x="8156448" y="3169920"/>
            <a:ext cx="3593591" cy="147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3" name="TextBox 12" hidden="1"/>
          <p:cNvSpPr txBox="1"/>
          <p:nvPr/>
        </p:nvSpPr>
        <p:spPr>
          <a:xfrm>
            <a:off x="8156448" y="4648200"/>
            <a:ext cx="3593591" cy="147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86B0530-BBB2-FAC8-4F63-2E87F49F7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1325880"/>
            <a:ext cx="5035648" cy="47185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3F140D-76F4-43E4-0EE4-45FAE9D1A678}"/>
              </a:ext>
            </a:extLst>
          </p:cNvPr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VI | 估值 &amp; 风险</a:t>
            </a:r>
          </a:p>
        </p:txBody>
      </p:sp>
    </p:spTree>
    <p:extLst>
      <p:ext uri="{BB962C8B-B14F-4D97-AF65-F5344CB8AC3E}">
        <p14:creationId xmlns:p14="http://schemas.microsoft.com/office/powerpoint/2010/main" val="2113635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PT②：产能回流2027年前不改变格局，但2028+是中国厂商窗口期的真实拐点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 | 窗口期压力测试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Company announcements; Citi Research March 2026; Wood Mackenzie 2025;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海外扩产计划兑现时间线与对全球供需缺口的实际影响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644483"/>
              </p:ext>
            </p:extLst>
          </p:nvPr>
        </p:nvGraphicFramePr>
        <p:xfrm>
          <a:off x="438912" y="1600200"/>
          <a:ext cx="7443199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厂商</a:t>
                      </a:r>
                      <a:endParaRPr sz="12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新增产能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Book Antiqua"/>
                        </a:rPr>
                        <a:t>（GVA）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投产时间</a:t>
                      </a:r>
                      <a:endParaRPr sz="1200" b="1" dirty="0">
                        <a:solidFill>
                          <a:srgbClr val="FFFFFF"/>
                        </a:solidFill>
                        <a:latin typeface="Book Antiqua"/>
                      </a:endParaRP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Book Antiqua"/>
                        </a:rPr>
                        <a:t>2027年前释放?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Book Antiqua"/>
                        </a:rPr>
                        <a:t>影响缺口（GVA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Book Antiqua"/>
                        </a:rPr>
                        <a:t>）</a:t>
                      </a:r>
                    </a:p>
                  </a:txBody>
                  <a:tcPr anchor="ctr"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日立能源</a:t>
                      </a:r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VA工厂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+50 GVA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2028年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否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0 / 2027前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西门子能源</a:t>
                      </a:r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Charlotte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+30 GVA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2027年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部分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+15-20 / 2027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/>
                        </a:rPr>
                        <a:t>GE </a:t>
                      </a:r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Vernova</a:t>
                      </a:r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北美扩产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+40 GVA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2026-28分批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部分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+10-20 / 2027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HD现代</a:t>
                      </a:r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Alabama +30%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+25 GVA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2027年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是（年末）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+20 / 2027末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孝星重工</a:t>
                      </a:r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303030"/>
                          </a:solidFill>
                          <a:latin typeface="Book Antiqua"/>
                        </a:rPr>
                        <a:t>HVDC专厂</a:t>
                      </a:r>
                      <a:endParaRPr sz="1000" b="1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+20 GVA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2028年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否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0 / 2027前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303030"/>
                          </a:solidFill>
                          <a:latin typeface="Book Antiqua"/>
                        </a:rPr>
                        <a:t>合计2027年前可释放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~45-55 GVA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 err="1">
                          <a:solidFill>
                            <a:srgbClr val="303030"/>
                          </a:solidFill>
                          <a:latin typeface="Book Antiqua"/>
                        </a:rPr>
                        <a:t>分批落地</a:t>
                      </a:r>
                      <a:endParaRPr sz="1000" b="0" dirty="0">
                        <a:solidFill>
                          <a:srgbClr val="303030"/>
                        </a:solidFill>
                        <a:latin typeface="Book Antiqu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03030"/>
                          </a:solidFill>
                          <a:latin typeface="Book Antiqua"/>
                        </a:rPr>
                        <a:t>vs 缺口~600 GVA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4787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产能回流时间表评估</a:t>
            </a:r>
            <a:r>
              <a:rPr sz="1200" b="1" u="none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r>
              <a:rPr sz="1200" b="1" u="sng" dirty="0">
                <a:solidFill>
                  <a:srgbClr val="20396D"/>
                </a:solidFill>
                <a:latin typeface="Book Antiqua"/>
              </a:rPr>
              <a:t>2027年前格局确定不变</a:t>
            </a: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2027年前实际可释放的新增产能仅~45-55 GVA——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西门子Charlotte部分投产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(+15-20)、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GE北美分批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(+10-20)、HD 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Alabama年末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(+20)——对比~600 GVA的全球缺口，收窄幅度不到10%</a:t>
            </a:r>
          </a:p>
          <a:p>
            <a:pPr marL="180000" indent="-90000">
              <a:buFont typeface="Arial"/>
              <a:buChar char="•"/>
            </a:pP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日立VA工厂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(+50 GVA)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和孝星HVDC专厂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(+20 GVA)要到2028年才投产，是格局真正改变的时间节点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新建工厂的时间约束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none" dirty="0">
                <a:solidFill>
                  <a:srgbClr val="20396D"/>
                </a:solidFill>
                <a:latin typeface="Book Antiqua"/>
              </a:rPr>
              <a:t>从开工到满产的最短路径：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厂房建设18-36个月+设备安装调试6-12个月+人员培训2-3年+产能爬坡1-2年——即使2025年立即动工，也要2028年才能达产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2803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PT③：中国厂商的真实竞争力不在价格，在"成本×交期×产能弹性"三维优势叠加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 | 窗口期压力测试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800" b="1">
                <a:solidFill>
                  <a:srgbClr val="303030"/>
                </a:solidFill>
                <a:latin typeface="Book Antiqua"/>
              </a:rPr>
              <a:t>Source: USTR tariff schedules; 思源电气年报; Metro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371600"/>
            <a:ext cx="1131112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 b="1" dirty="0" err="1">
                <a:solidFill>
                  <a:srgbClr val="00355F"/>
                </a:solidFill>
                <a:latin typeface="Book Antiqua"/>
              </a:rPr>
              <a:t>中国厂商的三维竞争优势（非单一价格战</a:t>
            </a:r>
            <a:r>
              <a:rPr sz="1400" b="1" dirty="0">
                <a:solidFill>
                  <a:srgbClr val="00355F"/>
                </a:solidFill>
                <a:latin typeface="Book Antiqua"/>
              </a:rPr>
              <a:t>）</a:t>
            </a:r>
          </a:p>
          <a:p>
            <a:pPr marL="274638" indent="-137319">
              <a:buFont typeface="Arial"/>
              <a:buChar char="•"/>
            </a:pPr>
            <a:r>
              <a:rPr sz="1400" b="1" dirty="0" err="1">
                <a:solidFill>
                  <a:srgbClr val="20396D"/>
                </a:solidFill>
                <a:latin typeface="Book Antiqua"/>
              </a:rPr>
              <a:t>成本维度</a:t>
            </a:r>
            <a:r>
              <a:rPr sz="14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sz="1400" b="1" dirty="0" err="1">
                <a:solidFill>
                  <a:srgbClr val="20396D"/>
                </a:solidFill>
                <a:latin typeface="Book Antiqua"/>
              </a:rPr>
              <a:t>主变</a:t>
            </a:r>
            <a:r>
              <a:rPr lang="zh-CN" altLang="en-US" sz="1400" b="1" dirty="0">
                <a:solidFill>
                  <a:srgbClr val="20396D"/>
                </a:solidFill>
                <a:latin typeface="Book Antiqua"/>
              </a:rPr>
              <a:t>成本</a:t>
            </a:r>
            <a:r>
              <a:rPr sz="1400" b="1" dirty="0">
                <a:solidFill>
                  <a:srgbClr val="20396D"/>
                </a:solidFill>
                <a:latin typeface="Book Antiqua"/>
              </a:rPr>
              <a:t>比韩国低10-15%，比美国低</a:t>
            </a:r>
            <a:r>
              <a:rPr lang="en-US" sz="1400" b="1" dirty="0">
                <a:solidFill>
                  <a:srgbClr val="20396D"/>
                </a:solidFill>
                <a:latin typeface="Book Antiqua"/>
              </a:rPr>
              <a:t>60-70%</a:t>
            </a:r>
            <a:r>
              <a:rPr sz="1400" b="1" dirty="0">
                <a:solidFill>
                  <a:srgbClr val="20396D"/>
                </a:solidFill>
                <a:latin typeface="Book Antiqua"/>
              </a:rPr>
              <a:t>。成本优势来自完整供应链（取向硅钢国内自供）+</a:t>
            </a:r>
            <a:r>
              <a:rPr sz="1400" b="1" dirty="0" err="1">
                <a:solidFill>
                  <a:srgbClr val="20396D"/>
                </a:solidFill>
                <a:latin typeface="Book Antiqua"/>
              </a:rPr>
              <a:t>规模效应+土地</a:t>
            </a:r>
            <a:r>
              <a:rPr sz="1400" b="1" dirty="0">
                <a:solidFill>
                  <a:srgbClr val="20396D"/>
                </a:solidFill>
                <a:latin typeface="Book Antiqua"/>
              </a:rPr>
              <a:t>/</a:t>
            </a:r>
            <a:r>
              <a:rPr sz="1400" b="1" dirty="0" err="1">
                <a:solidFill>
                  <a:srgbClr val="20396D"/>
                </a:solidFill>
                <a:latin typeface="Book Antiqua"/>
              </a:rPr>
              <a:t>劳工成本结构，非短期可复制</a:t>
            </a:r>
            <a:r>
              <a:rPr sz="1400" b="1" dirty="0">
                <a:solidFill>
                  <a:srgbClr val="20396D"/>
                </a:solidFill>
                <a:latin typeface="Book Antiqua"/>
              </a:rPr>
              <a:t>。</a:t>
            </a:r>
          </a:p>
          <a:p>
            <a:pPr marL="274638" indent="-137319">
              <a:buFont typeface="Arial"/>
              <a:buChar char="•"/>
            </a:pPr>
            <a:r>
              <a:rPr sz="1400" b="1" dirty="0" err="1">
                <a:solidFill>
                  <a:srgbClr val="20396D"/>
                </a:solidFill>
                <a:latin typeface="Book Antiqua"/>
              </a:rPr>
              <a:t>交期维度</a:t>
            </a:r>
            <a:r>
              <a:rPr sz="14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中国大型变压器交期6-12个月 vs 全球18-36个月 vs 美国</a:t>
            </a:r>
            <a:r>
              <a:rPr lang="en-US" sz="1400" b="0" dirty="0">
                <a:solidFill>
                  <a:srgbClr val="303030"/>
                </a:solidFill>
                <a:latin typeface="Book Antiqua"/>
              </a:rPr>
              <a:t>30-52</a:t>
            </a:r>
            <a:r>
              <a:rPr lang="zh-CN" altLang="en-US" sz="1400" b="0" dirty="0">
                <a:solidFill>
                  <a:srgbClr val="303030"/>
                </a:solidFill>
                <a:latin typeface="Book Antiqua"/>
              </a:rPr>
              <a:t>个月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。</a:t>
            </a:r>
            <a:r>
              <a:rPr sz="1400" b="0" dirty="0" err="1">
                <a:solidFill>
                  <a:srgbClr val="303030"/>
                </a:solidFill>
                <a:latin typeface="Book Antiqua"/>
              </a:rPr>
              <a:t>对于中东Vision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 2030项目（工期紧迫）和新能源并网（抢装期）来说，交期比价格更重要。</a:t>
            </a:r>
          </a:p>
          <a:p>
            <a:pPr marL="274638" indent="-137319">
              <a:buFont typeface="Arial"/>
              <a:buChar char="•"/>
            </a:pPr>
            <a:r>
              <a:rPr sz="1400" b="1" dirty="0" err="1">
                <a:solidFill>
                  <a:srgbClr val="20396D"/>
                </a:solidFill>
                <a:latin typeface="Book Antiqua"/>
              </a:rPr>
              <a:t>产能弹性维度</a:t>
            </a:r>
            <a:r>
              <a:rPr sz="14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中国有全球最大且最集中的变压器制造产能（特变500 </a:t>
            </a:r>
            <a:r>
              <a:rPr sz="1400" b="0" dirty="0" err="1">
                <a:solidFill>
                  <a:srgbClr val="303030"/>
                </a:solidFill>
                <a:latin typeface="Book Antiqua"/>
              </a:rPr>
              <a:t>GVA独占全球第一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），</a:t>
            </a:r>
            <a:r>
              <a:rPr sz="1400" b="0" dirty="0" err="1">
                <a:solidFill>
                  <a:srgbClr val="303030"/>
                </a:solidFill>
                <a:latin typeface="Book Antiqua"/>
              </a:rPr>
              <a:t>可以在获得订单后相对快速地扩产，这是欧美厂商做不到的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。</a:t>
            </a:r>
          </a:p>
          <a:p>
            <a:pPr>
              <a:buNone/>
            </a:pPr>
            <a:endParaRPr lang="en-US" sz="1400" b="1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endParaRPr lang="en-US" sz="1400" b="1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r>
              <a:rPr sz="1400" b="1" dirty="0" err="1">
                <a:solidFill>
                  <a:srgbClr val="00355F"/>
                </a:solidFill>
                <a:latin typeface="Book Antiqua"/>
              </a:rPr>
              <a:t>关税和认证：实际约束与应对</a:t>
            </a:r>
            <a:endParaRPr sz="1400" b="1" dirty="0">
              <a:solidFill>
                <a:srgbClr val="00355F"/>
              </a:solidFill>
              <a:latin typeface="Book Antiqua"/>
            </a:endParaRPr>
          </a:p>
          <a:p>
            <a:pPr marL="274638" indent="-137319">
              <a:buFont typeface="Arial"/>
              <a:buChar char="•"/>
            </a:pPr>
            <a:r>
              <a:rPr sz="1400" b="1" dirty="0" err="1">
                <a:solidFill>
                  <a:srgbClr val="20396D"/>
                </a:solidFill>
                <a:latin typeface="Book Antiqua"/>
              </a:rPr>
              <a:t>美国市场</a:t>
            </a:r>
            <a:r>
              <a:rPr sz="14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约100%综合关税+NERC网络安全审查。实际上2024年中国对美出口&lt;5%，</a:t>
            </a:r>
            <a:r>
              <a:rPr sz="1400" b="0" dirty="0" err="1">
                <a:solidFill>
                  <a:srgbClr val="303030"/>
                </a:solidFill>
                <a:latin typeface="Book Antiqua"/>
              </a:rPr>
              <a:t>已基本让位给韩国和日本。无解，不是中国厂商的主战场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。</a:t>
            </a:r>
          </a:p>
          <a:p>
            <a:pPr marL="274638" indent="-137319">
              <a:buFont typeface="Arial"/>
              <a:buChar char="•"/>
            </a:pPr>
            <a:r>
              <a:rPr sz="1400" b="1" dirty="0" err="1">
                <a:solidFill>
                  <a:srgbClr val="20396D"/>
                </a:solidFill>
                <a:latin typeface="Book Antiqua"/>
              </a:rPr>
              <a:t>欧洲市场</a:t>
            </a:r>
            <a:r>
              <a:rPr sz="14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IEC认证体系与中国高度兼容，无关税壁垒，主要门槛是18-36个月认证周期和品牌认知。思源/</a:t>
            </a:r>
            <a:r>
              <a:rPr sz="1400" b="0" dirty="0" err="1">
                <a:solidFill>
                  <a:srgbClr val="303030"/>
                </a:solidFill>
                <a:latin typeface="Book Antiqua"/>
              </a:rPr>
              <a:t>中国西电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/</a:t>
            </a:r>
            <a:r>
              <a:rPr sz="1400" b="0" dirty="0" err="1">
                <a:solidFill>
                  <a:srgbClr val="303030"/>
                </a:solidFill>
                <a:latin typeface="Book Antiqua"/>
              </a:rPr>
              <a:t>平高已开始突破（英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/意/</a:t>
            </a:r>
            <a:r>
              <a:rPr sz="1400" b="0" dirty="0" err="1">
                <a:solidFill>
                  <a:srgbClr val="303030"/>
                </a:solidFill>
                <a:latin typeface="Book Antiqua"/>
              </a:rPr>
              <a:t>科威特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/</a:t>
            </a:r>
            <a:r>
              <a:rPr sz="1400" b="0" dirty="0" err="1">
                <a:solidFill>
                  <a:srgbClr val="303030"/>
                </a:solidFill>
                <a:latin typeface="Book Antiqua"/>
              </a:rPr>
              <a:t>墨西哥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）。</a:t>
            </a:r>
          </a:p>
          <a:p>
            <a:pPr marL="274638" indent="-137319">
              <a:buFont typeface="Arial"/>
              <a:buChar char="•"/>
            </a:pPr>
            <a:r>
              <a:rPr sz="1400" b="1" dirty="0" err="1">
                <a:solidFill>
                  <a:srgbClr val="20396D"/>
                </a:solidFill>
                <a:latin typeface="Book Antiqua"/>
              </a:rPr>
              <a:t>中东市场</a:t>
            </a:r>
            <a:r>
              <a:rPr sz="14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无关税，IEC认证为主，中国厂商交期优势最突出（18-24月 vs 欧洲3年）。</a:t>
            </a:r>
            <a:r>
              <a:rPr sz="1400" b="0" dirty="0" err="1">
                <a:solidFill>
                  <a:srgbClr val="303030"/>
                </a:solidFill>
                <a:latin typeface="Book Antiqua"/>
              </a:rPr>
              <a:t>已成为中国出海最成功的市场，</a:t>
            </a:r>
            <a:r>
              <a:rPr sz="1400" b="1" dirty="0" err="1">
                <a:solidFill>
                  <a:schemeClr val="accent3"/>
                </a:solidFill>
                <a:latin typeface="Book Antiqua"/>
              </a:rPr>
              <a:t>但需要定价新增的地缘风险溢价</a:t>
            </a:r>
            <a:endParaRPr sz="1400" b="1" dirty="0">
              <a:solidFill>
                <a:schemeClr val="accent3"/>
              </a:solidFill>
              <a:latin typeface="Book Antiqua"/>
            </a:endParaRPr>
          </a:p>
          <a:p>
            <a:pPr marL="548640" indent="-274320">
              <a:buFont typeface="Arial"/>
              <a:buChar char="–"/>
            </a:pPr>
            <a:r>
              <a:rPr sz="1400" b="0" dirty="0" err="1">
                <a:solidFill>
                  <a:srgbClr val="303030"/>
                </a:solidFill>
                <a:latin typeface="Book Antiqua"/>
              </a:rPr>
              <a:t>聚焦中东+东南亚+欧洲三条出海通道，用EPC打包策略（设备+施工+运维）提高客户切换成本，认证积累视为不可逆的市场准入资产</a:t>
            </a:r>
            <a:r>
              <a:rPr sz="1400" b="0" dirty="0">
                <a:solidFill>
                  <a:srgbClr val="303030"/>
                </a:solidFill>
                <a:latin typeface="Book Antiqua"/>
              </a:rPr>
              <a:t>。</a:t>
            </a:r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综合判断：窗口期2024-2028年，概率加权后还有3年，2028是真正拐点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 | 窗口期压力测试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Citi Research March 2026; Wood Mackenzie 2025;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全球HV变压器缺口率预测（三情景，%）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8912" y="1600200"/>
          <a:ext cx="7443216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47872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窗口期综合判断</a:t>
            </a:r>
            <a:r>
              <a:rPr sz="1200" b="1" u="none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缺口率三情景分析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Base case下全球HV变压器缺口率从2025年30%逐步收窄，但即使2028年仍维持在15%+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水平</a:t>
            </a:r>
            <a:endParaRPr lang="en-US" sz="1200" b="0" u="none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Bull 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case缺口更大（AI+新能源超预期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）</a:t>
            </a:r>
            <a:endParaRPr lang="en-US" sz="1200" b="0" u="none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Bear case缺口在2028年基本收窄至5-10%——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但关键是：Bear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 case下中国厂商出海窗口仍有3年</a:t>
            </a:r>
            <a:endParaRPr lang="en-US" altLang="zh-CN" sz="1200" b="0" u="none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1" u="sng" dirty="0">
                <a:solidFill>
                  <a:srgbClr val="20396D"/>
                </a:solidFill>
                <a:latin typeface="Book Antiqua"/>
              </a:rPr>
              <a:t>概率加权后窗口剩余~3年</a:t>
            </a:r>
          </a:p>
          <a:p>
            <a:pPr marL="0" indent="0">
              <a:buNone/>
            </a:pPr>
            <a:endParaRPr lang="en-US" sz="1200" b="1" u="none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时间坐标明确</a:t>
            </a:r>
            <a:r>
              <a:rPr sz="1200" b="1" u="none" dirty="0">
                <a:solidFill>
                  <a:srgbClr val="20396D"/>
                </a:solidFill>
                <a:latin typeface="Book Antiqua"/>
              </a:rPr>
              <a:t>：</a:t>
            </a:r>
            <a:endParaRPr lang="en-US" sz="1200" b="1" u="none" dirty="0">
              <a:solidFill>
                <a:srgbClr val="20396D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2025-2027年最强（缺口&gt;20%），2028年开始压力（如左图三条曲线收敛区间）。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每季度需审视的触发条件：日立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/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西门子产能释放进度、美国关税政策变化、中东地缘事件</a:t>
            </a:r>
            <a:endParaRPr lang="en-US" sz="1200" dirty="0">
              <a:solidFill>
                <a:srgbClr val="303030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u="sng" dirty="0">
              <a:solidFill>
                <a:srgbClr val="303030"/>
              </a:solidFill>
              <a:latin typeface="Book Antiqua"/>
            </a:endParaRPr>
          </a:p>
          <a:p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风险优先级排序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最大风险不是需求端（AI+老化+新能源三重保障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）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而是供给端恢复速度</a:t>
            </a:r>
            <a:endParaRPr lang="en-US" sz="1200" b="0" u="none" dirty="0">
              <a:solidFill>
                <a:srgbClr val="303030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Bear case所示，若日立$6B扩产加速+韩国Alabama满产，2027年缺口即可快速收窄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8939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0F437E0-449D-AF33-7771-FAD330C9EF0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81619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/>
          <a:lstStyle/>
          <a:p>
            <a:pPr algn="l"/>
            <a:r>
              <a:rPr sz="1800" b="1" dirty="0">
                <a:solidFill>
                  <a:srgbClr val="00355F"/>
                </a:solidFill>
                <a:latin typeface="Book Antiqua"/>
              </a:rPr>
              <a:t>A股输变电板块PE估值高位（近4年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高点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），泡沫风险真实存在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VI | 估值 &amp; 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Wind数据（截至2026年3月初）; Citi Research Global Electricals March 2026;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396D"/>
                </a:solidFill>
                <a:latin typeface="Book Antiqua"/>
              </a:rPr>
              <a:t>申万电网设备指数 Fwd PE Band（2017–2026.3）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0727" y="1325880"/>
            <a:ext cx="3789352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7" y="1371600"/>
            <a:ext cx="36985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dirty="0">
                <a:solidFill>
                  <a:srgbClr val="20396D"/>
                </a:solidFill>
                <a:latin typeface="Book Antiqua"/>
              </a:rPr>
              <a:t>Key insights</a:t>
            </a: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板块泡沫信号明确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b="0" dirty="0">
                <a:solidFill>
                  <a:srgbClr val="303030"/>
                </a:solidFill>
                <a:latin typeface="Book Antiqua"/>
              </a:rPr>
              <a:t>2026PE 33.5x（近4年9</a:t>
            </a:r>
            <a:r>
              <a:rPr lang="en-US" sz="1200" b="0" dirty="0">
                <a:solidFill>
                  <a:srgbClr val="303030"/>
                </a:solidFill>
                <a:latin typeface="Book Antiqua"/>
              </a:rPr>
              <a:t>0+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th pct，峰值38.7x），高于均值22x约1.54倍。板块年内40+日涨30%+，15只个股月内创新高，ETF规模增3.4倍/净流入167亿</a:t>
            </a:r>
          </a:p>
          <a:p>
            <a:pPr marL="180000" indent="-90000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泡沫化</a:t>
            </a:r>
            <a:r>
              <a:rPr sz="1200" b="1" dirty="0" err="1">
                <a:solidFill>
                  <a:srgbClr val="20396D"/>
                </a:solidFill>
                <a:latin typeface="Book Antiqua"/>
              </a:rPr>
              <a:t>不等于马上见顶：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J.P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. Morgan认为供需失衡至少再持续3-4年，基本面是真实的。</a:t>
            </a:r>
            <a:r>
              <a:rPr sz="1200" b="1" dirty="0">
                <a:solidFill>
                  <a:schemeClr val="accent3"/>
                </a:solidFill>
                <a:latin typeface="Book Antiqua"/>
              </a:rPr>
              <a:t>但长期逻辑不等于短期不会有30%+</a:t>
            </a:r>
            <a:r>
              <a:rPr sz="1200" b="1" dirty="0" err="1">
                <a:solidFill>
                  <a:schemeClr val="accent3"/>
                </a:solidFill>
                <a:latin typeface="Book Antiqua"/>
              </a:rPr>
              <a:t>回调</a:t>
            </a:r>
            <a:r>
              <a:rPr sz="1200" b="1" dirty="0">
                <a:solidFill>
                  <a:schemeClr val="accent3"/>
                </a:solidFill>
                <a:latin typeface="Book Antiqua"/>
              </a:rPr>
              <a:t>——</a:t>
            </a:r>
            <a:r>
              <a:rPr sz="1200" b="1" dirty="0" err="1">
                <a:solidFill>
                  <a:schemeClr val="accent3"/>
                </a:solidFill>
                <a:latin typeface="Book Antiqua"/>
              </a:rPr>
              <a:t>情绪反转通常以意外的基本面小扰动触发</a:t>
            </a:r>
            <a:endParaRPr sz="1200" b="1" dirty="0">
              <a:solidFill>
                <a:schemeClr val="accent3"/>
              </a:solidFill>
              <a:latin typeface="Book Antiqua"/>
            </a:endParaRPr>
          </a:p>
          <a:p>
            <a:pPr marL="0" indent="0">
              <a:buNone/>
            </a:pPr>
            <a:endParaRPr lang="en-US" sz="1200" b="1" u="sng" dirty="0">
              <a:solidFill>
                <a:srgbClr val="20396D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sng" dirty="0" err="1">
                <a:solidFill>
                  <a:srgbClr val="20396D"/>
                </a:solidFill>
                <a:latin typeface="Book Antiqua"/>
              </a:rPr>
              <a:t>结构性分化</a:t>
            </a:r>
            <a:endParaRPr sz="1200" b="1" u="sng" dirty="0">
              <a:solidFill>
                <a:srgbClr val="20396D"/>
              </a:solidFill>
              <a:latin typeface="Book Antiqua"/>
            </a:endParaRPr>
          </a:p>
          <a:p>
            <a:pPr marL="180000" indent="-90000">
              <a:buFont typeface="Arial"/>
              <a:buChar char="•"/>
            </a:pPr>
            <a:r>
              <a:rPr sz="1200" dirty="0" err="1">
                <a:latin typeface="Book Antiqua"/>
              </a:rPr>
              <a:t>海外收入占比高的标的更具估值韧性，思源(20%→33.7%全球海外占比，其中中东&lt;15%，业绩支撑更强)的2026E Fwd PE ~31x, PEG 0.85, NPM 14%, ROIC ~15%,标的更优质，而纯内需标的的PE已经充分定价国内增长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</p:txBody>
      </p:sp>
      <p:graphicFrame>
        <p:nvGraphicFramePr>
          <p:cNvPr id="19" name="Char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637419"/>
              </p:ext>
            </p:extLst>
          </p:nvPr>
        </p:nvGraphicFramePr>
        <p:xfrm>
          <a:off x="438912" y="1600200"/>
          <a:ext cx="7443216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" y="6510528"/>
            <a:ext cx="1164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i="1" dirty="0">
                <a:solidFill>
                  <a:srgbClr val="808080"/>
                </a:solidFill>
              </a:rPr>
              <a:t>注：所有PE均为</a:t>
            </a:r>
            <a:r>
              <a:rPr sz="650" i="1">
                <a:solidFill>
                  <a:srgbClr val="808080"/>
                </a:solidFill>
              </a:rPr>
              <a:t>2026E Bloomberg共识Forward </a:t>
            </a:r>
            <a:r>
              <a:rPr sz="650" i="1" dirty="0">
                <a:solidFill>
                  <a:srgbClr val="808080"/>
                </a:solidFill>
              </a:rPr>
              <a:t>PE；股价来源yfinance截至2026-03-31收盘价；EPS来源：Bloomberg/</a:t>
            </a:r>
            <a:r>
              <a:rPr sz="650" i="1" dirty="0" err="1">
                <a:solidFill>
                  <a:srgbClr val="808080"/>
                </a:solidFill>
              </a:rPr>
              <a:t>yfinance</a:t>
            </a:r>
            <a:r>
              <a:rPr sz="650" i="1" dirty="0">
                <a:solidFill>
                  <a:srgbClr val="808080"/>
                </a:solidFill>
              </a:rPr>
              <a:t> consensus。思源2025A EPS=3.52(</a:t>
            </a:r>
            <a:r>
              <a:rPr sz="650" i="1" dirty="0" err="1">
                <a:solidFill>
                  <a:srgbClr val="808080"/>
                </a:solidFill>
              </a:rPr>
              <a:t>已公告</a:t>
            </a:r>
            <a:r>
              <a:rPr sz="650" i="1" dirty="0">
                <a:solidFill>
                  <a:srgbClr val="808080"/>
                </a:solidFill>
              </a:rPr>
              <a:t>)，2026E EPS=6.45。</a:t>
            </a:r>
          </a:p>
        </p:txBody>
      </p:sp>
    </p:spTree>
    <p:extLst>
      <p:ext uri="{BB962C8B-B14F-4D97-AF65-F5344CB8AC3E}">
        <p14:creationId xmlns:p14="http://schemas.microsoft.com/office/powerpoint/2010/main" val="28961970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个股估值对比：思源PE/ROE最优，中国西电低估值高技术，特变多晶硅折价待修复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VI | 估值 &amp; 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Citi Research Global Electricals March 2026; Company Annual Reports; Metro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98448"/>
            <a:ext cx="7443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55F"/>
                </a:solidFill>
                <a:latin typeface="Book Antiqua"/>
              </a:rPr>
              <a:t>A股+韩国输变电核心标的估值对比（Citi Research，2026年3月）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8912" y="1600200"/>
          <a:ext cx="7443211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5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26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公司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Citi评级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Fwd PE (26E)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27E PE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28E PE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ROE 2026E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核心逻辑/风险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思源电气 002028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Buy（TP 260）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~31x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~25x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~19x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27.2%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出海Alpha，H股催化剂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中国西电 601179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~41x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~33x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技术最强，国企折价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平高电气 600312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~18x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~15x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~12x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~20%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GIS纯度最高，H1海外+285%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特变电工 600089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多晶硅折价，变压器被低估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HD现代电气 267260.KS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Buy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~25x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~20x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~16x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41.0%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北美47%，利润率史高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孝星重工 298040.KS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~13x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HVDC差异化，三年翻转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LS Electric 010120.KS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Buy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~36x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~28x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~22x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14.4%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产品线宽，美国加速突破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371600"/>
            <a:ext cx="354787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200" b="1" u="none" dirty="0" err="1">
                <a:solidFill>
                  <a:srgbClr val="20396D"/>
                </a:solidFill>
                <a:latin typeface="Book Antiqua"/>
              </a:rPr>
              <a:t>个股推荐的核心逻辑</a:t>
            </a:r>
            <a:r>
              <a:rPr sz="1200" b="1" u="none" dirty="0">
                <a:solidFill>
                  <a:srgbClr val="20396D"/>
                </a:solidFill>
                <a:latin typeface="Book Antiqua"/>
              </a:rPr>
              <a:t>:</a:t>
            </a:r>
          </a:p>
          <a:p>
            <a:pPr marL="0" indent="0">
              <a:buNone/>
            </a:pPr>
            <a:endParaRPr lang="en-US" sz="1200" b="1" u="none" dirty="0">
              <a:solidFill>
                <a:schemeClr val="tx2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none" dirty="0" err="1">
                <a:solidFill>
                  <a:schemeClr val="tx2"/>
                </a:solidFill>
                <a:latin typeface="Book Antiqua"/>
              </a:rPr>
              <a:t>思源电气（一级推荐</a:t>
            </a:r>
            <a:r>
              <a:rPr sz="1200" b="1" u="none" dirty="0">
                <a:solidFill>
                  <a:schemeClr val="tx2"/>
                </a:solidFill>
                <a:latin typeface="Book Antiqua"/>
              </a:rPr>
              <a:t>）</a:t>
            </a: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Fwd PE ~31x（2026E）→ ~19x（2028E），ROE 27.2%为全组最高（仅次于HD现代41%）。Citi TP 260 CNY (+29%上行)。PEG&lt;1，收入增长100%由销量驱动（连续4年Q增速20%+），不依赖价格周期——可持续性强</a:t>
            </a: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750kV GIS首单打破国企垄断，向1000kV进军；H股上市将打开~200亿增量资金空间。管理层兑现率100-110%，</a:t>
            </a: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是少数Street持续被动上调预期的标的</a:t>
            </a:r>
            <a:endParaRPr sz="1200" b="0" u="none" dirty="0">
              <a:solidFill>
                <a:srgbClr val="303030"/>
              </a:solidFill>
              <a:latin typeface="Book Antiqua"/>
            </a:endParaRPr>
          </a:p>
          <a:p>
            <a:pPr marL="0" indent="0">
              <a:buNone/>
            </a:pPr>
            <a:endParaRPr lang="en-US" sz="1200" b="0" u="none" dirty="0">
              <a:solidFill>
                <a:srgbClr val="303030"/>
              </a:solidFill>
              <a:latin typeface="Book Antiqua"/>
            </a:endParaRPr>
          </a:p>
          <a:p>
            <a:pPr marL="0" indent="0">
              <a:buNone/>
            </a:pPr>
            <a:endParaRPr lang="en-US" sz="1200" dirty="0">
              <a:solidFill>
                <a:srgbClr val="303030"/>
              </a:solidFill>
              <a:latin typeface="Book Antiqua"/>
            </a:endParaRPr>
          </a:p>
          <a:p>
            <a:pPr marL="0" indent="0">
              <a:buNone/>
            </a:pPr>
            <a:r>
              <a:rPr sz="1200" b="1" u="none" dirty="0" err="1">
                <a:solidFill>
                  <a:schemeClr val="tx2"/>
                </a:solidFill>
                <a:latin typeface="Book Antiqua"/>
              </a:rPr>
              <a:t>中国西电（技术最强</a:t>
            </a:r>
            <a:r>
              <a:rPr sz="1200" b="1" u="none" dirty="0">
                <a:solidFill>
                  <a:schemeClr val="tx2"/>
                </a:solidFill>
                <a:latin typeface="Book Antiqua"/>
              </a:rPr>
              <a:t>）</a:t>
            </a:r>
          </a:p>
          <a:p>
            <a:pPr marL="180000" indent="-90000">
              <a:buFont typeface="Arial"/>
              <a:buChar char="•"/>
            </a:pPr>
            <a:r>
              <a:rPr sz="1200" b="0" u="none" dirty="0">
                <a:solidFill>
                  <a:srgbClr val="303030"/>
                </a:solidFill>
                <a:latin typeface="Book Antiqua"/>
              </a:rPr>
              <a:t>Fwd PE ~41x（2026E），已大幅重估，拥有±1100kV换流变独家技术。技术壁垒与HVDC出海突破是估值重塑逻辑</a:t>
            </a:r>
          </a:p>
          <a:p>
            <a:pPr marL="180000" indent="-90000">
              <a:buFont typeface="Arial"/>
              <a:buChar char="•"/>
            </a:pPr>
            <a:r>
              <a:rPr sz="1200" b="0" u="none" dirty="0" err="1">
                <a:solidFill>
                  <a:srgbClr val="303030"/>
                </a:solidFill>
                <a:latin typeface="Book Antiqua"/>
              </a:rPr>
              <a:t>韩国双雄（估值最高但增速匹配</a:t>
            </a:r>
            <a:r>
              <a:rPr sz="1200" b="0" u="none" dirty="0">
                <a:solidFill>
                  <a:srgbClr val="303030"/>
                </a:solidFill>
                <a:latin typeface="Book Antiqua"/>
              </a:rPr>
              <a:t>）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" y="6510528"/>
            <a:ext cx="1164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i="1" dirty="0">
                <a:solidFill>
                  <a:srgbClr val="808080"/>
                </a:solidFill>
              </a:rPr>
              <a:t>注：所有PE均为</a:t>
            </a:r>
            <a:r>
              <a:rPr sz="650" i="1">
                <a:solidFill>
                  <a:srgbClr val="808080"/>
                </a:solidFill>
              </a:rPr>
              <a:t>2026E Bloomberg共识Forward </a:t>
            </a:r>
            <a:r>
              <a:rPr sz="650" i="1" dirty="0">
                <a:solidFill>
                  <a:srgbClr val="808080"/>
                </a:solidFill>
              </a:rPr>
              <a:t>PE；股价来源yfinance截至2026-03-31收盘价；EPS来源：Bloomberg/</a:t>
            </a:r>
            <a:r>
              <a:rPr sz="650" i="1" dirty="0" err="1">
                <a:solidFill>
                  <a:srgbClr val="808080"/>
                </a:solidFill>
              </a:rPr>
              <a:t>yfinance</a:t>
            </a:r>
            <a:r>
              <a:rPr sz="650" i="1" dirty="0">
                <a:solidFill>
                  <a:srgbClr val="808080"/>
                </a:solidFill>
              </a:rPr>
              <a:t> consensus。思源2025A EPS=3.52(</a:t>
            </a:r>
            <a:r>
              <a:rPr sz="650" i="1" dirty="0" err="1">
                <a:solidFill>
                  <a:srgbClr val="808080"/>
                </a:solidFill>
              </a:rPr>
              <a:t>已公告</a:t>
            </a:r>
            <a:r>
              <a:rPr sz="650" i="1" dirty="0">
                <a:solidFill>
                  <a:srgbClr val="808080"/>
                </a:solidFill>
              </a:rPr>
              <a:t>)，2026E EPS=6.45。</a:t>
            </a:r>
          </a:p>
        </p:txBody>
      </p:sp>
    </p:spTree>
    <p:extLst>
      <p:ext uri="{BB962C8B-B14F-4D97-AF65-F5344CB8AC3E}">
        <p14:creationId xmlns:p14="http://schemas.microsoft.com/office/powerpoint/2010/main" val="23911511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 dirty="0" err="1">
                <a:solidFill>
                  <a:srgbClr val="00355F"/>
                </a:solidFill>
                <a:latin typeface="Book Antiqua"/>
              </a:rPr>
              <a:t>可比公司PE倍数走势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 — </a:t>
            </a:r>
            <a:r>
              <a:rPr sz="1800" b="1" dirty="0" err="1">
                <a:solidFill>
                  <a:srgbClr val="00355F"/>
                </a:solidFill>
                <a:latin typeface="Book Antiqua"/>
              </a:rPr>
              <a:t>周频数据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 (2022–2026)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VI | 估值分析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dirty="0" err="1">
                <a:latin typeface="Book Antiqua" panose="02040602050305030304" pitchFamily="18" charset="0"/>
              </a:rPr>
              <a:t>注：PE基于前一年实际EPS计算</a:t>
            </a:r>
            <a:endParaRPr sz="800" dirty="0">
              <a:latin typeface="Book Antiqua" panose="02040602050305030304" pitchFamily="18" charset="0"/>
            </a:endParaRPr>
          </a:p>
          <a:p>
            <a:pPr algn="l"/>
            <a:r>
              <a:rPr sz="800" dirty="0">
                <a:latin typeface="Book Antiqua" panose="02040602050305030304" pitchFamily="18" charset="0"/>
              </a:rPr>
              <a:t>Source: Bloomberg, Yahoo Finance, METRO RESEARCH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437374"/>
              </p:ext>
            </p:extLst>
          </p:nvPr>
        </p:nvGraphicFramePr>
        <p:xfrm>
          <a:off x="438912" y="1463040"/>
          <a:ext cx="7443216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56448" y="1371600"/>
            <a:ext cx="3593591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355F"/>
                </a:solidFill>
                <a:latin typeface="Book Antiqua"/>
              </a:rPr>
              <a:t>Key Takeaways</a:t>
            </a:r>
            <a:endParaRPr lang="zh-CN" altLang="en-US" sz="1400" b="1" dirty="0">
              <a:solidFill>
                <a:srgbClr val="00355F"/>
              </a:solidFill>
              <a:latin typeface="Book Antiqu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200" b="1" dirty="0">
              <a:solidFill>
                <a:srgbClr val="20396D"/>
              </a:solidFill>
              <a:latin typeface="Book Antiqua" panose="0204060205030503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 panose="02040602050305030304" pitchFamily="18" charset="0"/>
              </a:rPr>
              <a:t>估值分化: 思源从28x扩张至50x，反映高压GIS龙头溢价；GE Vernova IPO后TTM PE高达80-100x（低盈利基数），Fwd PE已正常化至~37x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 panose="02040602050305030304" pitchFamily="18" charset="0"/>
              </a:rPr>
              <a:t>韩国重估: HD Hyundai与Hyosung从15-20x快速扩张至40-50x，全球变压器短缺叙事重定价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 panose="02040602050305030304" pitchFamily="18" charset="0"/>
              </a:rPr>
              <a:t>板块趋势: 2024H2起整体PE中枢上移，反映S3共识泛滥期特征——新增边际买家以momentum为主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20396D"/>
                </a:solidFill>
                <a:latin typeface="Book Antiqua" panose="02040602050305030304" pitchFamily="18" charset="0"/>
              </a:rPr>
              <a:t>TBEA折价: PE始终&lt;25x，多晶硅业务EPS下行拖累整体估值，输变电被显著低估</a:t>
            </a:r>
            <a:endParaRPr sz="1200" dirty="0">
              <a:solidFill>
                <a:srgbClr val="30303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4265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 dirty="0" err="1">
                <a:solidFill>
                  <a:srgbClr val="00355F"/>
                </a:solidFill>
                <a:latin typeface="Book Antiqua"/>
              </a:rPr>
              <a:t>可比公司股价走势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 — </a:t>
            </a:r>
            <a:r>
              <a:rPr sz="1800" b="1" dirty="0" err="1">
                <a:solidFill>
                  <a:srgbClr val="00355F"/>
                </a:solidFill>
                <a:latin typeface="Book Antiqua"/>
              </a:rPr>
              <a:t>指数化对比</a:t>
            </a:r>
            <a:r>
              <a:rPr sz="1800" b="1" dirty="0">
                <a:solidFill>
                  <a:srgbClr val="00355F"/>
                </a:solidFill>
                <a:latin typeface="Book Antiqua"/>
              </a:rPr>
              <a:t> (2022.01 = 100)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VI | 估值分析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latin typeface="Book Antiqua" panose="02040602050305030304" pitchFamily="18" charset="0"/>
              </a:rPr>
              <a:t>注：基准日: 2022年1月第一周收盘价=100</a:t>
            </a:r>
          </a:p>
          <a:p>
            <a:pPr algn="l"/>
            <a:r>
              <a:rPr sz="800">
                <a:latin typeface="Book Antiqua" panose="02040602050305030304" pitchFamily="18" charset="0"/>
              </a:rPr>
              <a:t>Source: Bloomberg, Yahoo Finance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509174"/>
              </p:ext>
            </p:extLst>
          </p:nvPr>
        </p:nvGraphicFramePr>
        <p:xfrm>
          <a:off x="438912" y="1463040"/>
          <a:ext cx="7443216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56448" y="1371600"/>
            <a:ext cx="3593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355F"/>
                </a:solidFill>
                <a:latin typeface="Book Antiqua"/>
              </a:rPr>
              <a:t>股价启动时序与定价逻辑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737360"/>
            <a:ext cx="35935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2022–23 韩企率先定价: HD Hyundai / Hyosung 最先启动——美国变压器交期36个月+、库存不足，DOE数据显示进口韩国变压器占比&gt;40%。股价2022年下半年开始加速，市场定价的是“出口美国=最高利润率”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788920"/>
            <a:ext cx="35935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2024 H1 中国出海未定价: 韩企已涨3-5x时，思源/特变/西电涨幅温和(&lt;100%)——市场尚未认可中国企业出海能力。同期思源已在中东交付GIS设备、投标沙特NEOM/SEC项目，但尚未有标志性大单公告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3840480"/>
            <a:ext cx="35935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20396D"/>
                </a:solidFill>
                <a:latin typeface="Book Antiqua"/>
              </a:rPr>
              <a:t>2024 H2 思源催化重估: 2024年中思源公告中东GIS订单加速+阿联酣ADNOC项目，确认从“国内替代”到“全球变压器玩家”的转变。股价2024年下半年加速上行——市场开始price in中东出海的利润增量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4892040"/>
            <a:ext cx="35935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20396D"/>
                </a:solidFill>
                <a:latin typeface="Book Antiqua"/>
              </a:rPr>
              <a:t>2025 分化加剧: 韩企PE已达50-60x（充分定价）；思源PE 51x(25) ，普遍price in 中东收入占比快速提升带来margin expansion</a:t>
            </a:r>
            <a:endParaRPr lang="en-US" sz="1200" b="0" dirty="0">
              <a:solidFill>
                <a:srgbClr val="303030"/>
              </a:solidFill>
              <a:latin typeface="Book Antiqua"/>
            </a:endParaRPr>
          </a:p>
          <a:p>
            <a:r>
              <a:rPr sz="1200" b="0" dirty="0">
                <a:solidFill>
                  <a:srgbClr val="303030"/>
                </a:solidFill>
                <a:latin typeface="Book Antiqua"/>
              </a:rPr>
              <a:t>TBEA受多晶硅拖累，PE仅23x，输变电业务被掩盖</a:t>
            </a:r>
          </a:p>
        </p:txBody>
      </p:sp>
    </p:spTree>
    <p:extLst>
      <p:ext uri="{BB962C8B-B14F-4D97-AF65-F5344CB8AC3E}">
        <p14:creationId xmlns:p14="http://schemas.microsoft.com/office/powerpoint/2010/main" val="3421113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E4F33C0-E58B-D888-56CF-6B2F3CE3389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00872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29" imgH="329" progId="TCLayout.ActiveDocument.1">
                  <p:embed/>
                </p:oleObj>
              </mc:Choice>
              <mc:Fallback>
                <p:oleObj name="think-cell 幻灯片" r:id="rId3" imgW="329" imgH="32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 vert="horz" rIns="91440">
            <a:normAutofit fontScale="90000"/>
          </a:bodyPr>
          <a:lstStyle/>
          <a:p>
            <a:pPr algn="l"/>
            <a:r>
              <a:rPr lang="en-US" altLang="zh-CN" sz="1800" dirty="0">
                <a:solidFill>
                  <a:srgbClr val="00355F"/>
                </a:solidFill>
                <a:latin typeface="Book Antiqua"/>
              </a:rPr>
              <a:t>Conclusion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: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 行业结构性机会成立，中国厂商思源等质地优秀优势明显，但当前板块泡沫化严重，需要选择入场时机并关注思源</a:t>
            </a:r>
            <a:r>
              <a:rPr lang="en-US" altLang="zh-CN" sz="1800" b="1" dirty="0">
                <a:solidFill>
                  <a:srgbClr val="00355F"/>
                </a:solidFill>
                <a:latin typeface="Book Antiqua"/>
              </a:rPr>
              <a:t>H</a:t>
            </a:r>
            <a:r>
              <a:rPr lang="zh-CN" altLang="en-US" sz="1800" b="1" dirty="0">
                <a:solidFill>
                  <a:srgbClr val="00355F"/>
                </a:solidFill>
                <a:latin typeface="Book Antiqua"/>
              </a:rPr>
              <a:t>股上市的折扣情况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VI | 估值 &amp; 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Wind; Citi Research March 2026; 思源电气年报; OA Sentiment Cycle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1264684"/>
            <a:ext cx="1131112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核心结论</a:t>
            </a:r>
            <a:endParaRPr lang="en-US" altLang="zh-CN" sz="1200" b="1" dirty="0">
              <a:solidFill>
                <a:srgbClr val="00355F"/>
              </a:solidFill>
              <a:latin typeface="Book Antiqua"/>
            </a:endParaRP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行业结构性机会成立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lang="zh-CN" altLang="en-US" sz="1200" dirty="0">
                <a:latin typeface="Book Antiqua"/>
              </a:rPr>
              <a:t>全球</a:t>
            </a:r>
            <a:r>
              <a:rPr lang="en-US" altLang="zh-CN" sz="1200" dirty="0">
                <a:latin typeface="Book Antiqua"/>
              </a:rPr>
              <a:t>HV</a:t>
            </a:r>
            <a:r>
              <a:rPr lang="zh-CN" altLang="en-US" sz="1200" dirty="0">
                <a:latin typeface="Book Antiqua"/>
              </a:rPr>
              <a:t>输变电设备供需失衡（</a:t>
            </a:r>
            <a:r>
              <a:rPr lang="en-US" altLang="zh-CN" sz="1200" dirty="0">
                <a:latin typeface="Book Antiqua"/>
              </a:rPr>
              <a:t>30%</a:t>
            </a:r>
            <a:r>
              <a:rPr lang="zh-CN" altLang="en-US" sz="1200" dirty="0">
                <a:latin typeface="Book Antiqua"/>
              </a:rPr>
              <a:t>缺口，</a:t>
            </a:r>
            <a:r>
              <a:rPr lang="en-US" altLang="zh-CN" sz="1200" dirty="0">
                <a:latin typeface="Book Antiqua"/>
              </a:rPr>
              <a:t>128</a:t>
            </a:r>
            <a:r>
              <a:rPr lang="zh-CN" altLang="en-US" sz="1200" dirty="0">
                <a:latin typeface="Book Antiqua"/>
              </a:rPr>
              <a:t>周交期）是数十年未见的结构性错配。</a:t>
            </a:r>
            <a:r>
              <a:rPr lang="en-US" altLang="zh-CN" sz="1200" dirty="0">
                <a:latin typeface="Book Antiqua"/>
              </a:rPr>
              <a:t>AI+</a:t>
            </a:r>
            <a:r>
              <a:rPr lang="zh-CN" altLang="en-US" sz="1200" dirty="0">
                <a:latin typeface="Book Antiqua"/>
              </a:rPr>
              <a:t>新能源</a:t>
            </a:r>
            <a:r>
              <a:rPr lang="en-US" altLang="zh-CN" sz="1200" dirty="0">
                <a:latin typeface="Book Antiqua"/>
              </a:rPr>
              <a:t>+</a:t>
            </a:r>
            <a:r>
              <a:rPr lang="zh-CN" altLang="en-US" sz="1200" dirty="0">
                <a:latin typeface="Book Antiqua"/>
              </a:rPr>
              <a:t>老化替换三层需求同步共振，供给侧扩产</a:t>
            </a:r>
            <a:r>
              <a:rPr lang="en-US" altLang="zh-CN" sz="1200" dirty="0">
                <a:latin typeface="Book Antiqua"/>
              </a:rPr>
              <a:t>3-5</a:t>
            </a:r>
            <a:r>
              <a:rPr lang="zh-CN" altLang="en-US" sz="1200" dirty="0">
                <a:latin typeface="Book Antiqua"/>
              </a:rPr>
              <a:t>年才兑现，</a:t>
            </a:r>
            <a:r>
              <a:rPr lang="en-US" altLang="zh-CN" sz="1200" dirty="0">
                <a:latin typeface="Book Antiqua"/>
              </a:rPr>
              <a:t>2028</a:t>
            </a:r>
            <a:r>
              <a:rPr lang="zh-CN" altLang="en-US" sz="1200" dirty="0">
                <a:latin typeface="Book Antiqua"/>
              </a:rPr>
              <a:t>年前格局不会实质改变。</a:t>
            </a: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中国厂商最大受益者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成本优势明显、产能规模全球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30%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、交期短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1-2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年，是填补全球产能真空最具竞争力的供应商。认证壁垒是唯一需要时间突破的门槛，先行者已积累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70+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国家认证。</a:t>
            </a: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当前板块估值高位需要择时: 申万电网设备PE ~33.5x（近4年96th pct），板块已进入泡沫化阶段，基本面是真实的但逻辑已充分定价。等待2026H1中东形势明朗化+板块情绪降温后的更好入场点</a:t>
            </a: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 marL="731838" lvl="1" indent="-137319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ETF换手率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电力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/输配电ETF日换手率55.10%，10日累计532.85%——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交投异常活跃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731838" lvl="1" indent="-137319">
              <a:buFont typeface="Arial"/>
              <a:buChar char="•"/>
            </a:pPr>
            <a:r>
              <a:rPr sz="1200" b="1" dirty="0">
                <a:solidFill>
                  <a:srgbClr val="20396D"/>
                </a:solidFill>
                <a:latin typeface="Book Antiqua"/>
              </a:rPr>
              <a:t>Fwd PE: ~22-41x（各标的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BBG</a:t>
            </a: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 </a:t>
            </a:r>
            <a:r>
              <a:rPr lang="en-US" altLang="zh-CN" sz="1200" b="1" dirty="0" err="1">
                <a:solidFill>
                  <a:srgbClr val="20396D"/>
                </a:solidFill>
                <a:latin typeface="Book Antiqua"/>
              </a:rPr>
              <a:t>concensus</a:t>
            </a:r>
            <a:r>
              <a:rPr sz="1200" b="1" dirty="0" err="1">
                <a:solidFill>
                  <a:srgbClr val="20396D"/>
                </a:solidFill>
                <a:latin typeface="Book Antiqua"/>
              </a:rPr>
              <a:t>，详见附录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）</a:t>
            </a:r>
          </a:p>
          <a:p>
            <a:pPr marL="731838" lvl="1" indent="-137319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叙事固化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“AI用电+国网4万亿+海外超预期”已从少数预期差演变为广泛共识</a:t>
            </a:r>
          </a:p>
          <a:p>
            <a:pPr marL="731838" lvl="1" indent="-137319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关键矛盾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2021-2025涨幅中EPS增长仅贡献42%，PE扩张贡献59%——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倍数扩张空间已极小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>
              <a:buNone/>
            </a:pPr>
            <a:endParaRPr lang="en-US" altLang="zh-CN" sz="1200" b="1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个股优先级</a:t>
            </a: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首选 思源电气（002028）: 出海Alpha+H股催化剂，Fwd PE ~31x(26E 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BBG</a:t>
            </a: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 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consensus</a:t>
            </a: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) vs ROE 27.2%，是A股板块估值/成长比最优选择</a:t>
            </a: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次选 中国西电（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601179</a:t>
            </a: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）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技术最强，但国央企运营效率低，利润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ROIC ~5%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，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25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年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10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月产能释放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+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现金流改善是明确催化剂</a:t>
            </a: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观察 韩国标的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HD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现代电气（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267260.KS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）是最纯粹的北美受益者，但需关注美国关税对韩国出口的影响。孝星重工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HVDC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差异化值得持续跟踪</a:t>
            </a: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暂缓 特变电工（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600089</a:t>
            </a: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）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变压器业务优质但多晶硅折价持续，分拆催化剂时间表不确定。等待多晶硅价格信号</a:t>
            </a:r>
          </a:p>
          <a:p>
            <a:pPr>
              <a:buNone/>
            </a:pPr>
            <a:endParaRPr lang="en-US" sz="1200" b="1" dirty="0">
              <a:solidFill>
                <a:srgbClr val="00355F"/>
              </a:solidFill>
              <a:latin typeface="Book Antiqua"/>
            </a:endParaRPr>
          </a:p>
          <a:p>
            <a:pPr>
              <a:buNone/>
            </a:pP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投资</a:t>
            </a:r>
            <a:r>
              <a:rPr sz="1200" b="1" dirty="0" err="1">
                <a:solidFill>
                  <a:srgbClr val="00355F"/>
                </a:solidFill>
                <a:latin typeface="Book Antiqua"/>
              </a:rPr>
              <a:t>建议</a:t>
            </a:r>
            <a:endParaRPr sz="1200" b="1" dirty="0">
              <a:solidFill>
                <a:srgbClr val="00355F"/>
              </a:solidFill>
              <a:latin typeface="Book Antiqua"/>
            </a:endParaRP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建议思源买入</a:t>
            </a:r>
            <a:r>
              <a:rPr sz="1200" b="1" dirty="0" err="1">
                <a:solidFill>
                  <a:srgbClr val="20396D"/>
                </a:solidFill>
                <a:latin typeface="Book Antiqua"/>
              </a:rPr>
              <a:t>区间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lang="en-US" sz="1200" dirty="0">
                <a:latin typeface="Book Antiqua"/>
              </a:rPr>
              <a:t>160</a:t>
            </a:r>
            <a:r>
              <a:rPr lang="en-US" sz="1200" b="1" dirty="0">
                <a:solidFill>
                  <a:srgbClr val="20396D"/>
                </a:solidFill>
                <a:latin typeface="Book Antiqua"/>
              </a:rPr>
              <a:t>~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180 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CNY（</a:t>
            </a:r>
            <a:r>
              <a:rPr lang="en-US" altLang="zh-CN" sz="1200" b="0" dirty="0" err="1">
                <a:solidFill>
                  <a:srgbClr val="303030"/>
                </a:solidFill>
                <a:latin typeface="Book Antiqua"/>
              </a:rPr>
              <a:t>Fwd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 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PE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 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~24-28x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），止损1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4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0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 CNY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；也可以观察他们今年的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4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月底港股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NDR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 的时候透露的的折扣情况更充足的安全垫</a:t>
            </a:r>
            <a:endParaRPr lang="en-US" altLang="zh-CN" sz="1200" b="0" dirty="0">
              <a:solidFill>
                <a:srgbClr val="303030"/>
              </a:solidFill>
              <a:latin typeface="Book Antiqua"/>
            </a:endParaRP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chemeClr val="tx2"/>
                </a:solidFill>
                <a:latin typeface="Book Antiqua"/>
              </a:rPr>
              <a:t>未来留意以下核心逻辑翻转信号，谨慎评估风险：</a:t>
            </a:r>
            <a:endParaRPr lang="en-US" altLang="zh-CN" sz="1200" b="1" dirty="0">
              <a:solidFill>
                <a:schemeClr val="tx2"/>
              </a:solidFill>
              <a:latin typeface="Book Antiqua"/>
            </a:endParaRPr>
          </a:p>
          <a:p>
            <a:pPr marL="731838" lvl="1" indent="-137319">
              <a:buFont typeface="Arial"/>
              <a:buChar char="•"/>
            </a:pPr>
            <a:r>
              <a:rPr lang="zh-CN" altLang="en-US" sz="1200" dirty="0">
                <a:latin typeface="Book Antiqua"/>
              </a:rPr>
              <a:t>中东战局停火时机，是否延误数据中心建设影响未来投入意愿</a:t>
            </a:r>
            <a:endParaRPr lang="en-US" altLang="zh-CN" sz="1200" dirty="0">
              <a:latin typeface="Book Antiqua"/>
            </a:endParaRPr>
          </a:p>
          <a:p>
            <a:pPr marL="731838" lvl="1" indent="-137319">
              <a:buFont typeface="Arial"/>
              <a:buChar char="•"/>
            </a:pPr>
            <a:r>
              <a:rPr lang="zh-CN" altLang="en-US" sz="1200" dirty="0">
                <a:latin typeface="Book Antiqua"/>
              </a:rPr>
              <a:t>日立等海外厂商的产能建设交付是否提前</a:t>
            </a:r>
            <a:endParaRPr lang="en-US" altLang="zh-CN" sz="1200" dirty="0">
              <a:latin typeface="Book Antiqua"/>
            </a:endParaRPr>
          </a:p>
          <a:p>
            <a:pPr marL="731838" lvl="1" indent="-137319">
              <a:buFont typeface="Arial"/>
              <a:buChar char="•"/>
            </a:pPr>
            <a:r>
              <a:rPr lang="zh-CN" altLang="en-US" sz="1200" dirty="0">
                <a:latin typeface="Book Antiqua"/>
              </a:rPr>
              <a:t>海外订单增速连续</a:t>
            </a:r>
            <a:r>
              <a:rPr lang="en-US" altLang="zh-CN" sz="1200" dirty="0">
                <a:latin typeface="Book Antiqua"/>
              </a:rPr>
              <a:t>2</a:t>
            </a:r>
            <a:r>
              <a:rPr lang="zh-CN" altLang="en-US" sz="1200" dirty="0">
                <a:latin typeface="Book Antiqua"/>
              </a:rPr>
              <a:t>季</a:t>
            </a:r>
            <a:r>
              <a:rPr lang="en-US" altLang="zh-CN" sz="1200" dirty="0">
                <a:latin typeface="Book Antiqua"/>
              </a:rPr>
              <a:t>&lt;15%</a:t>
            </a:r>
            <a:r>
              <a:rPr lang="zh-CN" altLang="en-US" sz="1200" dirty="0">
                <a:latin typeface="Book Antiqua"/>
              </a:rPr>
              <a:t> 核心叙事崩塌；</a:t>
            </a:r>
            <a:endParaRPr lang="en-US" altLang="zh-CN" sz="1200" dirty="0">
              <a:latin typeface="Book Antiqua"/>
            </a:endParaRPr>
          </a:p>
          <a:p>
            <a:pPr marL="731838" lvl="1" indent="-137319">
              <a:buFont typeface="Arial"/>
              <a:buChar char="•"/>
            </a:pPr>
            <a:r>
              <a:rPr lang="zh-CN" altLang="en-US" sz="1200" dirty="0">
                <a:latin typeface="Book Antiqua"/>
              </a:rPr>
              <a:t>毛利率回落至</a:t>
            </a:r>
            <a:r>
              <a:rPr lang="en-US" altLang="zh-CN" sz="1200" dirty="0">
                <a:latin typeface="Book Antiqua"/>
              </a:rPr>
              <a:t>&lt;30%</a:t>
            </a:r>
            <a:r>
              <a:rPr lang="zh-CN" altLang="en-US" sz="1200" dirty="0">
                <a:latin typeface="Book Antiqua"/>
              </a:rPr>
              <a:t> 定价权遗失竞争加剧；</a:t>
            </a:r>
            <a:endParaRPr lang="en-US" altLang="zh-CN" sz="1200" dirty="0">
              <a:latin typeface="Book Antiqua"/>
            </a:endParaRPr>
          </a:p>
          <a:p>
            <a:pPr marL="731838" lvl="1" indent="-137319">
              <a:buFont typeface="Arial"/>
              <a:buChar char="•"/>
            </a:pPr>
            <a:r>
              <a:rPr lang="zh-CN" altLang="en-US" sz="1200" dirty="0">
                <a:latin typeface="Book Antiqua"/>
              </a:rPr>
              <a:t>全球变压器交期回落至</a:t>
            </a:r>
            <a:r>
              <a:rPr lang="en-US" altLang="zh-CN" sz="1200" dirty="0">
                <a:latin typeface="Book Antiqua"/>
              </a:rPr>
              <a:t>&lt;80</a:t>
            </a:r>
            <a:r>
              <a:rPr lang="zh-CN" altLang="en-US" sz="1200" dirty="0">
                <a:latin typeface="Book Antiqua"/>
              </a:rPr>
              <a:t>周，定价能力根本受损；</a:t>
            </a:r>
            <a:endParaRPr lang="en-US" altLang="zh-CN" sz="1200" dirty="0">
              <a:latin typeface="Book Antiqua"/>
            </a:endParaRPr>
          </a:p>
          <a:p>
            <a:pPr marL="731838" lvl="1" indent="-137319">
              <a:buFont typeface="Arial"/>
              <a:buChar char="•"/>
            </a:pPr>
            <a:r>
              <a:rPr lang="zh-CN" altLang="en-US" sz="1200" dirty="0">
                <a:latin typeface="Book Antiqua"/>
              </a:rPr>
              <a:t>主要市场对中国电力设备设限，贸易制裁</a:t>
            </a:r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风险矩阵：关税升级和板块估值收缩是最高优先级风险，需要明确的监控指标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PART VI | 估值 &amp; 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800" b="1" dirty="0">
                <a:solidFill>
                  <a:srgbClr val="303030"/>
                </a:solidFill>
                <a:latin typeface="Book Antiqua"/>
              </a:rPr>
              <a:t>Source: USTR Section 301调查公告 2026-03; Metro Analysis; 思源电气年报</a:t>
            </a:r>
            <a:endParaRPr sz="800" b="0" dirty="0">
              <a:solidFill>
                <a:srgbClr val="303030"/>
              </a:solidFill>
              <a:latin typeface="Book Antiqu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1371600"/>
            <a:ext cx="113111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 b="1" dirty="0">
                <a:solidFill>
                  <a:srgbClr val="00355F"/>
                </a:solidFill>
                <a:latin typeface="Book Antiqua"/>
              </a:rPr>
              <a:t>■ </a:t>
            </a:r>
            <a:r>
              <a:rPr sz="1200" b="1" dirty="0" err="1">
                <a:solidFill>
                  <a:srgbClr val="00355F"/>
                </a:solidFill>
                <a:latin typeface="Book Antiqua"/>
              </a:rPr>
              <a:t>风险矩阵</a:t>
            </a:r>
            <a:endParaRPr lang="zh-CN" altLang="en-US" sz="1200" b="1" dirty="0">
              <a:solidFill>
                <a:srgbClr val="00355F"/>
              </a:solidFill>
              <a:latin typeface="Book Antiqua"/>
            </a:endParaRP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中东战争持续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伊朗冲突导致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UAE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多个数据中心被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击中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。思源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/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中国西电中东收入占比尚小（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&lt;15%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），短期影响可控。监控：沙特新项目审批节奏</a:t>
            </a: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美国关税进一步升级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2026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年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3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月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USTR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已对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16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国启动新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Section 301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调查（结构性产能过剩），韩国变压器出口可能遭加税。触发条件：新关税实施。监控指标：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USTR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 </a:t>
            </a:r>
            <a:r>
              <a:rPr lang="en-US" altLang="zh-CN" sz="1200" b="0" dirty="0">
                <a:solidFill>
                  <a:srgbClr val="303030"/>
                </a:solidFill>
                <a:latin typeface="Book Antiqua"/>
              </a:rPr>
              <a:t>Federal Register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通知。受影响：韩国厂商（高），中国厂商（已封死，边际影响小）。</a:t>
            </a:r>
          </a:p>
          <a:p>
            <a:pPr marL="274638" indent="-137319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板块情绪收缩：</a:t>
            </a:r>
            <a:r>
              <a:rPr sz="1200" b="1" dirty="0" err="1">
                <a:solidFill>
                  <a:schemeClr val="accent3"/>
                </a:solidFill>
                <a:latin typeface="Book Antiqua"/>
              </a:rPr>
              <a:t>申万电网设备PE ~33.5x（近4年96th pct），任何基本面扰动（特高压招标不及预期、季报不达预期，AI capex放缓迹象）均可能引发30%+回调。不是基本面风险，是市场风险。监控：北向资金流入/ETF净值变化</a:t>
            </a:r>
            <a:r>
              <a:rPr sz="1200" b="1" dirty="0" err="1">
                <a:solidFill>
                  <a:srgbClr val="20396D"/>
                </a:solidFill>
                <a:latin typeface="Book Antiqua"/>
              </a:rPr>
              <a:t>。</a:t>
            </a:r>
          </a:p>
          <a:p>
            <a:pPr marL="274638" indent="-137319">
              <a:buFont typeface="Arial"/>
              <a:buChar char="•"/>
            </a:pPr>
            <a:r>
              <a:rPr sz="1200" b="1" dirty="0" err="1">
                <a:solidFill>
                  <a:srgbClr val="20396D"/>
                </a:solidFill>
                <a:latin typeface="Book Antiqua"/>
              </a:rPr>
              <a:t>原材料成本上涨</a:t>
            </a:r>
            <a:r>
              <a:rPr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sz="1200" b="0" dirty="0" err="1">
                <a:solidFill>
                  <a:srgbClr val="303030"/>
                </a:solidFill>
                <a:latin typeface="Book Antiqua"/>
              </a:rPr>
              <a:t>铜（变压器铜绕组</a:t>
            </a:r>
            <a:r>
              <a:rPr sz="1200" b="0" dirty="0">
                <a:solidFill>
                  <a:srgbClr val="303030"/>
                </a:solidFill>
                <a:latin typeface="Book Antiqua"/>
              </a:rPr>
              <a:t>）+取向硅钢占材料成本50%+，持续高位会压缩毛利率。思源2024年毛利率+1.5pct证明当前定价能力强于成本压力，但需</a:t>
            </a:r>
            <a:r>
              <a:rPr lang="zh-CN" altLang="en-US" sz="1200" b="0" dirty="0">
                <a:solidFill>
                  <a:srgbClr val="303030"/>
                </a:solidFill>
                <a:latin typeface="Book Antiqua"/>
              </a:rPr>
              <a:t>持续观察</a:t>
            </a:r>
            <a:endParaRPr sz="1200" b="0" dirty="0">
              <a:solidFill>
                <a:srgbClr val="303030"/>
              </a:solidFill>
              <a:latin typeface="Book Antiqua"/>
            </a:endParaRPr>
          </a:p>
          <a:p>
            <a:pPr marL="274638" indent="-137319">
              <a:buFont typeface="Arial"/>
              <a:buChar char="•"/>
            </a:pPr>
            <a:endParaRPr lang="en-US" sz="1200" dirty="0">
              <a:solidFill>
                <a:srgbClr val="303030"/>
              </a:solidFill>
              <a:latin typeface="Book Antiqua"/>
            </a:endParaRPr>
          </a:p>
          <a:p>
            <a:pPr>
              <a:buNone/>
            </a:pP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■ 核心逻辑反转触发条件（</a:t>
            </a:r>
            <a:r>
              <a:rPr lang="en-US" altLang="zh-CN" sz="1200" b="1" dirty="0">
                <a:solidFill>
                  <a:srgbClr val="00355F"/>
                </a:solidFill>
                <a:latin typeface="Book Antiqua"/>
              </a:rPr>
              <a:t>12</a:t>
            </a:r>
            <a:r>
              <a:rPr lang="zh-CN" altLang="en-US" sz="1200" b="1" dirty="0">
                <a:solidFill>
                  <a:srgbClr val="00355F"/>
                </a:solidFill>
                <a:latin typeface="Book Antiqua"/>
              </a:rPr>
              <a:t>个月观察窗）</a:t>
            </a: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海外订单增速连续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2</a:t>
            </a: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季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&lt;15%: 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影响级别高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——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核心叙事崩塌</a:t>
            </a: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毛利率回落至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&lt;30%: 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影响级别高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——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结构性论点受损</a:t>
            </a: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全球变压器交期回落至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&lt;80</a:t>
            </a: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周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影响级别极高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——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定价能力根本受损</a:t>
            </a:r>
          </a:p>
          <a:p>
            <a:pPr marL="274638" indent="-137319">
              <a:buFont typeface="Arial"/>
              <a:buChar char="•"/>
            </a:pPr>
            <a:r>
              <a:rPr lang="zh-CN" altLang="en-US" sz="1200" b="1" dirty="0">
                <a:solidFill>
                  <a:srgbClr val="20396D"/>
                </a:solidFill>
                <a:latin typeface="Book Antiqua"/>
              </a:rPr>
              <a:t>主要市场对中国电力设备设限</a:t>
            </a:r>
            <a:r>
              <a:rPr lang="en-US" altLang="zh-CN" sz="1200" b="1" dirty="0">
                <a:solidFill>
                  <a:srgbClr val="20396D"/>
                </a:solidFill>
                <a:latin typeface="Book Antiqua"/>
              </a:rPr>
              <a:t>: 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影响级别极高 </a:t>
            </a:r>
            <a:r>
              <a:rPr lang="en-US" altLang="zh-CN" sz="1200" dirty="0">
                <a:solidFill>
                  <a:srgbClr val="303030"/>
                </a:solidFill>
                <a:latin typeface="Book Antiqua"/>
              </a:rPr>
              <a:t>—— </a:t>
            </a:r>
            <a:r>
              <a:rPr lang="zh-CN" altLang="en-US" sz="1200" dirty="0">
                <a:solidFill>
                  <a:srgbClr val="303030"/>
                </a:solidFill>
                <a:latin typeface="Book Antiqua"/>
              </a:rPr>
              <a:t>准入叙事崩塌</a:t>
            </a:r>
          </a:p>
          <a:p>
            <a:pPr marL="274638" indent="-137319">
              <a:buFont typeface="Arial"/>
              <a:buChar char="•"/>
            </a:pPr>
            <a:endParaRPr sz="1200" b="0" dirty="0">
              <a:solidFill>
                <a:srgbClr val="303030"/>
              </a:solidFill>
              <a:latin typeface="Book Antiqua"/>
            </a:endParaRPr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00956-443D-6C8E-597B-49CDE720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C170A4-12F5-41DC-DF36-D3FD1B34ED7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4CD2B-D8CC-35E1-DD3F-8A477500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B4B2B-D622-B3EB-0856-497CF4B519C0}"/>
              </a:ext>
            </a:extLst>
          </p:cNvPr>
          <p:cNvSpPr/>
          <p:nvPr/>
        </p:nvSpPr>
        <p:spPr>
          <a:xfrm>
            <a:off x="3809047" y="2596896"/>
            <a:ext cx="4570857" cy="27432"/>
          </a:xfrm>
          <a:prstGeom prst="rect">
            <a:avLst/>
          </a:prstGeom>
          <a:solidFill>
            <a:srgbClr val="F48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B03A1-9D28-397D-6066-812BADCEC2E7}"/>
              </a:ext>
            </a:extLst>
          </p:cNvPr>
          <p:cNvSpPr txBox="1"/>
          <p:nvPr/>
        </p:nvSpPr>
        <p:spPr>
          <a:xfrm>
            <a:off x="914171" y="2706624"/>
            <a:ext cx="10360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Book Antiqua"/>
              </a:rPr>
              <a:t>A</a:t>
            </a:r>
            <a:r>
              <a:rPr lang="en-US" altLang="zh-CN" sz="2800" b="1" dirty="0">
                <a:solidFill>
                  <a:srgbClr val="FFFFFF"/>
                </a:solidFill>
                <a:latin typeface="Book Antiqua"/>
              </a:rPr>
              <a:t>ppendix</a:t>
            </a:r>
            <a:endParaRPr sz="2800" b="1" dirty="0">
              <a:solidFill>
                <a:srgbClr val="FFFFFF"/>
              </a:solidFill>
              <a:latin typeface="Book Antiqua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66AD1A05-02E5-5254-25A5-73C6FB2D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240" y="6364224"/>
            <a:ext cx="731520" cy="2560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0ADA60-5F15-4ABF-93F5-13FD3928DE2A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华文楷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华文楷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7253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 dirty="0" err="1">
                <a:solidFill>
                  <a:srgbClr val="00355F"/>
                </a:solidFill>
                <a:latin typeface="Book Antiqua"/>
              </a:rPr>
              <a:t>思源电气 | Fwd PE(26E): ~31x | Price: 202.0</a:t>
            </a:r>
            <a:endParaRPr sz="1800" b="1" dirty="0">
              <a:solidFill>
                <a:srgbClr val="00355F"/>
              </a:solidFill>
              <a:latin typeface="Book Antiqu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APPENDIX | 估值详情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39" y="6364224"/>
            <a:ext cx="10742911" cy="246888"/>
          </a:xfrm>
          <a:prstGeom prst="rect">
            <a:avLst/>
          </a:prstGeom>
          <a:noFill/>
        </p:spPr>
        <p:txBody>
          <a:bodyPr/>
          <a:lstStyle/>
          <a:p>
            <a:r>
              <a:rPr lang="zh-CN" altLang="en-US" sz="800" b="0" dirty="0">
                <a:solidFill>
                  <a:srgbClr val="707070"/>
                </a:solidFill>
                <a:latin typeface="Book Antiqua"/>
              </a:rPr>
              <a:t>注：</a:t>
            </a:r>
            <a:r>
              <a:rPr lang="en-US" altLang="zh-CN" sz="800" b="0" dirty="0">
                <a:solidFill>
                  <a:srgbClr val="707070"/>
                </a:solidFill>
                <a:latin typeface="Book Antiqua"/>
              </a:rPr>
              <a:t>2025</a:t>
            </a:r>
            <a:r>
              <a:rPr lang="en-US" sz="800" b="0" dirty="0">
                <a:solidFill>
                  <a:srgbClr val="707070"/>
                </a:solidFill>
                <a:latin typeface="Book Antiqua"/>
              </a:rPr>
              <a:t>A/2026E</a:t>
            </a:r>
            <a:r>
              <a:rPr lang="zh-CN" altLang="en-US" sz="800" b="0" dirty="0">
                <a:solidFill>
                  <a:srgbClr val="707070"/>
                </a:solidFill>
                <a:latin typeface="Book Antiqua"/>
              </a:rPr>
              <a:t>为市场一致预期</a:t>
            </a:r>
            <a:r>
              <a:rPr lang="zh-CN" altLang="en-US" sz="800" i="1" dirty="0">
                <a:solidFill>
                  <a:srgbClr val="808080"/>
                </a:solidFill>
              </a:rPr>
              <a:t>，所有</a:t>
            </a:r>
            <a:r>
              <a:rPr lang="en-US" altLang="zh-CN" sz="800" i="1" dirty="0">
                <a:solidFill>
                  <a:srgbClr val="808080"/>
                </a:solidFill>
              </a:rPr>
              <a:t>PE</a:t>
            </a:r>
            <a:r>
              <a:rPr lang="zh-CN" altLang="en-US" sz="800" i="1" dirty="0">
                <a:solidFill>
                  <a:srgbClr val="808080"/>
                </a:solidFill>
              </a:rPr>
              <a:t>均为</a:t>
            </a:r>
            <a:r>
              <a:rPr lang="en-US" altLang="zh-CN" sz="800" i="1" dirty="0">
                <a:solidFill>
                  <a:srgbClr val="808080"/>
                </a:solidFill>
              </a:rPr>
              <a:t>2026E Bloomberg</a:t>
            </a:r>
            <a:r>
              <a:rPr lang="zh-CN" altLang="en-US" sz="800" i="1" dirty="0">
                <a:solidFill>
                  <a:srgbClr val="808080"/>
                </a:solidFill>
              </a:rPr>
              <a:t>共识</a:t>
            </a:r>
            <a:r>
              <a:rPr lang="en-US" altLang="zh-CN" sz="800" i="1" dirty="0">
                <a:solidFill>
                  <a:srgbClr val="808080"/>
                </a:solidFill>
              </a:rPr>
              <a:t>Forward PE</a:t>
            </a:r>
            <a:r>
              <a:rPr lang="zh-CN" altLang="en-US" sz="800" i="1" dirty="0">
                <a:solidFill>
                  <a:srgbClr val="808080"/>
                </a:solidFill>
              </a:rPr>
              <a:t>；股价来源</a:t>
            </a:r>
            <a:r>
              <a:rPr lang="en-US" altLang="zh-CN" sz="800" i="1" dirty="0" err="1">
                <a:solidFill>
                  <a:srgbClr val="808080"/>
                </a:solidFill>
              </a:rPr>
              <a:t>yfinance</a:t>
            </a:r>
            <a:r>
              <a:rPr lang="zh-CN" altLang="en-US" sz="800" i="1" dirty="0">
                <a:solidFill>
                  <a:srgbClr val="808080"/>
                </a:solidFill>
              </a:rPr>
              <a:t>截至</a:t>
            </a:r>
            <a:r>
              <a:rPr lang="en-US" altLang="zh-CN" sz="800" i="1" dirty="0">
                <a:solidFill>
                  <a:srgbClr val="808080"/>
                </a:solidFill>
              </a:rPr>
              <a:t>2026-03-31</a:t>
            </a:r>
            <a:r>
              <a:rPr lang="zh-CN" altLang="en-US" sz="800" i="1" dirty="0">
                <a:solidFill>
                  <a:srgbClr val="808080"/>
                </a:solidFill>
              </a:rPr>
              <a:t>收盘价；</a:t>
            </a:r>
            <a:r>
              <a:rPr lang="en-US" altLang="zh-CN" sz="800" i="1" dirty="0">
                <a:solidFill>
                  <a:srgbClr val="808080"/>
                </a:solidFill>
              </a:rPr>
              <a:t>EPS</a:t>
            </a:r>
            <a:r>
              <a:rPr lang="zh-CN" altLang="en-US" sz="800" i="1" dirty="0">
                <a:solidFill>
                  <a:srgbClr val="808080"/>
                </a:solidFill>
              </a:rPr>
              <a:t>来源：</a:t>
            </a:r>
            <a:r>
              <a:rPr lang="en-US" altLang="zh-CN" sz="800" i="1" dirty="0">
                <a:solidFill>
                  <a:srgbClr val="808080"/>
                </a:solidFill>
              </a:rPr>
              <a:t>Bloomberg/</a:t>
            </a:r>
            <a:r>
              <a:rPr lang="en-US" altLang="zh-CN" sz="800" i="1" dirty="0" err="1">
                <a:solidFill>
                  <a:srgbClr val="808080"/>
                </a:solidFill>
              </a:rPr>
              <a:t>yfinance</a:t>
            </a:r>
            <a:r>
              <a:rPr lang="en-US" altLang="zh-CN" sz="800" i="1" dirty="0">
                <a:solidFill>
                  <a:srgbClr val="808080"/>
                </a:solidFill>
              </a:rPr>
              <a:t> consensus</a:t>
            </a:r>
            <a:r>
              <a:rPr lang="zh-CN" altLang="en-US" sz="800" i="1" dirty="0">
                <a:solidFill>
                  <a:srgbClr val="808080"/>
                </a:solidFill>
              </a:rPr>
              <a:t>。思源</a:t>
            </a:r>
            <a:r>
              <a:rPr lang="en-US" altLang="zh-CN" sz="800" i="1" dirty="0">
                <a:solidFill>
                  <a:srgbClr val="808080"/>
                </a:solidFill>
              </a:rPr>
              <a:t>2025A EPS=3.52(</a:t>
            </a:r>
            <a:r>
              <a:rPr lang="zh-CN" altLang="en-US" sz="800" i="1" dirty="0">
                <a:solidFill>
                  <a:srgbClr val="808080"/>
                </a:solidFill>
              </a:rPr>
              <a:t>已公告</a:t>
            </a:r>
            <a:r>
              <a:rPr lang="en-US" altLang="zh-CN" sz="800" i="1" dirty="0">
                <a:solidFill>
                  <a:srgbClr val="808080"/>
                </a:solidFill>
              </a:rPr>
              <a:t>)</a:t>
            </a:r>
            <a:r>
              <a:rPr lang="zh-CN" altLang="en-US" sz="800" i="1" dirty="0">
                <a:solidFill>
                  <a:srgbClr val="808080"/>
                </a:solidFill>
              </a:rPr>
              <a:t>，</a:t>
            </a:r>
            <a:r>
              <a:rPr lang="en-US" altLang="zh-CN" sz="800" i="1" dirty="0">
                <a:solidFill>
                  <a:srgbClr val="808080"/>
                </a:solidFill>
              </a:rPr>
              <a:t>2026E EPS=6.45</a:t>
            </a:r>
            <a:r>
              <a:rPr lang="zh-CN" altLang="en-US" sz="800" i="1" dirty="0">
                <a:solidFill>
                  <a:srgbClr val="808080"/>
                </a:solidFill>
              </a:rPr>
              <a:t>。</a:t>
            </a:r>
            <a:endParaRPr lang="en-US" sz="800" b="0" dirty="0">
              <a:solidFill>
                <a:srgbClr val="707070"/>
              </a:solidFill>
              <a:latin typeface="Book Antiqua"/>
            </a:endParaRPr>
          </a:p>
          <a:p>
            <a:pPr algn="l"/>
            <a:r>
              <a:rPr lang="en-US" sz="800" b="0" dirty="0">
                <a:solidFill>
                  <a:srgbClr val="707070"/>
                </a:solidFill>
                <a:latin typeface="Book Antiqua"/>
              </a:rPr>
              <a:t>Source: Bloomberg, Yahoo Finance, Goldman Sachs (26-Mar-2026)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0"/>
            <a:ext cx="3593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55F"/>
                </a:solidFill>
                <a:latin typeface="Book Antiqua"/>
              </a:rPr>
              <a:t>思源电气 Investment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69164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公司: 国内GIS龙头(002028.SZ)。2023年750kV突破，打破国企垄断。GIS收入占44%、毛利率36%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24599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驱动: ①特高压+新能源并网 ②750kV市占率第一 ③中东出海(毛利&gt;35%)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80035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2023: 750kV GIS首批交付，EPS 2.02(+27%)。市场重估技术突破价值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35470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2024: 中东大单落地，EPS 2.64(+31%)。PE扩张至40x+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390906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2025A: EPS 3.52(+33%)，产能利用率峰值。海外收入占比突破20%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46341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GS观点: Buy, TP ¥223.9。出口收入CAGR 43%(25-30E)，US数据中心已突破。28E PE 25x DCF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501777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估值: Fwd PE ~31x(26E，Bloomberg共识EPS 6.45 CNY)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557212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风险: A股输变电PE ~33.5x（近4年96th pct）；板块情绪退潮时难独善其身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8912" y="1371600"/>
          <a:ext cx="7443216" cy="2160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359374"/>
              </p:ext>
            </p:extLst>
          </p:nvPr>
        </p:nvGraphicFramePr>
        <p:xfrm>
          <a:off x="438912" y="3669030"/>
          <a:ext cx="7443216" cy="2411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84723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HD Hyundai E&amp;C | Fwd PE(26E): ~25x | Price: 832,000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APPENDIX | 估值详情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注：2025E/2026E为市场一致预期</a:t>
            </a:r>
          </a:p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Bloomberg, Yahoo Finance, Goldman Sachs (26-Mar-2026)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0"/>
            <a:ext cx="3593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55F"/>
                </a:solidFill>
                <a:latin typeface="Book Antiqua"/>
              </a:rPr>
              <a:t>HD Hyundai Investment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69164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公司: 韩国最大变压器出口商(267260.KS)，北美收入47%($17.8亿)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24599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驱动: ①全球变压器交期36个月+ ②北美老化替换刚需 ③Alabama工厂本土化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80035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2023: 北美订单爆发，EPS ₩7,200(+60%)。IRA推动电网投资加速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35470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2024: EPS ₩13,935(+94%)。Alabama工厂宣布，OPM从6.3%→24.4%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390906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2025E: EPS ₩19,621(+41%)。产能利用率近100%，backlog持续增长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46341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GS更新: 美国本土产能仅增2-4%(Siemens扩产)，需求上修9-12%(数据中心)——供需差扩大利好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501777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估值: Fwd PE ~25x(26E，yfinance)。关注交期正常化拐点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557212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风险: 全球变压器供需2027年再平衡时，PE可能从40x收缩至20-25x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8912" y="1371600"/>
          <a:ext cx="7443216" cy="2160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38912" y="3669030"/>
          <a:ext cx="7443216" cy="2411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376035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Hyosung Heavy | Fwd PE(26E): ~22x | Price: 2,456,000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APPENDIX | 估值详情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注：2025E/2026E为市场一致预期</a:t>
            </a:r>
          </a:p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Bloomberg, Yahoo Finance, Goldman Sachs (26-Mar-2026)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0"/>
            <a:ext cx="3593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55F"/>
                </a:solidFill>
                <a:latin typeface="Book Antiqua"/>
              </a:rPr>
              <a:t>Hyosung Investment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69164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公司: 孝星重工(298040.KS)。全球少数能造765kV级变压器，HVDC技术领先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24599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驱动: ①HVDC随远距离输电和海上风电爆发 ②Memphis 765kV美国工厂 ③HICO北美扭亏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80035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2023: EPS ₩12,455(+1035%)。Memphis工厂获批，HVDC订单激增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35470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2024: EPS ₩23,909(+92%)。HICO北美盈利~$30M。765kV投产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390906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2025E: EPS ₩51,392(+115%)。HVDC交付高峰，经营杠杆效应极强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46341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扩产: HVDC Changwon ~$217M(Jul-25) + Memphis二期$157mn(2028) + 产能翻倍$51mn(2027)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501777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估值: Fwd PE ~22x(26E，yfinance)。EPS弹性大但波动性高，典型高beta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557212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风险: HVDC项目周期3-5年，订单lumpy。2026年新订单放缓则EPS断崖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8912" y="1371600"/>
          <a:ext cx="7443216" cy="2160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38912" y="3669030"/>
          <a:ext cx="7443216" cy="2411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850574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Siemens Energy | Fwd PE(26E): ~26x | Price: 145.15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APPENDIX | 估值详情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注：2025E/2026E为市场一致预期</a:t>
            </a:r>
          </a:p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Bloomberg, Yahoo Finance, Goldman Sachs (26-Mar-2026)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0"/>
            <a:ext cx="3593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55F"/>
                </a:solidFill>
                <a:latin typeface="Book Antiqua"/>
              </a:rPr>
              <a:t>Siemens E. Investment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69164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公司: 2020年从西门子剥离(ENR.DE)。Grid Tech核心引擎，Backlog €1,230亿新高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24599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驱动: ①Grid Tech收入+34%/利润率15.8% ②Gamesa出清 ③US $1bn多州扩产(Feb-26)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80035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2023: Gamesa减值€46亿，EPS -€5.47。股价腰斩，恐慌抛售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35470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2024: Grid Tech爆发，Gamesa收窄。EPS转正€1.37。股价低点反弹300%+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390906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FY25A: EPS €1.63(+19%)。Grid Tech利润率持续改善。NC大变压器产能+2-4%(GS估算)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46341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GS更新: NC扩产$421mn，US本土产能仅增2-4%。但需求上修9-12%——供需差持续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501777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估值: Fwd PE ~26x(FY26E，yfinance)。市场price-in Grid Tech但Gamesa仍折价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557212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风险: Gamesa退出最终成本不确定；Grid Tech增速放缓则估值缺安全边际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8912" y="1371600"/>
          <a:ext cx="7443216" cy="2160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38912" y="3669030"/>
          <a:ext cx="7443216" cy="2411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565836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GE Vernova | Fwd PE(26E): ~37x | Price: 846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APPENDIX | 估值详情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注：2025E/2026E为市场一致预期</a:t>
            </a:r>
          </a:p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Bloomberg, Yahoo Finance, Goldman Sachs (26-Mar-2026)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0"/>
            <a:ext cx="3593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55F"/>
                </a:solidFill>
                <a:latin typeface="Book Antiqua"/>
              </a:rPr>
              <a:t>GE Vernova Investment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69164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公司: 2024/4从GE拆分(GEV)。美国最大电网设备商，Electrification $75亿(+18%)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24599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驱动: ①AI数据中心(100MW→1座110kV变电站) ②$600亿backlog翻倍目标 ③越南Hai Phong $200mn新厂(Mar-26)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80035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2024 Apr: IPO $115，首日+26%。定位'AI电力纯正标的'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35470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2024-25: 股价$115→$853(+642%)。EPS 5.65→7.29(+29%)。TTM PE高峰&gt;80x（IPO初期低EPS基数），Fwd PE(26E)约37x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390906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GS更新: US需求上修9-12%(数据中心)，Hai Phong 2028投产(HVDC为主)——进一步锁定长期增长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46341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估值: Fwd PE ~37x(26E，yfinance consensus大幅上调EPS)。AI叙事+盈利实现中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501777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风险: AI capex放缓或电力需求下修，PE收缩空间&gt;50%。估值最脆弱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557212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对比: 同样是北美电网，思源26E Fwd PE仅~31x但EPS CAGR 37% vs GEV 44%——溢价主要来自'纯美股AI标的'身份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8912" y="1371600"/>
          <a:ext cx="7443216" cy="2160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38912" y="3669030"/>
          <a:ext cx="7443216" cy="2411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074864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TBEA | Fwd PE(26E): ~21x | Price: 26.5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APPENDIX | 估值详情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注：2025E/2026E为市场一致预期</a:t>
            </a:r>
          </a:p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Bloomberg, Yahoo Finance, Goldman Sachs (26-Mar-2026)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0"/>
            <a:ext cx="3593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55F"/>
                </a:solidFill>
                <a:latin typeface="Book Antiqua"/>
              </a:rPr>
              <a:t>TBEA Investment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69164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公司: 中国最大变压器(600089.SS)，产能500GVA(=GE ~3×)。兼第二大多晶硅商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245995"/>
            <a:ext cx="35935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20396D"/>
                </a:solidFill>
                <a:latin typeface="Book Antiqua"/>
              </a:rPr>
              <a:t>驱动: ①全球最大HV产能 ②沙特SEC ¥164亿大单 ③多晶硅周期</a:t>
            </a:r>
            <a:endParaRPr sz="1200" dirty="0">
              <a:solidFill>
                <a:srgbClr val="303030"/>
              </a:solidFill>
              <a:latin typeface="Book Antiqu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56448" y="280035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2023: 多晶硅暴跌(¥30万→¥5万/吨)。EPS ¥2.39(-42%)。输变电增长被对冲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35470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2024: 多晶硅继续恶化。EPS ¥0.80(-67%)。净利率12%→3.7%。'周期股折价'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390906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2025E: 多晶硅触底，沙特交付。EPS ¥1.24(+55%)但远低于2022峰值¥4.13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46341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结构: 输变电部分单独看PE可能仅8-10x(被多晶硅拖累)——是隐含的估值洼地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501777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估值: Fwd PE ~21x(26E，yfinance)。downside有限，输变电提供底部支撑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557212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催化: 若多晶硅业务分拆或出售，将释放输变电业务的真实估值——当前市场定价完全忽略了这一可能性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8912" y="1371600"/>
          <a:ext cx="7443216" cy="2160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38912" y="3669030"/>
          <a:ext cx="7443216" cy="2411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807531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China XD | Fwd PE(26E): ~41x | Price: 15.2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APPENDIX | 估值详情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246888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注：2025E/2026E为市场一致预期</a:t>
            </a:r>
          </a:p>
          <a:p>
            <a:pPr algn="l"/>
            <a:r>
              <a:rPr sz="800" b="0">
                <a:solidFill>
                  <a:srgbClr val="707070"/>
                </a:solidFill>
                <a:latin typeface="Book Antiqua"/>
              </a:rPr>
              <a:t>Source: Bloomberg, Yahoo Finance, Goldman Sachs (26-Mar-2026)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1371600"/>
            <a:ext cx="3593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55F"/>
                </a:solidFill>
                <a:latin typeface="Book Antiqua"/>
              </a:rPr>
              <a:t>China XD Investment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69164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公司: 中国西电集团(601179.SS)。央企，特高压换流变份额27%第一，唯一±1100kV技术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24599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驱动: ①UHVDC换流变技术垄断 ②西安园区2025/10投产(产能翻倍) ③十四五电网投资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80035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2023: 特高压订单放量，EPS ¥0.18(+50%)。±1100kV验证成功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354705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2024: EPS ¥0.21(+17%)。西安园区开工，市场预期H2产能释放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3909060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2025E: EPS ¥0.30(+43%)。园区10月竣工，换流阀+GIS新产能上线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4523994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20396D"/>
                </a:solidFill>
                <a:latin typeface="Book Antiqua"/>
              </a:rPr>
              <a:t>估值: Fwd PE ~41x(26E，yfinance)。特高压确定性高但央企效率制约ROE</a:t>
            </a:r>
            <a:endParaRPr sz="1200" dirty="0">
              <a:solidFill>
                <a:srgbClr val="303030"/>
              </a:solidFill>
              <a:latin typeface="Book Antiqu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56448" y="5209222"/>
            <a:ext cx="3593591" cy="5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 err="1">
                <a:solidFill>
                  <a:srgbClr val="20396D"/>
                </a:solidFill>
                <a:latin typeface="Book Antiqua"/>
              </a:rPr>
              <a:t>风险: 央企机制限制利润率提升；特高压投资节奏受政策影响大</a:t>
            </a:r>
            <a:endParaRPr sz="1200" dirty="0">
              <a:solidFill>
                <a:srgbClr val="303030"/>
              </a:solidFill>
              <a:latin typeface="Book Antiqua"/>
            </a:endParaRP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38912" y="1371600"/>
          <a:ext cx="7443216" cy="2160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38912" y="3669030"/>
          <a:ext cx="7443216" cy="2411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540565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可比公司估值汇总表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APPENDIX | 估值汇总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" y="1463040"/>
          <a:ext cx="7443216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0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4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04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04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公司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股价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24A EPS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25E EPS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26E EPS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Tr. PE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Fwd PE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Book Antiqua"/>
                        </a:rPr>
                        <a:t>3Y CAGR</a:t>
                      </a:r>
                    </a:p>
                  </a:txBody>
                  <a:tcPr>
                    <a:solidFill>
                      <a:srgbClr val="0035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思源电气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202.0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2.64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3.52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6.45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57.4x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~31x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47%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HD Hyundai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832,000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13,935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19,621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33,280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59.7x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63%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Hyosung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2,456,000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23,909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51,392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113,704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102.7x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~22x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260%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Siemens 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145.15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105.4x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N/M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GE Vernova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846.1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5.65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7.29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10.50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151.0x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~37x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N/M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TBEA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26.5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35.3x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~21x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-33%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China XD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15.2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0.21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0.30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0.38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76.5x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~41x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03030"/>
                          </a:solidFill>
                          <a:latin typeface="Book Antiqua"/>
                        </a:rPr>
                        <a:t>36%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56448" y="1371600"/>
            <a:ext cx="3593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55F"/>
                </a:solidFill>
                <a:latin typeface="Book Antiqua"/>
              </a:rPr>
              <a:t>Summary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1691640"/>
            <a:ext cx="3593591" cy="1108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估值分层: GEV(~37x) ~ LS/XD(~36-41x) ~ 思源(~31x) ~ Siemens(~26x) ~ HD(~25x) ~ Hyosung/TBEA(~21-22x)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800350"/>
            <a:ext cx="3593591" cy="1108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EPS增速: 韩国3Y CAGR&gt;60%最高，思源47%，TBEA多晶硅拖累为负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909060"/>
            <a:ext cx="3593591" cy="1108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GS估值: 思源TP ¥223.9(28E PE 25x)；当前价¥202(yfinance)，GS TP ¥223.9，上行空间~11%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5017770"/>
            <a:ext cx="3593591" cy="1108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核心: 思源Fwd PE ~31x + EPS确定性 vs GEV ~37x（consensus EPS大幅上修）——思源估值更合理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10528"/>
            <a:ext cx="1164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i="1" dirty="0">
                <a:solidFill>
                  <a:srgbClr val="808080"/>
                </a:solidFill>
              </a:rPr>
              <a:t>注：所有PE均为</a:t>
            </a:r>
            <a:r>
              <a:rPr sz="650" i="1">
                <a:solidFill>
                  <a:srgbClr val="808080"/>
                </a:solidFill>
              </a:rPr>
              <a:t>2026E Bloomberg共识Forward </a:t>
            </a:r>
            <a:r>
              <a:rPr sz="650" i="1" dirty="0">
                <a:solidFill>
                  <a:srgbClr val="808080"/>
                </a:solidFill>
              </a:rPr>
              <a:t>PE；股价来源yfinance截至2026-03-31收盘价；EPS来源：Bloomberg/</a:t>
            </a:r>
            <a:r>
              <a:rPr sz="650" i="1" dirty="0" err="1">
                <a:solidFill>
                  <a:srgbClr val="808080"/>
                </a:solidFill>
              </a:rPr>
              <a:t>yfinance</a:t>
            </a:r>
            <a:r>
              <a:rPr sz="650" i="1" dirty="0">
                <a:solidFill>
                  <a:srgbClr val="808080"/>
                </a:solidFill>
              </a:rPr>
              <a:t> consensus。思源2025A EPS=3.52(</a:t>
            </a:r>
            <a:r>
              <a:rPr sz="650" i="1" dirty="0" err="1">
                <a:solidFill>
                  <a:srgbClr val="808080"/>
                </a:solidFill>
              </a:rPr>
              <a:t>已公告</a:t>
            </a:r>
            <a:r>
              <a:rPr sz="650" i="1" dirty="0">
                <a:solidFill>
                  <a:srgbClr val="808080"/>
                </a:solidFill>
              </a:rPr>
              <a:t>)，2026E EPS=6.45。</a:t>
            </a:r>
          </a:p>
        </p:txBody>
      </p:sp>
    </p:spTree>
    <p:extLst>
      <p:ext uri="{BB962C8B-B14F-4D97-AF65-F5344CB8AC3E}">
        <p14:creationId xmlns:p14="http://schemas.microsoft.com/office/powerpoint/2010/main" val="12404807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全球变压器定价趋势 — US PPI翻倍，中国出口ASP +53% YoY (220-330MVA)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APPENDIX | 变压器定价趋势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注：Exhibit 1 from GS Power Transformer Tracker</a:t>
            </a:r>
          </a:p>
          <a:p>
            <a:pPr algn="l"/>
            <a:r>
              <a:rPr sz="80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Source: Goldman Sachs (26-Mar-2026), FRED, China Customs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56448" y="1371600"/>
            <a:ext cx="3593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55F"/>
                </a:solidFill>
                <a:latin typeface="Book Antiqua"/>
              </a:rPr>
              <a:t>GS Key Findings (Mar-26)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1691640"/>
            <a:ext cx="3593591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US供需差扩大: 原估57%缺口→现修正至~60%(2028E)。本土产能仅增2-4%(Siemens NC扩产)，但需求上修9-12%(数据中心)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430780"/>
            <a:ext cx="3593591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US PPI翻倍: 变压器PPI自2020年基数翻倍，2025年底继续小幅上行。2026 YTD +6% YoY，价格维持历史新高平台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169920"/>
            <a:ext cx="3593591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中国出口ASP: 220-330MVA品类3个月滚动均价+53% YoY(Dec-Feb)，整体出口ASP +6% YoY。量价齐升趋势确认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3909060"/>
            <a:ext cx="3593591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出口加速: 2026年1-2月中国变压器(&gt;10MVA)出口额¥44亿(+61% YoY)，对美出口+182% YoY。美国占中国出口~4%但增速最快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648200"/>
            <a:ext cx="3593591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扩产时间线: GEV越南$200mn(2028投产)/Siemens US $1bn多州(2028+)/Hitachi VA $457mn(2027)——2027前新增产能有限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5387340"/>
            <a:ext cx="3593591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思源受益: GS明确将Sieyuan列为出口机会首选(Buy)，出口收入CAGR 43%(25-30E)。US数据中心已有突破性订单</a:t>
            </a:r>
          </a:p>
        </p:txBody>
      </p:sp>
      <p:pic>
        <p:nvPicPr>
          <p:cNvPr id="7" name="Picture 6" descr="exhibit1_cropped.png"/>
          <p:cNvPicPr>
            <a:picLocks noChangeAspect="1"/>
          </p:cNvPicPr>
          <p:nvPr/>
        </p:nvPicPr>
        <p:blipFill>
          <a:blip r:embed="rId2"/>
          <a:srcRect l="6471" r="6471"/>
          <a:stretch>
            <a:fillRect/>
          </a:stretch>
        </p:blipFill>
        <p:spPr>
          <a:xfrm>
            <a:off x="438912" y="1463040"/>
            <a:ext cx="7443216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752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" y="576072"/>
            <a:ext cx="10122408" cy="402336"/>
          </a:xfrm>
        </p:spPr>
        <p:txBody>
          <a:bodyPr/>
          <a:lstStyle/>
          <a:p>
            <a:pPr algn="l"/>
            <a:r>
              <a:rPr sz="1800" b="1">
                <a:solidFill>
                  <a:srgbClr val="00355F"/>
                </a:solidFill>
                <a:latin typeface="Book Antiqua"/>
              </a:rPr>
              <a:t>US变压器需求上修9-12%（数据中心），产能仅增2-4%（Siemens扩产）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28803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07070"/>
                </a:solidFill>
                <a:latin typeface="Book Antiqua"/>
              </a:rPr>
              <a:t>APPENDIX | US供需预测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" y="576072"/>
            <a:ext cx="54864" cy="402336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364224"/>
            <a:ext cx="9756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注：Exhibits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 7-8 from GS Power Transformer Tracker</a:t>
            </a:r>
          </a:p>
          <a:p>
            <a:pPr algn="l"/>
            <a:r>
              <a:rPr sz="800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Source: Goldman Sachs (26-Mar-2026), Company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73568" y="1325880"/>
            <a:ext cx="0" cy="4846320"/>
          </a:xfrm>
          <a:prstGeom prst="line">
            <a:avLst/>
          </a:prstGeom>
          <a:ln w="1270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10727" y="1325880"/>
            <a:ext cx="3639311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56448" y="1371600"/>
            <a:ext cx="35935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55F"/>
                </a:solidFill>
                <a:latin typeface="Book Antiqua"/>
              </a:rPr>
              <a:t>GS供需分析要点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1691640"/>
            <a:ext cx="3593591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需求上修: US团队2月上修数据中心电力需求贡献，变压器需求2027-28E增9-12%。AIDC需求从2024年$4bn→2028E $10bn+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578608"/>
            <a:ext cx="3593591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产能有限: Siemens NC扩产仅使US本土产能增2-4%。GEV越南2028/Hitachi VA 2027才投产——2027前格局不变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465576"/>
            <a:ext cx="3593591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产能构成: US本土产能:Hitachi Energy&gt;Prolec GE&gt;Hyosung Heavy&gt;Virginia&gt;Pennsylvania。韩企(HD+Hyosung)正加速本土化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352544"/>
            <a:ext cx="3593591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窗口确认: Expansion is lagging demand growth — 非传统供应商(韩国/巴西/土耳其/中国)的机会窗口持续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5239512"/>
            <a:ext cx="3593591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396D"/>
                </a:solidFill>
                <a:latin typeface="Book Antiqua"/>
              </a:rPr>
              <a:t>对我们的含义: 验证我们'2024-2028黄金窗口'判断。GS从卖方角度确认了供需差扩大趋势，且中国出口数据(+61%)正在加速兑现</a:t>
            </a:r>
          </a:p>
        </p:txBody>
      </p:sp>
      <p:pic>
        <p:nvPicPr>
          <p:cNvPr id="7" name="Picture 6" descr="exhibit7_8_cropped.png"/>
          <p:cNvPicPr>
            <a:picLocks noChangeAspect="1"/>
          </p:cNvPicPr>
          <p:nvPr/>
        </p:nvPicPr>
        <p:blipFill>
          <a:blip r:embed="rId2"/>
          <a:srcRect t="2140" b="2140"/>
          <a:stretch>
            <a:fillRect/>
          </a:stretch>
        </p:blipFill>
        <p:spPr>
          <a:xfrm>
            <a:off x="438912" y="1463040"/>
            <a:ext cx="7443216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106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LANGUAGE_ID" val="1033"/>
  <p:tag name="THINKCELLUNDODONOTDELETE" val="0"/>
  <p:tag name="THINKCELLPRESENTATIONDONOTDELETE" val="&lt;?xml version=&quot;1.0&quot; encoding=&quot;UTF-16&quot; standalone=&quot;yes&quot;?&gt;&lt;root reqver=&quot;32687&quot;&gt;&lt;version val=&quot;3860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1.00000000000000000000E+00&quot;&gt;&lt;m_msothmcolidx val=&quot;0&quot;/&gt;&lt;m_rgb r=&quot;FF&quot; g=&quot;CE&quot; b=&quot;CE&quot;/&gt;&lt;/elem&gt;&lt;elem m_fUsage=&quot;9.00000000000000022204E-01&quot;&gt;&lt;m_msothmcolidx val=&quot;0&quot;/&gt;&lt;m_rgb r=&quot;FF&quot; g=&quot;6C&quot; b=&quot;6C&quot;/&gt;&lt;/elem&gt;&lt;elem m_fUsage=&quot;8.10000000000000053291E-01&quot;&gt;&lt;m_msothmcolidx val=&quot;0&quot;/&gt;&lt;m_rgb r=&quot;DB&quot; g=&quot;41&quot; b=&quot;06&quot;/&gt;&lt;/elem&gt;&lt;elem m_fUsage=&quot;7.29000000000000092371E-01&quot;&gt;&lt;m_msothmcolidx val=&quot;0&quot;/&gt;&lt;m_rgb r=&quot;C7&quot; g=&quot;FF&quot; b=&quot;8E&quot;/&gt;&lt;/elem&gt;&lt;elem m_fUsage=&quot;6.56100000000000127542E-01&quot;&gt;&lt;m_msothmcolidx val=&quot;0&quot;/&gt;&lt;m_rgb r=&quot;A1&quot; g=&quot;E2&quot; b=&quot;6F&quot;/&gt;&lt;/elem&gt;&lt;elem m_fUsage=&quot;5.90490000000000070379E-01&quot;&gt;&lt;m_msothmcolidx val=&quot;0&quot;/&gt;&lt;m_rgb r=&quot;53&quot; g=&quot;F9&quot; b=&quot;1C&quot;/&gt;&lt;/elem&gt;&lt;/m_vecMRU&gt;&lt;/m_mruColor&gt;&lt;m_eweekdayFirstOfWeek val=&quot;2&quot;/&gt;&lt;m_eweekdayFirstOfWorkweek val=&quot;2&quot;/&gt;&lt;m_eweekdayFirstOfWeekend val=&quot;7&quot;/&gt;&lt;/CPresentation&gt;&lt;/root&gt;"/>
  <p:tag name="EE4P_STYLE_ID" val="9245cb48-36f6-4855-a0c3-19564cc8b6bc"/>
  <p:tag name="EE4P_AGENDAWIZARD" val="&lt;ee4p&gt;&#10;    &lt;layouts&gt;&#10;        &lt;layout name=&quot;Box 1&quot; id=&quot;1_1&quot;&gt;&#10;            &lt;standard&gt;&#10;                &lt;textframe marginTop=&quot;6&quot; horizontalAnchor=&quot;1&quot; marginLeft=&quot;0&quot; marginBottom=&quot;6&quot; marginRight=&quot;0&quot; orientation=&quot;1&quot; verticalAnchor=&quot;1&quot;/&gt;&#10;                &lt;font bold=&quot;0&quot; name=&quot;+mn-lt&quot; italic=&quot;0&quot; color=&quot;13&quot;/&gt;&#10;                &lt;paragraphformat lineRuleAfter=&quot;&quot; lineRuleBefore=&quot;&quot; leftIndent=&quot;0&quot; rightIndent=&quot;0&quot; firstLineIndent=&quot;0&quot; lineRuleWithin=&quot;&quot; spaceWithin=&quot;&quot; spaceBefore=&quot;&quot; spaceAfter=&quot;&quot;/&gt;&#10;                &lt;fill visible=&quot;0&quot;/&gt;&#10;                &lt;line visible=&quot;0&quot;/&gt;&#10;                &lt;shadow visible=&quot;0&quot;/&gt;&#10;                &lt;bulletformat visible=&quot;0&quot;/&gt;&#10;            &lt;/standard&gt;&#10;            &lt;agenda createSingleAgendaSlide=&quot;1&quot; createSeparatingSlides=&quot;1&quot; subtitle=&quot;&quot; startItemNo=&quot;1&quot; fontSizeAuto=&quot;1&quot; title=&quot;Agenda&quot; createBackupSlide=&quot;1&quot; sizingModeId=&quot;2&quot; fontSize=&quot;16&quot; startTime=&quot;540&quot; name=&quot;New Agenda&quot; timeFormatId=&quot;1&quot;/&gt;&#10;            &lt;columns&gt;&#10;                &lt;column checked=&quot;1&quot; rightSpacing=&quot;0&quot; fixedWidth=&quot;31.50472&quot; field=&quot;itemno&quot; label=&quot;No.&quot; leftSpacing=&quot;0&quot; dock=&quot;1&quot;/&gt;&#10;                &lt;column dock=&quot;1&quot; label=&quot;Topic&quot; leftSpacing=&quot;5&quot; field=&quot;topic&quot; rightDistribute=&quot;1&quot;/&gt;&#10;                &lt;column checked=&quot;1&quot; visible=&quot;1&quot; field=&quot;responsible&quot; label=&quot;Responsible&quot; leftSpacing=&quot;10&quot; rightDistribute=&quot;1&quot; dock=&quot;1&quot;/&gt;&#10;                &lt;column checked=&quot;0&quot; visible=&quot;1&quot; field=&quot;freecolumn&quot; label=&quot;&quot; leftSpacing=&quot;10&quot; rightDistribute=&quot;1&quot; dock=&quot;1&quot;/&gt;&#10;                &lt;column checked=&quot;1&quot; rightSpacing=&quot;6&quot; visible=&quot;1&quot; field=&quot;timeslot&quot; label=&quot;Time Slot&quot; leftSpacing=&quot;10&quot; dock=&quot;2&quot;/&gt;&#10;                &lt;column checked=&quot;0&quot; rightSpacing=&quot;6&quot; visible=&quot;1&quot; field=&quot;pageno&quot; label=&quot;Page No.&quot; leftSpacing=&quot;10&quot; dock=&quot;2&quot;/&gt;&#10;            &lt;/columns&gt;&#10;            &lt;position top=&quot;135.25&quot; width=&quot;878.8124&quot; left=&quot;40.49992&quot; height=&quot;350.25&quot;/&gt;&#10;            &lt;settings backupSlideTitle=&quot;Backup: %agendaName%&quot; allowedTimeFormatIds=&quot;1|2|3&quot; allowedLevels=&quot;4&quot; customLayoutName=&quot;Nur Titel|Title Only&quot; itemNoFormats=&quot;{1}¦{1}.{2}¦{3:alphaLC}¦{3:alphaLC}.{4:alphaLC}&quot; topMargin=&quot;0&quot; allowedFontSizes=&quot;8|9|10|10.5|11|12|14|16|18&quot; singleAgendaSlideSelected=&quot;0&quot; slideLayout=&quot;11&quot; customLayoutIndex=&quot;&quot; allowedSizingModeIds=&quot;1|2&quot; showBreak=&quot;1&quot; leftMargin=&quot;0&quot;/&gt;&#10;            &lt;cases&gt;&#10;                &lt;case topMaxSpacing=&quot;5&quot; level=&quot;1&quot; selected=&quot;0&quot; bottomMinSpacing=&quot;0&quot; topMinSpacing=&quot;5&quot; break=&quot;0&quot; bottomMaxSpacing=&quot;0&quot;&gt;&#10;                    &lt;element indent=&quot;(level-1)*(itemSingleHeight+topicLeftSpacing)&quot; autoShapeType=&quot;1&quot; type=&quot;autoshape&quot; field=&quot;itemno&quot; indentType=&quot;1&quot;&gt;&#10;                        &lt;textframe marginLeft=&quot;6&quot; verticalAnchor=&quot;3&quot; marginRight=&quot;6&quot;/&gt;&#10;                        &lt;paragraphformat alignment=&quot;2&quot;/&gt;&#10;                        &lt;fill foreColor=&quot;5&quot; visible=&quot;1&quot;/&gt;&#10;                        &lt;font color=&quot;14&quot; bold=&quot;1&quot;/&gt;&#10;                    &lt;/element&gt;&#10;                    &lt;element indent=&quot;(level-1)*(itemSingleHeight+topicLeftSpacing)&quot; autoShapeType=&quot;1&quot; type=&quot;autoshape&quot; field=&quot;topic&quot; indentType=&quot;2&quot;&gt;&#10;                        &lt;paragraphformat alignment=&quot;1&quot;/&gt;&#10;                        &lt;textframe marginLeft=&quot;6&quot;/&gt;&#10;                        &lt;font bold=&quot;1&quot;/&gt;&#10;                    &lt;/element&gt;&#10;                    &lt;element indent=&quot;(level-1)*(itemSingleHeight+topicLeftSpacing)&quot; autoShapeType=&quot;1&quot; type=&quot;autoshape&quot; field=&quot;responsible&quot; indentType=&quot;1&quot;&gt;&#10;                        &lt;paragraphformat alignment=&quot;1&quot;/&gt;&#10;                    &lt;/element&gt;&#10;                    &lt;element indent=&quot;(level-1)*(itemSingleHeight+topicLeftSpacing)&quot; autoShapeType=&quot;1&quot; type=&quot;autoshape&quot; field=&quot;freecolumn&quot; indentType=&quot;1&quot;&gt;&#10;                        &lt;paragraphformat alignment=&quot;1&quot;/&gt;&#10;                    &lt;/element&gt;&#10;                    &lt;element field=&quot;timeslot&quot; type=&quot;autoshape&quot; autoShapeType=&quot;1&quot;&gt;&#10;                        &lt;paragraphformat alignment=&quot;1&quot;/&gt;&#10;                    &lt;/element&gt;&#10;                    &lt;element field=&quot;pageno&quot; type=&quot;autoshape&quot; autoShapeType=&quot;1&quot;&gt;&#10;                        &lt;paragraphformat alignment=&quot;3&quot;/&gt;&#10;                    &lt;/element&gt;&#10;                &lt;/case&gt;&#10;                &lt;case topMaxSpacing=&quot;5&quot; level=&quot;1&quot; selected=&quot;1&quot; bottomMinSpacing=&quot;0&quot; topMinSpacing=&quot;5&quot; break=&quot;0&quot; bottomMaxSpacing=&quot;0&quot;&gt;&#10;                    &lt;element type=&quot;autoshape&quot; autoShapeType=&quot;1&quot; value=&quot;&quot;&gt;&#10;                        &lt;position top=&quot;0&quot; width=&quot;agendaWidth-topicLeftSpacing-itemNoWidth-(level-1)*(itemSingleHeight+topicLeftSpacing)&quot; left=&quot;level*(itemSingleHeight+topicLeftSpacing)&quot; height=&quot;itemHeight&quot;/&gt;&#10;                        &lt;fill foreColor=&quot;#D9D9D9&quot; visible=&quot;1&quot;/&gt;&#10;                    &lt;/element&gt;&#10;                    &lt;element indent=&quot;(level-1)*(itemSingleHeight+topicLeftSpacing)&quot; autoShapeType=&quot;1&quot; type=&quot;autoshape&quot; field=&quot;itemno&quot; indentType=&quot;1&quot;&gt;&#10;                        &lt;textframe marginLeft=&quot;6&quot; verticalAnchor=&quot;3&quot; marginRight=&quot;6&quot;/&gt;&#10;                        &lt;paragraphformat alignment=&quot;2&quot;/&gt;&#10;                        &lt;fill foreColor=&quot;5&quot; visible=&quot;1&quot;/&gt;&#10;                        &lt;font color=&quot;14&quot; bold=&quot;1&quot;/&gt;&#10;                    &lt;/element&gt;&#10;                    &lt;element indent=&quot;(level-1)*(itemSingleHeight+topicLeftSpacing)&quot; autoShapeType=&quot;1&quot; type=&quot;autoshape&quot; field=&quot;topic&quot; indentType=&quot;2&quot;&gt;&#10;                        &lt;paragraphformat alignment=&quot;1&quot;/&gt;&#10;                        &lt;font bold=&quot;1&quot;/&gt;&#10;                        &lt;textframe marginLeft=&quot;6&quot;/&gt;&#10;                    &lt;/element&gt;&#10;                    &lt;element indent=&quot;(level-1)*(itemSingleHeight+topicLeftSpacing)&quot; autoShapeType=&quot;1&quot; type=&quot;autoshape&quot; field=&quot;responsible&quot; indentType=&quot;1&quot;&gt;&#10;                        &lt;paragraphformat alignment=&quot;1&quot;/&gt;&#10;                    &lt;/element&gt;&#10;                    &lt;element indent=&quot;(level-1)*(itemSingleHeight+topicLeftSpacing)&quot; autoShapeType=&quot;1&quot; type=&quot;autoshape&quot; field=&quot;freecolumn&quot; indentType=&quot;1&quot;&gt;&#10;                        &lt;paragraphformat alignment=&quot;1&quot;/&gt;&#10;                    &lt;/element&gt;&#10;                    &lt;element field=&quot;timeslot&quot; type=&quot;autoshape&quot; autoShapeType=&quot;1&quot;&gt;&#10;                        &lt;paragraphformat alignment=&quot;1&quot;/&gt;&#10;                    &lt;/element&gt;&#10;                    &lt;element field=&quot;pageno&quot; type=&quot;autoshape&quot; autoShapeType=&quot;1&quot;&gt;&#10;                        &lt;paragraphformat alignment=&quot;3&quot;/&gt;&#10;                    &lt;/element&gt;&#10;                &lt;/case&gt;&#10;                &lt;case topMaxSpacing=&quot;5&quot; level=&quot;1&quot; selected=&quot;0&quot; bottomMinSpacing=&quot;0&quot; topMinSpacing=&quot;5&quot; break=&quot;1&quot; bottomMaxSpacing=&quot;0&quot;&gt;&#10;                    &lt;element indent=&quot;(level-1)*(itemSingleHeight+topicLeftSpacing)&quot; autoShapeType=&quot;1&quot; type=&quot;autoshape&quot; field=&quot;topic&quot; indentType=&quot;2&quot;&gt;&#10;                        &lt;paragraphformat alignment=&quot;1&quot;/&gt;&#10;                        &lt;textframe marginLeft=&quot;6&quot;/&gt;&#10;                        &lt;font bold=&quot;1&quot; italic=&quot;1&quot;/&gt;&#10;                    &lt;/element&gt;&#10;                    &lt;element indent=&quot;(level-1)*(itemSingleHeight+topicLeftSpacing)&quot; autoShapeType=&quot;1&quot; type=&quot;autoshape&quot; field=&quot;responsible&quot; indentType=&quot;1&quot;&gt;&#10;                        &lt;paragraphformat alignment=&quot;1&quot;/&gt;&#10;                        &lt;font italic=&quot;1&quot;/&gt;&#10;                    &lt;/element&gt;&#10;                    &lt;element indent=&quot;(level-1)*(itemSingleHeight+topicLeftSpacing)&quot; autoShapeType=&quot;1&quot; type=&quot;autoshape&quot; field=&quot;freecolumn&quot; indentType=&quot;1&quot;&gt;&#10;                        &lt;paragraphformat alignment=&quot;1&quot;/&gt;&#10;                        &lt;font italic=&quot;1&quot;/&gt;&#10;                    &lt;/element&gt;&#10;                    &lt;element field=&quot;timeslot&quot; type=&quot;autoshape&quot; autoShapeType=&quot;1&quot;&gt;&#10;                        &lt;paragraphformat alignment=&quot;1&quot;/&gt;&#10;                        &lt;font italic=&quot;1&quot;/&gt;&#10;                    &lt;/element&gt;&#10;                    &lt;element field=&quot;pageno&quot; type=&quot;autoshape&quot; autoShapeType=&quot;1&quot;&gt;&#10;                        &lt;paragraphformat alignment=&quot;3&quot;/&gt;&#10;                        &lt;font italic=&quot;1&quot;/&gt;&#10;                    &lt;/element&gt;&#10;                &lt;/case&gt;&#10;                &lt;case topMaxSpacing=&quot;5&quot; level=&quot;1&quot; selected=&quot;1&quot; bottomMinSpacing=&quot;0&quot; topMinSpacing=&quot;5&quot; break=&quot;1&quot; bottomMaxSpacing=&quot;0&quot;&gt;&#10;                    &lt;element type=&quot;autoshape&quot; autoShapeType=&quot;1&quot; value=&quot;&quot;&gt;&#10;                        &lt;position top=&quot;0&quot; width=&quot;agendaWidth-topicLeftSpacing-itemNoWidth-(level-1)*(itemSingleHeight+topicLeftSpacing)&quot; left=&quot;level*(itemSingleHeight+topicLeftSpacing)&quot; height=&quot;itemHeight&quot;/&gt;&#10;                        &lt;fill foreColor=&quot;#D9D9D9&quot; visible=&quot;1&quot;/&gt;&#10;                    &lt;/element&gt;&#10;                    &lt;element indent=&quot;(level-1)*(itemSingleHeight+topicLeftSpacing)&quot; autoShapeType=&quot;1&quot; type=&quot;autoshape&quot; field=&quot;topic&quot; indentType=&quot;2&quot;&gt;&#10;                        &lt;paragraphformat alignment=&quot;1&quot;/&gt;&#10;                        &lt;font bold=&quot;1&quot; italic=&quot;1&quot;/&gt;&#10;                        &lt;textframe marginLeft=&quot;6&quot;/&gt;&#10;                    &lt;/element&gt;&#10;                    &lt;element indent=&quot;(level-1)*(itemSingleHeight+topicLeftSpacing)&quot; autoShapeType=&quot;1&quot; type=&quot;autoshape&quot; field=&quot;responsible&quot; indentType=&quot;1&quot;&gt;&#10;                        &lt;paragraphformat alignment=&quot;1&quot;/&gt;&#10;                        &lt;font italic=&quot;1&quot;/&gt;&#10;                    &lt;/element&gt;&#10;                    &lt;element indent=&quot;(level-1)*(itemSingleHeight+topicLeftSpacing)&quot; autoShapeType=&quot;1&quot; type=&quot;autoshape&quot; field=&quot;freecolumn&quot; indentType=&quot;1&quot;&gt;&#10;                        &lt;paragraphformat alignment=&quot;1&quot;/&gt;&#10;                        &lt;font italic=&quot;1&quot;/&gt;&#10;                    &lt;/element&gt;&#10;                    &lt;element field=&quot;timeslot&quot; type=&quot;autoshape&quot; autoShapeType=&quot;1&quot;&gt;&#10;                        &lt;paragraphformat alignment=&quot;1&quot;/&gt;&#10;                        &lt;font italic=&quot;1&quot;/&gt;&#10;                    &lt;/element&gt;&#10;                    &lt;element field=&quot;pageno&quot; type=&quot;autoshape&quot; autoShapeType=&quot;1&quot;&gt;&#10;                        &lt;paragraphformat alignment=&quot;3&quot;/&gt;&#10;                        &lt;font italic=&quot;1&quot;/&gt;&#10;                    &lt;/element&gt;&#10;                &lt;/case&gt;&#10;            &lt;/cases&gt;&#10;            &lt;elements/&gt;&#10;        &lt;/layout&gt;&#10;    &lt;/layouts&gt;&#10;    &lt;contents&gt;&#10;        &lt;agenda createSeparatingSlides=&quot;1&quot; backupSlideId=&quot;df762a70-db2c-4d75-b3a4-a0375ff3a9fc&quot; createSingleAgendaSlide=&quot;1&quot; subtitle=&quot;&quot; singleSlideId=&quot;fc2cb0dc-3a6f-4007-9c4e-803c17dfc176&quot; startItemNo=&quot;1&quot; layoutId=&quot;1_1&quot; createSections=&quot;0&quot; createIndicators=&quot;0&quot; fontSizeAuto=&quot;1&quot; timeFormatId=&quot;1&quot; createBackupSlide=&quot;1&quot; sizingModeId=&quot;1&quot; name=&quot;New Agenda&quot; fontSize=&quot;16&quot; backupSectionId=&quot;&quot; title=&quot;Agenda&quot; startTime=&quot;540&quot;&gt;&#10;            &lt;columns&gt;&#10;                &lt;column rightSpacing=&quot;0&quot; label=&quot;No.&quot; field=&quot;itemno&quot; checked=&quot;1&quot; dock=&quot;1&quot; fixedWidth=&quot;25.00000100000000512&quot; leftSpacing=&quot;0&quot;/&gt;&#10;                &lt;column label=&quot;Topic&quot; dock=&quot;1&quot; field=&quot;topic&quot; rightSpacing=&quot;690.842805732422&quot; leftSpacing=&quot;5&quot; fixedWidth=&quot;0&quot;/&gt;&#10;                &lt;column checked=&quot;0&quot; fixedWidth=&quot;0&quot; rightSpacing=&quot;321.2943&quot; dock=&quot;1&quot; leftSpacing=&quot;10&quot; field=&quot;responsible&quot; label=&quot;Responsible&quot; visible=&quot;1&quot;/&gt;&#10;                &lt;column leftSpacing=&quot;10&quot; dock=&quot;1&quot; label=&quot;&quot; rightSpacing=&quot;0&quot; checked=&quot;0&quot; field=&quot;freecolumn&quot; visible=&quot;1&quot; fixedWidth=&quot;0&quot;/&gt;&#10;                &lt;column field=&quot;timeslot&quot; fixedWidth=&quot;0&quot; label=&quot;Time Slot&quot; dock=&quot;2&quot; visible=&quot;1&quot; checked=&quot;0&quot; leftSpacing=&quot;10&quot; rightSpacing=&quot;6&quot;/&gt;&#10;                &lt;column checked=&quot;0&quot; dock=&quot;2&quot; field=&quot;pageno&quot; rightSpacing=&quot;6&quot; leftSpacing=&quot;10&quot; fixedWidth=&quot;0&quot; label=&quot;Page No.&quot; visible=&quot;1&quot;/&gt;&#10;            &lt;/columns&gt;&#10;            &lt;items&gt;&#10;                &lt;item topic=&quot;微亿业务简介&quot; isBreak=&quot;0&quot; sectionId=&quot;&quot; showAgendaItem=&quot;1&quot; id=&quot;3564c4ef-21c8-443a-8667-f3922af5b3ad&quot; level=&quot;1&quot; agendaSlideId=&quot;f848479d-6f3a-40c4-a2b0-c5e7cba14937&quot; duration=&quot;30&quot; generateAgendaSlide=&quot;1&quot; parentId=&quot;&quot;/&gt;&#10;                &lt;item isBreak=&quot;0&quot; sectionId=&quot;&quot; level=&quot;1&quot; generateAgendaSlide=&quot;1&quot; id=&quot;7dfe5acd-f59f-4fa3-96ab-2e6202659d37&quot; duration=&quot;30&quot; showAgendaItem=&quot;1&quot; agendaSlideId=&quot;0d0121c9-2512-43ce-b0e2-60592547856d&quot; topic=&quot;中国EIIR市场研究&quot; parentId=&quot;&quot;/&gt;&#10;                &lt;item sectionId=&quot;&quot; agendaSlideId=&quot;31bbabe7-99b1-441e-a80d-22cd155c8389&quot; id=&quot;1a089f94-bd7c-451e-b49d-7766093b08c8&quot; level=&quot;1&quot; topic=&quot;微亿财务与融资情况&quot; showAgendaItem=&quot;1&quot; generateAgendaSlide=&quot;1&quot; isBreak=&quot;0&quot; duration=&quot;30&quot; parentId=&quot;&quot;/&gt;&#10;            &lt;/items&gt;&#10;        &lt;/agenda&gt;&#10;    &lt;/contents&gt;&#10;&lt;/ee4p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i8rAOl9tgU5mrC4uckI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W53tsZxre9iB5L3Rfr8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h_9dAMv5dF6kTYt101i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ztwrUIl_4jib97s8sb8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Jj.gjmbxgFFQUNlbGet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SwO0LhgKHl7p58zIwFg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VGO9WwHOD7spdnY9vSy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VEPTZYcg_g0iCe._q3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.pr.SMFNGnycr4ucqPi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YvxvBxzt0dOFfbYvx5o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4uKykiIEZ0tTSjoWxfK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23Jwhf_DFls.NUT2553.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HegblubRxyp1VvP2DpX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6a_DBkKFL9QPWKEB4WWS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066T1NnoxcH9QKNqtfB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OhcpGGBCfx_kgOz5yMu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krFEMwBtPulNN1M6IRD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u6JVtJCqoUPuJC3zrL8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7knfzNf8pYyBJaomIce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4lGuk91qTtHKtJwwxkp4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7cqP0VzZryrBcXYzkDk6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5Y3ZuKpwvdpElwa9.9hQ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4cudzXvu5UGUam5yu5oQ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1tGp0TwBgPN0pZrqoaZ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zzfJXOYqNuhL64yBfMa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wGlq.tnMuMyWr7aXfYGl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qHVvxCmdL6ShDXldWxw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G33aO5i2jJJss4Gt156Y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1x7pqBTA7xqTJTEF3_Xf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0NfE2S8_Q7o7Dd58Nt4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suRynx5eYb48MpeT9Rb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1ow2oVzr_UR8g3iLop5v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qgkTh3.ncjN2Vcvrou4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8NioV86iqzbi4ug3jud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b92xPWdoiQ5YEFeAFaI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riIzEFyhU4t12_O9ZMq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pUr.Npb.4sNUI8tZCVze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yUngzzQn0Hxiug_OIpG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GsnbpKOr8G_Skr7tpiv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3hLEZCtW98ou8tJgct4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WEUBUED2qC18QAuTCJ7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UFfhiSLf6LUXkyos8KQ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NOoyWN7faTWkItTNoQP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Uj9vWWTco2R7Dfki8Ua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aNvmIhD5rYuwRWCHJK9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yhqN3nQ.z2R2Yry2voj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KD0Z7OxWjvSK74UKzW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0ceH0I_fvqzzcElOjqBL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_5tJzIjEB37bTNkVR57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S080nT9T3n.btsBZ9Lc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c6rqi6H3c.dy2TLYurF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N7qUO.bf0pRp5B2oeGWp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hby4LptJeNJzJpPqu0O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NeVP6mVzvJ1WhNXrnjb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S7RnN5PVgznr3gjG8XBM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.pe60BJF.Qr9Ar_QhEb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KqN0tetQNPTFHT06YKO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yPHQUvarYmJwNDYh_k3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ftZ7apzz3Jjw_hrRe68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fUoPjxM0ODgmD5fvl_PP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mJ6miBSoNd4vEQNKliI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1JzPM0Lj1EoKFD0gCO9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3a2FivnIjwNc81RG4YQ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BkgWQk8DvjSZgPeqJZ8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CIxTlasj4fgaSmqz5Pj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eR71WovTuuWDoUI8ARwd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LEC7X5juGpaFl5EdG5P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UMpli_GkB_x.0R9LEDv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8dT6fqWz0T2ZcduITG6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i7xeLzrXmuZ3TP7b..v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NwE8H4hEyQhjEbeteq.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w_.1YI3qIKIMRMKlJbWF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BvgTYnlJVNZAxiVJu.2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N9UxbCWTPhGM7VsWd6gh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5yg5U4HWY9FubRn2RaCy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bTqIQidhSRH6F.ARx_N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cdym17bsxBuxunodcv.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PDQAJRYIJFQCuF06AWc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iB_SFYbQHBuNy7sm6nD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SXtTf_XqurkROwkwkfS5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8newmQX.8mZVoAY7ANym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1lknBrQKX2pCvfs1Fbzk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4maQd8CAZaVQRznuZp4n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mOn31bfg8a5yza.Q8uo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6NH_noNBu16koXudKEZ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boFC67WG29MmUM0.7ma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9dKE1LjyOJiqi.uTl1r2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k_gt4PhFXjqNXwapI3dC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bQBl3b7sg9zSK9zFslay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4USSNlJHMGTaC7ZzQSV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mtJWU2m2iIFDp.khIGR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xPJFJmCUEQTbuvGAP_Q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Ug7HxANNggbF6lLt5MP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emCJNYUXoiv6e6YFs1n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0VJj8FD7zlWbc8tlkZU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BjHQZZ5BidNkXB6DD20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style_IDG New Logo_Wide">
  <a:themeElements>
    <a:clrScheme name="Gstyle">
      <a:dk1>
        <a:sysClr val="windowText" lastClr="000000"/>
      </a:dk1>
      <a:lt1>
        <a:sysClr val="window" lastClr="FFFFFF"/>
      </a:lt1>
      <a:dk2>
        <a:srgbClr val="00355F"/>
      </a:dk2>
      <a:lt2>
        <a:srgbClr val="4D4D4D"/>
      </a:lt2>
      <a:accent1>
        <a:srgbClr val="20396D"/>
      </a:accent1>
      <a:accent2>
        <a:srgbClr val="7399C6"/>
      </a:accent2>
      <a:accent3>
        <a:srgbClr val="AC0000"/>
      </a:accent3>
      <a:accent4>
        <a:srgbClr val="F48A20"/>
      </a:accent4>
      <a:accent5>
        <a:srgbClr val="E3D900"/>
      </a:accent5>
      <a:accent6>
        <a:srgbClr val="339966"/>
      </a:accent6>
      <a:hlink>
        <a:srgbClr val="0000FF"/>
      </a:hlink>
      <a:folHlink>
        <a:srgbClr val="FF00FF"/>
      </a:folHlink>
    </a:clrScheme>
    <a:fontScheme name="Gstyle">
      <a:majorFont>
        <a:latin typeface="Arial"/>
        <a:ea typeface="华文楷体"/>
        <a:cs typeface=""/>
      </a:majorFont>
      <a:minorFont>
        <a:latin typeface="Arial"/>
        <a:ea typeface="华文楷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style_IDG New Logo_Wide" id="{C5D2AA0A-FD9D-4B28-B208-3DEAEFE31558}" vid="{978CF00B-DF81-413D-A5F9-CCDA43E566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B0D7A7B-B781-4278-B55C-5957939FD21B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38465</TotalTime>
  <Words>12856</Words>
  <Application>Microsoft Office PowerPoint</Application>
  <PresentationFormat>宽屏</PresentationFormat>
  <Paragraphs>1893</Paragraphs>
  <Slides>59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4" baseType="lpstr">
      <vt:lpstr>Arial</vt:lpstr>
      <vt:lpstr>Book Antiqua</vt:lpstr>
      <vt:lpstr>Wingdings</vt:lpstr>
      <vt:lpstr>Gstyle_IDG New Logo_Wide</vt:lpstr>
      <vt:lpstr>think-cell 幻灯片</vt:lpstr>
      <vt:lpstr>PowerPoint 演示文稿</vt:lpstr>
      <vt:lpstr>Executive Summary （1/2）</vt:lpstr>
      <vt:lpstr>Executive Summary （2/2）</vt:lpstr>
      <vt:lpstr>2025年全球高压输电（HV）变压器供需缺口达707.5 GVA（30%），预计2029-2030年缺口才会迎来实质性逆转</vt:lpstr>
      <vt:lpstr>聚焦美国三重需求共振：2019-2030年变压器有效需求翻3倍，GSU缺口接近100%</vt:lpstr>
      <vt:lpstr>老龄化周期：全球55%住宅变压器超龄运行，老化替换占美国HV需求45%，与宏观周期完全脱钩的结构性底座</vt:lpstr>
      <vt:lpstr>新能源并网：1,650GW可再生能源等待并网，全球年新增突破500GW，并网压力与需求确定性高</vt:lpstr>
      <vt:lpstr>AI数据中心：需求量2030年翻倍，单台服务器功率十年增十倍</vt:lpstr>
      <vt:lpstr>AI数据中心：每100MW算力需1座110kV专属变电站，物理电力瓶颈先于芯片瓶颈触发，高压输电（HV）设备是AI基础设施硬门票</vt:lpstr>
      <vt:lpstr>US体量全球第一，CN紧随其后，中东数据中心存量占全球~1%，但主权AI国策×超大规模资本2026-28集中引爆，激进产能规划已落地</vt:lpstr>
      <vt:lpstr>海外扩产3-5年才兑现：取向硅钢、技术工人、资本密集度三重锁死</vt:lpstr>
      <vt:lpstr>中国产能占全球30%+，特变/西电规模遥遥领先，北美售价利润率是国内3-4倍</vt:lpstr>
      <vt:lpstr>扩产时间差至少3年：TBEA主导增量，2028年日立VA+孝星HVDC落地才是真实拐点</vt:lpstr>
      <vt:lpstr>核心术语解析：高压输变电行业四大基础概念</vt:lpstr>
      <vt:lpstr>HV输变电系统：发电→升压→500kV输电→GIS变电→配电四段物理链条</vt:lpstr>
      <vt:lpstr>变压器铁芯+GIS气室内部结构：高定制化决定高壁垒、高利润、长交期</vt:lpstr>
      <vt:lpstr>建站全成本拆解：七类费用三市场EPC造价对比（中美溢价三重锁定，设备差价3-7×）</vt:lpstr>
      <vt:lpstr>PowerPoint 演示文稿</vt:lpstr>
      <vt:lpstr>中东是GIS最优出海市场：思源GIS占比最高，毛利30-40%，美国关税100%封死直接出口</vt:lpstr>
      <vt:lpstr>全球竞争格局：欧美日韩垄断高端，中国凭成本和交期快速渗透新兴市场</vt:lpstr>
      <vt:lpstr>西门子/GE：欧美本土主导地位稳固，扩产谨慎，盈亏平衡期长</vt:lpstr>
      <vt:lpstr>日立能源：全球技术龙头，产能3年翻倍，2021-2024 ROIC从10.9%飙至25.7%，量价齐升充分体现定价权</vt:lpstr>
      <vt:lpstr>日立能源：$94亿收购ABB电网，EBITA从6.1%→11.1%，$60亿扩产锁定2028年产能</vt:lpstr>
      <vt:lpstr>韩国双雄：HD现代靠北美47%收入利润翻4倍，孝星重工押注HVDC差异化</vt:lpstr>
      <vt:lpstr>中国出海玩家矩阵：特变规模最大，中国西电技术最强，思源海外增速最快</vt:lpstr>
      <vt:lpstr>出海路径：中东已突破，欧洲逐步渗透，美国关税实质封闭，认证是最硬门槛</vt:lpstr>
      <vt:lpstr>思源股份：GIS第一大收入来源（44%）且毛利率最高（36%），750kV突破打破国企垄断</vt:lpstr>
      <vt:lpstr>特变电工：全球最大产能500GVA，沙特SEC 164亿大单，多晶硅亏损拖累净利率3.7%</vt:lpstr>
      <vt:lpstr>西门子能源Grid Tech：收入增长34%，利润率10.5%→15.8%，Backlog €1230亿创新高</vt:lpstr>
      <vt:lpstr>GE Vernova Electrification：收入$75亿+18%，Backlog $300→$600亿翻倍目标</vt:lpstr>
      <vt:lpstr>HD现代电气：收入3年+58%，营业利润率6.3%→24.4%，北美收入$17.8亿占47%</vt:lpstr>
      <vt:lpstr>孝星重工：HVDC差异化，Memphis 765kV本土产能，HICO北美扭亏至~$30M盈利</vt:lpstr>
      <vt:lpstr>中国西电：特高压换流变份额27%第一，唯一±1100kV，西安产业园2025年10月投产</vt:lpstr>
      <vt:lpstr>PowerPoint 演示文稿</vt:lpstr>
      <vt:lpstr>TBEA西变基地500GVA年产能是GE Vernova全部产能~3×：中国制造规模优势已形成不可逆的成本护城河</vt:lpstr>
      <vt:lpstr>±800kV HVDC换流站：换流变+换流阀全球仅三家掌握，中国西电是唯一以国产技术跑通±1100kV最高等级的厂商</vt:lpstr>
      <vt:lpstr>窗口期成立三条件：需求爆发×供给刚性×认证壁垒——当前均成立，但有裂缝</vt:lpstr>
      <vt:lpstr>PT①：AI电力需求真实存在——物理电力瓶颈先于算力过热发生，刚需属性显著</vt:lpstr>
      <vt:lpstr>Tail risk评估: 过去3年超算5巨头AI CapE增长激进拖累FCF，未来持续性存疑，26-28一旦 AI capex出现放缓迹象，压力必然传到至电力板块，导致估值压缩，即便是对业绩的实质性影响还需要2-3年落地</vt:lpstr>
      <vt:lpstr>PT②：产能回流2027年前不改变格局，但2028+是中国厂商窗口期的真实拐点</vt:lpstr>
      <vt:lpstr>PT③：中国厂商的真实竞争力不在价格，在"成本×交期×产能弹性"三维优势叠加</vt:lpstr>
      <vt:lpstr>综合判断：窗口期2024-2028年，概率加权后还有3年，2028是真正拐点</vt:lpstr>
      <vt:lpstr>A股输变电板块PE估值高位（近4年高点），泡沫风险真实存在</vt:lpstr>
      <vt:lpstr>个股估值对比：思源PE/ROE最优，中国西电低估值高技术，特变多晶硅折价待修复</vt:lpstr>
      <vt:lpstr>可比公司PE倍数走势 — 周频数据 (2022–2026)</vt:lpstr>
      <vt:lpstr>可比公司股价走势 — 指数化对比 (2022.01 = 100)</vt:lpstr>
      <vt:lpstr>Conclusion: 行业结构性机会成立，中国厂商思源等质地优秀优势明显，但当前板块泡沫化严重，需要选择入场时机并关注思源H股上市的折扣情况</vt:lpstr>
      <vt:lpstr>风险矩阵：关税升级和板块估值收缩是最高优先级风险，需要明确的监控指标</vt:lpstr>
      <vt:lpstr>PowerPoint 演示文稿</vt:lpstr>
      <vt:lpstr>思源电气 | Fwd PE(26E): ~31x | Price: 202.0</vt:lpstr>
      <vt:lpstr>HD Hyundai E&amp;C | Fwd PE(26E): ~25x | Price: 832,000</vt:lpstr>
      <vt:lpstr>Hyosung Heavy | Fwd PE(26E): ~22x | Price: 2,456,000</vt:lpstr>
      <vt:lpstr>Siemens Energy | Fwd PE(26E): ~26x | Price: 145.15</vt:lpstr>
      <vt:lpstr>GE Vernova | Fwd PE(26E): ~37x | Price: 846</vt:lpstr>
      <vt:lpstr>TBEA | Fwd PE(26E): ~21x | Price: 26.5</vt:lpstr>
      <vt:lpstr>China XD | Fwd PE(26E): ~41x | Price: 15.2</vt:lpstr>
      <vt:lpstr>可比公司估值汇总表</vt:lpstr>
      <vt:lpstr>全球变压器定价趋势 — US PPI翻倍，中国出口ASP +53% YoY (220-330MVA)</vt:lpstr>
      <vt:lpstr>US变压器需求上修9-12%（数据中心），产能仅增2-4%（Siemens扩产）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Elements Box Style</dc:title>
  <dc:subject/>
  <dc:creator>Jason</dc:creator>
  <cp:keywords/>
  <dc:description/>
  <cp:lastModifiedBy>Jason Dong</cp:lastModifiedBy>
  <cp:revision>590</cp:revision>
  <cp:lastPrinted>1999-12-31T16:00:00Z</cp:lastPrinted>
  <dcterms:created xsi:type="dcterms:W3CDTF">2023-02-25T12:36:24Z</dcterms:created>
  <dcterms:modified xsi:type="dcterms:W3CDTF">2026-05-13T15:33:44Z</dcterms:modified>
  <cp:category/>
  <cp:contentStatus/>
</cp:coreProperties>
</file>